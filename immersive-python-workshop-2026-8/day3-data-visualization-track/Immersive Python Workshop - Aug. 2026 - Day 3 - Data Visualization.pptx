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658"/>
  </p:normalViewPr>
  <p:slideViewPr>
    <p:cSldViewPr snapToGrid="0">
      <p:cViewPr varScale="1">
        <p:scale>
          <a:sx n="127" d="100"/>
          <a:sy n="127" d="100"/>
        </p:scale>
        <p:origin x="-10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0d2166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3f70d2166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70d21666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f70d21666b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g3f70d21666b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033e7b21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g3f7033e7b2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033e7b21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g3f7033e7b2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7033e7b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f7033e7b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g3f7033e7b2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" name="Google Shape;20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94172e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f694172ed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g3f694172ed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146750c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f7146750cb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f7146750cb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" name="Google Shape;24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44000"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3.3.2/tutorials/index.html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hyperlink" Target="https://plotly.com/python/" TargetMode="External"/><Relationship Id="rId4" Type="http://schemas.openxmlformats.org/officeDocument/2006/relationships/hyperlink" Target="https://altair-viz.github.io/user_guide/data.html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networkx.org/documentation/stable/auto_examples/" TargetMode="External"/><Relationship Id="rId7" Type="http://schemas.openxmlformats.org/officeDocument/2006/relationships/hyperlink" Target="https://altair-viz.github.io/gallery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eaborn.pydata.org/examples/" TargetMode="External"/><Relationship Id="rId5" Type="http://schemas.openxmlformats.org/officeDocument/2006/relationships/hyperlink" Target="https://matplotlib.org/stable/gallery/" TargetMode="External"/><Relationship Id="rId10" Type="http://schemas.openxmlformats.org/officeDocument/2006/relationships/image" Target="../media/image27.png"/><Relationship Id="rId4" Type="http://schemas.openxmlformats.org/officeDocument/2006/relationships/hyperlink" Target="https://plotly.com/python/" TargetMode="External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users/explain/quick_start.html#parts-of-a-figur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hyperlink" Target="https://matplotlib.org/stable/api/index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verse.tdl.org/file.xhtml?fileId=62725&amp;datasetVersionId=1894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hyperlink" Target="https://gis-pdx.opendata.arcgis.com/datasets/PDX::parks-tree-inventory/abou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BM/telco-customer-churn-on-icp4d/tree/maste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ces.ed.gov/nhes/dataproducts.asp#2019dp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ces.ed.gov/pubs2021/2021030rev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it.ly/datavis-colab-ipw-aug26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565125" y="613900"/>
            <a:ext cx="7952700" cy="18792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100" b="1">
                <a:solidFill>
                  <a:schemeClr val="lt1"/>
                </a:solidFill>
              </a:rPr>
              <a:t>Immersive Python Workshop</a:t>
            </a:r>
            <a:endParaRPr sz="4100" b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100" b="1">
                <a:solidFill>
                  <a:schemeClr val="lt1"/>
                </a:solidFill>
              </a:rPr>
              <a:t>Day 3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630200" y="2653375"/>
            <a:ext cx="5844600" cy="939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Visualization</a:t>
            </a:r>
            <a:endParaRPr sz="3000" b="1" i="0" u="none" strike="noStrike" cap="none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</a:t>
            </a:r>
            <a:r>
              <a:rPr lang="en" sz="1900" b="0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/</a:t>
            </a:r>
            <a:r>
              <a:rPr lang="en" sz="19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14</a:t>
            </a:r>
            <a:r>
              <a:rPr lang="en" sz="1900" b="0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/2026</a:t>
            </a:r>
            <a:endParaRPr sz="1900" b="0" i="0" u="none" strike="noStrike" cap="none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Overall Goals of this Data Visualization Session</a:t>
            </a:r>
            <a:endParaRPr sz="30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087075" y="1364550"/>
            <a:ext cx="6676800" cy="3247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tl" rotWithShape="0">
              <a:srgbClr val="000000">
                <a:alpha val="66275"/>
              </a:srgbClr>
            </a:outerShdw>
          </a:effectLst>
        </p:spPr>
        <p:txBody>
          <a:bodyPr spcFirstLastPara="1" wrap="square" lIns="292600" tIns="338325" rIns="155425" bIns="34275" anchor="t" anchorCtr="0">
            <a:noAutofit/>
          </a:bodyPr>
          <a:lstStyle/>
          <a:p>
            <a:pPr marL="457200" marR="0" lvl="0" indent="-31115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wentieth Century"/>
              <a:buChar char="➔"/>
            </a:pPr>
            <a:r>
              <a:rPr lang="en" sz="160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See examples of what’s possible</a:t>
            </a:r>
            <a:endParaRPr sz="160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Char char="➔"/>
            </a:pPr>
            <a:r>
              <a:rPr lang="en" sz="160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Learn benefits of scripting data visualization tasks</a:t>
            </a:r>
            <a:endParaRPr sz="160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Char char="➔"/>
            </a:pPr>
            <a:r>
              <a:rPr lang="en" sz="160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Learn how to read documentation about using Python packages</a:t>
            </a:r>
            <a:endParaRPr sz="160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Char char="➔"/>
            </a:pPr>
            <a:r>
              <a:rPr lang="en" sz="160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Get familiar with the process of developing Python scripts locally</a:t>
            </a:r>
            <a:endParaRPr sz="1700" i="0" u="none" strike="noStrike" cap="non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What is Data Visualization?</a:t>
            </a:r>
            <a:endParaRPr sz="30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120900" y="1111375"/>
            <a:ext cx="6558000" cy="3806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tl" rotWithShape="0">
              <a:srgbClr val="000000">
                <a:alpha val="66275"/>
              </a:srgbClr>
            </a:outerShdw>
          </a:effectLst>
        </p:spPr>
        <p:txBody>
          <a:bodyPr spcFirstLastPara="1" wrap="square" lIns="205725" tIns="246875" rIns="68575" bIns="34275" anchor="t" anchorCtr="0">
            <a:noAutofit/>
          </a:bodyPr>
          <a:lstStyle/>
          <a:p>
            <a:pPr marL="457200" marR="0" lvl="0" indent="-298450" algn="l" rtl="0">
              <a:lnSpc>
                <a:spcPct val="2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lang="en" sz="11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14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Graphically representing data to facilitate communication of information</a:t>
            </a:r>
            <a:endParaRPr sz="14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2984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lang="en" sz="11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14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Visualizations often take the form of charts, graphs, maps, and diagrams</a:t>
            </a:r>
            <a:endParaRPr sz="14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2984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lang="en" sz="11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14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Effective data visualization is both an art and science</a:t>
            </a:r>
            <a:endParaRPr sz="14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lang="en" sz="11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14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 be difficult and time consuming when:</a:t>
            </a:r>
            <a:endParaRPr sz="14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lang="en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Datasets are large and complicated</a:t>
            </a:r>
            <a:endParaRPr sz="12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lang="en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Datasets are updated frequently</a:t>
            </a:r>
            <a:endParaRPr sz="12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lang="en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Large numbers of visualizations need to be created</a:t>
            </a:r>
            <a:endParaRPr sz="12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lang="en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Multiple styles of a visualization product are required for different audiences</a:t>
            </a:r>
            <a:endParaRPr sz="12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0" algn="l" rtl="0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41300" marR="0" lvl="0" indent="-177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A4E0"/>
              </a:buClr>
              <a:buSzPts val="900"/>
              <a:buFont typeface="Noto Sans Symbols"/>
              <a:buNone/>
            </a:pPr>
            <a:endParaRPr sz="1500" b="1" i="0" u="none" strike="noStrike" cap="non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8" name="Google Shape;98;p15" descr="Network graph example"/>
          <p:cNvPicPr preferRelativeResize="0"/>
          <p:nvPr/>
        </p:nvPicPr>
        <p:blipFill rotWithShape="1">
          <a:blip r:embed="rId3">
            <a:alphaModFix/>
          </a:blip>
          <a:srcRect l="6158" t="13839" r="3147" b="6123"/>
          <a:stretch/>
        </p:blipFill>
        <p:spPr>
          <a:xfrm>
            <a:off x="7499850" y="1696163"/>
            <a:ext cx="1546950" cy="1337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</p:pic>
      <p:pic>
        <p:nvPicPr>
          <p:cNvPr id="99" name="Google Shape;99;p15" descr="Venn diagram exampl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3557" y="3992601"/>
            <a:ext cx="1488050" cy="998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</p:pic>
      <p:pic>
        <p:nvPicPr>
          <p:cNvPr id="100" name="Google Shape;100;p15" descr="Map exampl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0100" y="2515975"/>
            <a:ext cx="1145550" cy="14766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</p:pic>
      <p:pic>
        <p:nvPicPr>
          <p:cNvPr id="101" name="Google Shape;101;p15" descr="Pie chart exampl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87863" y="2200814"/>
            <a:ext cx="1145549" cy="74186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</p:pic>
      <p:pic>
        <p:nvPicPr>
          <p:cNvPr id="102" name="Google Shape;102;p15" descr="Scatterplot exampl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34346" y="3546350"/>
            <a:ext cx="1252576" cy="8441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</p:pic>
      <p:pic>
        <p:nvPicPr>
          <p:cNvPr id="103" name="Google Shape;103;p15" descr="Bar chart exampl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6594" y="958395"/>
            <a:ext cx="2042004" cy="84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Raw Data vs. Visualized Data</a:t>
            </a:r>
            <a:endParaRPr sz="30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09" name="Google Shape;109;p16" descr="Spreadsheet exam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6601"/>
            <a:ext cx="4165376" cy="2221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0" name="Google Shape;110;p16" descr="Scatterplot exampl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0726" y="2224003"/>
            <a:ext cx="4521426" cy="265261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669" cy="603504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Python Data Visualization Resources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2396425" y="2315875"/>
            <a:ext cx="6503700" cy="214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246875" rIns="68575" bIns="68575" anchor="t" anchorCtr="0">
            <a:noAutofit/>
          </a:bodyPr>
          <a:lstStyle/>
          <a:p>
            <a:pPr marL="285750" lvl="0" indent="-1651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800"/>
              <a:buFont typeface="Noto Sans Symbols"/>
              <a:buChar char="➔"/>
            </a:pPr>
            <a:r>
              <a:rPr lang="en" sz="1600" b="1">
                <a:latin typeface="Twentieth Century"/>
                <a:ea typeface="Twentieth Century"/>
                <a:cs typeface="Twentieth Century"/>
                <a:sym typeface="Twentieth Century"/>
              </a:rPr>
              <a:t>Matplotlib Documentation</a:t>
            </a:r>
            <a:r>
              <a:rPr lang="en" sz="1700" b="1"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n" sz="14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https://matplotlib.org/3.3.2/tutorials/index.html</a:t>
            </a: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) 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85750" lvl="0" indent="-1651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800"/>
              <a:buFont typeface="Noto Sans Symbols"/>
              <a:buChar char="➔"/>
            </a:pPr>
            <a:r>
              <a:rPr lang="en" sz="1600" b="1">
                <a:latin typeface="Twentieth Century"/>
                <a:ea typeface="Twentieth Century"/>
                <a:cs typeface="Twentieth Century"/>
                <a:sym typeface="Twentieth Century"/>
              </a:rPr>
              <a:t>Altair Documentation </a:t>
            </a: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n" sz="14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https://altair-viz.github.io/user_guide/data.html</a:t>
            </a: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) 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85750" lvl="0" indent="-1651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800"/>
              <a:buFont typeface="Noto Sans Symbols"/>
              <a:buChar char="➔"/>
            </a:pPr>
            <a:r>
              <a:rPr lang="en" sz="1600" b="1">
                <a:latin typeface="Twentieth Century"/>
                <a:ea typeface="Twentieth Century"/>
                <a:cs typeface="Twentieth Century"/>
                <a:sym typeface="Twentieth Century"/>
              </a:rPr>
              <a:t>Plotly Documentation</a:t>
            </a:r>
            <a:r>
              <a:rPr lang="en" sz="1700" b="1"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n" sz="14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5"/>
              </a:rPr>
              <a:t>https://plotly.com/python/</a:t>
            </a: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  <a:endParaRPr sz="13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8" name="Google Shape;118;p17" descr="Screenshot of matplotlib web site homepag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9402" y="1378425"/>
            <a:ext cx="1898423" cy="138468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2"/>
              </a:srgbClr>
            </a:outerShdw>
          </a:effectLst>
        </p:spPr>
      </p:pic>
      <p:pic>
        <p:nvPicPr>
          <p:cNvPr id="119" name="Google Shape;119;p17" descr="Screenshot of plotly web site homepag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9400" y="2945950"/>
            <a:ext cx="1898425" cy="117039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2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body" idx="1"/>
          </p:nvPr>
        </p:nvSpPr>
        <p:spPr>
          <a:xfrm>
            <a:off x="259000" y="1049700"/>
            <a:ext cx="3572100" cy="3949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155425" rIns="68575" bIns="68575" anchor="t" anchorCtr="0">
            <a:noAutofit/>
          </a:bodyPr>
          <a:lstStyle/>
          <a:p>
            <a:pPr marL="1778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500" b="1">
                <a:latin typeface="Twentieth Century"/>
                <a:ea typeface="Twentieth Century"/>
                <a:cs typeface="Twentieth Century"/>
                <a:sym typeface="Twentieth Century"/>
              </a:rPr>
              <a:t>Factors to Consider</a:t>
            </a:r>
            <a:endParaRPr sz="1500" b="1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90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Twentieth Century"/>
              <a:buChar char="◆"/>
            </a:pPr>
            <a:r>
              <a:rPr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Static vs interactive visualizations</a:t>
            </a:r>
            <a:endParaRPr sz="16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90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Twentieth Century"/>
              <a:buChar char="◆"/>
            </a:pPr>
            <a:r>
              <a:rPr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Support for niche visualization types (e.g. maps, networks)</a:t>
            </a:r>
            <a:endParaRPr sz="16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90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Twentieth Century"/>
              <a:buChar char="◆"/>
            </a:pPr>
            <a:r>
              <a:rPr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Popularity</a:t>
            </a:r>
            <a:endParaRPr sz="16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90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Twentieth Century"/>
              <a:buChar char="◆"/>
            </a:pPr>
            <a:r>
              <a:rPr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API level of control</a:t>
            </a:r>
            <a:endParaRPr sz="16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90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Twentieth Century"/>
              <a:buChar char="◆"/>
            </a:pPr>
            <a:r>
              <a:rPr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API documentation</a:t>
            </a:r>
            <a:endParaRPr sz="15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669" cy="603504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Choosing a Data Visualization Library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27" name="Google Shape;127;p18" descr="Matplotlilb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1643" y="1673754"/>
            <a:ext cx="3277533" cy="6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descr="Plotly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9113" y="1095400"/>
            <a:ext cx="1029900" cy="10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descr="Boke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6363" y="2412988"/>
            <a:ext cx="1483200" cy="14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 descr="NetworkX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43378" y="3979928"/>
            <a:ext cx="2396399" cy="5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descr="Altair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70225" y="2356600"/>
            <a:ext cx="1254825" cy="12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descr="Seaborn logo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54345" y="3491802"/>
            <a:ext cx="1254825" cy="1510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472925" y="2184425"/>
            <a:ext cx="3572100" cy="1701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1778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sz="1900" b="1">
                <a:latin typeface="Twentieth Century"/>
                <a:ea typeface="Twentieth Century"/>
                <a:cs typeface="Twentieth Century"/>
                <a:sym typeface="Twentieth Century"/>
              </a:rPr>
              <a:t>Commonly used packages</a:t>
            </a:r>
            <a:endParaRPr sz="1900" b="1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209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Twentieth Century"/>
              <a:buChar char="◆"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Pandas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203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wentieth Century"/>
              <a:buChar char="◆"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Polars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270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17780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Packages for Tabular Data and Data Visualization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40" name="Google Shape;140;p19" descr="Pandas Python packag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8075" y="1613626"/>
            <a:ext cx="2531026" cy="10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 descr="Polars Python packag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2816" y="3201750"/>
            <a:ext cx="2741550" cy="13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2500" b="1">
                <a:latin typeface="Twentieth Century"/>
                <a:ea typeface="Twentieth Century"/>
                <a:cs typeface="Twentieth Century"/>
                <a:sym typeface="Twentieth Century"/>
              </a:rPr>
              <a:t>Python for Automating Processes in Data Vis Desktop Software</a:t>
            </a:r>
            <a:endParaRPr sz="6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440775" y="2093100"/>
            <a:ext cx="3601500" cy="1601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155425" rIns="68575" bIns="68575" anchor="t" anchorCtr="0">
            <a:noAutofit/>
          </a:bodyPr>
          <a:lstStyle/>
          <a:p>
            <a:pPr marL="520700" lvl="1" indent="-203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wentieth Century"/>
              <a:buChar char="◆"/>
            </a:pPr>
            <a:r>
              <a:rPr lang="en" sz="1700" b="1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Blender</a:t>
            </a:r>
            <a:r>
              <a:rPr lang="en" sz="17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" sz="16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(3D visualization)</a:t>
            </a:r>
            <a:endParaRPr sz="16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96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wentieth Century"/>
              <a:buChar char="◆"/>
            </a:pPr>
            <a:r>
              <a:rPr lang="en" sz="1700" b="1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ArcGIS Pro</a:t>
            </a:r>
            <a:r>
              <a:rPr lang="en" sz="17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" sz="16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(Spatial visualization)</a:t>
            </a:r>
            <a:endParaRPr sz="16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96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wentieth Century"/>
              <a:buChar char="◆"/>
            </a:pPr>
            <a:r>
              <a:rPr lang="en" sz="1700" b="1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QGIS  </a:t>
            </a:r>
            <a:r>
              <a:rPr lang="en" sz="16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(Spatial visualization)</a:t>
            </a:r>
            <a:endParaRPr sz="16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270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17780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40775" y="1572675"/>
            <a:ext cx="3601500" cy="4617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 with Python APIs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50" name="Google Shape;150;p20" descr="Screenshot of QGIS softwar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475" y="1394273"/>
            <a:ext cx="3173924" cy="165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descr="Screenshot of Blender softwar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027" y="3576367"/>
            <a:ext cx="2653798" cy="141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 descr="Blender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5850" y="3129500"/>
            <a:ext cx="1170557" cy="9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 descr="QGIS logo"/>
          <p:cNvPicPr preferRelativeResize="0"/>
          <p:nvPr/>
        </p:nvPicPr>
        <p:blipFill rotWithShape="1">
          <a:blip r:embed="rId6">
            <a:alphaModFix/>
          </a:blip>
          <a:srcRect l="15558" t="16427" r="13726" b="13491"/>
          <a:stretch/>
        </p:blipFill>
        <p:spPr>
          <a:xfrm>
            <a:off x="4369650" y="2384566"/>
            <a:ext cx="1097329" cy="99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 descr="ArcGIS Pro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5826" y="1056100"/>
            <a:ext cx="860575" cy="8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body" idx="1"/>
          </p:nvPr>
        </p:nvSpPr>
        <p:spPr>
          <a:xfrm>
            <a:off x="106600" y="1964100"/>
            <a:ext cx="6736102" cy="296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246875" anchor="t" anchorCtr="0">
            <a:noAutofit/>
          </a:bodyPr>
          <a:lstStyle/>
          <a:p>
            <a:pPr marL="520700" lvl="1" indent="-18415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5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NetworkX</a:t>
            </a:r>
            <a:r>
              <a:rPr lang="en" sz="15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		</a:t>
            </a:r>
            <a:r>
              <a:rPr lang="en" sz="1200" u="sng" dirty="0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https://networkx.org/documentation/stable/auto_examples/</a:t>
            </a:r>
            <a:r>
              <a:rPr lang="en" sz="1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2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778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Plotly</a:t>
            </a:r>
            <a:r>
              <a:rPr lang="en" sz="1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lang="en" sz="1200" u="sng" dirty="0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https://plotly.com/python/</a:t>
            </a:r>
            <a:r>
              <a:rPr lang="en" sz="1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2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778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Matplotlib		</a:t>
            </a:r>
            <a:r>
              <a:rPr lang="en" sz="1200" u="sng" dirty="0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5"/>
              </a:rPr>
              <a:t>https://matplotlib.org/stable/gallery/</a:t>
            </a:r>
            <a:r>
              <a:rPr lang="en" sz="1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2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778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Seaborn</a:t>
            </a:r>
            <a:r>
              <a:rPr lang="en" sz="1200" dirty="0"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lang="en" sz="1200" u="sng" dirty="0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6"/>
              </a:rPr>
              <a:t>https://seaborn.pydata.org/examples/</a:t>
            </a:r>
            <a:endParaRPr sz="15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20700" lvl="1" indent="-18415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500" b="1" dirty="0">
                <a:latin typeface="Twentieth Century"/>
                <a:ea typeface="Twentieth Century"/>
                <a:cs typeface="Twentieth Century"/>
                <a:sym typeface="Twentieth Century"/>
              </a:rPr>
              <a:t>Altair</a:t>
            </a:r>
            <a:r>
              <a:rPr lang="en" sz="1500" dirty="0"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lang="en" sz="1200" u="sng" dirty="0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7"/>
              </a:rPr>
              <a:t>https://altair-viz.github.io/gallery/</a:t>
            </a:r>
            <a:r>
              <a:rPr lang="en" sz="1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3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Learn What’s Possible and Get Ideas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106600" y="1105754"/>
            <a:ext cx="5906700" cy="682223"/>
          </a:xfrm>
          <a:prstGeom prst="rect">
            <a:avLst/>
          </a:prstGeom>
          <a:solidFill>
            <a:srgbClr val="B45F06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  <p:txBody>
          <a:bodyPr spcFirstLastPara="1" wrap="square" lIns="91425" tIns="0" rIns="91425" bIns="91425" anchor="t" anchorCtr="0">
            <a:spAutoFit/>
          </a:bodyPr>
          <a:lstStyle/>
          <a:p>
            <a:pPr marL="1778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Data Vis Package Galleries to Visit</a:t>
            </a:r>
            <a:endParaRPr sz="1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1" descr="A screenshot of the matplotlib figure gallery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45498" y="1167607"/>
            <a:ext cx="1825869" cy="920958"/>
          </a:xfrm>
          <a:prstGeom prst="rect">
            <a:avLst/>
          </a:prstGeom>
          <a:noFill/>
          <a:ln>
            <a:noFill/>
          </a:ln>
          <a:effectLst>
            <a:outerShdw blurRad="42822" dist="14274" dir="5400000" algn="bl" rotWithShape="0">
              <a:srgbClr val="000000">
                <a:alpha val="49804"/>
              </a:srgbClr>
            </a:outerShdw>
          </a:effectLst>
        </p:spPr>
      </p:pic>
      <p:pic>
        <p:nvPicPr>
          <p:cNvPr id="164" name="Google Shape;164;p21" descr="A screenshot of the Plotly gallery showing graphs generated with the Plotly packag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45500" y="3634844"/>
            <a:ext cx="1825869" cy="1109967"/>
          </a:xfrm>
          <a:prstGeom prst="rect">
            <a:avLst/>
          </a:prstGeom>
          <a:noFill/>
          <a:ln>
            <a:noFill/>
          </a:ln>
          <a:effectLst>
            <a:outerShdw blurRad="42822" dist="14274" dir="5400000" algn="bl" rotWithShape="0">
              <a:srgbClr val="000000">
                <a:alpha val="49804"/>
              </a:srgbClr>
            </a:outerShdw>
          </a:effectLst>
        </p:spPr>
      </p:pic>
      <p:pic>
        <p:nvPicPr>
          <p:cNvPr id="165" name="Google Shape;165;p21" descr="A screenshot of the Altair gallery showing figures that can be created with Altair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45499" y="2391969"/>
            <a:ext cx="1825869" cy="1055781"/>
          </a:xfrm>
          <a:prstGeom prst="rect">
            <a:avLst/>
          </a:prstGeom>
          <a:noFill/>
          <a:ln>
            <a:noFill/>
          </a:ln>
          <a:effectLst>
            <a:outerShdw blurRad="42822" dist="14274" dir="5400000" algn="bl" rotWithShape="0">
              <a:srgbClr val="000000">
                <a:alpha val="49804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Good Data Visualization Practices</a:t>
            </a:r>
            <a:endParaRPr sz="30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128275" y="1034980"/>
            <a:ext cx="4123500" cy="306414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tl" rotWithShape="0">
              <a:srgbClr val="000000">
                <a:alpha val="66667"/>
              </a:srgbClr>
            </a:outerShdw>
          </a:effectLst>
        </p:spPr>
        <p:txBody>
          <a:bodyPr spcFirstLastPara="1" wrap="square" lIns="205725" tIns="91440" rIns="68575" bIns="34275" anchor="t" anchorCtr="0">
            <a:noAutofit/>
          </a:bodyPr>
          <a:lstStyle/>
          <a:p>
            <a:pPr marL="457200" marR="0" lvl="0" indent="-34290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➔"/>
            </a:pPr>
            <a:r>
              <a:rPr lang="en" sz="18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Design for your audience</a:t>
            </a:r>
            <a:endParaRPr sz="1800" i="0" u="none" strike="noStrike" cap="none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➔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Consider providing c</a:t>
            </a:r>
            <a:r>
              <a:rPr lang="en" sz="18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aptions</a:t>
            </a:r>
            <a:endParaRPr sz="1800" i="0" u="none" strike="noStrike" cap="none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➔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Think about</a:t>
            </a:r>
            <a:r>
              <a:rPr lang="en" sz="18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aesthetics</a:t>
            </a:r>
            <a:endParaRPr sz="1800" i="0" u="none" strike="noStrike" cap="none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➔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Consider accessibility best practices</a:t>
            </a: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i="0" u="none" strike="noStrike" cap="none" dirty="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41300" marR="0" lvl="0" indent="-17780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00A4E0"/>
              </a:buClr>
              <a:buSzPts val="900"/>
              <a:buFont typeface="Noto Sans Symbols"/>
              <a:buNone/>
            </a:pPr>
            <a:endParaRPr sz="1500" i="0" u="none" strike="noStrike" cap="none" dirty="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4461575" y="1034980"/>
            <a:ext cx="4417500" cy="362544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tl" rotWithShape="0">
              <a:srgbClr val="000000">
                <a:alpha val="66670"/>
              </a:srgbClr>
            </a:outerShdw>
          </a:effectLst>
        </p:spPr>
        <p:txBody>
          <a:bodyPr spcFirstLastPara="1" wrap="square" lIns="205725" tIns="246875" rIns="68575" bIns="34275" anchor="t" anchorCtr="0">
            <a:noAutofit/>
          </a:bodyPr>
          <a:lstStyle/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➔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 sure to include essential information</a:t>
            </a: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○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Title</a:t>
            </a: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○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Labeled axes</a:t>
            </a: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○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Specify units for numeric values</a:t>
            </a: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Char char="○"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Legend (if applicable)</a:t>
            </a: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i="0" u="none" strike="noStrike" cap="none" dirty="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41300" marR="0" lvl="0" indent="-17780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00A4E0"/>
              </a:buClr>
              <a:buSzPts val="900"/>
              <a:buFont typeface="Noto Sans Symbols"/>
              <a:buNone/>
            </a:pPr>
            <a:endParaRPr sz="1500" i="0" u="none" strike="noStrike" cap="none" dirty="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Bad Data Visualization Example</a:t>
            </a:r>
            <a:endParaRPr sz="30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6016875" y="2630125"/>
            <a:ext cx="1899600" cy="507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Bad example</a:t>
            </a:r>
            <a:endParaRPr sz="21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9" name="Google Shape;179;p23" descr="An example of a poorly designed bar 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175" y="1027423"/>
            <a:ext cx="3408024" cy="397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5778600" y="3411325"/>
            <a:ext cx="2611774" cy="114387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is wrong with this visualization?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Bad Data Visualization Example</a:t>
            </a:r>
            <a:endParaRPr sz="30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86" name="Google Shape;186;p24" descr="A well designed bar 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50" y="993925"/>
            <a:ext cx="6018675" cy="401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6758600" y="2917075"/>
            <a:ext cx="1899600" cy="831300"/>
          </a:xfrm>
          <a:prstGeom prst="rect">
            <a:avLst/>
          </a:prstGeom>
          <a:solidFill>
            <a:srgbClr val="0F441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Improved example</a:t>
            </a:r>
            <a:endParaRPr sz="21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>
            <a:spLocks noGrp="1"/>
          </p:cNvSpPr>
          <p:nvPr>
            <p:ph type="body" idx="1"/>
          </p:nvPr>
        </p:nvSpPr>
        <p:spPr>
          <a:xfrm>
            <a:off x="117650" y="1767700"/>
            <a:ext cx="5845800" cy="2279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75" tIns="155425" rIns="64000" bIns="2468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 b="1">
                <a:latin typeface="Twentieth Century"/>
                <a:ea typeface="Twentieth Century"/>
                <a:cs typeface="Twentieth Century"/>
                <a:sym typeface="Twentieth Century"/>
              </a:rPr>
              <a:t>Quick start</a:t>
            </a:r>
            <a:endParaRPr sz="1900" b="1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715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https://matplotlib.org/stable/users/explain/quick_start.html#parts-of-a-figure</a:t>
            </a: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800" b="1">
                <a:latin typeface="Twentieth Century"/>
                <a:ea typeface="Twentieth Century"/>
                <a:cs typeface="Twentieth Century"/>
                <a:sym typeface="Twentieth Century"/>
              </a:rPr>
              <a:t>Documentation</a:t>
            </a:r>
            <a:endParaRPr sz="1800" b="1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57150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wentieth Century"/>
              <a:buChar char="◆"/>
            </a:pPr>
            <a:r>
              <a:rPr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https://matplotlib.org/stable/api/index.html</a:t>
            </a: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3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Reading Package Documentation: Matplotlib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95" name="Google Shape;195;p25" descr="A diagram showing the components of a matplotlib figur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0175" y="1436350"/>
            <a:ext cx="2859551" cy="28595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>
            <a:spLocks noGrp="1"/>
          </p:cNvSpPr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3000" b="1">
                <a:latin typeface="Twentieth Century"/>
                <a:ea typeface="Twentieth Century"/>
                <a:cs typeface="Twentieth Century"/>
                <a:sym typeface="Twentieth Century"/>
              </a:rPr>
              <a:t>Preparing for Data Visualization with Python</a:t>
            </a:r>
            <a:endParaRPr sz="30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304950" y="1221800"/>
            <a:ext cx="8497200" cy="342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tl" rotWithShape="0">
              <a:srgbClr val="000000">
                <a:alpha val="66667"/>
              </a:srgbClr>
            </a:outerShdw>
          </a:effectLst>
        </p:spPr>
        <p:txBody>
          <a:bodyPr spcFirstLastPara="1" wrap="square" lIns="205725" tIns="246875" rIns="68575" bIns="3427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wentieth Century"/>
              <a:buAutoNum type="arabicPeriod"/>
            </a:pPr>
            <a:r>
              <a:rPr lang="en" sz="17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Know your data</a:t>
            </a:r>
            <a:endParaRPr sz="17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0" marR="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AutoNum type="alphaLcPeriod"/>
            </a:pPr>
            <a:r>
              <a:rPr lang="en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Are there any issues with the data (errors, inconsistencies, missing values, etc.)? What can be learned from the data? How can the data be best represented in a visualization?</a:t>
            </a:r>
            <a:endParaRPr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wentieth Century"/>
              <a:buAutoNum type="arabicPeriod"/>
            </a:pPr>
            <a:r>
              <a:rPr lang="en" sz="17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Process or clean data if necessary</a:t>
            </a:r>
            <a:endParaRPr sz="17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wentieth Century"/>
              <a:buAutoNum type="arabicPeriod"/>
            </a:pPr>
            <a:r>
              <a:rPr lang="en" sz="17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Produce visualization</a:t>
            </a:r>
            <a:endParaRPr sz="17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wentieth Century"/>
              <a:buAutoNum type="arabicPeriod"/>
            </a:pPr>
            <a:r>
              <a:rPr lang="en" sz="17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Refine visualization</a:t>
            </a:r>
            <a:endParaRPr sz="1700" b="1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125675" y="1774575"/>
            <a:ext cx="8914200" cy="1213800"/>
          </a:xfrm>
          <a:prstGeom prst="rect">
            <a:avLst/>
          </a:prstGeom>
          <a:solidFill>
            <a:srgbClr val="D9EAD3"/>
          </a:solidFill>
          <a:ln w="38100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37150" tIns="228600" rIns="137150" bIns="137150" anchor="t" anchorCtr="0">
            <a:noAutofit/>
          </a:bodyPr>
          <a:lstStyle/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From the Texas Data Repository dataset at </a:t>
            </a:r>
            <a:r>
              <a:rPr lang="en" sz="9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https://dataverse.tdl.org/file.xhtml?fileId=62725&amp;datasetVersionId=1894</a:t>
            </a:r>
            <a:r>
              <a:rPr lang="en" sz="9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9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publication related to this dataset is:  Fuiman, L.A., T.M. Williams, and R.W. Davis. 2020. Homing tactics of Weddell seals in the Antarctic fast-ice environment. Marine Biology. (doi: 10.1007/s00227-020-03730-w)</a:t>
            </a:r>
            <a:endParaRPr sz="10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45720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1524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600"/>
              <a:buFont typeface="Twentieth Century"/>
              <a:buChar char="➔"/>
            </a:pPr>
            <a:r>
              <a:rPr lang="en" sz="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sealdivesdf = pd.read_csv(</a:t>
            </a:r>
            <a:r>
              <a:rPr lang="en" sz="7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"https://dataverse.tdl.org/api/access/datafile/62725?gbrecs=true"</a:t>
            </a:r>
            <a:r>
              <a:rPr lang="en" sz="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104126" y="1456735"/>
            <a:ext cx="5558700" cy="3183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Source: Dive characteristics of Weddell seals 2014-2016</a:t>
            </a:r>
            <a:endParaRPr sz="16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1"/>
          </p:nvPr>
        </p:nvSpPr>
        <p:spPr>
          <a:xfrm>
            <a:off x="125675" y="4078223"/>
            <a:ext cx="8914200" cy="909000"/>
          </a:xfrm>
          <a:prstGeom prst="rect">
            <a:avLst/>
          </a:prstGeom>
          <a:solidFill>
            <a:srgbClr val="D9EAD3"/>
          </a:solidFill>
          <a:ln w="38100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37150" tIns="228600" rIns="137150" bIns="137150" anchor="t" anchorCtr="0">
            <a:noAutofit/>
          </a:bodyPr>
          <a:lstStyle/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From </a:t>
            </a:r>
            <a:r>
              <a:rPr lang="en" sz="10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https://gis-pdx.opendata.arcgis.com/datasets/PDX::parks-tree-inventory/about</a:t>
            </a:r>
            <a:r>
              <a:rPr lang="en" sz="11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15875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700"/>
              <a:buFont typeface="Courier New"/>
              <a:buChar char="➔"/>
            </a:pPr>
            <a:r>
              <a:rPr lang="en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treesdf = pd.read_csv(</a:t>
            </a:r>
            <a:r>
              <a:rPr lang="en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"https://hub.arcgis.com/api/v3/datasets/15ae00ece1bf486a868c0f635d3acbfa_220/downloads/data?format=csv&amp;spatialRefId=3857&amp;where=1%3D1"</a:t>
            </a:r>
            <a:r>
              <a:rPr lang="en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104126" y="3760379"/>
            <a:ext cx="5522100" cy="3183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Source: Portland, Oregon parks tree inventory data</a:t>
            </a:r>
            <a:endParaRPr sz="16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11" name="Google Shape;211;p27" descr="A photograph of a Weddell seal lifting its head out of the water" title="Weddell_seal.jpg"/>
          <p:cNvPicPr preferRelativeResize="0"/>
          <p:nvPr/>
        </p:nvPicPr>
        <p:blipFill rotWithShape="1">
          <a:blip r:embed="rId5">
            <a:alphaModFix/>
          </a:blip>
          <a:srcRect l="9049" r="7853"/>
          <a:stretch/>
        </p:blipFill>
        <p:spPr>
          <a:xfrm>
            <a:off x="7717375" y="1068835"/>
            <a:ext cx="1380423" cy="1094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2" name="Google Shape;212;p27" descr="A photograph of trees" title="Redwoods_in_Washington_Park,_Portland,_Oregon.jpg"/>
          <p:cNvPicPr preferRelativeResize="0"/>
          <p:nvPr/>
        </p:nvPicPr>
        <p:blipFill rotWithShape="1">
          <a:blip r:embed="rId6">
            <a:alphaModFix/>
          </a:blip>
          <a:srcRect t="17114" b="9814"/>
          <a:stretch/>
        </p:blipFill>
        <p:spPr>
          <a:xfrm>
            <a:off x="7851925" y="3312567"/>
            <a:ext cx="1245876" cy="12139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13" name="Google Shape;213;p27"/>
          <p:cNvSpPr txBox="1">
            <a:spLocks noGrp="1"/>
          </p:cNvSpPr>
          <p:nvPr>
            <p:ph type="title"/>
          </p:nvPr>
        </p:nvSpPr>
        <p:spPr>
          <a:xfrm>
            <a:off x="-386400" y="205799"/>
            <a:ext cx="9916800" cy="635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2400" b="1">
                <a:latin typeface="Twentieth Century"/>
                <a:ea typeface="Twentieth Century"/>
                <a:cs typeface="Twentieth Century"/>
                <a:sym typeface="Twentieth Century"/>
              </a:rPr>
              <a:t>Datasets to Practice Visualizing (slide 1 of 3)</a:t>
            </a:r>
            <a:endParaRPr sz="5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136450" y="1457000"/>
            <a:ext cx="8914200" cy="1094100"/>
          </a:xfrm>
          <a:prstGeom prst="rect">
            <a:avLst/>
          </a:prstGeom>
          <a:solidFill>
            <a:srgbClr val="D9EAD3"/>
          </a:solidFill>
          <a:ln w="38100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37150" tIns="228600" rIns="137150" bIns="137150" anchor="t" anchorCtr="0">
            <a:noAutofit/>
          </a:bodyPr>
          <a:lstStyle/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From </a:t>
            </a:r>
            <a:r>
              <a:rPr lang="en" sz="10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https://github.com/IBM/telco-customer-churn-on-icp4d/tree/master</a:t>
            </a: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000" b="1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155575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650"/>
              <a:buFont typeface="Courier New"/>
              <a:buChar char="➔"/>
            </a:pPr>
            <a:r>
              <a:rPr lang="en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customerchurndf = pd.read_csv(</a:t>
            </a:r>
            <a:r>
              <a:rPr lang="en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"https://raw.githubusercontent.com/IBM/telco-customer-churn-on-icp4d/refs/heads/master/data/Telco-Customer-Churn.csv"</a:t>
            </a:r>
            <a:r>
              <a:rPr lang="en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6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114908" y="1139163"/>
            <a:ext cx="5558700" cy="3183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Source: Telco customer churn dataset </a:t>
            </a:r>
            <a:endParaRPr sz="16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-386400" y="205799"/>
            <a:ext cx="9916800" cy="635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2400" b="1">
                <a:latin typeface="Twentieth Century"/>
                <a:ea typeface="Twentieth Century"/>
                <a:cs typeface="Twentieth Century"/>
                <a:sym typeface="Twentieth Century"/>
              </a:rPr>
              <a:t>Datasets to Practice Visualizing (slide 2 of 3)</a:t>
            </a:r>
            <a:endParaRPr sz="5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2" name="Google Shape;222;p28"/>
          <p:cNvSpPr txBox="1">
            <a:spLocks noGrp="1"/>
          </p:cNvSpPr>
          <p:nvPr>
            <p:ph type="body" idx="1"/>
          </p:nvPr>
        </p:nvSpPr>
        <p:spPr>
          <a:xfrm>
            <a:off x="147225" y="3214800"/>
            <a:ext cx="8914200" cy="1001700"/>
          </a:xfrm>
          <a:prstGeom prst="rect">
            <a:avLst/>
          </a:prstGeom>
          <a:solidFill>
            <a:srgbClr val="D9EAD3"/>
          </a:solidFill>
          <a:ln w="38100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37150" tIns="228600" rIns="137150" bIns="137150" anchor="t" anchorCtr="0">
            <a:noAutofit/>
          </a:bodyPr>
          <a:lstStyle/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singleimageband2 = {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"bandname"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"green"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"cmap"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"Greens"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"url"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"https://ut-austin.maps.arcgis.com/sharing/rest/content/items/21bfc72d87a844c8834db572bda24e58/data"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125675" y="2896950"/>
            <a:ext cx="5859900" cy="3183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Source: Single Band Raster from UAV Imagery Orthomosaic</a:t>
            </a:r>
            <a:endParaRPr sz="16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-386400" y="205799"/>
            <a:ext cx="9916800" cy="635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2400" b="1">
                <a:latin typeface="Twentieth Century"/>
                <a:ea typeface="Twentieth Century"/>
                <a:cs typeface="Twentieth Century"/>
                <a:sym typeface="Twentieth Century"/>
              </a:rPr>
              <a:t>Datasets to Practice Visualizing (slide 3 of 3)</a:t>
            </a:r>
            <a:endParaRPr sz="5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125675" y="1728250"/>
            <a:ext cx="8914200" cy="1094100"/>
          </a:xfrm>
          <a:prstGeom prst="rect">
            <a:avLst/>
          </a:prstGeom>
          <a:solidFill>
            <a:srgbClr val="D9EAD3"/>
          </a:solidFill>
          <a:ln w="38100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37150" tIns="228600" rIns="137150" bIns="137150" anchor="t" anchorCtr="0">
            <a:noAutofit/>
          </a:bodyPr>
          <a:lstStyle/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 b="1">
                <a:latin typeface="Twentieth Century"/>
                <a:ea typeface="Twentieth Century"/>
                <a:cs typeface="Twentieth Century"/>
                <a:sym typeface="Twentieth Century"/>
              </a:rPr>
              <a:t>Source Homepage: </a:t>
            </a: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https://nces.ed.gov/nhes/dataproducts.asp#2019dp</a:t>
            </a: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 b="1">
                <a:latin typeface="Twentieth Century"/>
                <a:ea typeface="Twentieth Century"/>
                <a:cs typeface="Twentieth Century"/>
                <a:sym typeface="Twentieth Century"/>
              </a:rPr>
              <a:t>Relevant Resources: </a:t>
            </a:r>
            <a:r>
              <a:rPr lang="en" sz="10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https://nces.ed.gov/pubs2021/2021030rev.pdf</a:t>
            </a: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 (user guide)</a:t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15875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SzPts val="700"/>
              <a:buFont typeface="Courier New"/>
              <a:buChar char="➔"/>
            </a:pPr>
            <a:r>
              <a:rPr lang="en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edudf = pd.read_csv(</a:t>
            </a:r>
            <a:r>
              <a:rPr lang="en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"https://nces.ed.gov/nhes/data/2019/pfi/pfi_pu_pert.csv"</a:t>
            </a:r>
            <a:r>
              <a:rPr lang="en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104125" y="1117775"/>
            <a:ext cx="5522100" cy="6111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National Household Education Surveys Program (NHES)</a:t>
            </a:r>
            <a:endParaRPr sz="16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Parent and Family Involvement in Education (PFI)</a:t>
            </a:r>
            <a:endParaRPr sz="16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0" descr="Google Colab screenshot showing graph that has been generated with Pyth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475" y="1232375"/>
            <a:ext cx="4508027" cy="2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>
            <a:spLocks noGrp="1"/>
          </p:cNvSpPr>
          <p:nvPr>
            <p:ph type="title"/>
          </p:nvPr>
        </p:nvSpPr>
        <p:spPr>
          <a:xfrm>
            <a:off x="-386400" y="205799"/>
            <a:ext cx="9916800" cy="635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2400" b="1">
                <a:latin typeface="Twentieth Century"/>
                <a:ea typeface="Twentieth Century"/>
                <a:cs typeface="Twentieth Century"/>
                <a:sym typeface="Twentieth Century"/>
              </a:rPr>
              <a:t>Visualizing Data Demo: Colab Notebook</a:t>
            </a:r>
            <a:endParaRPr sz="5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150325" y="1126475"/>
            <a:ext cx="3570600" cy="277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5425" tIns="246875" rIns="68575" bIns="68575" anchor="t" anchorCtr="0">
            <a:noAutofit/>
          </a:bodyPr>
          <a:lstStyle/>
          <a:p>
            <a:pPr marL="285750" lvl="0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wentieth Century"/>
              <a:buChar char="➔"/>
            </a:pPr>
            <a:r>
              <a:rPr lang="en" sz="17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Importing data visualization packages</a:t>
            </a:r>
            <a:endParaRPr sz="17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85750" lvl="0" indent="-2222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wentieth Century"/>
              <a:buChar char="➔"/>
            </a:pPr>
            <a:r>
              <a:rPr lang="en" sz="17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Accessing data </a:t>
            </a:r>
            <a:endParaRPr sz="17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85750" lvl="0" indent="-2222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wentieth Century"/>
              <a:buChar char="➔"/>
            </a:pPr>
            <a:r>
              <a:rPr lang="en" sz="17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Generating visualizations</a:t>
            </a:r>
            <a:endParaRPr sz="17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85750" lvl="0" indent="-22225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Twentieth Century"/>
              <a:buChar char="➔"/>
            </a:pPr>
            <a:r>
              <a:rPr lang="en" sz="170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Customizing figure properties</a:t>
            </a:r>
            <a:endParaRPr sz="1700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615450" y="4190651"/>
            <a:ext cx="8186700" cy="744949"/>
          </a:xfrm>
          <a:prstGeom prst="rect">
            <a:avLst/>
          </a:prstGeom>
          <a:solidFill>
            <a:srgbClr val="FFE599"/>
          </a:solidFill>
          <a:ln w="2857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/>
              <a:t>Link to publicly shared August 26 IPW Data Visualization Google </a:t>
            </a:r>
            <a:r>
              <a:rPr lang="en" sz="1300" b="1" dirty="0" err="1"/>
              <a:t>Colab</a:t>
            </a:r>
            <a:r>
              <a:rPr lang="en" sz="1300" b="1" dirty="0"/>
              <a:t> Notebook</a:t>
            </a:r>
            <a:endParaRPr sz="13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u="sng" dirty="0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https://bit.ly/datavis-colab-ipw-aug26</a:t>
            </a:r>
            <a:r>
              <a:rPr lang="en" sz="13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300" b="1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 rot="670295">
            <a:off x="6297587" y="3783467"/>
            <a:ext cx="2777836" cy="615532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Please save a copy of this script to your drive so you can edit it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>
            <a:spLocks noGrp="1"/>
          </p:cNvSpPr>
          <p:nvPr>
            <p:ph type="body" idx="1"/>
          </p:nvPr>
        </p:nvSpPr>
        <p:spPr>
          <a:xfrm>
            <a:off x="137225" y="962150"/>
            <a:ext cx="8914200" cy="1986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228600" tIns="228600" rIns="137150" bIns="137150" anchor="t" anchorCtr="0">
            <a:noAutofit/>
          </a:bodyPr>
          <a:lstStyle/>
          <a:p>
            <a:pPr marL="342900" lvl="0" indent="-260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Installing new packages (remember to use virtual environment!)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260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Creating a variety of different chart types including pie charts, bar charts, and scatter plots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260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Comparing code for creating simple chart types with different visualization libraries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260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Reading package documentation to learn how to create and make adjustments to charts and figures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-386400" y="205799"/>
            <a:ext cx="9916800" cy="635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685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lang="en" sz="2400" b="1">
                <a:latin typeface="Twentieth Century"/>
                <a:ea typeface="Twentieth Century"/>
                <a:cs typeface="Twentieth Century"/>
                <a:sym typeface="Twentieth Century"/>
              </a:rPr>
              <a:t>Visualizing Data Demo: Local Development</a:t>
            </a:r>
            <a:endParaRPr sz="24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9" name="Google Shape;249;p31" descr="Bar chart exam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33450"/>
            <a:ext cx="2280156" cy="175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 descr="Scatter plot exampl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956" y="3233450"/>
            <a:ext cx="2289572" cy="175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 descr="3D scatterplot exampl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2601" y="3310550"/>
            <a:ext cx="853450" cy="7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1" descr="Scatter plot with linear regression exampl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2600" y="4150849"/>
            <a:ext cx="3469373" cy="8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1" descr="Bar plot exampl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9363" y="3302763"/>
            <a:ext cx="980250" cy="73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1" descr="Venn diagram exampl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42926" y="3310549"/>
            <a:ext cx="1129049" cy="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Macintosh PowerPoint</Application>
  <PresentationFormat>On-screen Show (16:9)</PresentationFormat>
  <Paragraphs>124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Noto Sans Symbols</vt:lpstr>
      <vt:lpstr>Rockwell</vt:lpstr>
      <vt:lpstr>Twentieth Century</vt:lpstr>
      <vt:lpstr>Office Theme</vt:lpstr>
      <vt:lpstr>Immersive Python Workshop Day 3</vt:lpstr>
      <vt:lpstr>Overall Goals of this Data Visualization Session</vt:lpstr>
      <vt:lpstr>What is Data Visualization?</vt:lpstr>
      <vt:lpstr>Raw Data vs. Visualized Data</vt:lpstr>
      <vt:lpstr>Python Data Visualization Resources</vt:lpstr>
      <vt:lpstr>Choosing a Data Visualization Library</vt:lpstr>
      <vt:lpstr>Packages for Tabular Data and Data Visualization</vt:lpstr>
      <vt:lpstr>Python for Automating Processes in Data Vis Desktop Software</vt:lpstr>
      <vt:lpstr>Learn What’s Possible and Get Ideas</vt:lpstr>
      <vt:lpstr>Good Data Visualization Practices</vt:lpstr>
      <vt:lpstr>Bad Data Visualization Example</vt:lpstr>
      <vt:lpstr>Bad Data Visualization Example</vt:lpstr>
      <vt:lpstr>Reading Package Documentation: Matplotlib</vt:lpstr>
      <vt:lpstr>Preparing for Data Visualization with Python</vt:lpstr>
      <vt:lpstr>Datasets to Practice Visualizing (slide 1 of 3)</vt:lpstr>
      <vt:lpstr>Datasets to Practice Visualizing (slide 2 of 3)</vt:lpstr>
      <vt:lpstr>Datasets to Practice Visualizing (slide 3 of 3)</vt:lpstr>
      <vt:lpstr>Visualizing Data Demo: Colab Notebook</vt:lpstr>
      <vt:lpstr>Visualizing Data Demo: Local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Shensky, Michael G</cp:lastModifiedBy>
  <cp:revision>1</cp:revision>
  <dcterms:modified xsi:type="dcterms:W3CDTF">2026-08-21T04:09:15Z</dcterms:modified>
</cp:coreProperties>
</file>