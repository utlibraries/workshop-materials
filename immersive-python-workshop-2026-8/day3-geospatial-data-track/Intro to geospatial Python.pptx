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ibre Franklin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Medium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Libre Franklin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ED682D-C0F1-4E5C-A911-966FB4DEAF21}">
  <a:tblStyle styleId="{DBED682D-C0F1-4E5C-A911-966FB4DEAF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4.xml"/><Relationship Id="rId42" Type="http://schemas.openxmlformats.org/officeDocument/2006/relationships/font" Target="fonts/LibreFranklinMedium-regular.fntdata"/><Relationship Id="rId41" Type="http://schemas.openxmlformats.org/officeDocument/2006/relationships/font" Target="fonts/Lato-boldItalic.fntdata"/><Relationship Id="rId22" Type="http://schemas.openxmlformats.org/officeDocument/2006/relationships/font" Target="fonts/Raleway-regular.fntdata"/><Relationship Id="rId44" Type="http://schemas.openxmlformats.org/officeDocument/2006/relationships/font" Target="fonts/LibreFranklinMedium-italic.fntdata"/><Relationship Id="rId21" Type="http://schemas.openxmlformats.org/officeDocument/2006/relationships/slide" Target="slides/slide15.xml"/><Relationship Id="rId43" Type="http://schemas.openxmlformats.org/officeDocument/2006/relationships/font" Target="fonts/LibreFranklinMedium-bold.fntdata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45" Type="http://schemas.openxmlformats.org/officeDocument/2006/relationships/font" Target="fonts/LibreFranklin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ibreFranklin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ibreFranklin-italic.fntdata"/><Relationship Id="rId27" Type="http://schemas.openxmlformats.org/officeDocument/2006/relationships/font" Target="fonts/LibreFranklin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ibreFranklin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bold.fntdata"/><Relationship Id="rId12" Type="http://schemas.openxmlformats.org/officeDocument/2006/relationships/slide" Target="slides/slide6.xml"/><Relationship Id="rId34" Type="http://schemas.openxmlformats.org/officeDocument/2006/relationships/font" Target="fonts/RobotoMedium-regular.fntdata"/><Relationship Id="rId15" Type="http://schemas.openxmlformats.org/officeDocument/2006/relationships/slide" Target="slides/slide9.xml"/><Relationship Id="rId37" Type="http://schemas.openxmlformats.org/officeDocument/2006/relationships/font" Target="fonts/Roboto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Medium-italic.fntdata"/><Relationship Id="rId17" Type="http://schemas.openxmlformats.org/officeDocument/2006/relationships/slide" Target="slides/slide11.xml"/><Relationship Id="rId39" Type="http://schemas.openxmlformats.org/officeDocument/2006/relationships/font" Target="fonts/Lato-bold.fntdata"/><Relationship Id="rId16" Type="http://schemas.openxmlformats.org/officeDocument/2006/relationships/slide" Target="slides/slide10.xml"/><Relationship Id="rId38" Type="http://schemas.openxmlformats.org/officeDocument/2006/relationships/font" Target="fonts/La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65cb4b7ad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f65cb4b7ad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65cb4b7ad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65cb4b7a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65cb4b7a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f65cb4b7a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65cb4b7ad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65cb4b7ad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f65cb4b7ad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ad302f2d_0_2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f6ad302f2d_0_2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f6ad302f2d_0_2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5cb4b7ad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65cb4b7ad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f65cb4b7ad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65cb4b7ad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f65cb4b7ad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f65cb4b7ad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65cb4b7ad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f65cb4b7ad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f65cb4b7ad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b8de0a0d3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8b8de0a0d3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8b8de0a0d3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65cb4b7ad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65cb4b7ad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f65cb4b7ad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65cb4b7ad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f65cb4b7ad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f65cb4b7ad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b8de0a0d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8b8de0a0d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8b8de0a0d3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b8de0a0d3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8b8de0a0d3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8b8de0a0d3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7193bee47_2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f7193bee47_2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f7193bee47_2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6948cf2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6948cf2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/>
              <a:t>G</a:t>
            </a:r>
            <a:r>
              <a:rPr lang="en" sz="3000"/>
              <a:t>eospatial Python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729625" y="3172900"/>
            <a:ext cx="76881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89"/>
              <a:t>Alex Marden, </a:t>
            </a:r>
            <a:r>
              <a:rPr lang="en" sz="1689"/>
              <a:t>PhD</a:t>
            </a:r>
            <a:endParaRPr sz="168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40"/>
              <a:t>GIS and Geospatial Data Coordinator | UT Austin Libraries </a:t>
            </a:r>
            <a:endParaRPr sz="22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281150" y="923775"/>
            <a:ext cx="8454600" cy="406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/>
          </a:bodyPr>
          <a:lstStyle/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806"/>
              <a:buNone/>
            </a:pPr>
            <a:r>
              <a:t/>
            </a:r>
            <a:endParaRPr sz="2995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778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806"/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>
            <p:ph type="title"/>
          </p:nvPr>
        </p:nvSpPr>
        <p:spPr>
          <a:xfrm>
            <a:off x="-390906" y="26060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What makes this</a:t>
            </a: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 a map?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0175" y="1059437"/>
            <a:ext cx="3749799" cy="379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-386406" y="221865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What is geospatial?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281150" y="923775"/>
            <a:ext cx="8454600" cy="406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/>
          </a:bodyPr>
          <a:lstStyle/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806"/>
              <a:buNone/>
            </a:pPr>
            <a:r>
              <a:t/>
            </a:r>
            <a:endParaRPr sz="2995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778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806"/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-390906" y="26060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What is geospatial?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720175" y="2571750"/>
            <a:ext cx="77916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95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Relates to a specific location on the Earth’s surface</a:t>
            </a:r>
            <a:r>
              <a:rPr lang="en" sz="2595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  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-386406" y="221865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What is geospatial to a computer?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281150" y="923775"/>
            <a:ext cx="8454600" cy="406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/>
          </a:bodyPr>
          <a:lstStyle/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806"/>
              <a:buNone/>
            </a:pPr>
            <a:r>
              <a:t/>
            </a:r>
            <a:endParaRPr sz="2995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778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806"/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9"/>
          <p:cNvSpPr txBox="1"/>
          <p:nvPr>
            <p:ph type="title"/>
          </p:nvPr>
        </p:nvSpPr>
        <p:spPr>
          <a:xfrm>
            <a:off x="-390906" y="26060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Let’s start with non-geospatial tabular data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graphicFrame>
        <p:nvGraphicFramePr>
          <p:cNvPr id="129" name="Google Shape;129;p19"/>
          <p:cNvGraphicFramePr/>
          <p:nvPr/>
        </p:nvGraphicFramePr>
        <p:xfrm>
          <a:off x="542925" y="165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{DBED682D-C0F1-4E5C-A911-966FB4DEAF21}</a:tableStyleId>
              </a:tblPr>
              <a:tblGrid>
                <a:gridCol w="958850"/>
                <a:gridCol w="958850"/>
                <a:gridCol w="958850"/>
              </a:tblGrid>
              <a:tr h="66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Building 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 of floors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Capacity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Old Main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Corner Room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Bryce Jordan Center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19,874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p19"/>
          <p:cNvSpPr txBox="1"/>
          <p:nvPr/>
        </p:nvSpPr>
        <p:spPr>
          <a:xfrm>
            <a:off x="1086800" y="1141725"/>
            <a:ext cx="1676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Tabular Data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3965896" y="1117300"/>
            <a:ext cx="4209000" cy="368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4689796" y="1141725"/>
            <a:ext cx="1676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Tabular Data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3" name="Google Shape;133;p19"/>
          <p:cNvCxnSpPr/>
          <p:nvPr/>
        </p:nvCxnSpPr>
        <p:spPr>
          <a:xfrm flipH="1">
            <a:off x="4746871" y="2066325"/>
            <a:ext cx="9600" cy="184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9"/>
          <p:cNvSpPr txBox="1"/>
          <p:nvPr/>
        </p:nvSpPr>
        <p:spPr>
          <a:xfrm>
            <a:off x="4718371" y="3942750"/>
            <a:ext cx="257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X: Number of floors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19"/>
          <p:cNvSpPr txBox="1"/>
          <p:nvPr/>
        </p:nvSpPr>
        <p:spPr>
          <a:xfrm rot="-5400000">
            <a:off x="3733996" y="2614225"/>
            <a:ext cx="144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Y: Capacity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4956496" y="3603325"/>
            <a:ext cx="114300" cy="114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5261296" y="3184225"/>
            <a:ext cx="114300" cy="114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5785171" y="2422225"/>
            <a:ext cx="114300" cy="114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9"/>
          <p:cNvCxnSpPr/>
          <p:nvPr/>
        </p:nvCxnSpPr>
        <p:spPr>
          <a:xfrm rot="10800000">
            <a:off x="4746871" y="3914250"/>
            <a:ext cx="1724100" cy="2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281150" y="923775"/>
            <a:ext cx="8454600" cy="406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/>
          </a:bodyPr>
          <a:lstStyle/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806"/>
              <a:buNone/>
            </a:pPr>
            <a:r>
              <a:t/>
            </a:r>
            <a:endParaRPr sz="2995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1778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806"/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 txBox="1"/>
          <p:nvPr>
            <p:ph type="title"/>
          </p:nvPr>
        </p:nvSpPr>
        <p:spPr>
          <a:xfrm>
            <a:off x="-390906" y="26060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What is geospatial to a computer?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graphicFrame>
        <p:nvGraphicFramePr>
          <p:cNvPr id="147" name="Google Shape;147;p20"/>
          <p:cNvGraphicFramePr/>
          <p:nvPr/>
        </p:nvGraphicFramePr>
        <p:xfrm>
          <a:off x="542925" y="165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{DBED682D-C0F1-4E5C-A911-966FB4DEAF21}</a:tableStyleId>
              </a:tblPr>
              <a:tblGrid>
                <a:gridCol w="958850"/>
                <a:gridCol w="958850"/>
                <a:gridCol w="958850"/>
              </a:tblGrid>
              <a:tr h="66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Building 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 of floors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Capacity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Old Main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Corner Room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Bryce Jordan Center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19,874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" name="Google Shape;148;p20"/>
          <p:cNvSpPr txBox="1"/>
          <p:nvPr/>
        </p:nvSpPr>
        <p:spPr>
          <a:xfrm>
            <a:off x="1086800" y="1141725"/>
            <a:ext cx="1676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Tabular Data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9" name="Google Shape;149;p20"/>
          <p:cNvCxnSpPr/>
          <p:nvPr/>
        </p:nvCxnSpPr>
        <p:spPr>
          <a:xfrm>
            <a:off x="3544250" y="3059525"/>
            <a:ext cx="6477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50" name="Google Shape;150;p20"/>
          <p:cNvGraphicFramePr/>
          <p:nvPr/>
        </p:nvGraphicFramePr>
        <p:xfrm>
          <a:off x="4239575" y="156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{DBED682D-C0F1-4E5C-A911-966FB4DEAF21}</a:tableStyleId>
              </a:tblPr>
              <a:tblGrid>
                <a:gridCol w="889650"/>
                <a:gridCol w="889650"/>
                <a:gridCol w="889650"/>
                <a:gridCol w="889650"/>
                <a:gridCol w="889650"/>
              </a:tblGrid>
              <a:tr h="66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Building 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 of floors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Capacity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Old Main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-77.86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Corner Room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-77.85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Bryce Jordan Center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19,874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-77.86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1" name="Google Shape;151;p20"/>
          <p:cNvSpPr txBox="1"/>
          <p:nvPr/>
        </p:nvSpPr>
        <p:spPr>
          <a:xfrm>
            <a:off x="5511200" y="1141725"/>
            <a:ext cx="2172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Geospatial Data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362900" y="1117300"/>
            <a:ext cx="8534400" cy="368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>
            <p:ph type="title"/>
          </p:nvPr>
        </p:nvSpPr>
        <p:spPr>
          <a:xfrm>
            <a:off x="-390906" y="26060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	The axes are latitude and longitude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1086800" y="1141725"/>
            <a:ext cx="1676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Tabular Data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60" name="Google Shape;160;p21"/>
          <p:cNvCxnSpPr/>
          <p:nvPr/>
        </p:nvCxnSpPr>
        <p:spPr>
          <a:xfrm>
            <a:off x="3553775" y="3070000"/>
            <a:ext cx="647700" cy="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1"/>
          <p:cNvSpPr txBox="1"/>
          <p:nvPr/>
        </p:nvSpPr>
        <p:spPr>
          <a:xfrm>
            <a:off x="5511200" y="1141725"/>
            <a:ext cx="2172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Geospatial Data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62" name="Google Shape;162;p21"/>
          <p:cNvCxnSpPr/>
          <p:nvPr/>
        </p:nvCxnSpPr>
        <p:spPr>
          <a:xfrm flipH="1">
            <a:off x="1143875" y="2066325"/>
            <a:ext cx="9600" cy="184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1"/>
          <p:cNvCxnSpPr/>
          <p:nvPr/>
        </p:nvCxnSpPr>
        <p:spPr>
          <a:xfrm rot="10800000">
            <a:off x="1143875" y="3914250"/>
            <a:ext cx="1724100" cy="2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1"/>
          <p:cNvSpPr txBox="1"/>
          <p:nvPr/>
        </p:nvSpPr>
        <p:spPr>
          <a:xfrm>
            <a:off x="1115375" y="3942750"/>
            <a:ext cx="257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X: Number of floors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1"/>
          <p:cNvSpPr txBox="1"/>
          <p:nvPr/>
        </p:nvSpPr>
        <p:spPr>
          <a:xfrm rot="-5400000">
            <a:off x="131000" y="2614225"/>
            <a:ext cx="144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Y: Capacity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1353500" y="3603325"/>
            <a:ext cx="114300" cy="114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1658300" y="3184225"/>
            <a:ext cx="114300" cy="114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2182175" y="2422225"/>
            <a:ext cx="114300" cy="114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21"/>
          <p:cNvCxnSpPr/>
          <p:nvPr/>
        </p:nvCxnSpPr>
        <p:spPr>
          <a:xfrm flipH="1">
            <a:off x="6049250" y="2149000"/>
            <a:ext cx="9600" cy="184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1"/>
          <p:cNvCxnSpPr/>
          <p:nvPr/>
        </p:nvCxnSpPr>
        <p:spPr>
          <a:xfrm rot="10800000">
            <a:off x="6049250" y="3997000"/>
            <a:ext cx="1724100" cy="2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1"/>
          <p:cNvSpPr txBox="1"/>
          <p:nvPr/>
        </p:nvSpPr>
        <p:spPr>
          <a:xfrm>
            <a:off x="5973125" y="4025500"/>
            <a:ext cx="257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X: Longitude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1"/>
          <p:cNvSpPr txBox="1"/>
          <p:nvPr/>
        </p:nvSpPr>
        <p:spPr>
          <a:xfrm rot="-5400000">
            <a:off x="4903025" y="2759475"/>
            <a:ext cx="144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Y: Latitude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6408650" y="2884150"/>
            <a:ext cx="246000" cy="246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7244675" y="3012775"/>
            <a:ext cx="114300" cy="114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6313025" y="3505082"/>
            <a:ext cx="444000" cy="44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6249275" y="2697463"/>
            <a:ext cx="755400" cy="2952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Old Main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6477875" y="3314726"/>
            <a:ext cx="376200" cy="2952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BJC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7128875" y="2780788"/>
            <a:ext cx="755400" cy="2952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Corner Room</a:t>
            </a:r>
            <a:endParaRPr sz="600">
              <a:solidFill>
                <a:schemeClr val="dk2"/>
              </a:solidFill>
            </a:endParaRPr>
          </a:p>
        </p:txBody>
      </p:sp>
      <p:grpSp>
        <p:nvGrpSpPr>
          <p:cNvPr id="179" name="Google Shape;179;p21"/>
          <p:cNvGrpSpPr/>
          <p:nvPr/>
        </p:nvGrpSpPr>
        <p:grpSpPr>
          <a:xfrm>
            <a:off x="7773350" y="1729666"/>
            <a:ext cx="690600" cy="1397400"/>
            <a:chOff x="7604375" y="1786766"/>
            <a:chExt cx="690600" cy="1397400"/>
          </a:xfrm>
        </p:grpSpPr>
        <p:sp>
          <p:nvSpPr>
            <p:cNvPr id="180" name="Google Shape;180;p21"/>
            <p:cNvSpPr/>
            <p:nvPr/>
          </p:nvSpPr>
          <p:spPr>
            <a:xfrm>
              <a:off x="7604375" y="1786766"/>
              <a:ext cx="690600" cy="1397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u="sng"/>
                <a:t>Legend</a:t>
              </a:r>
              <a:endParaRPr sz="800" u="sng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/>
                <a:t>Capcity </a:t>
              </a:r>
              <a:endParaRPr sz="7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7883825" y="2172363"/>
              <a:ext cx="93000" cy="930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7750475" y="2536536"/>
              <a:ext cx="376200" cy="376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 txBox="1"/>
            <p:nvPr/>
          </p:nvSpPr>
          <p:spPr>
            <a:xfrm>
              <a:off x="7727675" y="2172375"/>
              <a:ext cx="4440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100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184" name="Google Shape;184;p21"/>
            <p:cNvSpPr txBox="1"/>
            <p:nvPr/>
          </p:nvSpPr>
          <p:spPr>
            <a:xfrm>
              <a:off x="7680050" y="2824450"/>
              <a:ext cx="5673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15000</a:t>
              </a:r>
              <a:endParaRPr sz="9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-386406" y="221865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What is GIS?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258650" y="1117700"/>
            <a:ext cx="8707500" cy="3905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129"/>
              <a:buNone/>
            </a:pPr>
            <a:r>
              <a:rPr b="1" lang="en" sz="1872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Geographic</a:t>
            </a:r>
            <a:r>
              <a:rPr b="1" lang="en" sz="1934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– </a:t>
            </a:r>
            <a:r>
              <a:rPr b="1" lang="en" sz="1872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Relates to a specific location on the Earth’s surface</a:t>
            </a:r>
            <a:r>
              <a:rPr b="1" lang="en" sz="1934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</a:t>
            </a:r>
            <a:endParaRPr b="1" sz="1934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129"/>
              <a:buNone/>
            </a:pPr>
            <a:r>
              <a:rPr b="1" lang="en" sz="1872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Information </a:t>
            </a:r>
            <a:r>
              <a:rPr b="1" lang="en" sz="1934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– </a:t>
            </a:r>
            <a:r>
              <a:rPr b="1" lang="en" sz="1872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that has some value added </a:t>
            </a:r>
            <a:endParaRPr b="1" sz="1872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129"/>
              <a:buNone/>
            </a:pPr>
            <a:r>
              <a:rPr b="1" lang="en" sz="1872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Systems</a:t>
            </a:r>
            <a:r>
              <a:rPr b="1" lang="en" sz="1934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– </a:t>
            </a:r>
            <a:r>
              <a:rPr b="1" lang="en" sz="1872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System that performs functions with </a:t>
            </a:r>
            <a:r>
              <a:rPr b="1" lang="en" sz="1872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geographic </a:t>
            </a:r>
            <a:r>
              <a:rPr b="1" lang="en" sz="1872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</a:t>
            </a:r>
            <a:endParaRPr b="1" sz="1063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 txBox="1"/>
          <p:nvPr>
            <p:ph type="title"/>
          </p:nvPr>
        </p:nvSpPr>
        <p:spPr>
          <a:xfrm>
            <a:off x="-390906" y="26060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What is GIS?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9300"/>
            <a:ext cx="8839204" cy="380672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 txBox="1"/>
          <p:nvPr>
            <p:ph type="title"/>
          </p:nvPr>
        </p:nvSpPr>
        <p:spPr>
          <a:xfrm>
            <a:off x="-390906" y="26060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lang="en" sz="2200">
                <a:latin typeface="Libre Franklin Medium"/>
                <a:ea typeface="Libre Franklin Medium"/>
                <a:cs typeface="Libre Franklin Medium"/>
                <a:sym typeface="Libre Franklin Medium"/>
              </a:rPr>
              <a:t>What is GIS?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-390906" y="26060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33F48"/>
                </a:solidFill>
                <a:latin typeface="Arial"/>
                <a:ea typeface="Arial"/>
                <a:cs typeface="Arial"/>
                <a:sym typeface="Arial"/>
              </a:rPr>
              <a:t>Why is GIS Useful?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211" name="Google Shape;2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775" y="1200204"/>
            <a:ext cx="2190221" cy="3871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/>
        </p:nvSpPr>
        <p:spPr>
          <a:xfrm>
            <a:off x="0" y="1200200"/>
            <a:ext cx="6953700" cy="3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Helps answer geographic questions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Location is either used to help find a solution or is the solution itself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Different layers are used to visualize and analyze spatial relationships among variables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 sz="1200"/>
              <a:t>“</a:t>
            </a:r>
            <a:r>
              <a:rPr i="1" lang="en"/>
              <a:t>Where did the flooding occur?” “Where should I open my business?”</a:t>
            </a:r>
            <a:endParaRPr i="1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/>
              <a:t>“Does this </a:t>
            </a:r>
            <a:r>
              <a:rPr i="1" lang="en"/>
              <a:t>redevelopment</a:t>
            </a:r>
            <a:r>
              <a:rPr i="1" lang="en"/>
              <a:t> plan </a:t>
            </a:r>
            <a:r>
              <a:rPr i="1" lang="en"/>
              <a:t>disproportionately</a:t>
            </a:r>
            <a:r>
              <a:rPr i="1" lang="en"/>
              <a:t> impact a certain group of people?”</a:t>
            </a:r>
            <a:endParaRPr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-390906" y="26060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33F48"/>
                </a:solidFill>
                <a:latin typeface="Arial"/>
                <a:ea typeface="Arial"/>
                <a:cs typeface="Arial"/>
                <a:sym typeface="Arial"/>
              </a:rPr>
              <a:t>GIS data models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0" y="1200200"/>
            <a:ext cx="602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0" name="Google Shape;220;p26"/>
          <p:cNvSpPr txBox="1"/>
          <p:nvPr/>
        </p:nvSpPr>
        <p:spPr>
          <a:xfrm>
            <a:off x="115475" y="1200200"/>
            <a:ext cx="72633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Roboto Medium"/>
              <a:buChar char="●"/>
            </a:pP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How do we represent geographic space with data?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edium"/>
              <a:buChar char="●"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Two different types of models 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edium"/>
              <a:buChar char="○"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Vector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edium"/>
              <a:buChar char="○"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Raster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edium"/>
              <a:buChar char="●"/>
            </a:pPr>
            <a:r>
              <a:rPr lang="en" sz="1300">
                <a:latin typeface="Roboto Medium"/>
                <a:ea typeface="Roboto Medium"/>
                <a:cs typeface="Roboto Medium"/>
                <a:sym typeface="Roboto Medium"/>
              </a:rPr>
              <a:t>Vector is normally used for discrete features 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edium"/>
              <a:buChar char="○"/>
            </a:pPr>
            <a:r>
              <a:rPr lang="en" sz="1300">
                <a:latin typeface="Roboto Medium"/>
                <a:ea typeface="Roboto Medium"/>
                <a:cs typeface="Roboto Medium"/>
                <a:sym typeface="Roboto Medium"/>
              </a:rPr>
              <a:t>e.g., roads, lakes 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edium"/>
              <a:buChar char="●"/>
            </a:pPr>
            <a:r>
              <a:rPr lang="en" sz="1300">
                <a:latin typeface="Roboto Medium"/>
                <a:ea typeface="Roboto Medium"/>
                <a:cs typeface="Roboto Medium"/>
                <a:sym typeface="Roboto Medium"/>
              </a:rPr>
              <a:t>Raster is best for continuous features 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latin typeface="Roboto Medium"/>
                <a:ea typeface="Roboto Medium"/>
                <a:cs typeface="Roboto Medium"/>
                <a:sym typeface="Roboto Medium"/>
              </a:rPr>
              <a:t>e.g., elevation, land cover type</a:t>
            </a:r>
            <a:r>
              <a:rPr b="1" lang="en" sz="1300"/>
              <a:t>`</a:t>
            </a:r>
            <a:endParaRPr/>
          </a:p>
        </p:txBody>
      </p:sp>
      <p:pic>
        <p:nvPicPr>
          <p:cNvPr id="221" name="Google Shape;2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2100" y="1200200"/>
            <a:ext cx="3587750" cy="38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-390906" y="260604"/>
            <a:ext cx="9916800" cy="706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33F48"/>
                </a:solidFill>
                <a:latin typeface="Arial"/>
                <a:ea typeface="Arial"/>
                <a:cs typeface="Arial"/>
                <a:sym typeface="Arial"/>
              </a:rPr>
              <a:t>CRS and Projections</a:t>
            </a:r>
            <a:endParaRPr sz="22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0" y="1200200"/>
            <a:ext cx="602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29" name="Google Shape;2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475" y="1569500"/>
            <a:ext cx="49720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GIS Software Overview</a:t>
            </a:r>
            <a:endParaRPr/>
          </a:p>
        </p:txBody>
      </p:sp>
      <p:pic>
        <p:nvPicPr>
          <p:cNvPr id="235" name="Google Shape;2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875" y="1895406"/>
            <a:ext cx="2181225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8"/>
          <p:cNvPicPr preferRelativeResize="0"/>
          <p:nvPr/>
        </p:nvPicPr>
        <p:blipFill rotWithShape="1">
          <a:blip r:embed="rId4">
            <a:alphaModFix/>
          </a:blip>
          <a:srcRect b="0" l="0" r="66474" t="0"/>
          <a:stretch/>
        </p:blipFill>
        <p:spPr>
          <a:xfrm>
            <a:off x="3425550" y="1965812"/>
            <a:ext cx="2292900" cy="204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2900" y="1832157"/>
            <a:ext cx="2307702" cy="230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