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Mukt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638386-E68D-4A27-8777-A2F905FCE68C}">
  <a:tblStyle styleId="{E5638386-E68D-4A27-8777-A2F905FCE6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Mukta-bold.fntdata"/><Relationship Id="rId12" Type="http://schemas.openxmlformats.org/officeDocument/2006/relationships/font" Target="fonts/Mukt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2 1 1 1 1">
  <p:cSld name="TITLE_1_2_1_1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146400" y="1025606"/>
            <a:ext cx="88452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Char char="•"/>
              <a:defRPr i="0" u="none" cap="none" strike="noStrike"/>
            </a:lvl1pPr>
            <a:lvl2pPr indent="-3175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Char char="–"/>
              <a:defRPr i="0" u="none" cap="none" strike="noStrike"/>
            </a:lvl2pPr>
            <a:lvl3pPr indent="-3175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3pPr>
            <a:lvl4pPr indent="-3175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–"/>
              <a:defRPr i="0" u="none" cap="none" strike="noStrike"/>
            </a:lvl4pPr>
            <a:lvl5pPr indent="-3175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»"/>
              <a:defRPr i="0" u="none" cap="none" strike="noStrike"/>
            </a:lvl5pPr>
            <a:lvl6pPr indent="-3175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6pPr>
            <a:lvl7pPr indent="-3175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7pPr>
            <a:lvl8pPr indent="-3175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8pPr>
            <a:lvl9pPr indent="-3175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i="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146550" y="19144"/>
            <a:ext cx="8845200" cy="6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None/>
              <a:defRPr i="0" sz="4400" u="none" cap="none" strike="noStrike"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14"/>
          <p:cNvSpPr/>
          <p:nvPr/>
        </p:nvSpPr>
        <p:spPr>
          <a:xfrm>
            <a:off x="0" y="655733"/>
            <a:ext cx="9144000" cy="97800"/>
          </a:xfrm>
          <a:prstGeom prst="rect">
            <a:avLst/>
          </a:prstGeom>
          <a:solidFill>
            <a:srgbClr val="17365D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9" y="47404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9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ipw-aug26-github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lib.badges.utexas.edu/group/845732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python-install-test-aug26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5F06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2910700" y="3685525"/>
            <a:ext cx="3467700" cy="1001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1700" u="none" cap="none" strike="noStrike">
                <a:solidFill>
                  <a:srgbClr val="59595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Access sl</a:t>
            </a:r>
            <a:r>
              <a:rPr lang="en" sz="1700">
                <a:solidFill>
                  <a:srgbClr val="59595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ides and </a:t>
            </a:r>
            <a:r>
              <a:rPr b="0" i="0" lang="en" sz="1700" u="none" cap="none" strike="noStrike">
                <a:solidFill>
                  <a:srgbClr val="59595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shared </a:t>
            </a:r>
            <a:r>
              <a:rPr lang="en" sz="1700">
                <a:solidFill>
                  <a:srgbClr val="59595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links</a:t>
            </a:r>
            <a:endParaRPr sz="1700">
              <a:solidFill>
                <a:srgbClr val="59595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" sz="1900" u="sng">
                <a:solidFill>
                  <a:schemeClr val="accent5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https://bit.ly/ipw-aug26-github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15"/>
          <p:cNvGrpSpPr/>
          <p:nvPr/>
        </p:nvGrpSpPr>
        <p:grpSpPr>
          <a:xfrm>
            <a:off x="7830595" y="4652998"/>
            <a:ext cx="1156537" cy="334925"/>
            <a:chOff x="4618653" y="5730341"/>
            <a:chExt cx="3471000" cy="928800"/>
          </a:xfrm>
        </p:grpSpPr>
        <p:sp>
          <p:nvSpPr>
            <p:cNvPr id="67" name="Google Shape;67;p15"/>
            <p:cNvSpPr/>
            <p:nvPr/>
          </p:nvSpPr>
          <p:spPr>
            <a:xfrm>
              <a:off x="4618653" y="5730341"/>
              <a:ext cx="3471000" cy="928800"/>
            </a:xfrm>
            <a:prstGeom prst="rect">
              <a:avLst/>
            </a:prstGeom>
            <a:solidFill>
              <a:srgbClr val="FFFFFF"/>
            </a:solidFill>
            <a:ln cap="flat" cmpd="sng" w="4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875" lIns="31725" spcFirstLastPara="1" rIns="31725" wrap="square" tIns="15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9"/>
                <a:buFont typeface="Arial"/>
                <a:buNone/>
              </a:pPr>
              <a:r>
                <a:t/>
              </a:r>
              <a:endParaRPr b="1" i="0" sz="509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82989" y="5917562"/>
              <a:ext cx="2910269" cy="6102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5"/>
          <p:cNvSpPr txBox="1"/>
          <p:nvPr/>
        </p:nvSpPr>
        <p:spPr>
          <a:xfrm>
            <a:off x="384250" y="744875"/>
            <a:ext cx="85206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" sz="4600" u="none" cap="none" strike="noStrike">
                <a:solidFill>
                  <a:srgbClr val="FFFFFF"/>
                </a:solidFill>
                <a:latin typeface="Mukta"/>
                <a:ea typeface="Mukta"/>
                <a:cs typeface="Mukta"/>
                <a:sym typeface="Mukta"/>
              </a:rPr>
              <a:t>Immersive Python Workshop</a:t>
            </a:r>
            <a:endParaRPr b="1" i="0" sz="4600" u="none" cap="none" strike="noStrike">
              <a:solidFill>
                <a:srgbClr val="FFFFFF"/>
              </a:solidFill>
              <a:latin typeface="Mukta"/>
              <a:ea typeface="Mukta"/>
              <a:cs typeface="Mukta"/>
              <a:sym typeface="Mukt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EEEEEE"/>
                </a:solidFill>
                <a:latin typeface="Mukta"/>
                <a:ea typeface="Mukta"/>
                <a:cs typeface="Mukta"/>
                <a:sym typeface="Mukta"/>
              </a:rPr>
              <a:t>August</a:t>
            </a:r>
            <a:r>
              <a:rPr b="1" i="0" lang="en" sz="2600" u="none" cap="none" strike="noStrike">
                <a:solidFill>
                  <a:srgbClr val="EEEEEE"/>
                </a:solidFill>
                <a:latin typeface="Mukta"/>
                <a:ea typeface="Mukta"/>
                <a:cs typeface="Mukta"/>
                <a:sym typeface="Mukta"/>
              </a:rPr>
              <a:t> </a:t>
            </a:r>
            <a:r>
              <a:rPr b="1" lang="en" sz="2600">
                <a:solidFill>
                  <a:srgbClr val="EEEEEE"/>
                </a:solidFill>
                <a:latin typeface="Mukta"/>
                <a:ea typeface="Mukta"/>
                <a:cs typeface="Mukta"/>
                <a:sym typeface="Mukta"/>
              </a:rPr>
              <a:t>12</a:t>
            </a:r>
            <a:r>
              <a:rPr b="1" i="0" lang="en" sz="2600" u="none" cap="none" strike="noStrike">
                <a:solidFill>
                  <a:srgbClr val="EEEEEE"/>
                </a:solidFill>
                <a:latin typeface="Mukta"/>
                <a:ea typeface="Mukta"/>
                <a:cs typeface="Mukta"/>
                <a:sym typeface="Mukta"/>
              </a:rPr>
              <a:t>-</a:t>
            </a:r>
            <a:r>
              <a:rPr b="1" lang="en" sz="2600">
                <a:solidFill>
                  <a:srgbClr val="EEEEEE"/>
                </a:solidFill>
                <a:latin typeface="Mukta"/>
                <a:ea typeface="Mukta"/>
                <a:cs typeface="Mukta"/>
                <a:sym typeface="Mukta"/>
              </a:rPr>
              <a:t>14</a:t>
            </a:r>
            <a:r>
              <a:rPr b="1" i="0" lang="en" sz="2600" u="none" cap="none" strike="noStrike">
                <a:solidFill>
                  <a:srgbClr val="EEEEEE"/>
                </a:solidFill>
                <a:latin typeface="Mukta"/>
                <a:ea typeface="Mukta"/>
                <a:cs typeface="Mukta"/>
                <a:sym typeface="Mukta"/>
              </a:rPr>
              <a:t>, 2026</a:t>
            </a:r>
            <a:endParaRPr b="1" i="0" sz="4300" u="none" cap="none" strike="noStrike">
              <a:solidFill>
                <a:srgbClr val="FFFFFF"/>
              </a:solidFill>
              <a:latin typeface="Mukta"/>
              <a:ea typeface="Mukta"/>
              <a:cs typeface="Mukta"/>
              <a:sym typeface="Mukt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468350" y="2183500"/>
            <a:ext cx="4352400" cy="11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 3</a:t>
            </a:r>
            <a:endParaRPr b="1" i="0" sz="3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17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8</a:t>
            </a:r>
            <a:r>
              <a:rPr i="0" lang="en" sz="17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/</a:t>
            </a:r>
            <a:r>
              <a:rPr lang="en" sz="1700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14</a:t>
            </a:r>
            <a:r>
              <a:rPr i="0" lang="en" sz="1700" u="none" cap="none" strike="noStrik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/2026</a:t>
            </a:r>
            <a:endParaRPr i="0" sz="1700" u="none" cap="none" strike="noStrike">
              <a:solidFill>
                <a:srgbClr val="FFFF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Day 3 Schedule</a:t>
            </a:r>
            <a:endParaRPr b="1" sz="2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329950" y="134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{E5638386-E68D-4A27-8777-A2F905FCE68C}</a:tableStyleId>
              </a:tblPr>
              <a:tblGrid>
                <a:gridCol w="1266400"/>
                <a:gridCol w="72251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12:30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Welcome and 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final software installation check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12:4</a:t>
                      </a:r>
                      <a:r>
                        <a:rPr b="1" lang="en" sz="1500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5</a:t>
                      </a: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Divide into instruction tracks breakout rooms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  <a:p>
                      <a:pPr indent="-323850" lvl="0" marL="6286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wentieth Century"/>
                        <a:buChar char="➔"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Geospatial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  <a:p>
                      <a:pPr indent="-323850" lvl="0" marL="6286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wentieth Century"/>
                        <a:buChar char="➔"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Sentiment Analysis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  <a:p>
                      <a:pPr indent="-323850" lvl="0" marL="62865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Twentieth Century"/>
                        <a:buChar char="➔"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Data Visualization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</a:tr>
              <a:tr h="24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1:30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00" marB="45700" marR="91425" marL="91425"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Break</a:t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00" marB="45700" marR="91425" marL="91425"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1:40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Continue work in separate tracks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5818E"/>
                    </a:solidFill>
                  </a:tcPr>
                </a:tc>
              </a:tr>
              <a:tr h="29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2:30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00" marB="36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Break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45700" marB="36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2:40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Instruction: GitHub and AI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5818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3:55 PM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lt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Complete Day 3 Assessment and Wrap Up</a:t>
                      </a:r>
                      <a:endParaRPr b="1" sz="1500" u="none" cap="none" strike="noStrike">
                        <a:solidFill>
                          <a:schemeClr val="lt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Attendance</a:t>
            </a:r>
            <a:endParaRPr b="1" sz="2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8900" y="942500"/>
            <a:ext cx="8824800" cy="19308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137150" lIns="137150" spcFirstLastPara="1" rIns="137150" wrap="square" tIns="228600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●"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Please sign add an X next to your name for day 3 using bit.ly link on the </a:t>
            </a: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white board</a:t>
            </a:r>
            <a:endParaRPr b="1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wentieth Century"/>
              <a:buChar char="●"/>
            </a:pPr>
            <a:r>
              <a:rPr lang="en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Recorded attendance is required to claim the</a:t>
            </a:r>
            <a:r>
              <a:rPr b="1" lang="en" sz="1400"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lang="en" sz="1400" u="sng">
                <a:solidFill>
                  <a:schemeClr val="hlink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/>
              </a:rPr>
              <a:t>Introduction to Python: Working with Research Data</a:t>
            </a:r>
            <a:endParaRPr b="1"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wentieth Century"/>
              <a:buChar char="○"/>
            </a:pPr>
            <a:r>
              <a:rPr lang="en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Please note you will also need to complete the day 3 </a:t>
            </a:r>
            <a:r>
              <a:rPr lang="en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post</a:t>
            </a:r>
            <a:r>
              <a:rPr lang="en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workshop survey to claim the badge</a:t>
            </a:r>
            <a:endParaRPr sz="14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7375" y="3042125"/>
            <a:ext cx="2591199" cy="19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-390906" y="260603"/>
            <a:ext cx="9916800" cy="603600"/>
          </a:xfrm>
          <a:prstGeom prst="rect">
            <a:avLst/>
          </a:prstGeom>
          <a:solidFill>
            <a:srgbClr val="B45F0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ckwell"/>
              <a:buNone/>
            </a:pPr>
            <a:r>
              <a:rPr b="1" lang="en" sz="2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Final Check of Installed Software</a:t>
            </a:r>
            <a:endParaRPr b="1" sz="2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320250" y="988450"/>
            <a:ext cx="8579700" cy="116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68575" lIns="68575" spcFirstLastPara="1" rIns="68575" wrap="square" tIns="155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24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Visit link below for detailed instructions for installing all required software</a:t>
            </a:r>
            <a:endParaRPr sz="2124">
              <a:solidFill>
                <a:srgbClr val="00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 u="sng">
                <a:solidFill>
                  <a:srgbClr val="0097A7"/>
                </a:solidFill>
                <a:latin typeface="Twentieth Century"/>
                <a:ea typeface="Twentieth Century"/>
                <a:cs typeface="Twentieth Century"/>
                <a:sym typeface="Twentieth Centur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https://bit.ly/python-install-test-aug26</a:t>
            </a:r>
            <a:r>
              <a:rPr b="1" lang="en" sz="2100">
                <a:solidFill>
                  <a:srgbClr val="59595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b="1" sz="2100">
              <a:solidFill>
                <a:srgbClr val="59595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3289" y="2252557"/>
            <a:ext cx="2385434" cy="21914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1" name="Google Shape;91;p18"/>
          <p:cNvSpPr/>
          <p:nvPr/>
        </p:nvSpPr>
        <p:spPr>
          <a:xfrm>
            <a:off x="238025" y="2252557"/>
            <a:ext cx="2848500" cy="219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wentieth Century"/>
                <a:ea typeface="Twentieth Century"/>
                <a:cs typeface="Twentieth Century"/>
                <a:sym typeface="Twentieth Century"/>
              </a:rPr>
              <a:t>Installation test stats as of 10am this morning, for previous day attendees</a:t>
            </a:r>
            <a:endParaRPr sz="18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Twentieth Century"/>
                <a:ea typeface="Twentieth Century"/>
                <a:cs typeface="Twentieth Century"/>
                <a:sym typeface="Twentieth Century"/>
              </a:rPr>
              <a:t>Verified: 		17</a:t>
            </a:r>
            <a:endParaRPr b="1" sz="190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Not verified: 	13</a:t>
            </a:r>
            <a:endParaRPr b="1" sz="19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6185475" y="2252557"/>
            <a:ext cx="2848500" cy="2191500"/>
          </a:xfrm>
          <a:prstGeom prst="rect">
            <a:avLst/>
          </a:prstGeom>
          <a:solidFill>
            <a:srgbClr val="43434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Even if your Python install was verified, please double check that you can run git via command line. The instructions have been slightly revised since yesterday.</a:t>
            </a:r>
            <a:endParaRPr b="1"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1404175" y="4595474"/>
            <a:ext cx="6782400" cy="42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Raise your hand if you need help or have questions</a:t>
            </a:r>
            <a:endParaRPr b="1"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34400" y="490400"/>
            <a:ext cx="2704500" cy="4126500"/>
          </a:xfrm>
          <a:prstGeom prst="rect">
            <a:avLst/>
          </a:prstGeom>
          <a:solidFill>
            <a:srgbClr val="B45F0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Track 1</a:t>
            </a:r>
            <a:endParaRPr b="1" sz="3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Topic: 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Visualization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Instructor: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Michael Shensky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Room: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 Lab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3213925" y="490400"/>
            <a:ext cx="2704500" cy="4126500"/>
          </a:xfrm>
          <a:prstGeom prst="rect">
            <a:avLst/>
          </a:prstGeom>
          <a:solidFill>
            <a:srgbClr val="B45F0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Track 2</a:t>
            </a:r>
            <a:endParaRPr b="1" sz="3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Topic: 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Sentiment Analysis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Instructor: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Ian Goodale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Room: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Scholars Lab Project Room #6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2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6205100" y="490400"/>
            <a:ext cx="2704500" cy="4126500"/>
          </a:xfrm>
          <a:prstGeom prst="rect">
            <a:avLst/>
          </a:prstGeom>
          <a:solidFill>
            <a:srgbClr val="B45F0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3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Track 3</a:t>
            </a:r>
            <a:endParaRPr b="1" sz="3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Topic: 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Geospatial Data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Instructor: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Alex Marden</a:t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Room:</a:t>
            </a:r>
            <a:endParaRPr b="1" sz="23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Scholars Lab Project Room #1</a:t>
            </a:r>
            <a:endParaRPr b="1" sz="2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