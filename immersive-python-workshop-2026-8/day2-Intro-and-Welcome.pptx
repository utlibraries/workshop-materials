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y="5143500" cx="9144000"/>
  <p:notesSz cx="6858000" cy="9144000"/>
  <p:embeddedFontLst>
    <p:embeddedFont>
      <p:font typeface="Mukta"/>
      <p:regular r:id="rId38"/>
      <p:bold r:id="rId39"/>
    </p:embeddedFont>
    <p:embeddedFont>
      <p:font typeface="Covered By Your Grace"/>
      <p:regular r:id="rId40"/>
    </p:embeddedFont>
    <p:embeddedFont>
      <p:font typeface="Roboto Serif Medium"/>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45" roundtripDataSignature="AMtx7mh8rrwlhfklOisf2D6hG4JLjXGOL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5CF297C-6EA8-4C06-A186-C8E0302958BD}">
  <a:tblStyle styleId="{95CF297C-6EA8-4C06-A186-C8E0302958BD}"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CoveredByYourGrace-regular.fntdata"/><Relationship Id="rId20" Type="http://schemas.openxmlformats.org/officeDocument/2006/relationships/slide" Target="slides/slide14.xml"/><Relationship Id="rId42" Type="http://schemas.openxmlformats.org/officeDocument/2006/relationships/font" Target="fonts/RobotoSerifMedium-bold.fntdata"/><Relationship Id="rId41" Type="http://schemas.openxmlformats.org/officeDocument/2006/relationships/font" Target="fonts/RobotoSerifMedium-regular.fntdata"/><Relationship Id="rId22" Type="http://schemas.openxmlformats.org/officeDocument/2006/relationships/slide" Target="slides/slide16.xml"/><Relationship Id="rId44" Type="http://schemas.openxmlformats.org/officeDocument/2006/relationships/font" Target="fonts/RobotoSerifMedium-boldItalic.fntdata"/><Relationship Id="rId21" Type="http://schemas.openxmlformats.org/officeDocument/2006/relationships/slide" Target="slides/slide15.xml"/><Relationship Id="rId43" Type="http://schemas.openxmlformats.org/officeDocument/2006/relationships/font" Target="fonts/RobotoSerifMedium-italic.fntdata"/><Relationship Id="rId24" Type="http://schemas.openxmlformats.org/officeDocument/2006/relationships/slide" Target="slides/slide18.xml"/><Relationship Id="rId23" Type="http://schemas.openxmlformats.org/officeDocument/2006/relationships/slide" Target="slides/slide17.xml"/><Relationship Id="rId45" Type="http://customschemas.google.com/relationships/presentationmetadata" Target="meta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font" Target="fonts/Mukta-bold.fntdata"/><Relationship Id="rId16" Type="http://schemas.openxmlformats.org/officeDocument/2006/relationships/slide" Target="slides/slide10.xml"/><Relationship Id="rId38" Type="http://schemas.openxmlformats.org/officeDocument/2006/relationships/font" Target="fonts/Mukta-regular.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 name="Google Shape;6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2: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 name="Google Shape;73;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Clr>
                <a:schemeClr val="dk1"/>
              </a:buClr>
              <a:buSzPts val="1100"/>
              <a:buFont typeface="Arial"/>
              <a:buNone/>
            </a:pPr>
            <a:r>
              <a:rPr lang="en" sz="1400">
                <a:solidFill>
                  <a:schemeClr val="dk1"/>
                </a:solidFill>
                <a:highlight>
                  <a:schemeClr val="lt1"/>
                </a:highlight>
              </a:rPr>
              <a:t>Please ask the instructors to introduce themselves. </a:t>
            </a:r>
            <a:endParaRPr sz="1400">
              <a:solidFill>
                <a:schemeClr val="dk1"/>
              </a:solidFill>
              <a:highlight>
                <a:schemeClr val="lt1"/>
              </a:highlight>
            </a:endParaRPr>
          </a:p>
          <a:p>
            <a:pPr indent="0" lvl="0" marL="0" rtl="0" algn="l">
              <a:lnSpc>
                <a:spcPct val="115000"/>
              </a:lnSpc>
              <a:spcBef>
                <a:spcPts val="600"/>
              </a:spcBef>
              <a:spcAft>
                <a:spcPts val="0"/>
              </a:spcAft>
              <a:buClr>
                <a:schemeClr val="dk1"/>
              </a:buClr>
              <a:buSzPts val="1100"/>
              <a:buFont typeface="Arial"/>
              <a:buNone/>
            </a:pPr>
            <a:r>
              <a:rPr lang="en" sz="1400">
                <a:solidFill>
                  <a:schemeClr val="dk1"/>
                </a:solidFill>
                <a:highlight>
                  <a:schemeClr val="lt1"/>
                </a:highlight>
              </a:rPr>
              <a:t>Perhaps the helpers will indicate they are a helper by putting the word helper next to their name in the participants?</a:t>
            </a:r>
            <a:endParaRPr sz="1400">
              <a:solidFill>
                <a:schemeClr val="dk1"/>
              </a:solidFill>
              <a:highlight>
                <a:schemeClr val="lt1"/>
              </a:highlight>
            </a:endParaRPr>
          </a:p>
          <a:p>
            <a:pPr indent="0" lvl="0" marL="0" rtl="0" algn="l">
              <a:lnSpc>
                <a:spcPct val="115000"/>
              </a:lnSpc>
              <a:spcBef>
                <a:spcPts val="800"/>
              </a:spcBef>
              <a:spcAft>
                <a:spcPts val="0"/>
              </a:spcAft>
              <a:buClr>
                <a:schemeClr val="dk1"/>
              </a:buClr>
              <a:buSzPts val="1100"/>
              <a:buFont typeface="Arial"/>
              <a:buNone/>
            </a:pPr>
            <a:r>
              <a:t/>
            </a:r>
            <a:endParaRPr sz="1400">
              <a:solidFill>
                <a:schemeClr val="dk1"/>
              </a:solidFill>
              <a:highlight>
                <a:schemeClr val="lt1"/>
              </a:highlight>
            </a:endParaRPr>
          </a:p>
          <a:p>
            <a:pPr indent="0" lvl="0" marL="0" rtl="0" algn="l">
              <a:lnSpc>
                <a:spcPct val="100000"/>
              </a:lnSpc>
              <a:spcBef>
                <a:spcPts val="800"/>
              </a:spcBef>
              <a:spcAft>
                <a:spcPts val="0"/>
              </a:spcAft>
              <a:buClr>
                <a:schemeClr val="dk1"/>
              </a:buClr>
              <a:buSzPts val="1100"/>
              <a:buFont typeface="Arial"/>
              <a:buNone/>
            </a:pPr>
            <a:r>
              <a:rPr lang="en">
                <a:solidFill>
                  <a:schemeClr val="dk1"/>
                </a:solidFill>
              </a:rPr>
              <a:t>[[Following introduction, STOP SHARE, Allow Anna to take over PRESENTATION.REMINDER TO START RECORD….</a:t>
            </a:r>
            <a:endParaRPr sz="1400">
              <a:solidFill>
                <a:schemeClr val="dk1"/>
              </a:solidFill>
              <a:highlight>
                <a:srgbClr val="FFFFFF"/>
              </a:highlight>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f5717e5de0_0_76: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g3f5717e5de0_0_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Clr>
                <a:schemeClr val="dk1"/>
              </a:buClr>
              <a:buSzPts val="1100"/>
              <a:buFont typeface="Arial"/>
              <a:buNone/>
            </a:pPr>
            <a:r>
              <a:rPr lang="en" sz="1400">
                <a:solidFill>
                  <a:schemeClr val="dk1"/>
                </a:solidFill>
                <a:highlight>
                  <a:schemeClr val="lt1"/>
                </a:highlight>
              </a:rPr>
              <a:t>Please ask the instructors to introduce themselves. </a:t>
            </a:r>
            <a:endParaRPr sz="1400">
              <a:solidFill>
                <a:schemeClr val="dk1"/>
              </a:solidFill>
              <a:highlight>
                <a:schemeClr val="lt1"/>
              </a:highlight>
            </a:endParaRPr>
          </a:p>
          <a:p>
            <a:pPr indent="0" lvl="0" marL="0" rtl="0" algn="l">
              <a:lnSpc>
                <a:spcPct val="115000"/>
              </a:lnSpc>
              <a:spcBef>
                <a:spcPts val="600"/>
              </a:spcBef>
              <a:spcAft>
                <a:spcPts val="0"/>
              </a:spcAft>
              <a:buClr>
                <a:schemeClr val="dk1"/>
              </a:buClr>
              <a:buSzPts val="1100"/>
              <a:buFont typeface="Arial"/>
              <a:buNone/>
            </a:pPr>
            <a:r>
              <a:rPr lang="en" sz="1400">
                <a:solidFill>
                  <a:schemeClr val="dk1"/>
                </a:solidFill>
                <a:highlight>
                  <a:schemeClr val="lt1"/>
                </a:highlight>
              </a:rPr>
              <a:t>Perhaps the helpers will indicate they are a helper by putting the word helper next to their name in the participants?</a:t>
            </a:r>
            <a:endParaRPr sz="1400">
              <a:solidFill>
                <a:schemeClr val="dk1"/>
              </a:solidFill>
              <a:highlight>
                <a:schemeClr val="lt1"/>
              </a:highlight>
            </a:endParaRPr>
          </a:p>
          <a:p>
            <a:pPr indent="0" lvl="0" marL="0" rtl="0" algn="l">
              <a:lnSpc>
                <a:spcPct val="115000"/>
              </a:lnSpc>
              <a:spcBef>
                <a:spcPts val="800"/>
              </a:spcBef>
              <a:spcAft>
                <a:spcPts val="0"/>
              </a:spcAft>
              <a:buClr>
                <a:schemeClr val="dk1"/>
              </a:buClr>
              <a:buSzPts val="1100"/>
              <a:buFont typeface="Arial"/>
              <a:buNone/>
            </a:pPr>
            <a:r>
              <a:t/>
            </a:r>
            <a:endParaRPr sz="1400">
              <a:solidFill>
                <a:schemeClr val="dk1"/>
              </a:solidFill>
              <a:highlight>
                <a:schemeClr val="lt1"/>
              </a:highlight>
            </a:endParaRPr>
          </a:p>
          <a:p>
            <a:pPr indent="0" lvl="0" marL="0" rtl="0" algn="l">
              <a:lnSpc>
                <a:spcPct val="100000"/>
              </a:lnSpc>
              <a:spcBef>
                <a:spcPts val="800"/>
              </a:spcBef>
              <a:spcAft>
                <a:spcPts val="0"/>
              </a:spcAft>
              <a:buClr>
                <a:schemeClr val="dk1"/>
              </a:buClr>
              <a:buSzPts val="1100"/>
              <a:buFont typeface="Arial"/>
              <a:buNone/>
            </a:pPr>
            <a:r>
              <a:rPr lang="en">
                <a:solidFill>
                  <a:schemeClr val="dk1"/>
                </a:solidFill>
              </a:rPr>
              <a:t>[[Following introduction, STOP SHARE, Allow Anna to take over PRESENTATION.REMINDER TO START RECORD….</a:t>
            </a:r>
            <a:endParaRPr sz="1400">
              <a:solidFill>
                <a:schemeClr val="dk1"/>
              </a:solidFill>
              <a:highlight>
                <a:srgbClr val="FFFFFF"/>
              </a:highlight>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3: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 name="Google Shape;122;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4: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 name="Google Shape;12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5: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 name="Google Shape;13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6: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0" name="Google Shape;14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Here are two workshop series that may interest you.</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One is the Data &amp; Donuts series. It’s held on Fridays and focuses on a variety of data-related topics.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Using AI is another series the library will host in the Spring. One of the sessions is about AI tools for coding and data.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7: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5" name="Google Shape;15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Char char="●"/>
            </a:pPr>
            <a:r>
              <a:rPr lang="en">
                <a:solidFill>
                  <a:schemeClr val="dk1"/>
                </a:solidFill>
              </a:rPr>
              <a:t>We also would like to introduce a code of conduct.</a:t>
            </a:r>
            <a:endParaRPr>
              <a:solidFill>
                <a:schemeClr val="dk1"/>
              </a:solidFill>
            </a:endParaRPr>
          </a:p>
          <a:p>
            <a:pPr indent="0" lvl="0" marL="457200" rtl="0" algn="l">
              <a:lnSpc>
                <a:spcPct val="115000"/>
              </a:lnSpc>
              <a:spcBef>
                <a:spcPts val="0"/>
              </a:spcBef>
              <a:spcAft>
                <a:spcPts val="0"/>
              </a:spcAft>
              <a:buSzPts val="1100"/>
              <a:buNone/>
            </a:pPr>
            <a:r>
              <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Use welcoming and inclusive language</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Be respectful of different viewpoints and experiences</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Gracefully accept constructive criticism</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Focus on what is best for all of us</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Show courtesy and respect towards each other</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Please contact any of us who are instructors or helpers with any code of conduct concerns.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1" name="Google Shape;161;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9: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6" name="Google Shape;16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2" name="Google Shape;17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p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79" name="Google Shape;179;p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p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87" name="Google Shape;187;p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 name="Google Shape;202;p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203" name="Google Shape;203;p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 name="Google Shape;213;p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214" name="Google Shape;214;p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p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223" name="Google Shape;223;p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 name="Google Shape;231;p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232" name="Google Shape;232;p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f6c0a7b51b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g3f6c0a7b51b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Mac comes preinstalled with Python</a:t>
            </a:r>
            <a:endParaRPr/>
          </a:p>
        </p:txBody>
      </p:sp>
      <p:sp>
        <p:nvSpPr>
          <p:cNvPr id="238" name="Google Shape;238;g3f6c0a7b51b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f6c0a7b51b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g3f6c0a7b51b_0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Mac comes preinstalled with Python</a:t>
            </a:r>
            <a:endParaRPr/>
          </a:p>
        </p:txBody>
      </p:sp>
      <p:sp>
        <p:nvSpPr>
          <p:cNvPr id="245" name="Google Shape;245;g3f6c0a7b51b_0_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f6c0a7b51b_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g3f6c0a7b51b_0_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Mac comes preinstalled with Python</a:t>
            </a:r>
            <a:endParaRPr/>
          </a:p>
        </p:txBody>
      </p:sp>
      <p:sp>
        <p:nvSpPr>
          <p:cNvPr id="253" name="Google Shape;253;g3f6c0a7b51b_0_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f6c0a7b51b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9" name="Google Shape;259;g3f6c0a7b51b_0_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Mac comes preinstalled with Python</a:t>
            </a:r>
            <a:endParaRPr/>
          </a:p>
        </p:txBody>
      </p:sp>
      <p:sp>
        <p:nvSpPr>
          <p:cNvPr id="260" name="Google Shape;260;g3f6c0a7b51b_0_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f6c0a7b51b_0_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g3f6c0a7b51b_0_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276" name="Google Shape;276;g3f6c0a7b51b_0_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 name="Google Shape;284;p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285" name="Google Shape;285;p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2" name="Google Shape;292;p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293" name="Google Shape;293;p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6" name="Google Shape;306;p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307" name="Google Shape;307;p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6" name="Google Shape;316;p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317" name="Google Shape;317;p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6" name="Google Shape;326;p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327" name="Google Shape;327;p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f6c0a7b51b_0_1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2" name="Google Shape;332;g3f6c0a7b51b_0_10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333" name="Google Shape;333;g3f6c0a7b51b_0_10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f6c0a7b51b_0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0" name="Google Shape;340;g3f6c0a7b51b_0_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Mac comes preinstalled with Python</a:t>
            </a:r>
            <a:endParaRPr/>
          </a:p>
        </p:txBody>
      </p:sp>
      <p:sp>
        <p:nvSpPr>
          <p:cNvPr id="341" name="Google Shape;341;g3f6c0a7b51b_0_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7" name="Google Shape;347;p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348" name="Google Shape;348;p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5" name="Google Shape;355;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2 1 1 1 1">
  <p:cSld name="TITLE_1_2_1_1_1_1">
    <p:spTree>
      <p:nvGrpSpPr>
        <p:cNvPr id="13" name="Shape 13"/>
        <p:cNvGrpSpPr/>
        <p:nvPr/>
      </p:nvGrpSpPr>
      <p:grpSpPr>
        <a:xfrm>
          <a:off x="0" y="0"/>
          <a:ext cx="0" cy="0"/>
          <a:chOff x="0" y="0"/>
          <a:chExt cx="0" cy="0"/>
        </a:xfrm>
      </p:grpSpPr>
      <p:sp>
        <p:nvSpPr>
          <p:cNvPr id="14" name="Google Shape;14;p28"/>
          <p:cNvSpPr txBox="1"/>
          <p:nvPr>
            <p:ph idx="1" type="body"/>
          </p:nvPr>
        </p:nvSpPr>
        <p:spPr>
          <a:xfrm>
            <a:off x="146400" y="1025606"/>
            <a:ext cx="8845200" cy="3604200"/>
          </a:xfrm>
          <a:prstGeom prst="rect">
            <a:avLst/>
          </a:prstGeom>
          <a:noFill/>
          <a:ln>
            <a:noFill/>
          </a:ln>
        </p:spPr>
        <p:txBody>
          <a:bodyPr anchorCtr="0" anchor="t" bIns="91425" lIns="91425" spcFirstLastPara="1" rIns="91425" wrap="square" tIns="91425">
            <a:normAutofit/>
          </a:bodyPr>
          <a:lstStyle>
            <a:lvl1pPr indent="-342900" lvl="0" marL="457200" marR="0" algn="l">
              <a:lnSpc>
                <a:spcPct val="100000"/>
              </a:lnSpc>
              <a:spcBef>
                <a:spcPts val="640"/>
              </a:spcBef>
              <a:spcAft>
                <a:spcPts val="0"/>
              </a:spcAft>
              <a:buSzPts val="1800"/>
              <a:buChar char="•"/>
              <a:defRPr i="0" u="none" cap="none" strike="noStrike"/>
            </a:lvl1pPr>
            <a:lvl2pPr indent="-317500" lvl="1" marL="914400" marR="0" algn="l">
              <a:lnSpc>
                <a:spcPct val="100000"/>
              </a:lnSpc>
              <a:spcBef>
                <a:spcPts val="560"/>
              </a:spcBef>
              <a:spcAft>
                <a:spcPts val="0"/>
              </a:spcAft>
              <a:buSzPts val="1400"/>
              <a:buChar char="–"/>
              <a:defRPr i="0" u="none" cap="none" strike="noStrike"/>
            </a:lvl2pPr>
            <a:lvl3pPr indent="-317500" lvl="2" marL="1371600" marR="0" algn="l">
              <a:lnSpc>
                <a:spcPct val="100000"/>
              </a:lnSpc>
              <a:spcBef>
                <a:spcPts val="480"/>
              </a:spcBef>
              <a:spcAft>
                <a:spcPts val="0"/>
              </a:spcAft>
              <a:buSzPts val="1400"/>
              <a:buChar char="•"/>
              <a:defRPr i="0" u="none" cap="none" strike="noStrike"/>
            </a:lvl3pPr>
            <a:lvl4pPr indent="-317500" lvl="3" marL="1828800" marR="0" algn="l">
              <a:lnSpc>
                <a:spcPct val="100000"/>
              </a:lnSpc>
              <a:spcBef>
                <a:spcPts val="400"/>
              </a:spcBef>
              <a:spcAft>
                <a:spcPts val="0"/>
              </a:spcAft>
              <a:buSzPts val="1400"/>
              <a:buChar char="–"/>
              <a:defRPr i="0" u="none" cap="none" strike="noStrike"/>
            </a:lvl4pPr>
            <a:lvl5pPr indent="-317500" lvl="4" marL="2286000" marR="0" algn="l">
              <a:lnSpc>
                <a:spcPct val="100000"/>
              </a:lnSpc>
              <a:spcBef>
                <a:spcPts val="400"/>
              </a:spcBef>
              <a:spcAft>
                <a:spcPts val="0"/>
              </a:spcAft>
              <a:buSzPts val="1400"/>
              <a:buChar char="»"/>
              <a:defRPr i="0" u="none" cap="none" strike="noStrike"/>
            </a:lvl5pPr>
            <a:lvl6pPr indent="-317500" lvl="5" marL="2743200" marR="0" algn="l">
              <a:lnSpc>
                <a:spcPct val="100000"/>
              </a:lnSpc>
              <a:spcBef>
                <a:spcPts val="400"/>
              </a:spcBef>
              <a:spcAft>
                <a:spcPts val="0"/>
              </a:spcAft>
              <a:buSzPts val="1400"/>
              <a:buChar char="•"/>
              <a:defRPr i="0" u="none" cap="none" strike="noStrike"/>
            </a:lvl6pPr>
            <a:lvl7pPr indent="-317500" lvl="6" marL="3200400" marR="0" algn="l">
              <a:lnSpc>
                <a:spcPct val="100000"/>
              </a:lnSpc>
              <a:spcBef>
                <a:spcPts val="400"/>
              </a:spcBef>
              <a:spcAft>
                <a:spcPts val="0"/>
              </a:spcAft>
              <a:buSzPts val="1400"/>
              <a:buChar char="•"/>
              <a:defRPr i="0" u="none" cap="none" strike="noStrike"/>
            </a:lvl7pPr>
            <a:lvl8pPr indent="-317500" lvl="7" marL="3657600" marR="0" algn="l">
              <a:lnSpc>
                <a:spcPct val="100000"/>
              </a:lnSpc>
              <a:spcBef>
                <a:spcPts val="400"/>
              </a:spcBef>
              <a:spcAft>
                <a:spcPts val="0"/>
              </a:spcAft>
              <a:buSzPts val="1400"/>
              <a:buChar char="•"/>
              <a:defRPr i="0" u="none" cap="none" strike="noStrike"/>
            </a:lvl8pPr>
            <a:lvl9pPr indent="-317500" lvl="8" marL="4114800" marR="0" algn="l">
              <a:lnSpc>
                <a:spcPct val="100000"/>
              </a:lnSpc>
              <a:spcBef>
                <a:spcPts val="400"/>
              </a:spcBef>
              <a:spcAft>
                <a:spcPts val="0"/>
              </a:spcAft>
              <a:buSzPts val="1400"/>
              <a:buChar char="•"/>
              <a:defRPr i="0" u="none" cap="none" strike="noStrike"/>
            </a:lvl9pPr>
          </a:lstStyle>
          <a:p/>
        </p:txBody>
      </p:sp>
      <p:sp>
        <p:nvSpPr>
          <p:cNvPr id="15" name="Google Shape;15;p28"/>
          <p:cNvSpPr txBox="1"/>
          <p:nvPr>
            <p:ph type="title"/>
          </p:nvPr>
        </p:nvSpPr>
        <p:spPr>
          <a:xfrm>
            <a:off x="146550" y="19144"/>
            <a:ext cx="8845200" cy="6366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Clr>
                <a:srgbClr val="17365D"/>
              </a:buClr>
              <a:buSzPts val="4400"/>
              <a:buNone/>
              <a:defRPr i="0" sz="4400" u="none" cap="none" strike="noStrike">
                <a:solidFill>
                  <a:srgbClr val="17365D"/>
                </a:solidFill>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p:txBody>
      </p:sp>
      <p:sp>
        <p:nvSpPr>
          <p:cNvPr id="16" name="Google Shape;16;p28"/>
          <p:cNvSpPr/>
          <p:nvPr/>
        </p:nvSpPr>
        <p:spPr>
          <a:xfrm>
            <a:off x="0" y="655733"/>
            <a:ext cx="9144000" cy="97800"/>
          </a:xfrm>
          <a:prstGeom prst="rect">
            <a:avLst/>
          </a:prstGeom>
          <a:solidFill>
            <a:srgbClr val="17365D"/>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 name="Google Shape;17;p28"/>
          <p:cNvSpPr txBox="1"/>
          <p:nvPr>
            <p:ph idx="12" type="sldNum"/>
          </p:nvPr>
        </p:nvSpPr>
        <p:spPr>
          <a:xfrm>
            <a:off x="9" y="4740476"/>
            <a:ext cx="548700" cy="393600"/>
          </a:xfrm>
          <a:prstGeom prst="rect">
            <a:avLst/>
          </a:prstGeom>
          <a:noFill/>
          <a:ln>
            <a:noFill/>
          </a:ln>
        </p:spPr>
        <p:txBody>
          <a:bodyPr anchorCtr="0" anchor="t" bIns="91425" lIns="91425" spcFirstLastPara="1" rIns="91425" wrap="square" tIns="91425">
            <a:normAutofit/>
          </a:bodyPr>
          <a:lstStyle>
            <a:lvl1pPr indent="0" lvl="0" marL="0" marR="0" algn="l">
              <a:lnSpc>
                <a:spcPct val="100000"/>
              </a:lnSpc>
              <a:spcBef>
                <a:spcPts val="0"/>
              </a:spcBef>
              <a:spcAft>
                <a:spcPts val="0"/>
              </a:spcAft>
              <a:buClr>
                <a:srgbClr val="000000"/>
              </a:buClr>
              <a:buSzPts val="3429"/>
              <a:buFont typeface="Arial"/>
              <a:buNone/>
              <a:defRPr b="0" i="0" sz="2400" u="none" cap="none" strike="noStrike">
                <a:solidFill>
                  <a:schemeClr val="dk2"/>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3429"/>
              <a:buFont typeface="Arial"/>
              <a:buNone/>
              <a:defRPr b="0" i="0" sz="2400" u="none" cap="none" strike="noStrike">
                <a:solidFill>
                  <a:schemeClr val="dk2"/>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3429"/>
              <a:buFont typeface="Arial"/>
              <a:buNone/>
              <a:defRPr b="0" i="0" sz="2400" u="none" cap="none" strike="noStrike">
                <a:solidFill>
                  <a:schemeClr val="dk2"/>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3429"/>
              <a:buFont typeface="Arial"/>
              <a:buNone/>
              <a:defRPr b="0" i="0" sz="2400" u="none" cap="none" strike="noStrike">
                <a:solidFill>
                  <a:schemeClr val="dk2"/>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3429"/>
              <a:buFont typeface="Arial"/>
              <a:buNone/>
              <a:defRPr b="0" i="0" sz="2400" u="none" cap="none" strike="noStrike">
                <a:solidFill>
                  <a:schemeClr val="dk2"/>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3429"/>
              <a:buFont typeface="Arial"/>
              <a:buNone/>
              <a:defRPr b="0" i="0" sz="2400" u="none" cap="none" strike="noStrike">
                <a:solidFill>
                  <a:schemeClr val="dk2"/>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3429"/>
              <a:buFont typeface="Arial"/>
              <a:buNone/>
              <a:defRPr b="0" i="0" sz="2400" u="none" cap="none" strike="noStrike">
                <a:solidFill>
                  <a:schemeClr val="dk2"/>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3429"/>
              <a:buFont typeface="Arial"/>
              <a:buNone/>
              <a:defRPr b="0" i="0" sz="2400" u="none" cap="none" strike="noStrike">
                <a:solidFill>
                  <a:schemeClr val="dk2"/>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3429"/>
              <a:buFont typeface="Arial"/>
              <a:buNone/>
              <a:defRPr b="0" i="0" sz="2400" u="none" cap="none" strike="noStrike">
                <a:solidFill>
                  <a:schemeClr val="dk2"/>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 name="Shape 18"/>
        <p:cNvGrpSpPr/>
        <p:nvPr/>
      </p:nvGrpSpPr>
      <p:grpSpPr>
        <a:xfrm>
          <a:off x="0" y="0"/>
          <a:ext cx="0" cy="0"/>
          <a:chOff x="0" y="0"/>
          <a:chExt cx="0" cy="0"/>
        </a:xfrm>
      </p:grpSpPr>
      <p:sp>
        <p:nvSpPr>
          <p:cNvPr id="19" name="Google Shape;19;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 name="Google Shape;20;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0"/>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3" name="Google Shape;23;p30"/>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1200"/>
              </a:spcBef>
              <a:spcAft>
                <a:spcPts val="0"/>
              </a:spcAft>
              <a:buClr>
                <a:schemeClr val="dk1"/>
              </a:buClr>
              <a:buSzPts val="1400"/>
              <a:buChar char="○"/>
              <a:defRPr/>
            </a:lvl2pPr>
            <a:lvl3pPr indent="-317500" lvl="2" marL="1371600" algn="l">
              <a:lnSpc>
                <a:spcPct val="90000"/>
              </a:lnSpc>
              <a:spcBef>
                <a:spcPts val="1200"/>
              </a:spcBef>
              <a:spcAft>
                <a:spcPts val="0"/>
              </a:spcAft>
              <a:buClr>
                <a:schemeClr val="dk1"/>
              </a:buClr>
              <a:buSzPts val="1400"/>
              <a:buChar char="■"/>
              <a:defRPr/>
            </a:lvl3pPr>
            <a:lvl4pPr indent="-317500" lvl="3" marL="1828800" algn="l">
              <a:lnSpc>
                <a:spcPct val="90000"/>
              </a:lnSpc>
              <a:spcBef>
                <a:spcPts val="1200"/>
              </a:spcBef>
              <a:spcAft>
                <a:spcPts val="0"/>
              </a:spcAft>
              <a:buClr>
                <a:schemeClr val="dk1"/>
              </a:buClr>
              <a:buSzPts val="1400"/>
              <a:buChar char="●"/>
              <a:defRPr/>
            </a:lvl4pPr>
            <a:lvl5pPr indent="-317500" lvl="4" marL="2286000" algn="l">
              <a:lnSpc>
                <a:spcPct val="9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24" name="Google Shape;24;p3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5" name="Google Shape;25;p3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6" name="Google Shape;26;p3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31"/>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9" name="Google Shape;29;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0" name="Shape 30"/>
        <p:cNvGrpSpPr/>
        <p:nvPr/>
      </p:nvGrpSpPr>
      <p:grpSpPr>
        <a:xfrm>
          <a:off x="0" y="0"/>
          <a:ext cx="0" cy="0"/>
          <a:chOff x="0" y="0"/>
          <a:chExt cx="0" cy="0"/>
        </a:xfrm>
      </p:grpSpPr>
      <p:sp>
        <p:nvSpPr>
          <p:cNvPr id="31" name="Google Shape;31;p3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2" name="Google Shape;32;p3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33" name="Google Shape;33;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4" name="Shape 34"/>
        <p:cNvGrpSpPr/>
        <p:nvPr/>
      </p:nvGrpSpPr>
      <p:grpSpPr>
        <a:xfrm>
          <a:off x="0" y="0"/>
          <a:ext cx="0" cy="0"/>
          <a:chOff x="0" y="0"/>
          <a:chExt cx="0" cy="0"/>
        </a:xfrm>
      </p:grpSpPr>
      <p:sp>
        <p:nvSpPr>
          <p:cNvPr id="35" name="Google Shape;35;p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6" name="Google Shape;36;p33"/>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7" name="Google Shape;37;p33"/>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8" name="Google Shape;38;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sp>
        <p:nvSpPr>
          <p:cNvPr id="40" name="Google Shape;40;p34"/>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1" name="Google Shape;41;p34"/>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2" name="Google Shape;42;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3" name="Shape 43"/>
        <p:cNvGrpSpPr/>
        <p:nvPr/>
      </p:nvGrpSpPr>
      <p:grpSpPr>
        <a:xfrm>
          <a:off x="0" y="0"/>
          <a:ext cx="0" cy="0"/>
          <a:chOff x="0" y="0"/>
          <a:chExt cx="0" cy="0"/>
        </a:xfrm>
      </p:grpSpPr>
      <p:sp>
        <p:nvSpPr>
          <p:cNvPr id="44" name="Google Shape;44;p35"/>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5" name="Google Shape;45;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6" name="Shape 46"/>
        <p:cNvGrpSpPr/>
        <p:nvPr/>
      </p:nvGrpSpPr>
      <p:grpSpPr>
        <a:xfrm>
          <a:off x="0" y="0"/>
          <a:ext cx="0" cy="0"/>
          <a:chOff x="0" y="0"/>
          <a:chExt cx="0" cy="0"/>
        </a:xfrm>
      </p:grpSpPr>
      <p:sp>
        <p:nvSpPr>
          <p:cNvPr id="47" name="Google Shape;47;p36"/>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36"/>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9" name="Google Shape;49;p36"/>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36"/>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51" name="Google Shape;51;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37"/>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54" name="Google Shape;54;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p3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7" name="Google Shape;57;p3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8" name="Google Shape;58;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9" name="Shape 59"/>
        <p:cNvGrpSpPr/>
        <p:nvPr/>
      </p:nvGrpSpPr>
      <p:grpSpPr>
        <a:xfrm>
          <a:off x="0" y="0"/>
          <a:ext cx="0" cy="0"/>
          <a:chOff x="0" y="0"/>
          <a:chExt cx="0" cy="0"/>
        </a:xfrm>
      </p:grpSpPr>
      <p:sp>
        <p:nvSpPr>
          <p:cNvPr id="60" name="Google Shape;60;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2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hyperlink" Target="https://bit.ly/ipw-aug26-github" TargetMode="External"/></Relationships>
</file>

<file path=ppt/slides/_rels/slide2.xml.rels><?xml version="1.0" encoding="UTF-8" standalone="yes"?><Relationships xmlns="http://schemas.openxmlformats.org/package/2006/relationships"><Relationship Id="rId10" Type="http://schemas.openxmlformats.org/officeDocument/2006/relationships/image" Target="../media/image37.jpg"/><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jpg"/><Relationship Id="rId4" Type="http://schemas.openxmlformats.org/officeDocument/2006/relationships/image" Target="../media/image6.jpg"/><Relationship Id="rId9" Type="http://schemas.openxmlformats.org/officeDocument/2006/relationships/image" Target="../media/image7.jpg"/><Relationship Id="rId5" Type="http://schemas.openxmlformats.org/officeDocument/2006/relationships/image" Target="../media/image11.jpg"/><Relationship Id="rId6" Type="http://schemas.openxmlformats.org/officeDocument/2006/relationships/image" Target="../media/image18.jpg"/><Relationship Id="rId7" Type="http://schemas.openxmlformats.org/officeDocument/2006/relationships/image" Target="../media/image39.png"/><Relationship Id="rId8"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3.png"/><Relationship Id="rId4" Type="http://schemas.openxmlformats.org/officeDocument/2006/relationships/image" Target="../media/image1.png"/><Relationship Id="rId5" Type="http://schemas.openxmlformats.org/officeDocument/2006/relationships/image" Target="../media/image2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s://bit.ly/ipw-aug26-github" TargetMode="External"/><Relationship Id="rId4" Type="http://schemas.openxmlformats.org/officeDocument/2006/relationships/hyperlink" Target="https://github.com/utlibraries/workshop-materials"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s://www.lib.utexas.edu/study-spaces-technology/scholars-lab" TargetMode="External"/><Relationship Id="rId4" Type="http://schemas.openxmlformats.org/officeDocument/2006/relationships/hyperlink" Target="https://guides.lib.utexas.edu/data-and-donuts" TargetMode="External"/><Relationship Id="rId5" Type="http://schemas.openxmlformats.org/officeDocument/2006/relationships/image" Target="../media/image4.png"/><Relationship Id="rId6"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colab.research.google.com"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26.png"/></Relationships>
</file>

<file path=ppt/slides/_rels/slide13.xml.rels><?xml version="1.0" encoding="UTF-8" standalone="yes"?><Relationships xmlns="http://schemas.openxmlformats.org/package/2006/relationships"><Relationship Id="rId10" Type="http://schemas.openxmlformats.org/officeDocument/2006/relationships/hyperlink" Target="https://www.nature.com/articles/d41586-025-01241-6" TargetMode="External"/><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26.png"/><Relationship Id="rId4" Type="http://schemas.openxmlformats.org/officeDocument/2006/relationships/image" Target="../media/image10.png"/><Relationship Id="rId9" Type="http://schemas.openxmlformats.org/officeDocument/2006/relationships/image" Target="../media/image14.png"/><Relationship Id="rId5" Type="http://schemas.openxmlformats.org/officeDocument/2006/relationships/image" Target="../media/image9.png"/><Relationship Id="rId6" Type="http://schemas.openxmlformats.org/officeDocument/2006/relationships/image" Target="../media/image12.png"/><Relationship Id="rId7" Type="http://schemas.openxmlformats.org/officeDocument/2006/relationships/image" Target="../media/image33.png"/><Relationship Id="rId8" Type="http://schemas.openxmlformats.org/officeDocument/2006/relationships/image" Target="../media/image3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40.png"/><Relationship Id="rId4" Type="http://schemas.openxmlformats.org/officeDocument/2006/relationships/image" Target="../media/image13.png"/><Relationship Id="rId5" Type="http://schemas.openxmlformats.org/officeDocument/2006/relationships/hyperlink" Target="https://research.google.com/colaboratory/faq.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5.png"/><Relationship Id="rId4" Type="http://schemas.openxmlformats.org/officeDocument/2006/relationships/hyperlink" Target="https://bit.ly/4g78KR7"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17.png"/><Relationship Id="rId4" Type="http://schemas.openxmlformats.org/officeDocument/2006/relationships/hyperlink" Target="https://bit.ly/4g78KR7"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hyperlink" Target="http://tiny.cc/k1zv001" TargetMode="External"/><Relationship Id="rId4" Type="http://schemas.openxmlformats.org/officeDocument/2006/relationships/hyperlink" Target="https://www.python.org/downloads/" TargetMode="External"/><Relationship Id="rId5" Type="http://schemas.openxmlformats.org/officeDocument/2006/relationships/hyperlink" Target="https://www.anaconda.com/products/distribution"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16.png"/><Relationship Id="rId4" Type="http://schemas.openxmlformats.org/officeDocument/2006/relationships/image" Target="../media/image4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19.png"/><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22.png"/></Relationships>
</file>

<file path=ppt/slides/_rels/slide24.xml.rels><?xml version="1.0" encoding="UTF-8" standalone="yes"?><Relationships xmlns="http://schemas.openxmlformats.org/package/2006/relationships"><Relationship Id="rId11" Type="http://schemas.openxmlformats.org/officeDocument/2006/relationships/image" Target="../media/image38.png"/><Relationship Id="rId10" Type="http://schemas.openxmlformats.org/officeDocument/2006/relationships/image" Target="../media/image34.png"/><Relationship Id="rId13" Type="http://schemas.openxmlformats.org/officeDocument/2006/relationships/image" Target="../media/image32.png"/><Relationship Id="rId12" Type="http://schemas.openxmlformats.org/officeDocument/2006/relationships/image" Target="../media/image27.png"/><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hyperlink" Target="https://jupyter.org/" TargetMode="External"/><Relationship Id="rId4" Type="http://schemas.openxmlformats.org/officeDocument/2006/relationships/hyperlink" Target="https://code.visualstudio.com/" TargetMode="External"/><Relationship Id="rId9" Type="http://schemas.openxmlformats.org/officeDocument/2006/relationships/image" Target="../media/image28.png"/><Relationship Id="rId5" Type="http://schemas.openxmlformats.org/officeDocument/2006/relationships/hyperlink" Target="https://pulsar-edit.dev/" TargetMode="External"/><Relationship Id="rId6" Type="http://schemas.openxmlformats.org/officeDocument/2006/relationships/hyperlink" Target="https://www.jetbrains.com/pycharm/download/" TargetMode="External"/><Relationship Id="rId7" Type="http://schemas.openxmlformats.org/officeDocument/2006/relationships/hyperlink" Target="https://www.spyder-ide.org/" TargetMode="External"/><Relationship Id="rId8"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25.png"/><Relationship Id="rId4" Type="http://schemas.openxmlformats.org/officeDocument/2006/relationships/hyperlink" Target="https://code.visualstudio.com/" TargetMode="External"/><Relationship Id="rId5" Type="http://schemas.openxmlformats.org/officeDocument/2006/relationships/image" Target="../media/image32.png"/></Relationships>
</file>

<file path=ppt/slides/_rels/slide26.xml.rels><?xml version="1.0" encoding="UTF-8" standalone="yes"?><Relationships xmlns="http://schemas.openxmlformats.org/package/2006/relationships"><Relationship Id="rId11" Type="http://schemas.openxmlformats.org/officeDocument/2006/relationships/image" Target="../media/image31.png"/><Relationship Id="rId10" Type="http://schemas.openxmlformats.org/officeDocument/2006/relationships/image" Target="../media/image30.png"/><Relationship Id="rId12" Type="http://schemas.openxmlformats.org/officeDocument/2006/relationships/image" Target="../media/image35.png"/><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hyperlink" Target="https://stackoverflow.com/" TargetMode="External"/><Relationship Id="rId4" Type="http://schemas.openxmlformats.org/officeDocument/2006/relationships/hyperlink" Target="https://datacarpentry.org/python-ecology-lesson/" TargetMode="External"/><Relationship Id="rId9" Type="http://schemas.openxmlformats.org/officeDocument/2006/relationships/hyperlink" Target="https://colab.research.google.com/notebooks/intro.ipynb" TargetMode="External"/><Relationship Id="rId5" Type="http://schemas.openxmlformats.org/officeDocument/2006/relationships/hyperlink" Target="https://docs.python.org/3/library/index.html" TargetMode="External"/><Relationship Id="rId6" Type="http://schemas.openxmlformats.org/officeDocument/2006/relationships/hyperlink" Target="https://docs.python.org/3/tutorial/index.html" TargetMode="External"/><Relationship Id="rId7" Type="http://schemas.openxmlformats.org/officeDocument/2006/relationships/hyperlink" Target="https://www.linkedin.com/learning/topics/python" TargetMode="External"/><Relationship Id="rId8" Type="http://schemas.openxmlformats.org/officeDocument/2006/relationships/hyperlink" Target="https://stat.utexas.edu/training/software-short-courses"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hyperlink" Target="https://bit.ly/python-install-test-aug26" TargetMode="External"/><Relationship Id="rId4" Type="http://schemas.openxmlformats.org/officeDocument/2006/relationships/image" Target="../media/image4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hyperlink" Target="https://www.python.org/downloads/" TargetMode="External"/><Relationship Id="rId4" Type="http://schemas.openxmlformats.org/officeDocument/2006/relationships/hyperlink" Target="https://code.visualstudio.com/download" TargetMode="External"/><Relationship Id="rId5" Type="http://schemas.openxmlformats.org/officeDocument/2006/relationships/hyperlink" Target="https://git-scm.com/downloads" TargetMode="External"/><Relationship Id="rId6" Type="http://schemas.openxmlformats.org/officeDocument/2006/relationships/hyperlink" Target="https://desktop.github.com/download/"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45F06"/>
        </a:solidFill>
      </p:bgPr>
    </p:bg>
    <p:spTree>
      <p:nvGrpSpPr>
        <p:cNvPr id="64" name="Shape 64"/>
        <p:cNvGrpSpPr/>
        <p:nvPr/>
      </p:nvGrpSpPr>
      <p:grpSpPr>
        <a:xfrm>
          <a:off x="0" y="0"/>
          <a:ext cx="0" cy="0"/>
          <a:chOff x="0" y="0"/>
          <a:chExt cx="0" cy="0"/>
        </a:xfrm>
      </p:grpSpPr>
      <p:sp>
        <p:nvSpPr>
          <p:cNvPr id="65" name="Google Shape;65;p1"/>
          <p:cNvSpPr txBox="1"/>
          <p:nvPr>
            <p:ph idx="1" type="subTitle"/>
          </p:nvPr>
        </p:nvSpPr>
        <p:spPr>
          <a:xfrm>
            <a:off x="384250" y="744875"/>
            <a:ext cx="8520600" cy="12369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n" sz="4600">
                <a:solidFill>
                  <a:schemeClr val="lt1"/>
                </a:solidFill>
                <a:latin typeface="Mukta"/>
                <a:ea typeface="Mukta"/>
                <a:cs typeface="Mukta"/>
                <a:sym typeface="Mukta"/>
              </a:rPr>
              <a:t>Immersive Python Workshop</a:t>
            </a:r>
            <a:endParaRPr b="1" sz="4600">
              <a:solidFill>
                <a:schemeClr val="lt1"/>
              </a:solidFill>
              <a:latin typeface="Mukta"/>
              <a:ea typeface="Mukta"/>
              <a:cs typeface="Mukta"/>
              <a:sym typeface="Mukta"/>
            </a:endParaRPr>
          </a:p>
          <a:p>
            <a:pPr indent="0" lvl="0" marL="0" rtl="0" algn="ctr">
              <a:lnSpc>
                <a:spcPct val="100000"/>
              </a:lnSpc>
              <a:spcBef>
                <a:spcPts val="0"/>
              </a:spcBef>
              <a:spcAft>
                <a:spcPts val="0"/>
              </a:spcAft>
              <a:buClr>
                <a:schemeClr val="dk1"/>
              </a:buClr>
              <a:buSzPts val="2800"/>
              <a:buFont typeface="Arial"/>
              <a:buNone/>
            </a:pPr>
            <a:r>
              <a:rPr b="1" lang="en" sz="2600">
                <a:solidFill>
                  <a:schemeClr val="lt2"/>
                </a:solidFill>
                <a:latin typeface="Mukta"/>
                <a:ea typeface="Mukta"/>
                <a:cs typeface="Mukta"/>
                <a:sym typeface="Mukta"/>
              </a:rPr>
              <a:t>August</a:t>
            </a:r>
            <a:r>
              <a:rPr b="1" lang="en" sz="2600">
                <a:solidFill>
                  <a:schemeClr val="lt2"/>
                </a:solidFill>
                <a:latin typeface="Mukta"/>
                <a:ea typeface="Mukta"/>
                <a:cs typeface="Mukta"/>
                <a:sym typeface="Mukta"/>
              </a:rPr>
              <a:t> 12–14, 2026</a:t>
            </a:r>
            <a:endParaRPr b="1" sz="4300">
              <a:solidFill>
                <a:schemeClr val="lt1"/>
              </a:solidFill>
              <a:latin typeface="Mukta"/>
              <a:ea typeface="Mukta"/>
              <a:cs typeface="Mukta"/>
              <a:sym typeface="Mukta"/>
            </a:endParaRPr>
          </a:p>
        </p:txBody>
      </p:sp>
      <p:grpSp>
        <p:nvGrpSpPr>
          <p:cNvPr id="66" name="Google Shape;66;p1"/>
          <p:cNvGrpSpPr/>
          <p:nvPr/>
        </p:nvGrpSpPr>
        <p:grpSpPr>
          <a:xfrm>
            <a:off x="3322442" y="4142917"/>
            <a:ext cx="2499120" cy="723814"/>
            <a:chOff x="4618653" y="5730341"/>
            <a:chExt cx="3471000" cy="928800"/>
          </a:xfrm>
        </p:grpSpPr>
        <p:sp>
          <p:nvSpPr>
            <p:cNvPr id="67" name="Google Shape;67;p1"/>
            <p:cNvSpPr/>
            <p:nvPr/>
          </p:nvSpPr>
          <p:spPr>
            <a:xfrm>
              <a:off x="4618653" y="5730341"/>
              <a:ext cx="3471000" cy="9288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1" i="0" sz="1100" u="none" cap="none" strike="noStrike">
                <a:solidFill>
                  <a:srgbClr val="000000"/>
                </a:solidFill>
                <a:latin typeface="Rockwell"/>
                <a:ea typeface="Rockwell"/>
                <a:cs typeface="Rockwell"/>
                <a:sym typeface="Rockwell"/>
              </a:endParaRPr>
            </a:p>
          </p:txBody>
        </p:sp>
        <p:pic>
          <p:nvPicPr>
            <p:cNvPr id="68" name="Google Shape;68;p1"/>
            <p:cNvPicPr preferRelativeResize="0"/>
            <p:nvPr/>
          </p:nvPicPr>
          <p:blipFill rotWithShape="1">
            <a:blip r:embed="rId3">
              <a:alphaModFix/>
            </a:blip>
            <a:srcRect b="0" l="0" r="0" t="0"/>
            <a:stretch/>
          </p:blipFill>
          <p:spPr>
            <a:xfrm>
              <a:off x="4982989" y="5917562"/>
              <a:ext cx="2910269" cy="610218"/>
            </a:xfrm>
            <a:prstGeom prst="rect">
              <a:avLst/>
            </a:prstGeom>
            <a:noFill/>
            <a:ln>
              <a:noFill/>
            </a:ln>
          </p:spPr>
        </p:pic>
      </p:grpSp>
      <p:sp>
        <p:nvSpPr>
          <p:cNvPr id="69" name="Google Shape;69;p1"/>
          <p:cNvSpPr txBox="1"/>
          <p:nvPr/>
        </p:nvSpPr>
        <p:spPr>
          <a:xfrm>
            <a:off x="2472000" y="2479000"/>
            <a:ext cx="4352400" cy="11667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700"/>
              <a:buFont typeface="Arial"/>
              <a:buNone/>
            </a:pPr>
            <a:r>
              <a:rPr b="1" i="0" lang="en" sz="3700" u="none" cap="none" strike="noStrike">
                <a:solidFill>
                  <a:schemeClr val="lt1"/>
                </a:solidFill>
                <a:latin typeface="Arial"/>
                <a:ea typeface="Arial"/>
                <a:cs typeface="Arial"/>
                <a:sym typeface="Arial"/>
              </a:rPr>
              <a:t>Day 2</a:t>
            </a:r>
            <a:endParaRPr b="1" i="0" sz="37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500"/>
              <a:buFont typeface="Arial"/>
              <a:buNone/>
            </a:pPr>
            <a:r>
              <a:rPr lang="en" sz="2000">
                <a:solidFill>
                  <a:schemeClr val="lt1"/>
                </a:solidFill>
              </a:rPr>
              <a:t>August 13, </a:t>
            </a:r>
            <a:r>
              <a:rPr b="0" i="0" lang="en" sz="2000" u="none" cap="none" strike="noStrike">
                <a:solidFill>
                  <a:schemeClr val="lt1"/>
                </a:solidFill>
                <a:latin typeface="Arial"/>
                <a:ea typeface="Arial"/>
                <a:cs typeface="Arial"/>
                <a:sym typeface="Arial"/>
              </a:rPr>
              <a:t>2026</a:t>
            </a:r>
            <a:endParaRPr b="0" i="0" sz="2000" u="none" cap="none" strike="noStrike">
              <a:solidFill>
                <a:schemeClr val="lt1"/>
              </a:solidFill>
              <a:latin typeface="Arial"/>
              <a:ea typeface="Arial"/>
              <a:cs typeface="Arial"/>
              <a:sym typeface="Arial"/>
            </a:endParaRPr>
          </a:p>
        </p:txBody>
      </p:sp>
      <p:sp>
        <p:nvSpPr>
          <p:cNvPr id="70" name="Google Shape;70;p1"/>
          <p:cNvSpPr txBox="1"/>
          <p:nvPr/>
        </p:nvSpPr>
        <p:spPr>
          <a:xfrm>
            <a:off x="6292525" y="2571750"/>
            <a:ext cx="2626800" cy="922200"/>
          </a:xfrm>
          <a:prstGeom prst="rect">
            <a:avLst/>
          </a:prstGeom>
          <a:solidFill>
            <a:schemeClr val="lt1"/>
          </a:solidFill>
          <a:ln>
            <a:noFill/>
          </a:ln>
          <a:effectLst>
            <a:outerShdw blurRad="57150" rotWithShape="0" algn="bl" dir="5400000" dist="19050">
              <a:srgbClr val="000000">
                <a:alpha val="50196"/>
              </a:srgbClr>
            </a:outerShdw>
          </a:effectLst>
        </p:spPr>
        <p:txBody>
          <a:bodyPr anchorCtr="0" anchor="t" bIns="91425" lIns="91425" spcFirstLastPara="1" rIns="91425" wrap="square" tIns="182875">
            <a:noAutofit/>
          </a:bodyPr>
          <a:lstStyle/>
          <a:p>
            <a:pPr indent="0" lvl="0" marL="0" marR="0" rtl="0" algn="ctr">
              <a:lnSpc>
                <a:spcPct val="100000"/>
              </a:lnSpc>
              <a:spcBef>
                <a:spcPts val="0"/>
              </a:spcBef>
              <a:spcAft>
                <a:spcPts val="0"/>
              </a:spcAft>
              <a:buClr>
                <a:srgbClr val="000000"/>
              </a:buClr>
              <a:buSzPts val="2000"/>
              <a:buFont typeface="Arial"/>
              <a:buNone/>
            </a:pPr>
            <a:r>
              <a:rPr b="0" i="0" lang="en" sz="2000" u="none" cap="none" strike="noStrike">
                <a:solidFill>
                  <a:schemeClr val="dk2"/>
                </a:solidFill>
                <a:latin typeface="Twentieth Century"/>
                <a:ea typeface="Twentieth Century"/>
                <a:cs typeface="Twentieth Century"/>
                <a:sym typeface="Twentieth Century"/>
              </a:rPr>
              <a:t>Access shared </a:t>
            </a:r>
            <a:r>
              <a:rPr lang="en" sz="2000">
                <a:solidFill>
                  <a:schemeClr val="dk2"/>
                </a:solidFill>
                <a:latin typeface="Twentieth Century"/>
                <a:ea typeface="Twentieth Century"/>
                <a:cs typeface="Twentieth Century"/>
                <a:sym typeface="Twentieth Century"/>
              </a:rPr>
              <a:t>links</a:t>
            </a:r>
            <a:endParaRPr b="0" i="0" sz="2000" u="none" cap="none" strike="noStrike">
              <a:solidFill>
                <a:schemeClr val="dk2"/>
              </a:solidFill>
              <a:latin typeface="Twentieth Century"/>
              <a:ea typeface="Twentieth Century"/>
              <a:cs typeface="Twentieth Century"/>
              <a:sym typeface="Twentieth Century"/>
            </a:endParaRPr>
          </a:p>
          <a:p>
            <a:pPr indent="0" lvl="0" marL="0" marR="0" rtl="0" algn="ctr">
              <a:lnSpc>
                <a:spcPct val="100000"/>
              </a:lnSpc>
              <a:spcBef>
                <a:spcPts val="0"/>
              </a:spcBef>
              <a:spcAft>
                <a:spcPts val="0"/>
              </a:spcAft>
              <a:buClr>
                <a:srgbClr val="000000"/>
              </a:buClr>
              <a:buSzPts val="1300"/>
              <a:buFont typeface="Arial"/>
              <a:buNone/>
            </a:pPr>
            <a:r>
              <a:rPr lang="en" sz="1300" u="sng">
                <a:solidFill>
                  <a:schemeClr val="hlink"/>
                </a:solidFill>
                <a:latin typeface="Twentieth Century"/>
                <a:ea typeface="Twentieth Century"/>
                <a:cs typeface="Twentieth Century"/>
                <a:sym typeface="Twentieth Century"/>
                <a:hlinkClick r:id="rId4"/>
              </a:rPr>
              <a:t>https://bit.ly/ipw-aug26-github</a:t>
            </a:r>
            <a:r>
              <a:rPr lang="en" sz="1300">
                <a:solidFill>
                  <a:schemeClr val="dk2"/>
                </a:solidFill>
                <a:latin typeface="Twentieth Century"/>
                <a:ea typeface="Twentieth Century"/>
                <a:cs typeface="Twentieth Century"/>
                <a:sym typeface="Twentieth Century"/>
              </a:rPr>
              <a:t> </a:t>
            </a:r>
            <a:endParaRPr b="0" i="0" sz="1300" u="none" cap="none" strike="noStrike">
              <a:solidFill>
                <a:schemeClr val="dk2"/>
              </a:solidFill>
              <a:latin typeface="Twentieth Century"/>
              <a:ea typeface="Twentieth Century"/>
              <a:cs typeface="Twentieth Century"/>
              <a:sym typeface="Twentieth Century"/>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2"/>
          <p:cNvSpPr txBox="1"/>
          <p:nvPr>
            <p:ph type="title"/>
          </p:nvPr>
        </p:nvSpPr>
        <p:spPr>
          <a:xfrm>
            <a:off x="146550" y="19144"/>
            <a:ext cx="8845200" cy="636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990"/>
              <a:buFont typeface="Arial"/>
              <a:buNone/>
            </a:pPr>
            <a:r>
              <a:rPr b="1" lang="en" sz="3000">
                <a:solidFill>
                  <a:schemeClr val="dk1"/>
                </a:solidFill>
                <a:latin typeface="Trebuchet MS"/>
                <a:ea typeface="Trebuchet MS"/>
                <a:cs typeface="Trebuchet MS"/>
                <a:sym typeface="Trebuchet MS"/>
              </a:rPr>
              <a:t>Instruction Team</a:t>
            </a:r>
            <a:endParaRPr sz="3000">
              <a:latin typeface="Trebuchet MS"/>
              <a:ea typeface="Trebuchet MS"/>
              <a:cs typeface="Trebuchet MS"/>
              <a:sym typeface="Trebuchet MS"/>
            </a:endParaRPr>
          </a:p>
        </p:txBody>
      </p:sp>
      <p:sp>
        <p:nvSpPr>
          <p:cNvPr id="76" name="Google Shape;76;p2"/>
          <p:cNvSpPr txBox="1"/>
          <p:nvPr/>
        </p:nvSpPr>
        <p:spPr>
          <a:xfrm>
            <a:off x="617411" y="2507340"/>
            <a:ext cx="1717200" cy="450900"/>
          </a:xfrm>
          <a:prstGeom prst="rect">
            <a:avLst/>
          </a:prstGeom>
          <a:noFill/>
          <a:ln>
            <a:noFill/>
          </a:ln>
        </p:spPr>
        <p:txBody>
          <a:bodyPr anchorCtr="0" anchor="t" bIns="83450" lIns="83450" spcFirstLastPara="1" rIns="83450" wrap="square" tIns="83450">
            <a:noAutofit/>
          </a:bodyPr>
          <a:lstStyle/>
          <a:p>
            <a:pPr indent="0" lvl="0" marL="0" marR="0" rtl="0" algn="ctr">
              <a:lnSpc>
                <a:spcPct val="100000"/>
              </a:lnSpc>
              <a:spcBef>
                <a:spcPts val="0"/>
              </a:spcBef>
              <a:spcAft>
                <a:spcPts val="0"/>
              </a:spcAft>
              <a:buClr>
                <a:srgbClr val="000000"/>
              </a:buClr>
              <a:buSzPts val="912"/>
              <a:buFont typeface="Arial"/>
              <a:buNone/>
            </a:pPr>
            <a:r>
              <a:rPr b="0" i="0" lang="en" sz="912" u="none" cap="none" strike="noStrike">
                <a:solidFill>
                  <a:srgbClr val="121212"/>
                </a:solidFill>
                <a:latin typeface="Roboto Serif Medium"/>
                <a:ea typeface="Roboto Serif Medium"/>
                <a:cs typeface="Roboto Serif Medium"/>
                <a:sym typeface="Roboto Serif Medium"/>
              </a:rPr>
              <a:t>Communication &amp; Information Librarian</a:t>
            </a:r>
            <a:endParaRPr b="0" i="0" sz="912" u="none" cap="none" strike="noStrike">
              <a:solidFill>
                <a:srgbClr val="121212"/>
              </a:solidFill>
              <a:latin typeface="Roboto Serif Medium"/>
              <a:ea typeface="Roboto Serif Medium"/>
              <a:cs typeface="Roboto Serif Medium"/>
              <a:sym typeface="Roboto Serif Medium"/>
            </a:endParaRPr>
          </a:p>
        </p:txBody>
      </p:sp>
      <p:sp>
        <p:nvSpPr>
          <p:cNvPr id="77" name="Google Shape;77;p2"/>
          <p:cNvSpPr txBox="1"/>
          <p:nvPr/>
        </p:nvSpPr>
        <p:spPr>
          <a:xfrm>
            <a:off x="2575539" y="2507338"/>
            <a:ext cx="1788000" cy="450900"/>
          </a:xfrm>
          <a:prstGeom prst="rect">
            <a:avLst/>
          </a:prstGeom>
          <a:noFill/>
          <a:ln>
            <a:noFill/>
          </a:ln>
        </p:spPr>
        <p:txBody>
          <a:bodyPr anchorCtr="0" anchor="t" bIns="83450" lIns="83450" spcFirstLastPara="1" rIns="83450" wrap="square" tIns="83450">
            <a:noAutofit/>
          </a:bodyPr>
          <a:lstStyle/>
          <a:p>
            <a:pPr indent="0" lvl="0" marL="0" marR="0" rtl="0" algn="ctr">
              <a:lnSpc>
                <a:spcPct val="100000"/>
              </a:lnSpc>
              <a:spcBef>
                <a:spcPts val="0"/>
              </a:spcBef>
              <a:spcAft>
                <a:spcPts val="0"/>
              </a:spcAft>
              <a:buClr>
                <a:srgbClr val="000000"/>
              </a:buClr>
              <a:buSzPts val="912"/>
              <a:buFont typeface="Arial"/>
              <a:buNone/>
            </a:pPr>
            <a:r>
              <a:rPr b="0" i="0" lang="en" sz="912" u="none" cap="none" strike="noStrike">
                <a:solidFill>
                  <a:srgbClr val="121212"/>
                </a:solidFill>
                <a:latin typeface="Roboto Serif Medium"/>
                <a:ea typeface="Roboto Serif Medium"/>
                <a:cs typeface="Roboto Serif Medium"/>
                <a:sym typeface="Roboto Serif Medium"/>
              </a:rPr>
              <a:t>Research Data Coordinator</a:t>
            </a:r>
            <a:endParaRPr b="0" i="0" sz="912" u="none" cap="none" strike="noStrike">
              <a:solidFill>
                <a:srgbClr val="121212"/>
              </a:solidFill>
              <a:latin typeface="Roboto Serif Medium"/>
              <a:ea typeface="Roboto Serif Medium"/>
              <a:cs typeface="Roboto Serif Medium"/>
              <a:sym typeface="Roboto Serif Medium"/>
            </a:endParaRPr>
          </a:p>
        </p:txBody>
      </p:sp>
      <p:sp>
        <p:nvSpPr>
          <p:cNvPr id="78" name="Google Shape;78;p2"/>
          <p:cNvSpPr txBox="1"/>
          <p:nvPr/>
        </p:nvSpPr>
        <p:spPr>
          <a:xfrm>
            <a:off x="4696272" y="2507340"/>
            <a:ext cx="1734000" cy="450900"/>
          </a:xfrm>
          <a:prstGeom prst="rect">
            <a:avLst/>
          </a:prstGeom>
          <a:noFill/>
          <a:ln>
            <a:noFill/>
          </a:ln>
        </p:spPr>
        <p:txBody>
          <a:bodyPr anchorCtr="0" anchor="t" bIns="83450" lIns="83450" spcFirstLastPara="1" rIns="83450" wrap="square" tIns="83450">
            <a:noAutofit/>
          </a:bodyPr>
          <a:lstStyle/>
          <a:p>
            <a:pPr indent="0" lvl="0" marL="0" marR="0" rtl="0" algn="ctr">
              <a:lnSpc>
                <a:spcPct val="100000"/>
              </a:lnSpc>
              <a:spcBef>
                <a:spcPts val="0"/>
              </a:spcBef>
              <a:spcAft>
                <a:spcPts val="0"/>
              </a:spcAft>
              <a:buClr>
                <a:srgbClr val="000000"/>
              </a:buClr>
              <a:buSzPts val="912"/>
              <a:buFont typeface="Arial"/>
              <a:buNone/>
            </a:pPr>
            <a:r>
              <a:rPr b="0" i="0" lang="en" sz="912" u="none" cap="none" strike="noStrike">
                <a:solidFill>
                  <a:srgbClr val="121212"/>
                </a:solidFill>
                <a:latin typeface="Roboto Serif Medium"/>
                <a:ea typeface="Roboto Serif Medium"/>
                <a:cs typeface="Roboto Serif Medium"/>
                <a:sym typeface="Roboto Serif Medium"/>
              </a:rPr>
              <a:t>European Studies and Linguistics Librarian</a:t>
            </a:r>
            <a:endParaRPr b="0" i="0" sz="912" u="none" cap="none" strike="noStrike">
              <a:solidFill>
                <a:srgbClr val="121212"/>
              </a:solidFill>
              <a:latin typeface="Roboto Serif Medium"/>
              <a:ea typeface="Roboto Serif Medium"/>
              <a:cs typeface="Roboto Serif Medium"/>
              <a:sym typeface="Roboto Serif Medium"/>
            </a:endParaRPr>
          </a:p>
        </p:txBody>
      </p:sp>
      <p:sp>
        <p:nvSpPr>
          <p:cNvPr id="79" name="Google Shape;79;p2"/>
          <p:cNvSpPr txBox="1"/>
          <p:nvPr/>
        </p:nvSpPr>
        <p:spPr>
          <a:xfrm>
            <a:off x="6631871" y="2507340"/>
            <a:ext cx="2001300" cy="450900"/>
          </a:xfrm>
          <a:prstGeom prst="rect">
            <a:avLst/>
          </a:prstGeom>
          <a:noFill/>
          <a:ln>
            <a:noFill/>
          </a:ln>
        </p:spPr>
        <p:txBody>
          <a:bodyPr anchorCtr="0" anchor="t" bIns="83450" lIns="83450" spcFirstLastPara="1" rIns="83450" wrap="square" tIns="83450">
            <a:noAutofit/>
          </a:bodyPr>
          <a:lstStyle/>
          <a:p>
            <a:pPr indent="0" lvl="0" marL="0" marR="0" rtl="0" algn="ctr">
              <a:lnSpc>
                <a:spcPct val="100000"/>
              </a:lnSpc>
              <a:spcBef>
                <a:spcPts val="0"/>
              </a:spcBef>
              <a:spcAft>
                <a:spcPts val="0"/>
              </a:spcAft>
              <a:buClr>
                <a:srgbClr val="000000"/>
              </a:buClr>
              <a:buSzPts val="912"/>
              <a:buFont typeface="Arial"/>
              <a:buNone/>
            </a:pPr>
            <a:r>
              <a:rPr b="0" i="0" lang="en" sz="912" u="none" cap="none" strike="noStrike">
                <a:solidFill>
                  <a:srgbClr val="121212"/>
                </a:solidFill>
                <a:latin typeface="Roboto Serif Medium"/>
                <a:ea typeface="Roboto Serif Medium"/>
                <a:cs typeface="Roboto Serif Medium"/>
                <a:sym typeface="Roboto Serif Medium"/>
              </a:rPr>
              <a:t>Digital Processing Archivist</a:t>
            </a:r>
            <a:endParaRPr b="0" i="0" sz="912" u="none" cap="none" strike="noStrike">
              <a:solidFill>
                <a:srgbClr val="121212"/>
              </a:solidFill>
              <a:latin typeface="Roboto Serif Medium"/>
              <a:ea typeface="Roboto Serif Medium"/>
              <a:cs typeface="Roboto Serif Medium"/>
              <a:sym typeface="Roboto Serif Medium"/>
            </a:endParaRPr>
          </a:p>
        </p:txBody>
      </p:sp>
      <p:sp>
        <p:nvSpPr>
          <p:cNvPr id="80" name="Google Shape;80;p2"/>
          <p:cNvSpPr txBox="1"/>
          <p:nvPr/>
        </p:nvSpPr>
        <p:spPr>
          <a:xfrm>
            <a:off x="543242" y="2267672"/>
            <a:ext cx="1839600" cy="275400"/>
          </a:xfrm>
          <a:prstGeom prst="rect">
            <a:avLst/>
          </a:prstGeom>
          <a:noFill/>
          <a:ln>
            <a:noFill/>
          </a:ln>
        </p:spPr>
        <p:txBody>
          <a:bodyPr anchorCtr="0" anchor="t" bIns="83450" lIns="83450" spcFirstLastPara="1" rIns="83450" wrap="square" tIns="83450">
            <a:noAutofit/>
          </a:bodyPr>
          <a:lstStyle/>
          <a:p>
            <a:pPr indent="0" lvl="0" marL="0" marR="0" rtl="0" algn="ctr">
              <a:lnSpc>
                <a:spcPct val="80000"/>
              </a:lnSpc>
              <a:spcBef>
                <a:spcPts val="0"/>
              </a:spcBef>
              <a:spcAft>
                <a:spcPts val="0"/>
              </a:spcAft>
              <a:buClr>
                <a:srgbClr val="000000"/>
              </a:buClr>
              <a:buSzPts val="1825"/>
              <a:buFont typeface="Arial"/>
              <a:buNone/>
            </a:pPr>
            <a:r>
              <a:rPr b="0" i="0" lang="en" sz="1825" u="none" cap="none" strike="noStrike">
                <a:solidFill>
                  <a:srgbClr val="121212"/>
                </a:solidFill>
                <a:latin typeface="Covered By Your Grace"/>
                <a:ea typeface="Covered By Your Grace"/>
                <a:cs typeface="Covered By Your Grace"/>
                <a:sym typeface="Covered By Your Grace"/>
              </a:rPr>
              <a:t>Meryl Brodsky</a:t>
            </a:r>
            <a:endParaRPr b="0" i="0" sz="1825" u="none" cap="none" strike="noStrike">
              <a:solidFill>
                <a:srgbClr val="121212"/>
              </a:solidFill>
              <a:latin typeface="Covered By Your Grace"/>
              <a:ea typeface="Covered By Your Grace"/>
              <a:cs typeface="Covered By Your Grace"/>
              <a:sym typeface="Covered By Your Grace"/>
            </a:endParaRPr>
          </a:p>
        </p:txBody>
      </p:sp>
      <p:sp>
        <p:nvSpPr>
          <p:cNvPr id="81" name="Google Shape;81;p2"/>
          <p:cNvSpPr txBox="1"/>
          <p:nvPr/>
        </p:nvSpPr>
        <p:spPr>
          <a:xfrm>
            <a:off x="2556839" y="2267672"/>
            <a:ext cx="1878300" cy="275400"/>
          </a:xfrm>
          <a:prstGeom prst="rect">
            <a:avLst/>
          </a:prstGeom>
          <a:noFill/>
          <a:ln>
            <a:noFill/>
          </a:ln>
        </p:spPr>
        <p:txBody>
          <a:bodyPr anchorCtr="0" anchor="t" bIns="83450" lIns="83450" spcFirstLastPara="1" rIns="83450" wrap="square" tIns="83450">
            <a:noAutofit/>
          </a:bodyPr>
          <a:lstStyle/>
          <a:p>
            <a:pPr indent="0" lvl="0" marL="0" marR="0" rtl="0" algn="ctr">
              <a:lnSpc>
                <a:spcPct val="80000"/>
              </a:lnSpc>
              <a:spcBef>
                <a:spcPts val="0"/>
              </a:spcBef>
              <a:spcAft>
                <a:spcPts val="0"/>
              </a:spcAft>
              <a:buClr>
                <a:srgbClr val="000000"/>
              </a:buClr>
              <a:buSzPts val="1825"/>
              <a:buFont typeface="Arial"/>
              <a:buNone/>
            </a:pPr>
            <a:r>
              <a:rPr b="0" i="0" lang="en" sz="1825" u="none" cap="none" strike="noStrike">
                <a:solidFill>
                  <a:srgbClr val="121212"/>
                </a:solidFill>
                <a:latin typeface="Covered By Your Grace"/>
                <a:ea typeface="Covered By Your Grace"/>
                <a:cs typeface="Covered By Your Grace"/>
                <a:sym typeface="Covered By Your Grace"/>
              </a:rPr>
              <a:t>Bryan Gee</a:t>
            </a:r>
            <a:endParaRPr b="0" i="0" sz="1825" u="none" cap="none" strike="noStrike">
              <a:solidFill>
                <a:srgbClr val="121212"/>
              </a:solidFill>
              <a:latin typeface="Covered By Your Grace"/>
              <a:ea typeface="Covered By Your Grace"/>
              <a:cs typeface="Covered By Your Grace"/>
              <a:sym typeface="Covered By Your Grace"/>
            </a:endParaRPr>
          </a:p>
        </p:txBody>
      </p:sp>
      <p:sp>
        <p:nvSpPr>
          <p:cNvPr id="82" name="Google Shape;82;p2"/>
          <p:cNvSpPr txBox="1"/>
          <p:nvPr/>
        </p:nvSpPr>
        <p:spPr>
          <a:xfrm>
            <a:off x="4613613" y="2267672"/>
            <a:ext cx="1878300" cy="275400"/>
          </a:xfrm>
          <a:prstGeom prst="rect">
            <a:avLst/>
          </a:prstGeom>
          <a:noFill/>
          <a:ln>
            <a:noFill/>
          </a:ln>
        </p:spPr>
        <p:txBody>
          <a:bodyPr anchorCtr="0" anchor="t" bIns="83450" lIns="83450" spcFirstLastPara="1" rIns="83450" wrap="square" tIns="83450">
            <a:noAutofit/>
          </a:bodyPr>
          <a:lstStyle/>
          <a:p>
            <a:pPr indent="0" lvl="0" marL="0" marR="0" rtl="0" algn="ctr">
              <a:lnSpc>
                <a:spcPct val="80000"/>
              </a:lnSpc>
              <a:spcBef>
                <a:spcPts val="0"/>
              </a:spcBef>
              <a:spcAft>
                <a:spcPts val="0"/>
              </a:spcAft>
              <a:buClr>
                <a:srgbClr val="000000"/>
              </a:buClr>
              <a:buSzPts val="1825"/>
              <a:buFont typeface="Arial"/>
              <a:buNone/>
            </a:pPr>
            <a:r>
              <a:rPr b="0" i="0" lang="en" sz="1825" u="none" cap="none" strike="noStrike">
                <a:solidFill>
                  <a:srgbClr val="121212"/>
                </a:solidFill>
                <a:latin typeface="Covered By Your Grace"/>
                <a:ea typeface="Covered By Your Grace"/>
                <a:cs typeface="Covered By Your Grace"/>
                <a:sym typeface="Covered By Your Grace"/>
              </a:rPr>
              <a:t>Ian Goodale</a:t>
            </a:r>
            <a:endParaRPr b="0" i="0" sz="1825" u="none" cap="none" strike="noStrike">
              <a:solidFill>
                <a:srgbClr val="121212"/>
              </a:solidFill>
              <a:latin typeface="Covered By Your Grace"/>
              <a:ea typeface="Covered By Your Grace"/>
              <a:cs typeface="Covered By Your Grace"/>
              <a:sym typeface="Covered By Your Grace"/>
            </a:endParaRPr>
          </a:p>
        </p:txBody>
      </p:sp>
      <p:sp>
        <p:nvSpPr>
          <p:cNvPr id="83" name="Google Shape;83;p2"/>
          <p:cNvSpPr txBox="1"/>
          <p:nvPr/>
        </p:nvSpPr>
        <p:spPr>
          <a:xfrm>
            <a:off x="6693340" y="2267672"/>
            <a:ext cx="1878300" cy="275400"/>
          </a:xfrm>
          <a:prstGeom prst="rect">
            <a:avLst/>
          </a:prstGeom>
          <a:noFill/>
          <a:ln>
            <a:noFill/>
          </a:ln>
        </p:spPr>
        <p:txBody>
          <a:bodyPr anchorCtr="0" anchor="t" bIns="83450" lIns="83450" spcFirstLastPara="1" rIns="83450" wrap="square" tIns="83450">
            <a:noAutofit/>
          </a:bodyPr>
          <a:lstStyle/>
          <a:p>
            <a:pPr indent="0" lvl="0" marL="0" marR="0" rtl="0" algn="ctr">
              <a:lnSpc>
                <a:spcPct val="80000"/>
              </a:lnSpc>
              <a:spcBef>
                <a:spcPts val="0"/>
              </a:spcBef>
              <a:spcAft>
                <a:spcPts val="0"/>
              </a:spcAft>
              <a:buClr>
                <a:srgbClr val="000000"/>
              </a:buClr>
              <a:buSzPts val="1825"/>
              <a:buFont typeface="Arial"/>
              <a:buNone/>
            </a:pPr>
            <a:r>
              <a:rPr b="0" i="0" lang="en" sz="1825" u="none" cap="none" strike="noStrike">
                <a:solidFill>
                  <a:srgbClr val="121212"/>
                </a:solidFill>
                <a:latin typeface="Covered By Your Grace"/>
                <a:ea typeface="Covered By Your Grace"/>
                <a:cs typeface="Covered By Your Grace"/>
                <a:sym typeface="Covered By Your Grace"/>
              </a:rPr>
              <a:t>Jeremy Thompson</a:t>
            </a:r>
            <a:endParaRPr b="0" i="0" sz="1825" u="none" cap="none" strike="noStrike">
              <a:solidFill>
                <a:srgbClr val="121212"/>
              </a:solidFill>
              <a:latin typeface="Covered By Your Grace"/>
              <a:ea typeface="Covered By Your Grace"/>
              <a:cs typeface="Covered By Your Grace"/>
              <a:sym typeface="Covered By Your Grace"/>
            </a:endParaRPr>
          </a:p>
        </p:txBody>
      </p:sp>
      <p:sp>
        <p:nvSpPr>
          <p:cNvPr id="84" name="Google Shape;84;p2"/>
          <p:cNvSpPr txBox="1"/>
          <p:nvPr/>
        </p:nvSpPr>
        <p:spPr>
          <a:xfrm>
            <a:off x="642784" y="4550861"/>
            <a:ext cx="1717200" cy="450900"/>
          </a:xfrm>
          <a:prstGeom prst="rect">
            <a:avLst/>
          </a:prstGeom>
          <a:noFill/>
          <a:ln>
            <a:noFill/>
          </a:ln>
        </p:spPr>
        <p:txBody>
          <a:bodyPr anchorCtr="0" anchor="t" bIns="83450" lIns="83450" spcFirstLastPara="1" rIns="83450" wrap="square" tIns="83450">
            <a:noAutofit/>
          </a:bodyPr>
          <a:lstStyle/>
          <a:p>
            <a:pPr indent="0" lvl="0" marL="0" marR="0" rtl="0" algn="ctr">
              <a:lnSpc>
                <a:spcPct val="100000"/>
              </a:lnSpc>
              <a:spcBef>
                <a:spcPts val="0"/>
              </a:spcBef>
              <a:spcAft>
                <a:spcPts val="0"/>
              </a:spcAft>
              <a:buClr>
                <a:srgbClr val="000000"/>
              </a:buClr>
              <a:buSzPts val="912"/>
              <a:buFont typeface="Arial"/>
              <a:buNone/>
            </a:pPr>
            <a:r>
              <a:rPr b="0" i="0" lang="en" sz="912" u="none" cap="none" strike="noStrike">
                <a:solidFill>
                  <a:srgbClr val="121212"/>
                </a:solidFill>
                <a:latin typeface="Roboto Serif Medium"/>
                <a:ea typeface="Roboto Serif Medium"/>
                <a:cs typeface="Roboto Serif Medium"/>
                <a:sym typeface="Roboto Serif Medium"/>
              </a:rPr>
              <a:t>Scholars Lab Librarian</a:t>
            </a:r>
            <a:endParaRPr b="0" i="0" sz="912" u="none" cap="none" strike="noStrike">
              <a:solidFill>
                <a:srgbClr val="121212"/>
              </a:solidFill>
              <a:latin typeface="Roboto Serif Medium"/>
              <a:ea typeface="Roboto Serif Medium"/>
              <a:cs typeface="Roboto Serif Medium"/>
              <a:sym typeface="Roboto Serif Medium"/>
            </a:endParaRPr>
          </a:p>
        </p:txBody>
      </p:sp>
      <p:sp>
        <p:nvSpPr>
          <p:cNvPr id="85" name="Google Shape;85;p2"/>
          <p:cNvSpPr txBox="1"/>
          <p:nvPr/>
        </p:nvSpPr>
        <p:spPr>
          <a:xfrm>
            <a:off x="2600912" y="4550859"/>
            <a:ext cx="1788000" cy="450900"/>
          </a:xfrm>
          <a:prstGeom prst="rect">
            <a:avLst/>
          </a:prstGeom>
          <a:noFill/>
          <a:ln>
            <a:noFill/>
          </a:ln>
        </p:spPr>
        <p:txBody>
          <a:bodyPr anchorCtr="0" anchor="t" bIns="83450" lIns="83450" spcFirstLastPara="1" rIns="83450" wrap="square" tIns="83450">
            <a:noAutofit/>
          </a:bodyPr>
          <a:lstStyle/>
          <a:p>
            <a:pPr indent="0" lvl="0" marL="0" marR="0" rtl="0" algn="ctr">
              <a:lnSpc>
                <a:spcPct val="100000"/>
              </a:lnSpc>
              <a:spcBef>
                <a:spcPts val="0"/>
              </a:spcBef>
              <a:spcAft>
                <a:spcPts val="0"/>
              </a:spcAft>
              <a:buClr>
                <a:srgbClr val="000000"/>
              </a:buClr>
              <a:buSzPts val="912"/>
              <a:buFont typeface="Arial"/>
              <a:buNone/>
            </a:pPr>
            <a:r>
              <a:rPr b="0" i="0" lang="en" sz="912" u="none" cap="none" strike="noStrike">
                <a:solidFill>
                  <a:srgbClr val="121212"/>
                </a:solidFill>
                <a:latin typeface="Roboto Serif Medium"/>
                <a:ea typeface="Roboto Serif Medium"/>
                <a:cs typeface="Roboto Serif Medium"/>
                <a:sym typeface="Roboto Serif Medium"/>
              </a:rPr>
              <a:t>GIS &amp; Geospatial Data Coordinator</a:t>
            </a:r>
            <a:endParaRPr b="0" i="0" sz="912" u="none" cap="none" strike="noStrike">
              <a:solidFill>
                <a:srgbClr val="121212"/>
              </a:solidFill>
              <a:latin typeface="Roboto Serif Medium"/>
              <a:ea typeface="Roboto Serif Medium"/>
              <a:cs typeface="Roboto Serif Medium"/>
              <a:sym typeface="Roboto Serif Medium"/>
            </a:endParaRPr>
          </a:p>
        </p:txBody>
      </p:sp>
      <p:sp>
        <p:nvSpPr>
          <p:cNvPr id="86" name="Google Shape;86;p2"/>
          <p:cNvSpPr txBox="1"/>
          <p:nvPr/>
        </p:nvSpPr>
        <p:spPr>
          <a:xfrm>
            <a:off x="4721645" y="4550861"/>
            <a:ext cx="1734000" cy="450900"/>
          </a:xfrm>
          <a:prstGeom prst="rect">
            <a:avLst/>
          </a:prstGeom>
          <a:noFill/>
          <a:ln>
            <a:noFill/>
          </a:ln>
        </p:spPr>
        <p:txBody>
          <a:bodyPr anchorCtr="0" anchor="t" bIns="83450" lIns="83450" spcFirstLastPara="1" rIns="83450" wrap="square" tIns="83450">
            <a:noAutofit/>
          </a:bodyPr>
          <a:lstStyle/>
          <a:p>
            <a:pPr indent="0" lvl="0" marL="0" marR="0" rtl="0" algn="ctr">
              <a:lnSpc>
                <a:spcPct val="100000"/>
              </a:lnSpc>
              <a:spcBef>
                <a:spcPts val="0"/>
              </a:spcBef>
              <a:spcAft>
                <a:spcPts val="0"/>
              </a:spcAft>
              <a:buClr>
                <a:srgbClr val="000000"/>
              </a:buClr>
              <a:buSzPts val="912"/>
              <a:buFont typeface="Arial"/>
              <a:buNone/>
            </a:pPr>
            <a:r>
              <a:rPr b="0" i="0" lang="en" sz="912" u="none" cap="none" strike="noStrike">
                <a:solidFill>
                  <a:srgbClr val="121212"/>
                </a:solidFill>
                <a:latin typeface="Roboto Serif Medium"/>
                <a:ea typeface="Roboto Serif Medium"/>
                <a:cs typeface="Roboto Serif Medium"/>
                <a:sym typeface="Roboto Serif Medium"/>
              </a:rPr>
              <a:t>Head of Research Data Services</a:t>
            </a:r>
            <a:endParaRPr b="0" i="0" sz="912" u="none" cap="none" strike="noStrike">
              <a:solidFill>
                <a:srgbClr val="121212"/>
              </a:solidFill>
              <a:latin typeface="Roboto Serif Medium"/>
              <a:ea typeface="Roboto Serif Medium"/>
              <a:cs typeface="Roboto Serif Medium"/>
              <a:sym typeface="Roboto Serif Medium"/>
            </a:endParaRPr>
          </a:p>
        </p:txBody>
      </p:sp>
      <p:sp>
        <p:nvSpPr>
          <p:cNvPr id="87" name="Google Shape;87;p2"/>
          <p:cNvSpPr txBox="1"/>
          <p:nvPr/>
        </p:nvSpPr>
        <p:spPr>
          <a:xfrm>
            <a:off x="568616" y="4311193"/>
            <a:ext cx="1839600" cy="275400"/>
          </a:xfrm>
          <a:prstGeom prst="rect">
            <a:avLst/>
          </a:prstGeom>
          <a:noFill/>
          <a:ln>
            <a:noFill/>
          </a:ln>
        </p:spPr>
        <p:txBody>
          <a:bodyPr anchorCtr="0" anchor="t" bIns="83450" lIns="83450" spcFirstLastPara="1" rIns="83450" wrap="square" tIns="83450">
            <a:noAutofit/>
          </a:bodyPr>
          <a:lstStyle/>
          <a:p>
            <a:pPr indent="0" lvl="0" marL="0" marR="0" rtl="0" algn="ctr">
              <a:lnSpc>
                <a:spcPct val="80000"/>
              </a:lnSpc>
              <a:spcBef>
                <a:spcPts val="0"/>
              </a:spcBef>
              <a:spcAft>
                <a:spcPts val="0"/>
              </a:spcAft>
              <a:buClr>
                <a:srgbClr val="000000"/>
              </a:buClr>
              <a:buSzPts val="1825"/>
              <a:buFont typeface="Arial"/>
              <a:buNone/>
            </a:pPr>
            <a:r>
              <a:rPr b="0" i="0" lang="en" sz="1825" u="none" cap="none" strike="noStrike">
                <a:solidFill>
                  <a:srgbClr val="121212"/>
                </a:solidFill>
                <a:latin typeface="Covered By Your Grace"/>
                <a:ea typeface="Covered By Your Grace"/>
                <a:cs typeface="Covered By Your Grace"/>
                <a:sym typeface="Covered By Your Grace"/>
              </a:rPr>
              <a:t>Karina Sanchez</a:t>
            </a:r>
            <a:endParaRPr b="0" i="0" sz="1825" u="none" cap="none" strike="noStrike">
              <a:solidFill>
                <a:srgbClr val="121212"/>
              </a:solidFill>
              <a:latin typeface="Covered By Your Grace"/>
              <a:ea typeface="Covered By Your Grace"/>
              <a:cs typeface="Covered By Your Grace"/>
              <a:sym typeface="Covered By Your Grace"/>
            </a:endParaRPr>
          </a:p>
        </p:txBody>
      </p:sp>
      <p:sp>
        <p:nvSpPr>
          <p:cNvPr id="88" name="Google Shape;88;p2"/>
          <p:cNvSpPr txBox="1"/>
          <p:nvPr/>
        </p:nvSpPr>
        <p:spPr>
          <a:xfrm>
            <a:off x="2582212" y="4311193"/>
            <a:ext cx="1878300" cy="275400"/>
          </a:xfrm>
          <a:prstGeom prst="rect">
            <a:avLst/>
          </a:prstGeom>
          <a:noFill/>
          <a:ln>
            <a:noFill/>
          </a:ln>
        </p:spPr>
        <p:txBody>
          <a:bodyPr anchorCtr="0" anchor="t" bIns="83450" lIns="83450" spcFirstLastPara="1" rIns="83450" wrap="square" tIns="83450">
            <a:noAutofit/>
          </a:bodyPr>
          <a:lstStyle/>
          <a:p>
            <a:pPr indent="0" lvl="0" marL="0" marR="0" rtl="0" algn="ctr">
              <a:lnSpc>
                <a:spcPct val="80000"/>
              </a:lnSpc>
              <a:spcBef>
                <a:spcPts val="0"/>
              </a:spcBef>
              <a:spcAft>
                <a:spcPts val="0"/>
              </a:spcAft>
              <a:buClr>
                <a:srgbClr val="000000"/>
              </a:buClr>
              <a:buSzPts val="1825"/>
              <a:buFont typeface="Arial"/>
              <a:buNone/>
            </a:pPr>
            <a:r>
              <a:rPr b="0" i="0" lang="en" sz="1825" u="none" cap="none" strike="noStrike">
                <a:solidFill>
                  <a:srgbClr val="121212"/>
                </a:solidFill>
                <a:latin typeface="Covered By Your Grace"/>
                <a:ea typeface="Covered By Your Grace"/>
                <a:cs typeface="Covered By Your Grace"/>
                <a:sym typeface="Covered By Your Grace"/>
              </a:rPr>
              <a:t>Alex Marden</a:t>
            </a:r>
            <a:endParaRPr b="0" i="0" sz="1825" u="none" cap="none" strike="noStrike">
              <a:solidFill>
                <a:srgbClr val="121212"/>
              </a:solidFill>
              <a:latin typeface="Covered By Your Grace"/>
              <a:ea typeface="Covered By Your Grace"/>
              <a:cs typeface="Covered By Your Grace"/>
              <a:sym typeface="Covered By Your Grace"/>
            </a:endParaRPr>
          </a:p>
        </p:txBody>
      </p:sp>
      <p:sp>
        <p:nvSpPr>
          <p:cNvPr id="89" name="Google Shape;89;p2"/>
          <p:cNvSpPr txBox="1"/>
          <p:nvPr/>
        </p:nvSpPr>
        <p:spPr>
          <a:xfrm>
            <a:off x="4638987" y="4311193"/>
            <a:ext cx="1878300" cy="275400"/>
          </a:xfrm>
          <a:prstGeom prst="rect">
            <a:avLst/>
          </a:prstGeom>
          <a:noFill/>
          <a:ln>
            <a:noFill/>
          </a:ln>
        </p:spPr>
        <p:txBody>
          <a:bodyPr anchorCtr="0" anchor="t" bIns="83450" lIns="83450" spcFirstLastPara="1" rIns="83450" wrap="square" tIns="83450">
            <a:noAutofit/>
          </a:bodyPr>
          <a:lstStyle/>
          <a:p>
            <a:pPr indent="0" lvl="0" marL="0" marR="0" rtl="0" algn="ctr">
              <a:lnSpc>
                <a:spcPct val="80000"/>
              </a:lnSpc>
              <a:spcBef>
                <a:spcPts val="0"/>
              </a:spcBef>
              <a:spcAft>
                <a:spcPts val="0"/>
              </a:spcAft>
              <a:buClr>
                <a:srgbClr val="000000"/>
              </a:buClr>
              <a:buSzPts val="1825"/>
              <a:buFont typeface="Arial"/>
              <a:buNone/>
            </a:pPr>
            <a:r>
              <a:rPr b="0" i="0" lang="en" sz="1825" u="none" cap="none" strike="noStrike">
                <a:solidFill>
                  <a:srgbClr val="121212"/>
                </a:solidFill>
                <a:latin typeface="Covered By Your Grace"/>
                <a:ea typeface="Covered By Your Grace"/>
                <a:cs typeface="Covered By Your Grace"/>
                <a:sym typeface="Covered By Your Grace"/>
              </a:rPr>
              <a:t>Michael Shensky</a:t>
            </a:r>
            <a:endParaRPr b="0" i="0" sz="1825" u="none" cap="none" strike="noStrike">
              <a:solidFill>
                <a:srgbClr val="121212"/>
              </a:solidFill>
              <a:latin typeface="Covered By Your Grace"/>
              <a:ea typeface="Covered By Your Grace"/>
              <a:cs typeface="Covered By Your Grace"/>
              <a:sym typeface="Covered By Your Grace"/>
            </a:endParaRPr>
          </a:p>
        </p:txBody>
      </p:sp>
      <p:pic>
        <p:nvPicPr>
          <p:cNvPr id="90" name="Google Shape;90;p2" title="ian_head.jpg"/>
          <p:cNvPicPr preferRelativeResize="0"/>
          <p:nvPr/>
        </p:nvPicPr>
        <p:blipFill rotWithShape="1">
          <a:blip r:embed="rId3">
            <a:alphaModFix/>
          </a:blip>
          <a:srcRect b="0" l="0" r="0" t="0"/>
          <a:stretch/>
        </p:blipFill>
        <p:spPr>
          <a:xfrm>
            <a:off x="4895264" y="930625"/>
            <a:ext cx="1336063" cy="1336063"/>
          </a:xfrm>
          <a:prstGeom prst="rect">
            <a:avLst/>
          </a:prstGeom>
          <a:noFill/>
          <a:ln>
            <a:noFill/>
          </a:ln>
        </p:spPr>
      </p:pic>
      <p:pic>
        <p:nvPicPr>
          <p:cNvPr id="91" name="Google Shape;91;p2" title="Meryl-head.jpeg"/>
          <p:cNvPicPr preferRelativeResize="0"/>
          <p:nvPr/>
        </p:nvPicPr>
        <p:blipFill rotWithShape="1">
          <a:blip r:embed="rId4">
            <a:alphaModFix/>
          </a:blip>
          <a:srcRect b="11645" l="0" r="0" t="0"/>
          <a:stretch/>
        </p:blipFill>
        <p:spPr>
          <a:xfrm>
            <a:off x="1008772" y="1002900"/>
            <a:ext cx="984879" cy="1264776"/>
          </a:xfrm>
          <a:prstGeom prst="rect">
            <a:avLst/>
          </a:prstGeom>
          <a:noFill/>
          <a:ln>
            <a:noFill/>
          </a:ln>
        </p:spPr>
      </p:pic>
      <p:pic>
        <p:nvPicPr>
          <p:cNvPr id="92" name="Google Shape;92;p2"/>
          <p:cNvPicPr preferRelativeResize="0"/>
          <p:nvPr/>
        </p:nvPicPr>
        <p:blipFill rotWithShape="1">
          <a:blip r:embed="rId5">
            <a:alphaModFix/>
          </a:blip>
          <a:srcRect b="0" l="0" r="0" t="0"/>
          <a:stretch/>
        </p:blipFill>
        <p:spPr>
          <a:xfrm>
            <a:off x="4836083" y="3093923"/>
            <a:ext cx="1484182" cy="1181996"/>
          </a:xfrm>
          <a:prstGeom prst="rect">
            <a:avLst/>
          </a:prstGeom>
          <a:noFill/>
          <a:ln>
            <a:noFill/>
          </a:ln>
        </p:spPr>
      </p:pic>
      <p:pic>
        <p:nvPicPr>
          <p:cNvPr descr="2024" id="93" name="Google Shape;93;p2"/>
          <p:cNvPicPr preferRelativeResize="0"/>
          <p:nvPr/>
        </p:nvPicPr>
        <p:blipFill rotWithShape="1">
          <a:blip r:embed="rId6">
            <a:alphaModFix/>
          </a:blip>
          <a:srcRect b="0" l="0" r="0" t="0"/>
          <a:stretch/>
        </p:blipFill>
        <p:spPr>
          <a:xfrm>
            <a:off x="2896898" y="1002900"/>
            <a:ext cx="1264769" cy="1264769"/>
          </a:xfrm>
          <a:prstGeom prst="rect">
            <a:avLst/>
          </a:prstGeom>
          <a:noFill/>
          <a:ln>
            <a:noFill/>
          </a:ln>
        </p:spPr>
      </p:pic>
      <p:pic>
        <p:nvPicPr>
          <p:cNvPr id="94" name="Google Shape;94;p2"/>
          <p:cNvPicPr preferRelativeResize="0"/>
          <p:nvPr/>
        </p:nvPicPr>
        <p:blipFill rotWithShape="1">
          <a:blip r:embed="rId7">
            <a:alphaModFix/>
          </a:blip>
          <a:srcRect b="11785" l="0" r="0" t="0"/>
          <a:stretch/>
        </p:blipFill>
        <p:spPr>
          <a:xfrm>
            <a:off x="2900850" y="3097354"/>
            <a:ext cx="1336049" cy="1178573"/>
          </a:xfrm>
          <a:prstGeom prst="rect">
            <a:avLst/>
          </a:prstGeom>
          <a:noFill/>
          <a:ln>
            <a:noFill/>
          </a:ln>
        </p:spPr>
      </p:pic>
      <p:sp>
        <p:nvSpPr>
          <p:cNvPr id="95" name="Google Shape;95;p2"/>
          <p:cNvSpPr txBox="1"/>
          <p:nvPr/>
        </p:nvSpPr>
        <p:spPr>
          <a:xfrm>
            <a:off x="6924987" y="4311193"/>
            <a:ext cx="1878300" cy="275400"/>
          </a:xfrm>
          <a:prstGeom prst="rect">
            <a:avLst/>
          </a:prstGeom>
          <a:noFill/>
          <a:ln>
            <a:noFill/>
          </a:ln>
        </p:spPr>
        <p:txBody>
          <a:bodyPr anchorCtr="0" anchor="t" bIns="83450" lIns="83450" spcFirstLastPara="1" rIns="83450" wrap="square" tIns="83450">
            <a:noAutofit/>
          </a:bodyPr>
          <a:lstStyle/>
          <a:p>
            <a:pPr indent="0" lvl="0" marL="0" marR="0" rtl="0" algn="ctr">
              <a:lnSpc>
                <a:spcPct val="80000"/>
              </a:lnSpc>
              <a:spcBef>
                <a:spcPts val="0"/>
              </a:spcBef>
              <a:spcAft>
                <a:spcPts val="0"/>
              </a:spcAft>
              <a:buClr>
                <a:srgbClr val="000000"/>
              </a:buClr>
              <a:buSzPts val="1825"/>
              <a:buFont typeface="Arial"/>
              <a:buNone/>
            </a:pPr>
            <a:r>
              <a:rPr b="0" i="0" lang="en" sz="1825" u="none" cap="none" strike="noStrike">
                <a:solidFill>
                  <a:srgbClr val="121212"/>
                </a:solidFill>
                <a:latin typeface="Covered By Your Grace"/>
                <a:ea typeface="Covered By Your Grace"/>
                <a:cs typeface="Covered By Your Grace"/>
                <a:sym typeface="Covered By Your Grace"/>
              </a:rPr>
              <a:t>Anna McGilvray</a:t>
            </a:r>
            <a:endParaRPr b="0" i="0" sz="1825" u="none" cap="none" strike="noStrike">
              <a:solidFill>
                <a:srgbClr val="121212"/>
              </a:solidFill>
              <a:latin typeface="Covered By Your Grace"/>
              <a:ea typeface="Covered By Your Grace"/>
              <a:cs typeface="Covered By Your Grace"/>
              <a:sym typeface="Covered By Your Grace"/>
            </a:endParaRPr>
          </a:p>
        </p:txBody>
      </p:sp>
      <p:sp>
        <p:nvSpPr>
          <p:cNvPr id="96" name="Google Shape;96;p2"/>
          <p:cNvSpPr txBox="1"/>
          <p:nvPr/>
        </p:nvSpPr>
        <p:spPr>
          <a:xfrm>
            <a:off x="6780172" y="4550850"/>
            <a:ext cx="1878300" cy="450900"/>
          </a:xfrm>
          <a:prstGeom prst="rect">
            <a:avLst/>
          </a:prstGeom>
          <a:noFill/>
          <a:ln>
            <a:noFill/>
          </a:ln>
        </p:spPr>
        <p:txBody>
          <a:bodyPr anchorCtr="0" anchor="t" bIns="83450" lIns="83450" spcFirstLastPara="1" rIns="83450" wrap="square" tIns="83450">
            <a:noAutofit/>
          </a:bodyPr>
          <a:lstStyle/>
          <a:p>
            <a:pPr indent="0" lvl="0" marL="0" marR="0" rtl="0" algn="ctr">
              <a:lnSpc>
                <a:spcPct val="100000"/>
              </a:lnSpc>
              <a:spcBef>
                <a:spcPts val="0"/>
              </a:spcBef>
              <a:spcAft>
                <a:spcPts val="0"/>
              </a:spcAft>
              <a:buClr>
                <a:srgbClr val="000000"/>
              </a:buClr>
              <a:buSzPts val="912"/>
              <a:buFont typeface="Arial"/>
              <a:buNone/>
            </a:pPr>
            <a:r>
              <a:rPr b="0" i="0" lang="en" sz="912" u="none" cap="none" strike="noStrike">
                <a:solidFill>
                  <a:srgbClr val="121212"/>
                </a:solidFill>
                <a:latin typeface="Roboto Serif Medium"/>
                <a:ea typeface="Roboto Serif Medium"/>
                <a:cs typeface="Roboto Serif Medium"/>
                <a:sym typeface="Roboto Serif Medium"/>
              </a:rPr>
              <a:t>Physical and Computational Sciences Librarian</a:t>
            </a:r>
            <a:endParaRPr b="0" i="0" sz="912" u="none" cap="none" strike="noStrike">
              <a:solidFill>
                <a:srgbClr val="121212"/>
              </a:solidFill>
              <a:latin typeface="Roboto Serif Medium"/>
              <a:ea typeface="Roboto Serif Medium"/>
              <a:cs typeface="Roboto Serif Medium"/>
              <a:sym typeface="Roboto Serif Medium"/>
            </a:endParaRPr>
          </a:p>
        </p:txBody>
      </p:sp>
      <p:pic>
        <p:nvPicPr>
          <p:cNvPr id="97" name="Google Shape;97;p2" title="Headshot-Jeremy_2019-A.jpg"/>
          <p:cNvPicPr preferRelativeResize="0"/>
          <p:nvPr/>
        </p:nvPicPr>
        <p:blipFill rotWithShape="1">
          <a:blip r:embed="rId8">
            <a:alphaModFix/>
          </a:blip>
          <a:srcRect b="0" l="0" r="0" t="0"/>
          <a:stretch/>
        </p:blipFill>
        <p:spPr>
          <a:xfrm>
            <a:off x="7054238" y="913513"/>
            <a:ext cx="1156577" cy="1336074"/>
          </a:xfrm>
          <a:prstGeom prst="rect">
            <a:avLst/>
          </a:prstGeom>
          <a:noFill/>
          <a:ln>
            <a:noFill/>
          </a:ln>
        </p:spPr>
      </p:pic>
      <p:pic>
        <p:nvPicPr>
          <p:cNvPr id="98" name="Google Shape;98;p2"/>
          <p:cNvPicPr preferRelativeResize="0"/>
          <p:nvPr/>
        </p:nvPicPr>
        <p:blipFill rotWithShape="1">
          <a:blip r:embed="rId9">
            <a:alphaModFix/>
          </a:blip>
          <a:srcRect b="27113" l="0" r="0" t="0"/>
          <a:stretch/>
        </p:blipFill>
        <p:spPr>
          <a:xfrm>
            <a:off x="917750" y="3043725"/>
            <a:ext cx="1090601" cy="1182000"/>
          </a:xfrm>
          <a:prstGeom prst="rect">
            <a:avLst/>
          </a:prstGeom>
          <a:noFill/>
          <a:ln>
            <a:noFill/>
          </a:ln>
        </p:spPr>
      </p:pic>
      <p:pic>
        <p:nvPicPr>
          <p:cNvPr id="99" name="Google Shape;99;p2" title="profile_picture.JPG"/>
          <p:cNvPicPr preferRelativeResize="0"/>
          <p:nvPr/>
        </p:nvPicPr>
        <p:blipFill rotWithShape="1">
          <a:blip r:embed="rId10">
            <a:alphaModFix/>
          </a:blip>
          <a:srcRect b="0" l="15975" r="22719" t="6576"/>
          <a:stretch/>
        </p:blipFill>
        <p:spPr>
          <a:xfrm>
            <a:off x="7157330" y="3054250"/>
            <a:ext cx="1244970" cy="12647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3" name="Shape 103"/>
        <p:cNvGrpSpPr/>
        <p:nvPr/>
      </p:nvGrpSpPr>
      <p:grpSpPr>
        <a:xfrm>
          <a:off x="0" y="0"/>
          <a:ext cx="0" cy="0"/>
          <a:chOff x="0" y="0"/>
          <a:chExt cx="0" cy="0"/>
        </a:xfrm>
      </p:grpSpPr>
      <p:sp>
        <p:nvSpPr>
          <p:cNvPr id="104" name="Google Shape;104;g3f5717e5de0_0_76"/>
          <p:cNvSpPr txBox="1"/>
          <p:nvPr>
            <p:ph type="title"/>
          </p:nvPr>
        </p:nvSpPr>
        <p:spPr>
          <a:xfrm>
            <a:off x="146550" y="19144"/>
            <a:ext cx="8845200" cy="636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990"/>
              <a:buFont typeface="Arial"/>
              <a:buNone/>
            </a:pPr>
            <a:r>
              <a:rPr b="1" lang="en" sz="3000">
                <a:solidFill>
                  <a:schemeClr val="dk1"/>
                </a:solidFill>
                <a:latin typeface="Trebuchet MS"/>
                <a:ea typeface="Trebuchet MS"/>
                <a:cs typeface="Trebuchet MS"/>
                <a:sym typeface="Trebuchet MS"/>
              </a:rPr>
              <a:t>Helpers</a:t>
            </a:r>
            <a:endParaRPr sz="3000">
              <a:latin typeface="Trebuchet MS"/>
              <a:ea typeface="Trebuchet MS"/>
              <a:cs typeface="Trebuchet MS"/>
              <a:sym typeface="Trebuchet MS"/>
            </a:endParaRPr>
          </a:p>
        </p:txBody>
      </p:sp>
      <p:sp>
        <p:nvSpPr>
          <p:cNvPr id="105" name="Google Shape;105;g3f5717e5de0_0_76"/>
          <p:cNvSpPr txBox="1"/>
          <p:nvPr/>
        </p:nvSpPr>
        <p:spPr>
          <a:xfrm>
            <a:off x="617411" y="2507340"/>
            <a:ext cx="1717200" cy="450900"/>
          </a:xfrm>
          <a:prstGeom prst="rect">
            <a:avLst/>
          </a:prstGeom>
          <a:noFill/>
          <a:ln>
            <a:noFill/>
          </a:ln>
        </p:spPr>
        <p:txBody>
          <a:bodyPr anchorCtr="0" anchor="t" bIns="83450" lIns="83450" spcFirstLastPara="1" rIns="83450" wrap="square" tIns="83450">
            <a:noAutofit/>
          </a:bodyPr>
          <a:lstStyle/>
          <a:p>
            <a:pPr indent="0" lvl="0" marL="0" marR="0" rtl="0" algn="ctr">
              <a:lnSpc>
                <a:spcPct val="100000"/>
              </a:lnSpc>
              <a:spcBef>
                <a:spcPts val="0"/>
              </a:spcBef>
              <a:spcAft>
                <a:spcPts val="0"/>
              </a:spcAft>
              <a:buClr>
                <a:srgbClr val="000000"/>
              </a:buClr>
              <a:buSzPts val="912"/>
              <a:buFont typeface="Arial"/>
              <a:buNone/>
            </a:pPr>
            <a:r>
              <a:rPr lang="en" sz="912">
                <a:solidFill>
                  <a:srgbClr val="121212"/>
                </a:solidFill>
                <a:latin typeface="Roboto Serif Medium"/>
                <a:ea typeface="Roboto Serif Medium"/>
                <a:cs typeface="Roboto Serif Medium"/>
                <a:sym typeface="Roboto Serif Medium"/>
              </a:rPr>
              <a:t>Scholars Lab Graduate Research Assistant</a:t>
            </a:r>
            <a:endParaRPr b="0" i="0" sz="912" u="none" cap="none" strike="noStrike">
              <a:solidFill>
                <a:srgbClr val="121212"/>
              </a:solidFill>
              <a:latin typeface="Roboto Serif Medium"/>
              <a:ea typeface="Roboto Serif Medium"/>
              <a:cs typeface="Roboto Serif Medium"/>
              <a:sym typeface="Roboto Serif Medium"/>
            </a:endParaRPr>
          </a:p>
        </p:txBody>
      </p:sp>
      <p:sp>
        <p:nvSpPr>
          <p:cNvPr id="106" name="Google Shape;106;g3f5717e5de0_0_76"/>
          <p:cNvSpPr txBox="1"/>
          <p:nvPr/>
        </p:nvSpPr>
        <p:spPr>
          <a:xfrm>
            <a:off x="2575539" y="2507338"/>
            <a:ext cx="1788000" cy="450900"/>
          </a:xfrm>
          <a:prstGeom prst="rect">
            <a:avLst/>
          </a:prstGeom>
          <a:noFill/>
          <a:ln>
            <a:noFill/>
          </a:ln>
        </p:spPr>
        <p:txBody>
          <a:bodyPr anchorCtr="0" anchor="t" bIns="83450" lIns="83450" spcFirstLastPara="1" rIns="83450" wrap="square" tIns="83450">
            <a:noAutofit/>
          </a:bodyPr>
          <a:lstStyle/>
          <a:p>
            <a:pPr indent="0" lvl="0" marL="0" rtl="0" algn="ctr">
              <a:spcBef>
                <a:spcPts val="0"/>
              </a:spcBef>
              <a:spcAft>
                <a:spcPts val="0"/>
              </a:spcAft>
              <a:buClr>
                <a:schemeClr val="dk1"/>
              </a:buClr>
              <a:buSzPts val="912"/>
              <a:buFont typeface="Arial"/>
              <a:buNone/>
            </a:pPr>
            <a:r>
              <a:rPr lang="en" sz="912">
                <a:solidFill>
                  <a:srgbClr val="121212"/>
                </a:solidFill>
                <a:latin typeface="Roboto Serif Medium"/>
                <a:ea typeface="Roboto Serif Medium"/>
                <a:cs typeface="Roboto Serif Medium"/>
                <a:sym typeface="Roboto Serif Medium"/>
              </a:rPr>
              <a:t>Scholars Lab Graduate Research Assistant</a:t>
            </a:r>
            <a:endParaRPr b="0" i="0" sz="912" u="none" cap="none" strike="noStrike">
              <a:solidFill>
                <a:srgbClr val="121212"/>
              </a:solidFill>
              <a:latin typeface="Roboto Serif Medium"/>
              <a:ea typeface="Roboto Serif Medium"/>
              <a:cs typeface="Roboto Serif Medium"/>
              <a:sym typeface="Roboto Serif Medium"/>
            </a:endParaRPr>
          </a:p>
        </p:txBody>
      </p:sp>
      <p:sp>
        <p:nvSpPr>
          <p:cNvPr id="107" name="Google Shape;107;g3f5717e5de0_0_76"/>
          <p:cNvSpPr txBox="1"/>
          <p:nvPr/>
        </p:nvSpPr>
        <p:spPr>
          <a:xfrm>
            <a:off x="4696272" y="2507340"/>
            <a:ext cx="1734000" cy="450900"/>
          </a:xfrm>
          <a:prstGeom prst="rect">
            <a:avLst/>
          </a:prstGeom>
          <a:noFill/>
          <a:ln>
            <a:noFill/>
          </a:ln>
        </p:spPr>
        <p:txBody>
          <a:bodyPr anchorCtr="0" anchor="t" bIns="83450" lIns="83450" spcFirstLastPara="1" rIns="83450" wrap="square" tIns="83450">
            <a:noAutofit/>
          </a:bodyPr>
          <a:lstStyle/>
          <a:p>
            <a:pPr indent="0" lvl="0" marL="0" rtl="0" algn="ctr">
              <a:spcBef>
                <a:spcPts val="0"/>
              </a:spcBef>
              <a:spcAft>
                <a:spcPts val="0"/>
              </a:spcAft>
              <a:buClr>
                <a:schemeClr val="dk1"/>
              </a:buClr>
              <a:buSzPts val="912"/>
              <a:buFont typeface="Arial"/>
              <a:buNone/>
            </a:pPr>
            <a:r>
              <a:rPr lang="en" sz="912">
                <a:solidFill>
                  <a:srgbClr val="121212"/>
                </a:solidFill>
                <a:latin typeface="Roboto Serif Medium"/>
                <a:ea typeface="Roboto Serif Medium"/>
                <a:cs typeface="Roboto Serif Medium"/>
                <a:sym typeface="Roboto Serif Medium"/>
              </a:rPr>
              <a:t>Scholars Lab Graduate Research Assistant</a:t>
            </a:r>
            <a:endParaRPr b="0" i="0" sz="912" u="none" cap="none" strike="noStrike">
              <a:solidFill>
                <a:srgbClr val="121212"/>
              </a:solidFill>
              <a:latin typeface="Roboto Serif Medium"/>
              <a:ea typeface="Roboto Serif Medium"/>
              <a:cs typeface="Roboto Serif Medium"/>
              <a:sym typeface="Roboto Serif Medium"/>
            </a:endParaRPr>
          </a:p>
        </p:txBody>
      </p:sp>
      <p:sp>
        <p:nvSpPr>
          <p:cNvPr id="108" name="Google Shape;108;g3f5717e5de0_0_76"/>
          <p:cNvSpPr txBox="1"/>
          <p:nvPr/>
        </p:nvSpPr>
        <p:spPr>
          <a:xfrm>
            <a:off x="6631871" y="2507340"/>
            <a:ext cx="2001300" cy="450900"/>
          </a:xfrm>
          <a:prstGeom prst="rect">
            <a:avLst/>
          </a:prstGeom>
          <a:noFill/>
          <a:ln>
            <a:noFill/>
          </a:ln>
        </p:spPr>
        <p:txBody>
          <a:bodyPr anchorCtr="0" anchor="t" bIns="83450" lIns="83450" spcFirstLastPara="1" rIns="83450" wrap="square" tIns="83450">
            <a:noAutofit/>
          </a:bodyPr>
          <a:lstStyle/>
          <a:p>
            <a:pPr indent="0" lvl="0" marL="0" marR="0" rtl="0" algn="ctr">
              <a:lnSpc>
                <a:spcPct val="100000"/>
              </a:lnSpc>
              <a:spcBef>
                <a:spcPts val="0"/>
              </a:spcBef>
              <a:spcAft>
                <a:spcPts val="0"/>
              </a:spcAft>
              <a:buClr>
                <a:srgbClr val="000000"/>
              </a:buClr>
              <a:buSzPts val="912"/>
              <a:buFont typeface="Arial"/>
              <a:buNone/>
            </a:pPr>
            <a:r>
              <a:rPr lang="en" sz="912">
                <a:solidFill>
                  <a:srgbClr val="121212"/>
                </a:solidFill>
                <a:latin typeface="Roboto Serif Medium"/>
                <a:ea typeface="Roboto Serif Medium"/>
                <a:cs typeface="Roboto Serif Medium"/>
                <a:sym typeface="Roboto Serif Medium"/>
              </a:rPr>
              <a:t>Head, STEM &amp; Social Sciences Liaison Team; Liaison Librarian for Earth Sciences </a:t>
            </a:r>
            <a:endParaRPr b="0" i="0" sz="912" u="none" cap="none" strike="noStrike">
              <a:solidFill>
                <a:srgbClr val="121212"/>
              </a:solidFill>
              <a:latin typeface="Roboto Serif Medium"/>
              <a:ea typeface="Roboto Serif Medium"/>
              <a:cs typeface="Roboto Serif Medium"/>
              <a:sym typeface="Roboto Serif Medium"/>
            </a:endParaRPr>
          </a:p>
        </p:txBody>
      </p:sp>
      <p:sp>
        <p:nvSpPr>
          <p:cNvPr id="109" name="Google Shape;109;g3f5717e5de0_0_76"/>
          <p:cNvSpPr txBox="1"/>
          <p:nvPr/>
        </p:nvSpPr>
        <p:spPr>
          <a:xfrm>
            <a:off x="543242" y="2267672"/>
            <a:ext cx="1839600" cy="275400"/>
          </a:xfrm>
          <a:prstGeom prst="rect">
            <a:avLst/>
          </a:prstGeom>
          <a:noFill/>
          <a:ln>
            <a:noFill/>
          </a:ln>
        </p:spPr>
        <p:txBody>
          <a:bodyPr anchorCtr="0" anchor="t" bIns="83450" lIns="83450" spcFirstLastPara="1" rIns="83450" wrap="square" tIns="83450">
            <a:noAutofit/>
          </a:bodyPr>
          <a:lstStyle/>
          <a:p>
            <a:pPr indent="0" lvl="0" marL="0" marR="0" rtl="0" algn="ctr">
              <a:lnSpc>
                <a:spcPct val="80000"/>
              </a:lnSpc>
              <a:spcBef>
                <a:spcPts val="0"/>
              </a:spcBef>
              <a:spcAft>
                <a:spcPts val="0"/>
              </a:spcAft>
              <a:buClr>
                <a:srgbClr val="000000"/>
              </a:buClr>
              <a:buSzPts val="1825"/>
              <a:buFont typeface="Arial"/>
              <a:buNone/>
            </a:pPr>
            <a:r>
              <a:rPr lang="en" sz="1825">
                <a:solidFill>
                  <a:srgbClr val="121212"/>
                </a:solidFill>
                <a:latin typeface="Covered By Your Grace"/>
                <a:ea typeface="Covered By Your Grace"/>
                <a:cs typeface="Covered By Your Grace"/>
                <a:sym typeface="Covered By Your Grace"/>
              </a:rPr>
              <a:t>Caitlin Young</a:t>
            </a:r>
            <a:endParaRPr b="0" i="0" sz="1825" u="none" cap="none" strike="noStrike">
              <a:solidFill>
                <a:srgbClr val="121212"/>
              </a:solidFill>
              <a:latin typeface="Covered By Your Grace"/>
              <a:ea typeface="Covered By Your Grace"/>
              <a:cs typeface="Covered By Your Grace"/>
              <a:sym typeface="Covered By Your Grace"/>
            </a:endParaRPr>
          </a:p>
        </p:txBody>
      </p:sp>
      <p:sp>
        <p:nvSpPr>
          <p:cNvPr id="110" name="Google Shape;110;g3f5717e5de0_0_76"/>
          <p:cNvSpPr txBox="1"/>
          <p:nvPr/>
        </p:nvSpPr>
        <p:spPr>
          <a:xfrm>
            <a:off x="2556839" y="2267672"/>
            <a:ext cx="1878300" cy="275400"/>
          </a:xfrm>
          <a:prstGeom prst="rect">
            <a:avLst/>
          </a:prstGeom>
          <a:noFill/>
          <a:ln>
            <a:noFill/>
          </a:ln>
        </p:spPr>
        <p:txBody>
          <a:bodyPr anchorCtr="0" anchor="t" bIns="83450" lIns="83450" spcFirstLastPara="1" rIns="83450" wrap="square" tIns="83450">
            <a:noAutofit/>
          </a:bodyPr>
          <a:lstStyle/>
          <a:p>
            <a:pPr indent="0" lvl="0" marL="0" marR="0" rtl="0" algn="ctr">
              <a:lnSpc>
                <a:spcPct val="80000"/>
              </a:lnSpc>
              <a:spcBef>
                <a:spcPts val="0"/>
              </a:spcBef>
              <a:spcAft>
                <a:spcPts val="0"/>
              </a:spcAft>
              <a:buClr>
                <a:srgbClr val="000000"/>
              </a:buClr>
              <a:buSzPts val="1825"/>
              <a:buFont typeface="Arial"/>
              <a:buNone/>
            </a:pPr>
            <a:r>
              <a:rPr lang="en" sz="1825">
                <a:solidFill>
                  <a:srgbClr val="121212"/>
                </a:solidFill>
                <a:latin typeface="Covered By Your Grace"/>
                <a:ea typeface="Covered By Your Grace"/>
                <a:cs typeface="Covered By Your Grace"/>
                <a:sym typeface="Covered By Your Grace"/>
              </a:rPr>
              <a:t>Luz Gonzalez</a:t>
            </a:r>
            <a:endParaRPr b="0" i="0" sz="1825" u="none" cap="none" strike="noStrike">
              <a:solidFill>
                <a:srgbClr val="121212"/>
              </a:solidFill>
              <a:latin typeface="Covered By Your Grace"/>
              <a:ea typeface="Covered By Your Grace"/>
              <a:cs typeface="Covered By Your Grace"/>
              <a:sym typeface="Covered By Your Grace"/>
            </a:endParaRPr>
          </a:p>
        </p:txBody>
      </p:sp>
      <p:sp>
        <p:nvSpPr>
          <p:cNvPr id="111" name="Google Shape;111;g3f5717e5de0_0_76"/>
          <p:cNvSpPr txBox="1"/>
          <p:nvPr/>
        </p:nvSpPr>
        <p:spPr>
          <a:xfrm>
            <a:off x="4613613" y="2267672"/>
            <a:ext cx="1878300" cy="275400"/>
          </a:xfrm>
          <a:prstGeom prst="rect">
            <a:avLst/>
          </a:prstGeom>
          <a:noFill/>
          <a:ln>
            <a:noFill/>
          </a:ln>
        </p:spPr>
        <p:txBody>
          <a:bodyPr anchorCtr="0" anchor="t" bIns="83450" lIns="83450" spcFirstLastPara="1" rIns="83450" wrap="square" tIns="83450">
            <a:noAutofit/>
          </a:bodyPr>
          <a:lstStyle/>
          <a:p>
            <a:pPr indent="0" lvl="0" marL="0" marR="0" rtl="0" algn="ctr">
              <a:lnSpc>
                <a:spcPct val="80000"/>
              </a:lnSpc>
              <a:spcBef>
                <a:spcPts val="0"/>
              </a:spcBef>
              <a:spcAft>
                <a:spcPts val="0"/>
              </a:spcAft>
              <a:buClr>
                <a:srgbClr val="000000"/>
              </a:buClr>
              <a:buSzPts val="1825"/>
              <a:buFont typeface="Arial"/>
              <a:buNone/>
            </a:pPr>
            <a:r>
              <a:rPr lang="en" sz="1825">
                <a:solidFill>
                  <a:srgbClr val="121212"/>
                </a:solidFill>
                <a:latin typeface="Covered By Your Grace"/>
                <a:ea typeface="Covered By Your Grace"/>
                <a:cs typeface="Covered By Your Grace"/>
                <a:sym typeface="Covered By Your Grace"/>
              </a:rPr>
              <a:t>Luke Fancher</a:t>
            </a:r>
            <a:endParaRPr b="0" i="0" sz="1825" u="none" cap="none" strike="noStrike">
              <a:solidFill>
                <a:srgbClr val="121212"/>
              </a:solidFill>
              <a:latin typeface="Covered By Your Grace"/>
              <a:ea typeface="Covered By Your Grace"/>
              <a:cs typeface="Covered By Your Grace"/>
              <a:sym typeface="Covered By Your Grace"/>
            </a:endParaRPr>
          </a:p>
        </p:txBody>
      </p:sp>
      <p:sp>
        <p:nvSpPr>
          <p:cNvPr id="112" name="Google Shape;112;g3f5717e5de0_0_76"/>
          <p:cNvSpPr txBox="1"/>
          <p:nvPr/>
        </p:nvSpPr>
        <p:spPr>
          <a:xfrm>
            <a:off x="6693340" y="2267672"/>
            <a:ext cx="1878300" cy="275400"/>
          </a:xfrm>
          <a:prstGeom prst="rect">
            <a:avLst/>
          </a:prstGeom>
          <a:noFill/>
          <a:ln>
            <a:noFill/>
          </a:ln>
        </p:spPr>
        <p:txBody>
          <a:bodyPr anchorCtr="0" anchor="t" bIns="83450" lIns="83450" spcFirstLastPara="1" rIns="83450" wrap="square" tIns="83450">
            <a:noAutofit/>
          </a:bodyPr>
          <a:lstStyle/>
          <a:p>
            <a:pPr indent="0" lvl="0" marL="0" marR="0" rtl="0" algn="ctr">
              <a:lnSpc>
                <a:spcPct val="80000"/>
              </a:lnSpc>
              <a:spcBef>
                <a:spcPts val="0"/>
              </a:spcBef>
              <a:spcAft>
                <a:spcPts val="0"/>
              </a:spcAft>
              <a:buClr>
                <a:srgbClr val="000000"/>
              </a:buClr>
              <a:buSzPts val="1825"/>
              <a:buFont typeface="Arial"/>
              <a:buNone/>
            </a:pPr>
            <a:r>
              <a:rPr lang="en" sz="1825">
                <a:solidFill>
                  <a:srgbClr val="121212"/>
                </a:solidFill>
                <a:latin typeface="Covered By Your Grace"/>
                <a:ea typeface="Covered By Your Grace"/>
                <a:cs typeface="Covered By Your Grace"/>
                <a:sym typeface="Covered By Your Grace"/>
              </a:rPr>
              <a:t>Janelle Hedstrom</a:t>
            </a:r>
            <a:endParaRPr b="0" i="0" sz="1825" u="none" cap="none" strike="noStrike">
              <a:solidFill>
                <a:srgbClr val="121212"/>
              </a:solidFill>
              <a:latin typeface="Covered By Your Grace"/>
              <a:ea typeface="Covered By Your Grace"/>
              <a:cs typeface="Covered By Your Grace"/>
              <a:sym typeface="Covered By Your Grace"/>
            </a:endParaRPr>
          </a:p>
        </p:txBody>
      </p:sp>
      <p:sp>
        <p:nvSpPr>
          <p:cNvPr id="113" name="Google Shape;113;g3f5717e5de0_0_76"/>
          <p:cNvSpPr txBox="1"/>
          <p:nvPr/>
        </p:nvSpPr>
        <p:spPr>
          <a:xfrm>
            <a:off x="642784" y="4550861"/>
            <a:ext cx="1717200" cy="450900"/>
          </a:xfrm>
          <a:prstGeom prst="rect">
            <a:avLst/>
          </a:prstGeom>
          <a:noFill/>
          <a:ln>
            <a:noFill/>
          </a:ln>
        </p:spPr>
        <p:txBody>
          <a:bodyPr anchorCtr="0" anchor="t" bIns="83450" lIns="83450" spcFirstLastPara="1" rIns="83450" wrap="square" tIns="83450">
            <a:noAutofit/>
          </a:bodyPr>
          <a:lstStyle/>
          <a:p>
            <a:pPr indent="0" lvl="0" marL="0" marR="0" rtl="0" algn="ctr">
              <a:lnSpc>
                <a:spcPct val="100000"/>
              </a:lnSpc>
              <a:spcBef>
                <a:spcPts val="0"/>
              </a:spcBef>
              <a:spcAft>
                <a:spcPts val="0"/>
              </a:spcAft>
              <a:buClr>
                <a:srgbClr val="000000"/>
              </a:buClr>
              <a:buSzPts val="912"/>
              <a:buFont typeface="Arial"/>
              <a:buNone/>
            </a:pPr>
            <a:r>
              <a:rPr lang="en" sz="912">
                <a:solidFill>
                  <a:srgbClr val="121212"/>
                </a:solidFill>
                <a:latin typeface="Roboto Serif Medium"/>
                <a:ea typeface="Roboto Serif Medium"/>
                <a:cs typeface="Roboto Serif Medium"/>
                <a:sym typeface="Roboto Serif Medium"/>
              </a:rPr>
              <a:t>Liaison Librarian for Performing Arts</a:t>
            </a:r>
            <a:endParaRPr b="0" i="0" sz="912" u="none" cap="none" strike="noStrike">
              <a:solidFill>
                <a:srgbClr val="121212"/>
              </a:solidFill>
              <a:latin typeface="Roboto Serif Medium"/>
              <a:ea typeface="Roboto Serif Medium"/>
              <a:cs typeface="Roboto Serif Medium"/>
              <a:sym typeface="Roboto Serif Medium"/>
            </a:endParaRPr>
          </a:p>
        </p:txBody>
      </p:sp>
      <p:sp>
        <p:nvSpPr>
          <p:cNvPr id="114" name="Google Shape;114;g3f5717e5de0_0_76"/>
          <p:cNvSpPr txBox="1"/>
          <p:nvPr/>
        </p:nvSpPr>
        <p:spPr>
          <a:xfrm>
            <a:off x="2600912" y="4550859"/>
            <a:ext cx="1788000" cy="450900"/>
          </a:xfrm>
          <a:prstGeom prst="rect">
            <a:avLst/>
          </a:prstGeom>
          <a:noFill/>
          <a:ln>
            <a:noFill/>
          </a:ln>
        </p:spPr>
        <p:txBody>
          <a:bodyPr anchorCtr="0" anchor="t" bIns="83450" lIns="83450" spcFirstLastPara="1" rIns="83450" wrap="square" tIns="83450">
            <a:noAutofit/>
          </a:bodyPr>
          <a:lstStyle/>
          <a:p>
            <a:pPr indent="0" lvl="0" marL="0" marR="0" rtl="0" algn="ctr">
              <a:lnSpc>
                <a:spcPct val="100000"/>
              </a:lnSpc>
              <a:spcBef>
                <a:spcPts val="0"/>
              </a:spcBef>
              <a:spcAft>
                <a:spcPts val="0"/>
              </a:spcAft>
              <a:buClr>
                <a:srgbClr val="000000"/>
              </a:buClr>
              <a:buSzPts val="912"/>
              <a:buFont typeface="Arial"/>
              <a:buNone/>
            </a:pPr>
            <a:r>
              <a:rPr lang="en" sz="912">
                <a:solidFill>
                  <a:srgbClr val="121212"/>
                </a:solidFill>
                <a:latin typeface="Roboto Serif Medium"/>
                <a:ea typeface="Roboto Serif Medium"/>
                <a:cs typeface="Roboto Serif Medium"/>
                <a:sym typeface="Roboto Serif Medium"/>
              </a:rPr>
              <a:t>Scholarly Publishing Librarian</a:t>
            </a:r>
            <a:endParaRPr b="0" i="0" sz="912" u="none" cap="none" strike="noStrike">
              <a:solidFill>
                <a:srgbClr val="121212"/>
              </a:solidFill>
              <a:latin typeface="Roboto Serif Medium"/>
              <a:ea typeface="Roboto Serif Medium"/>
              <a:cs typeface="Roboto Serif Medium"/>
              <a:sym typeface="Roboto Serif Medium"/>
            </a:endParaRPr>
          </a:p>
        </p:txBody>
      </p:sp>
      <p:sp>
        <p:nvSpPr>
          <p:cNvPr id="115" name="Google Shape;115;g3f5717e5de0_0_76"/>
          <p:cNvSpPr txBox="1"/>
          <p:nvPr/>
        </p:nvSpPr>
        <p:spPr>
          <a:xfrm>
            <a:off x="568616" y="4311193"/>
            <a:ext cx="1839600" cy="275400"/>
          </a:xfrm>
          <a:prstGeom prst="rect">
            <a:avLst/>
          </a:prstGeom>
          <a:noFill/>
          <a:ln>
            <a:noFill/>
          </a:ln>
        </p:spPr>
        <p:txBody>
          <a:bodyPr anchorCtr="0" anchor="t" bIns="83450" lIns="83450" spcFirstLastPara="1" rIns="83450" wrap="square" tIns="83450">
            <a:noAutofit/>
          </a:bodyPr>
          <a:lstStyle/>
          <a:p>
            <a:pPr indent="0" lvl="0" marL="0" marR="0" rtl="0" algn="ctr">
              <a:lnSpc>
                <a:spcPct val="80000"/>
              </a:lnSpc>
              <a:spcBef>
                <a:spcPts val="0"/>
              </a:spcBef>
              <a:spcAft>
                <a:spcPts val="0"/>
              </a:spcAft>
              <a:buClr>
                <a:srgbClr val="000000"/>
              </a:buClr>
              <a:buSzPts val="1825"/>
              <a:buFont typeface="Arial"/>
              <a:buNone/>
            </a:pPr>
            <a:r>
              <a:rPr lang="en" sz="1825">
                <a:solidFill>
                  <a:srgbClr val="121212"/>
                </a:solidFill>
                <a:latin typeface="Covered By Your Grace"/>
                <a:ea typeface="Covered By Your Grace"/>
                <a:cs typeface="Covered By Your Grace"/>
                <a:sym typeface="Covered By Your Grace"/>
              </a:rPr>
              <a:t>Molly Roy</a:t>
            </a:r>
            <a:endParaRPr b="0" i="0" sz="1825" u="none" cap="none" strike="noStrike">
              <a:solidFill>
                <a:srgbClr val="121212"/>
              </a:solidFill>
              <a:latin typeface="Covered By Your Grace"/>
              <a:ea typeface="Covered By Your Grace"/>
              <a:cs typeface="Covered By Your Grace"/>
              <a:sym typeface="Covered By Your Grace"/>
            </a:endParaRPr>
          </a:p>
        </p:txBody>
      </p:sp>
      <p:sp>
        <p:nvSpPr>
          <p:cNvPr id="116" name="Google Shape;116;g3f5717e5de0_0_76"/>
          <p:cNvSpPr txBox="1"/>
          <p:nvPr/>
        </p:nvSpPr>
        <p:spPr>
          <a:xfrm>
            <a:off x="2582212" y="4311193"/>
            <a:ext cx="1878300" cy="275400"/>
          </a:xfrm>
          <a:prstGeom prst="rect">
            <a:avLst/>
          </a:prstGeom>
          <a:noFill/>
          <a:ln>
            <a:noFill/>
          </a:ln>
        </p:spPr>
        <p:txBody>
          <a:bodyPr anchorCtr="0" anchor="t" bIns="83450" lIns="83450" spcFirstLastPara="1" rIns="83450" wrap="square" tIns="83450">
            <a:noAutofit/>
          </a:bodyPr>
          <a:lstStyle/>
          <a:p>
            <a:pPr indent="0" lvl="0" marL="0" marR="0" rtl="0" algn="ctr">
              <a:lnSpc>
                <a:spcPct val="80000"/>
              </a:lnSpc>
              <a:spcBef>
                <a:spcPts val="0"/>
              </a:spcBef>
              <a:spcAft>
                <a:spcPts val="0"/>
              </a:spcAft>
              <a:buClr>
                <a:srgbClr val="000000"/>
              </a:buClr>
              <a:buSzPts val="1825"/>
              <a:buFont typeface="Arial"/>
              <a:buNone/>
            </a:pPr>
            <a:r>
              <a:rPr lang="en" sz="1825">
                <a:solidFill>
                  <a:srgbClr val="121212"/>
                </a:solidFill>
                <a:latin typeface="Covered By Your Grace"/>
                <a:ea typeface="Covered By Your Grace"/>
                <a:cs typeface="Covered By Your Grace"/>
                <a:sym typeface="Covered By Your Grace"/>
              </a:rPr>
              <a:t>Ebru Turk</a:t>
            </a:r>
            <a:endParaRPr b="0" i="0" sz="1825" u="none" cap="none" strike="noStrike">
              <a:solidFill>
                <a:srgbClr val="121212"/>
              </a:solidFill>
              <a:latin typeface="Covered By Your Grace"/>
              <a:ea typeface="Covered By Your Grace"/>
              <a:cs typeface="Covered By Your Grace"/>
              <a:sym typeface="Covered By Your Grace"/>
            </a:endParaRPr>
          </a:p>
        </p:txBody>
      </p:sp>
      <p:pic>
        <p:nvPicPr>
          <p:cNvPr id="117" name="Google Shape;117;g3f5717e5de0_0_76"/>
          <p:cNvPicPr preferRelativeResize="0"/>
          <p:nvPr/>
        </p:nvPicPr>
        <p:blipFill>
          <a:blip r:embed="rId3">
            <a:alphaModFix/>
          </a:blip>
          <a:stretch>
            <a:fillRect/>
          </a:stretch>
        </p:blipFill>
        <p:spPr>
          <a:xfrm>
            <a:off x="2895016" y="3053925"/>
            <a:ext cx="1252675" cy="1295850"/>
          </a:xfrm>
          <a:prstGeom prst="rect">
            <a:avLst/>
          </a:prstGeom>
          <a:noFill/>
          <a:ln>
            <a:noFill/>
          </a:ln>
        </p:spPr>
      </p:pic>
      <p:pic>
        <p:nvPicPr>
          <p:cNvPr id="118" name="Google Shape;118;g3f5717e5de0_0_76"/>
          <p:cNvPicPr preferRelativeResize="0"/>
          <p:nvPr/>
        </p:nvPicPr>
        <p:blipFill>
          <a:blip r:embed="rId4">
            <a:alphaModFix/>
          </a:blip>
          <a:stretch>
            <a:fillRect/>
          </a:stretch>
        </p:blipFill>
        <p:spPr>
          <a:xfrm>
            <a:off x="828075" y="3053925"/>
            <a:ext cx="1295850" cy="1295850"/>
          </a:xfrm>
          <a:prstGeom prst="rect">
            <a:avLst/>
          </a:prstGeom>
          <a:noFill/>
          <a:ln>
            <a:noFill/>
          </a:ln>
        </p:spPr>
      </p:pic>
      <p:pic>
        <p:nvPicPr>
          <p:cNvPr id="119" name="Google Shape;119;g3f5717e5de0_0_76"/>
          <p:cNvPicPr preferRelativeResize="0"/>
          <p:nvPr/>
        </p:nvPicPr>
        <p:blipFill>
          <a:blip r:embed="rId5">
            <a:alphaModFix/>
          </a:blip>
          <a:stretch>
            <a:fillRect/>
          </a:stretch>
        </p:blipFill>
        <p:spPr>
          <a:xfrm>
            <a:off x="6984574" y="907600"/>
            <a:ext cx="1295850" cy="12958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3"/>
          <p:cNvSpPr txBox="1"/>
          <p:nvPr>
            <p:ph type="title"/>
          </p:nvPr>
        </p:nvSpPr>
        <p:spPr>
          <a:xfrm>
            <a:off x="230450" y="71919"/>
            <a:ext cx="8845200" cy="636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3000">
                <a:solidFill>
                  <a:schemeClr val="dk1"/>
                </a:solidFill>
              </a:rPr>
              <a:t>Itinerary for the Day</a:t>
            </a:r>
            <a:endParaRPr sz="3000">
              <a:solidFill>
                <a:schemeClr val="dk1"/>
              </a:solidFill>
            </a:endParaRPr>
          </a:p>
        </p:txBody>
      </p:sp>
      <p:graphicFrame>
        <p:nvGraphicFramePr>
          <p:cNvPr id="125" name="Google Shape;125;p3"/>
          <p:cNvGraphicFramePr/>
          <p:nvPr/>
        </p:nvGraphicFramePr>
        <p:xfrm>
          <a:off x="329950" y="1047750"/>
          <a:ext cx="3000000" cy="3000000"/>
        </p:xfrm>
        <a:graphic>
          <a:graphicData uri="http://schemas.openxmlformats.org/drawingml/2006/table">
            <a:tbl>
              <a:tblPr>
                <a:noFill/>
                <a:tableStyleId>{95CF297C-6EA8-4C06-A186-C8E0302958BD}</a:tableStyleId>
              </a:tblPr>
              <a:tblGrid>
                <a:gridCol w="1266400"/>
                <a:gridCol w="7225150"/>
              </a:tblGrid>
              <a:tr h="381000">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t>12:30 PM</a:t>
                      </a:r>
                      <a:endParaRPr b="1" sz="1400" u="none" cap="none" strike="noStrike"/>
                    </a:p>
                  </a:txBody>
                  <a:tcPr marT="91425" marB="91425" marR="91425" marL="91425">
                    <a:solidFill>
                      <a:srgbClr val="F3F3F3"/>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t>Welcome</a:t>
                      </a:r>
                      <a:endParaRPr b="1" sz="1400" u="none" cap="none" strike="noStrike"/>
                    </a:p>
                  </a:txBody>
                  <a:tcPr marT="91425" marB="91425" marR="91425" marL="91425">
                    <a:solidFill>
                      <a:srgbClr val="F3F3F3"/>
                    </a:solidFill>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t>12:40 PM</a:t>
                      </a:r>
                      <a:endParaRPr b="1" sz="1400" u="none" cap="none" strike="noStrike"/>
                    </a:p>
                  </a:txBody>
                  <a:tcPr marT="91425" marB="91425" marR="91425" marL="91425">
                    <a:solidFill>
                      <a:srgbClr val="D9D2E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t>Instruction: Intro to Python Basics</a:t>
                      </a:r>
                      <a:endParaRPr b="1" sz="1400" u="none" cap="none" strike="noStrike"/>
                    </a:p>
                  </a:txBody>
                  <a:tcPr marT="91425" marB="91425" marR="91425" marL="91425">
                    <a:solidFill>
                      <a:srgbClr val="D9D2E9"/>
                    </a:solidFill>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t>1:30 PM</a:t>
                      </a:r>
                      <a:endParaRPr b="1" sz="1400" u="none" cap="none" strike="noStrike"/>
                    </a:p>
                  </a:txBody>
                  <a:tcPr marT="91425" marB="91425" marR="91425" marL="91425">
                    <a:solidFill>
                      <a:srgbClr val="D9D9D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i="1" lang="en" sz="1400" u="none" cap="none" strike="noStrike"/>
                        <a:t>Break</a:t>
                      </a:r>
                      <a:endParaRPr i="1" sz="1400" u="none" cap="none" strike="noStrike"/>
                    </a:p>
                  </a:txBody>
                  <a:tcPr marT="91425" marB="91425" marR="91425" marL="91425">
                    <a:solidFill>
                      <a:srgbClr val="D9D9D9"/>
                    </a:solidFill>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t>1:40 PM</a:t>
                      </a:r>
                      <a:endParaRPr b="1" sz="1400" u="none" cap="none" strike="noStrike"/>
                    </a:p>
                  </a:txBody>
                  <a:tcPr marT="91425" marB="91425" marR="91425" marL="91425">
                    <a:lnB cap="flat" cmpd="sng" w="9525">
                      <a:solidFill>
                        <a:srgbClr val="9E9E9E"/>
                      </a:solidFill>
                      <a:prstDash val="solid"/>
                      <a:round/>
                      <a:headEnd len="sm" w="sm" type="none"/>
                      <a:tailEnd len="sm" w="sm" type="none"/>
                    </a:lnB>
                    <a:solidFill>
                      <a:srgbClr val="D9D2E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t>Instruction: Python Essentials</a:t>
                      </a:r>
                      <a:endParaRPr b="1" sz="1400" u="none" cap="none" strike="noStrike"/>
                    </a:p>
                  </a:txBody>
                  <a:tcPr marT="91425" marB="91425" marR="91425" marL="91425">
                    <a:lnB cap="flat" cmpd="sng" w="9525">
                      <a:solidFill>
                        <a:srgbClr val="9E9E9E"/>
                      </a:solidFill>
                      <a:prstDash val="solid"/>
                      <a:round/>
                      <a:headEnd len="sm" w="sm" type="none"/>
                      <a:tailEnd len="sm" w="sm" type="none"/>
                    </a:lnB>
                    <a:solidFill>
                      <a:srgbClr val="D9D2E9"/>
                    </a:solidFill>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t>2:30 PM</a:t>
                      </a:r>
                      <a:endParaRPr b="1"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9D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i="1" lang="en" sz="1400" u="none" cap="none" strike="noStrike"/>
                        <a:t>Break</a:t>
                      </a:r>
                      <a:endParaRPr b="1" i="1"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9D9"/>
                    </a:solidFill>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t>2:40 PM</a:t>
                      </a:r>
                      <a:endParaRPr b="1" sz="1400" u="none" cap="none" strike="noStrike"/>
                    </a:p>
                  </a:txBody>
                  <a:tcPr marT="91425" marB="91425" marR="91425" marL="91425">
                    <a:lnT cap="flat" cmpd="sng" w="9525">
                      <a:solidFill>
                        <a:srgbClr val="9E9E9E"/>
                      </a:solidFill>
                      <a:prstDash val="solid"/>
                      <a:round/>
                      <a:headEnd len="sm" w="sm" type="none"/>
                      <a:tailEnd len="sm" w="sm" type="none"/>
                    </a:lnT>
                    <a:solidFill>
                      <a:srgbClr val="D9D2E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t>Instruction: Managing and processing files</a:t>
                      </a:r>
                      <a:endParaRPr b="1" sz="1400" u="none" cap="none" strike="noStrike"/>
                    </a:p>
                  </a:txBody>
                  <a:tcPr marT="91425" marB="91425" marR="91425" marL="91425">
                    <a:lnT cap="flat" cmpd="sng" w="9525">
                      <a:solidFill>
                        <a:srgbClr val="9E9E9E"/>
                      </a:solidFill>
                      <a:prstDash val="solid"/>
                      <a:round/>
                      <a:headEnd len="sm" w="sm" type="none"/>
                      <a:tailEnd len="sm" w="sm" type="none"/>
                    </a:lnT>
                    <a:solidFill>
                      <a:srgbClr val="D9D2E9"/>
                    </a:solidFill>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t>3:30 PM</a:t>
                      </a:r>
                      <a:endParaRPr b="1" sz="1400" u="none" cap="none" strike="noStrike"/>
                    </a:p>
                  </a:txBody>
                  <a:tcPr marT="91425" marB="91425" marR="91425" marL="91425">
                    <a:solidFill>
                      <a:srgbClr val="F4CCCC"/>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t>Python and VSCode installation help (if required)</a:t>
                      </a:r>
                      <a:endParaRPr b="1" sz="1400" u="none" cap="none" strike="noStrike"/>
                    </a:p>
                  </a:txBody>
                  <a:tcPr marT="91425" marB="91425" marR="91425" marL="91425">
                    <a:solidFill>
                      <a:srgbClr val="F4CCCC"/>
                    </a:solidFill>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t>4:00 PM</a:t>
                      </a:r>
                      <a:endParaRPr b="1" sz="1400" u="none" cap="none" strike="noStrike"/>
                    </a:p>
                  </a:txBody>
                  <a:tcPr marT="91425" marB="91425" marR="91425" marL="91425">
                    <a:solidFill>
                      <a:srgbClr val="D9D9D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i="1" lang="en" sz="1400" u="none" cap="none" strike="noStrike"/>
                        <a:t>Close</a:t>
                      </a:r>
                      <a:endParaRPr i="1" sz="1400" u="none" cap="none" strike="noStrike"/>
                    </a:p>
                  </a:txBody>
                  <a:tcPr marT="91425" marB="91425" marR="91425" marL="91425">
                    <a:solidFill>
                      <a:srgbClr val="D9D9D9"/>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4"/>
          <p:cNvSpPr txBox="1"/>
          <p:nvPr>
            <p:ph type="title"/>
          </p:nvPr>
        </p:nvSpPr>
        <p:spPr>
          <a:xfrm>
            <a:off x="226400" y="84900"/>
            <a:ext cx="8765400" cy="570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3000">
                <a:solidFill>
                  <a:schemeClr val="dk1"/>
                </a:solidFill>
                <a:latin typeface="Trebuchet MS"/>
                <a:ea typeface="Trebuchet MS"/>
                <a:cs typeface="Trebuchet MS"/>
                <a:sym typeface="Trebuchet MS"/>
              </a:rPr>
              <a:t>Land Acknowledgement</a:t>
            </a:r>
            <a:endParaRPr b="1" sz="3000">
              <a:solidFill>
                <a:schemeClr val="dk1"/>
              </a:solidFill>
              <a:latin typeface="Trebuchet MS"/>
              <a:ea typeface="Trebuchet MS"/>
              <a:cs typeface="Trebuchet MS"/>
              <a:sym typeface="Trebuchet MS"/>
            </a:endParaRPr>
          </a:p>
          <a:p>
            <a:pPr indent="0" lvl="0" marL="0" rtl="0" algn="l">
              <a:lnSpc>
                <a:spcPct val="100000"/>
              </a:lnSpc>
              <a:spcBef>
                <a:spcPts val="0"/>
              </a:spcBef>
              <a:spcAft>
                <a:spcPts val="0"/>
              </a:spcAft>
              <a:buClr>
                <a:schemeClr val="dk1"/>
              </a:buClr>
              <a:buSzPts val="1100"/>
              <a:buFont typeface="Arial"/>
              <a:buNone/>
            </a:pPr>
            <a:r>
              <a:t/>
            </a:r>
            <a:endParaRPr b="1" sz="3000">
              <a:solidFill>
                <a:schemeClr val="dk1"/>
              </a:solidFill>
              <a:latin typeface="Trebuchet MS"/>
              <a:ea typeface="Trebuchet MS"/>
              <a:cs typeface="Trebuchet MS"/>
              <a:sym typeface="Trebuchet MS"/>
            </a:endParaRPr>
          </a:p>
          <a:p>
            <a:pPr indent="0" lvl="0" marL="0" rtl="0" algn="l">
              <a:lnSpc>
                <a:spcPct val="100000"/>
              </a:lnSpc>
              <a:spcBef>
                <a:spcPts val="0"/>
              </a:spcBef>
              <a:spcAft>
                <a:spcPts val="0"/>
              </a:spcAft>
              <a:buSzPts val="4400"/>
              <a:buNone/>
            </a:pPr>
            <a:r>
              <a:t/>
            </a:r>
            <a:endParaRPr sz="3000">
              <a:latin typeface="Trebuchet MS"/>
              <a:ea typeface="Trebuchet MS"/>
              <a:cs typeface="Trebuchet MS"/>
              <a:sym typeface="Trebuchet MS"/>
            </a:endParaRPr>
          </a:p>
        </p:txBody>
      </p:sp>
      <p:sp>
        <p:nvSpPr>
          <p:cNvPr id="131" name="Google Shape;131;p4"/>
          <p:cNvSpPr txBox="1"/>
          <p:nvPr>
            <p:ph idx="1" type="body"/>
          </p:nvPr>
        </p:nvSpPr>
        <p:spPr>
          <a:xfrm>
            <a:off x="716250" y="1085000"/>
            <a:ext cx="7711500" cy="3699900"/>
          </a:xfrm>
          <a:prstGeom prst="rect">
            <a:avLst/>
          </a:prstGeom>
          <a:noFill/>
          <a:ln>
            <a:noFill/>
          </a:ln>
        </p:spPr>
        <p:txBody>
          <a:bodyPr anchorCtr="0" anchor="t" bIns="91425" lIns="91425" spcFirstLastPara="1" rIns="91425" wrap="square" tIns="91425">
            <a:noAutofit/>
          </a:bodyPr>
          <a:lstStyle/>
          <a:p>
            <a:pPr indent="0" lvl="0" marL="0" rtl="0" algn="l">
              <a:lnSpc>
                <a:spcPct val="160000"/>
              </a:lnSpc>
              <a:spcBef>
                <a:spcPts val="1200"/>
              </a:spcBef>
              <a:spcAft>
                <a:spcPts val="0"/>
              </a:spcAft>
              <a:buClr>
                <a:schemeClr val="dk1"/>
              </a:buClr>
              <a:buSzPts val="1100"/>
              <a:buFont typeface="Arial"/>
              <a:buNone/>
            </a:pPr>
            <a:r>
              <a:rPr lang="en" sz="1900">
                <a:solidFill>
                  <a:schemeClr val="dk1"/>
                </a:solidFill>
                <a:latin typeface="Twentieth Century"/>
                <a:ea typeface="Twentieth Century"/>
                <a:cs typeface="Twentieth Century"/>
                <a:sym typeface="Twentieth Century"/>
              </a:rPr>
              <a:t>We would like to acknowledge that we are meeting on the Indigenous lands of Turtle Island, the ancestral name for what now is called North America.</a:t>
            </a:r>
            <a:endParaRPr sz="1900">
              <a:solidFill>
                <a:schemeClr val="dk1"/>
              </a:solidFill>
              <a:latin typeface="Twentieth Century"/>
              <a:ea typeface="Twentieth Century"/>
              <a:cs typeface="Twentieth Century"/>
              <a:sym typeface="Twentieth Century"/>
            </a:endParaRPr>
          </a:p>
          <a:p>
            <a:pPr indent="0" lvl="0" marL="0" rtl="0" algn="l">
              <a:lnSpc>
                <a:spcPct val="160000"/>
              </a:lnSpc>
              <a:spcBef>
                <a:spcPts val="1200"/>
              </a:spcBef>
              <a:spcAft>
                <a:spcPts val="0"/>
              </a:spcAft>
              <a:buClr>
                <a:schemeClr val="dk1"/>
              </a:buClr>
              <a:buSzPts val="1100"/>
              <a:buFont typeface="Arial"/>
              <a:buNone/>
            </a:pPr>
            <a:r>
              <a:rPr lang="en" sz="1900">
                <a:solidFill>
                  <a:schemeClr val="dk1"/>
                </a:solidFill>
                <a:latin typeface="Twentieth Century"/>
                <a:ea typeface="Twentieth Century"/>
                <a:cs typeface="Twentieth Century"/>
                <a:sym typeface="Twentieth Century"/>
              </a:rPr>
              <a:t>Moreover, (I) We would like to acknowledge the Alabama-Coushatta, Caddo, Carrizo/Comecrudo, Coahuiltecan, Comanche, Kickapoo, Lipan Apache, Tonkawa and Ysleta Del Sur Pueblo, and all the American Indian and Indigenous Peoples and communities who have been or have become a part of these lands and territories in Texas.</a:t>
            </a:r>
            <a:endParaRPr sz="1900">
              <a:solidFill>
                <a:schemeClr val="dk1"/>
              </a:solidFill>
              <a:latin typeface="Twentieth Century"/>
              <a:ea typeface="Twentieth Century"/>
              <a:cs typeface="Twentieth Century"/>
              <a:sym typeface="Twentieth Century"/>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latin typeface="Twentieth Century"/>
              <a:ea typeface="Twentieth Century"/>
              <a:cs typeface="Twentieth Century"/>
              <a:sym typeface="Twentieth Century"/>
            </a:endParaRPr>
          </a:p>
          <a:p>
            <a:pPr indent="0" lvl="0" marL="0" rtl="0" algn="l">
              <a:lnSpc>
                <a:spcPct val="150000"/>
              </a:lnSpc>
              <a:spcBef>
                <a:spcPts val="1200"/>
              </a:spcBef>
              <a:spcAft>
                <a:spcPts val="0"/>
              </a:spcAft>
              <a:buClr>
                <a:schemeClr val="dk1"/>
              </a:buClr>
              <a:buSzPts val="1100"/>
              <a:buFont typeface="Arial"/>
              <a:buNone/>
            </a:pPr>
            <a:r>
              <a:t/>
            </a:r>
            <a:endParaRPr sz="1700">
              <a:solidFill>
                <a:schemeClr val="dk1"/>
              </a:solidFill>
              <a:latin typeface="Twentieth Century"/>
              <a:ea typeface="Twentieth Century"/>
              <a:cs typeface="Twentieth Century"/>
              <a:sym typeface="Twentieth Century"/>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5"/>
          <p:cNvSpPr txBox="1"/>
          <p:nvPr>
            <p:ph type="title"/>
          </p:nvPr>
        </p:nvSpPr>
        <p:spPr>
          <a:xfrm>
            <a:off x="226400" y="77825"/>
            <a:ext cx="8765400" cy="577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4400"/>
              <a:buNone/>
            </a:pPr>
            <a:r>
              <a:rPr b="1" lang="en" sz="3200">
                <a:solidFill>
                  <a:schemeClr val="dk1"/>
                </a:solidFill>
                <a:latin typeface="Twentieth Century"/>
                <a:ea typeface="Twentieth Century"/>
                <a:cs typeface="Twentieth Century"/>
                <a:sym typeface="Twentieth Century"/>
              </a:rPr>
              <a:t>Logistics</a:t>
            </a:r>
            <a:endParaRPr b="1" sz="3200">
              <a:solidFill>
                <a:schemeClr val="dk1"/>
              </a:solidFill>
              <a:latin typeface="Twentieth Century"/>
              <a:ea typeface="Twentieth Century"/>
              <a:cs typeface="Twentieth Century"/>
              <a:sym typeface="Twentieth Century"/>
            </a:endParaRPr>
          </a:p>
        </p:txBody>
      </p:sp>
      <p:sp>
        <p:nvSpPr>
          <p:cNvPr id="137" name="Google Shape;137;p5"/>
          <p:cNvSpPr txBox="1"/>
          <p:nvPr>
            <p:ph idx="1" type="body"/>
          </p:nvPr>
        </p:nvSpPr>
        <p:spPr>
          <a:xfrm>
            <a:off x="398775" y="981800"/>
            <a:ext cx="6960000" cy="3079500"/>
          </a:xfrm>
          <a:prstGeom prst="rect">
            <a:avLst/>
          </a:prstGeom>
          <a:noFill/>
          <a:ln>
            <a:noFill/>
          </a:ln>
        </p:spPr>
        <p:txBody>
          <a:bodyPr anchorCtr="0" anchor="t" bIns="91425" lIns="91425" spcFirstLastPara="1" rIns="91425" wrap="square" tIns="91425">
            <a:noAutofit/>
          </a:bodyPr>
          <a:lstStyle/>
          <a:p>
            <a:pPr indent="-349250" lvl="0" marL="457200" rtl="0" algn="l">
              <a:lnSpc>
                <a:spcPct val="170000"/>
              </a:lnSpc>
              <a:spcBef>
                <a:spcPts val="0"/>
              </a:spcBef>
              <a:spcAft>
                <a:spcPts val="0"/>
              </a:spcAft>
              <a:buClr>
                <a:schemeClr val="dk1"/>
              </a:buClr>
              <a:buSzPts val="1900"/>
              <a:buFont typeface="Twentieth Century"/>
              <a:buChar char="➔"/>
            </a:pPr>
            <a:r>
              <a:rPr lang="en" sz="1900">
                <a:solidFill>
                  <a:schemeClr val="dk1"/>
                </a:solidFill>
                <a:latin typeface="Twentieth Century"/>
                <a:ea typeface="Twentieth Century"/>
                <a:cs typeface="Twentieth Century"/>
                <a:sym typeface="Twentieth Century"/>
              </a:rPr>
              <a:t>Shared links document (</a:t>
            </a:r>
            <a:r>
              <a:rPr lang="en" u="sng">
                <a:solidFill>
                  <a:schemeClr val="hlink"/>
                </a:solidFill>
                <a:latin typeface="Twentieth Century"/>
                <a:ea typeface="Twentieth Century"/>
                <a:cs typeface="Twentieth Century"/>
                <a:sym typeface="Twentieth Century"/>
                <a:hlinkClick r:id="rId3"/>
              </a:rPr>
              <a:t>https://bit.ly/ipw-aug26-github</a:t>
            </a:r>
            <a:r>
              <a:rPr lang="en" sz="1900">
                <a:solidFill>
                  <a:schemeClr val="dk1"/>
                </a:solidFill>
                <a:latin typeface="Twentieth Century"/>
                <a:ea typeface="Twentieth Century"/>
                <a:cs typeface="Twentieth Century"/>
                <a:sym typeface="Twentieth Century"/>
              </a:rPr>
              <a:t>) </a:t>
            </a:r>
            <a:endParaRPr sz="1900">
              <a:solidFill>
                <a:schemeClr val="dk1"/>
              </a:solidFill>
              <a:latin typeface="Twentieth Century"/>
              <a:ea typeface="Twentieth Century"/>
              <a:cs typeface="Twentieth Century"/>
              <a:sym typeface="Twentieth Century"/>
            </a:endParaRPr>
          </a:p>
          <a:p>
            <a:pPr indent="-311150" lvl="1" marL="914400" rtl="0" algn="l">
              <a:lnSpc>
                <a:spcPct val="170000"/>
              </a:lnSpc>
              <a:spcBef>
                <a:spcPts val="0"/>
              </a:spcBef>
              <a:spcAft>
                <a:spcPts val="0"/>
              </a:spcAft>
              <a:buClr>
                <a:schemeClr val="dk1"/>
              </a:buClr>
              <a:buSzPts val="1300"/>
              <a:buFont typeface="Twentieth Century"/>
              <a:buChar char="◆"/>
            </a:pPr>
            <a:r>
              <a:rPr lang="en" sz="1600">
                <a:solidFill>
                  <a:schemeClr val="dk1"/>
                </a:solidFill>
                <a:latin typeface="Twentieth Century"/>
                <a:ea typeface="Twentieth Century"/>
                <a:cs typeface="Twentieth Century"/>
                <a:sym typeface="Twentieth Century"/>
              </a:rPr>
              <a:t>Important URLs will be provided here</a:t>
            </a:r>
            <a:endParaRPr>
              <a:solidFill>
                <a:schemeClr val="dk1"/>
              </a:solidFill>
              <a:latin typeface="Twentieth Century"/>
              <a:ea typeface="Twentieth Century"/>
              <a:cs typeface="Twentieth Century"/>
              <a:sym typeface="Twentieth Century"/>
            </a:endParaRPr>
          </a:p>
          <a:p>
            <a:pPr indent="-342900" lvl="0" marL="457200" rtl="0" algn="l">
              <a:lnSpc>
                <a:spcPct val="170000"/>
              </a:lnSpc>
              <a:spcBef>
                <a:spcPts val="0"/>
              </a:spcBef>
              <a:spcAft>
                <a:spcPts val="0"/>
              </a:spcAft>
              <a:buClr>
                <a:schemeClr val="dk1"/>
              </a:buClr>
              <a:buSzPts val="1800"/>
              <a:buFont typeface="Twentieth Century"/>
              <a:buChar char="➔"/>
            </a:pPr>
            <a:r>
              <a:rPr lang="en">
                <a:solidFill>
                  <a:schemeClr val="dk1"/>
                </a:solidFill>
                <a:latin typeface="Twentieth Century"/>
                <a:ea typeface="Twentieth Century"/>
                <a:cs typeface="Twentieth Century"/>
                <a:sym typeface="Twentieth Century"/>
              </a:rPr>
              <a:t>Asking questions</a:t>
            </a:r>
            <a:endParaRPr>
              <a:solidFill>
                <a:schemeClr val="dk1"/>
              </a:solidFill>
              <a:latin typeface="Twentieth Century"/>
              <a:ea typeface="Twentieth Century"/>
              <a:cs typeface="Twentieth Century"/>
              <a:sym typeface="Twentieth Century"/>
            </a:endParaRPr>
          </a:p>
          <a:p>
            <a:pPr indent="-342900" lvl="0" marL="457200" rtl="0" algn="l">
              <a:lnSpc>
                <a:spcPct val="170000"/>
              </a:lnSpc>
              <a:spcBef>
                <a:spcPts val="0"/>
              </a:spcBef>
              <a:spcAft>
                <a:spcPts val="0"/>
              </a:spcAft>
              <a:buClr>
                <a:schemeClr val="dk1"/>
              </a:buClr>
              <a:buSzPts val="1800"/>
              <a:buFont typeface="Twentieth Century"/>
              <a:buChar char="➔"/>
            </a:pPr>
            <a:r>
              <a:rPr lang="en">
                <a:solidFill>
                  <a:schemeClr val="dk1"/>
                </a:solidFill>
                <a:latin typeface="Twentieth Century"/>
                <a:ea typeface="Twentieth Century"/>
                <a:cs typeface="Twentieth Century"/>
                <a:sym typeface="Twentieth Century"/>
              </a:rPr>
              <a:t>Timing of breaks</a:t>
            </a:r>
            <a:endParaRPr>
              <a:solidFill>
                <a:schemeClr val="dk1"/>
              </a:solidFill>
              <a:latin typeface="Twentieth Century"/>
              <a:ea typeface="Twentieth Century"/>
              <a:cs typeface="Twentieth Century"/>
              <a:sym typeface="Twentieth Century"/>
            </a:endParaRPr>
          </a:p>
          <a:p>
            <a:pPr indent="-342900" lvl="0" marL="457200" rtl="0" algn="l">
              <a:lnSpc>
                <a:spcPct val="170000"/>
              </a:lnSpc>
              <a:spcBef>
                <a:spcPts val="0"/>
              </a:spcBef>
              <a:spcAft>
                <a:spcPts val="0"/>
              </a:spcAft>
              <a:buClr>
                <a:schemeClr val="dk1"/>
              </a:buClr>
              <a:buSzPts val="1800"/>
              <a:buFont typeface="Twentieth Century"/>
              <a:buChar char="➔"/>
            </a:pPr>
            <a:r>
              <a:rPr lang="en">
                <a:solidFill>
                  <a:schemeClr val="dk1"/>
                </a:solidFill>
                <a:latin typeface="Twentieth Century"/>
                <a:ea typeface="Twentieth Century"/>
                <a:cs typeface="Twentieth Century"/>
                <a:sym typeface="Twentieth Century"/>
              </a:rPr>
              <a:t>Workshop materials and slides will be posted on GitHub</a:t>
            </a:r>
            <a:endParaRPr>
              <a:solidFill>
                <a:schemeClr val="dk1"/>
              </a:solidFill>
              <a:latin typeface="Twentieth Century"/>
              <a:ea typeface="Twentieth Century"/>
              <a:cs typeface="Twentieth Century"/>
              <a:sym typeface="Twentieth Century"/>
            </a:endParaRPr>
          </a:p>
          <a:p>
            <a:pPr indent="-311150" lvl="1" marL="914400" rtl="0" algn="l">
              <a:lnSpc>
                <a:spcPct val="170000"/>
              </a:lnSpc>
              <a:spcBef>
                <a:spcPts val="0"/>
              </a:spcBef>
              <a:spcAft>
                <a:spcPts val="0"/>
              </a:spcAft>
              <a:buClr>
                <a:schemeClr val="dk1"/>
              </a:buClr>
              <a:buSzPts val="1300"/>
              <a:buFont typeface="Twentieth Century"/>
              <a:buChar char="◆"/>
            </a:pPr>
            <a:r>
              <a:rPr lang="en" sz="1800" u="sng">
                <a:solidFill>
                  <a:schemeClr val="hlink"/>
                </a:solidFill>
                <a:latin typeface="Twentieth Century"/>
                <a:ea typeface="Twentieth Century"/>
                <a:cs typeface="Twentieth Century"/>
                <a:sym typeface="Twentieth Century"/>
                <a:hlinkClick r:id="rId4"/>
              </a:rPr>
              <a:t>https://github.com/utlibraries/workshop-materials</a:t>
            </a:r>
            <a:endParaRPr sz="1800">
              <a:solidFill>
                <a:schemeClr val="dk1"/>
              </a:solidFill>
              <a:latin typeface="Twentieth Century"/>
              <a:ea typeface="Twentieth Century"/>
              <a:cs typeface="Twentieth Century"/>
              <a:sym typeface="Twentieth Century"/>
            </a:endParaRPr>
          </a:p>
          <a:p>
            <a:pPr indent="0" lvl="0" marL="0" rtl="0" algn="l">
              <a:lnSpc>
                <a:spcPct val="170000"/>
              </a:lnSpc>
              <a:spcBef>
                <a:spcPts val="0"/>
              </a:spcBef>
              <a:spcAft>
                <a:spcPts val="0"/>
              </a:spcAft>
              <a:buSzPts val="1800"/>
              <a:buNone/>
            </a:pPr>
            <a:r>
              <a:t/>
            </a:r>
            <a:endParaRPr>
              <a:solidFill>
                <a:schemeClr val="dk1"/>
              </a:solidFill>
              <a:latin typeface="Twentieth Century"/>
              <a:ea typeface="Twentieth Century"/>
              <a:cs typeface="Twentieth Century"/>
              <a:sym typeface="Twentieth Century"/>
            </a:endParaRPr>
          </a:p>
          <a:p>
            <a:pPr indent="0" lvl="0" marL="0" rtl="0" algn="l">
              <a:lnSpc>
                <a:spcPct val="150000"/>
              </a:lnSpc>
              <a:spcBef>
                <a:spcPts val="0"/>
              </a:spcBef>
              <a:spcAft>
                <a:spcPts val="0"/>
              </a:spcAft>
              <a:buSzPts val="1800"/>
              <a:buNone/>
            </a:pPr>
            <a:r>
              <a:t/>
            </a:r>
            <a:endParaRPr>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6"/>
          <p:cNvSpPr txBox="1"/>
          <p:nvPr/>
        </p:nvSpPr>
        <p:spPr>
          <a:xfrm>
            <a:off x="2806500" y="3495975"/>
            <a:ext cx="6180300" cy="1398300"/>
          </a:xfrm>
          <a:prstGeom prst="rect">
            <a:avLst/>
          </a:prstGeom>
          <a:solidFill>
            <a:srgbClr val="F3F3F3"/>
          </a:solidFill>
          <a:ln>
            <a:noFill/>
          </a:ln>
        </p:spPr>
        <p:txBody>
          <a:bodyPr anchorCtr="0" anchor="t" bIns="182875" lIns="182875" spcFirstLastPara="1" rIns="182875" wrap="square" tIns="182875">
            <a:noAutofit/>
          </a:bodyPr>
          <a:lstStyle/>
          <a:p>
            <a:pPr indent="0" lvl="0" marL="0" marR="0" rtl="0" algn="l">
              <a:lnSpc>
                <a:spcPct val="125000"/>
              </a:lnSpc>
              <a:spcBef>
                <a:spcPts val="0"/>
              </a:spcBef>
              <a:spcAft>
                <a:spcPts val="0"/>
              </a:spcAft>
              <a:buClr>
                <a:srgbClr val="000000"/>
              </a:buClr>
              <a:buSzPts val="1100"/>
              <a:buFont typeface="Arial"/>
              <a:buNone/>
            </a:pPr>
            <a:r>
              <a:t/>
            </a:r>
            <a:endParaRPr b="1" i="0" sz="1400" u="none" cap="none" strike="noStrike">
              <a:solidFill>
                <a:srgbClr val="000000"/>
              </a:solidFill>
              <a:latin typeface="Twentieth Century"/>
              <a:ea typeface="Twentieth Century"/>
              <a:cs typeface="Twentieth Century"/>
              <a:sym typeface="Twentieth Century"/>
            </a:endParaRPr>
          </a:p>
          <a:p>
            <a:pPr indent="0" lvl="0" marL="0" marR="0" rtl="0" algn="l">
              <a:lnSpc>
                <a:spcPct val="125000"/>
              </a:lnSpc>
              <a:spcBef>
                <a:spcPts val="0"/>
              </a:spcBef>
              <a:spcAft>
                <a:spcPts val="0"/>
              </a:spcAft>
              <a:buClr>
                <a:srgbClr val="000000"/>
              </a:buClr>
              <a:buSzPts val="1400"/>
              <a:buFont typeface="Arial"/>
              <a:buNone/>
            </a:pPr>
            <a:r>
              <a:rPr b="1" i="0" lang="en" sz="1400" u="none" cap="none" strike="noStrike">
                <a:solidFill>
                  <a:srgbClr val="000000"/>
                </a:solidFill>
                <a:latin typeface="Twentieth Century"/>
                <a:ea typeface="Twentieth Century"/>
                <a:cs typeface="Twentieth Century"/>
                <a:sym typeface="Twentieth Century"/>
              </a:rPr>
              <a:t>What		</a:t>
            </a:r>
            <a:r>
              <a:rPr b="0" i="0" lang="en" sz="1400" u="none" cap="none" strike="noStrike">
                <a:solidFill>
                  <a:srgbClr val="000000"/>
                </a:solidFill>
                <a:latin typeface="Twentieth Century"/>
                <a:ea typeface="Twentieth Century"/>
                <a:cs typeface="Twentieth Century"/>
                <a:sym typeface="Twentieth Century"/>
              </a:rPr>
              <a:t>Learn about AI tools for working with research code and data</a:t>
            </a:r>
            <a:endParaRPr b="0" i="0" sz="1400" u="none" cap="none" strike="noStrike">
              <a:solidFill>
                <a:srgbClr val="000000"/>
              </a:solidFill>
              <a:latin typeface="Twentieth Century"/>
              <a:ea typeface="Twentieth Century"/>
              <a:cs typeface="Twentieth Century"/>
              <a:sym typeface="Twentieth Century"/>
            </a:endParaRPr>
          </a:p>
          <a:p>
            <a:pPr indent="0" lvl="0" marL="0" marR="0" rtl="0" algn="l">
              <a:lnSpc>
                <a:spcPct val="125000"/>
              </a:lnSpc>
              <a:spcBef>
                <a:spcPts val="0"/>
              </a:spcBef>
              <a:spcAft>
                <a:spcPts val="0"/>
              </a:spcAft>
              <a:buClr>
                <a:srgbClr val="000000"/>
              </a:buClr>
              <a:buSzPts val="1400"/>
              <a:buFont typeface="Arial"/>
              <a:buNone/>
            </a:pPr>
            <a:r>
              <a:rPr b="1" i="0" lang="en" sz="1400" u="none" cap="none" strike="noStrike">
                <a:solidFill>
                  <a:srgbClr val="000000"/>
                </a:solidFill>
                <a:latin typeface="Twentieth Century"/>
                <a:ea typeface="Twentieth Century"/>
                <a:cs typeface="Twentieth Century"/>
                <a:sym typeface="Twentieth Century"/>
              </a:rPr>
              <a:t>When		</a:t>
            </a:r>
            <a:r>
              <a:rPr lang="en">
                <a:latin typeface="Twentieth Century"/>
                <a:ea typeface="Twentieth Century"/>
                <a:cs typeface="Twentieth Century"/>
                <a:sym typeface="Twentieth Century"/>
              </a:rPr>
              <a:t>December 2</a:t>
            </a:r>
            <a:r>
              <a:rPr b="0" i="0" lang="en" sz="1400" u="none" cap="none" strike="noStrike">
                <a:solidFill>
                  <a:srgbClr val="000000"/>
                </a:solidFill>
                <a:latin typeface="Twentieth Century"/>
                <a:ea typeface="Twentieth Century"/>
                <a:cs typeface="Twentieth Century"/>
                <a:sym typeface="Twentieth Century"/>
              </a:rPr>
              <a:t>, 2026 (</a:t>
            </a:r>
            <a:r>
              <a:rPr lang="en">
                <a:latin typeface="Twentieth Century"/>
                <a:ea typeface="Twentieth Century"/>
                <a:cs typeface="Twentieth Century"/>
                <a:sym typeface="Twentieth Century"/>
              </a:rPr>
              <a:t>Wednesday</a:t>
            </a:r>
            <a:r>
              <a:rPr b="0" i="0" lang="en" sz="1400" u="none" cap="none" strike="noStrike">
                <a:solidFill>
                  <a:srgbClr val="000000"/>
                </a:solidFill>
                <a:latin typeface="Twentieth Century"/>
                <a:ea typeface="Twentieth Century"/>
                <a:cs typeface="Twentieth Century"/>
                <a:sym typeface="Twentieth Century"/>
              </a:rPr>
              <a:t>): 1</a:t>
            </a:r>
            <a:r>
              <a:rPr lang="en">
                <a:latin typeface="Twentieth Century"/>
                <a:ea typeface="Twentieth Century"/>
                <a:cs typeface="Twentieth Century"/>
                <a:sym typeface="Twentieth Century"/>
              </a:rPr>
              <a:t>pm</a:t>
            </a:r>
            <a:r>
              <a:rPr b="0" i="0" lang="en" sz="1400" u="none" cap="none" strike="noStrike">
                <a:solidFill>
                  <a:srgbClr val="000000"/>
                </a:solidFill>
                <a:latin typeface="Twentieth Century"/>
                <a:ea typeface="Twentieth Century"/>
                <a:cs typeface="Twentieth Century"/>
                <a:sym typeface="Twentieth Century"/>
              </a:rPr>
              <a:t> - 2</a:t>
            </a:r>
            <a:r>
              <a:rPr lang="en">
                <a:latin typeface="Twentieth Century"/>
                <a:ea typeface="Twentieth Century"/>
                <a:cs typeface="Twentieth Century"/>
                <a:sym typeface="Twentieth Century"/>
              </a:rPr>
              <a:t>pm</a:t>
            </a:r>
            <a:endParaRPr b="0" i="0" sz="1400" u="none" cap="none" strike="noStrike">
              <a:solidFill>
                <a:srgbClr val="000000"/>
              </a:solidFill>
              <a:latin typeface="Twentieth Century"/>
              <a:ea typeface="Twentieth Century"/>
              <a:cs typeface="Twentieth Century"/>
              <a:sym typeface="Twentieth Century"/>
            </a:endParaRPr>
          </a:p>
          <a:p>
            <a:pPr indent="0" lvl="0" marL="0" marR="0" rtl="0" algn="l">
              <a:lnSpc>
                <a:spcPct val="125000"/>
              </a:lnSpc>
              <a:spcBef>
                <a:spcPts val="0"/>
              </a:spcBef>
              <a:spcAft>
                <a:spcPts val="0"/>
              </a:spcAft>
              <a:buClr>
                <a:srgbClr val="000000"/>
              </a:buClr>
              <a:buSzPts val="1400"/>
              <a:buFont typeface="Arial"/>
              <a:buNone/>
            </a:pPr>
            <a:r>
              <a:rPr b="1" i="0" lang="en" sz="1400" u="none" cap="none" strike="noStrike">
                <a:solidFill>
                  <a:srgbClr val="000000"/>
                </a:solidFill>
                <a:latin typeface="Twentieth Century"/>
                <a:ea typeface="Twentieth Century"/>
                <a:cs typeface="Twentieth Century"/>
                <a:sym typeface="Twentieth Century"/>
              </a:rPr>
              <a:t>Where	</a:t>
            </a:r>
            <a:r>
              <a:rPr b="0" i="0" lang="en" sz="1400" u="none" cap="none" strike="noStrike">
                <a:solidFill>
                  <a:srgbClr val="000000"/>
                </a:solidFill>
                <a:latin typeface="Twentieth Century"/>
                <a:ea typeface="Twentieth Century"/>
                <a:cs typeface="Twentieth Century"/>
                <a:sym typeface="Twentieth Century"/>
              </a:rPr>
              <a:t>Virtual</a:t>
            </a:r>
            <a:endParaRPr b="0" i="0" sz="1400" u="none" cap="none" strike="noStrike">
              <a:solidFill>
                <a:srgbClr val="000000"/>
              </a:solidFill>
              <a:latin typeface="Twentieth Century"/>
              <a:ea typeface="Twentieth Century"/>
              <a:cs typeface="Twentieth Century"/>
              <a:sym typeface="Twentieth Century"/>
            </a:endParaRPr>
          </a:p>
        </p:txBody>
      </p:sp>
      <p:sp>
        <p:nvSpPr>
          <p:cNvPr id="143" name="Google Shape;143;p6"/>
          <p:cNvSpPr txBox="1"/>
          <p:nvPr>
            <p:ph type="title"/>
          </p:nvPr>
        </p:nvSpPr>
        <p:spPr>
          <a:xfrm>
            <a:off x="227225" y="-456"/>
            <a:ext cx="8845200" cy="636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4400"/>
              <a:buNone/>
            </a:pPr>
            <a:r>
              <a:rPr b="1" lang="en" sz="3600">
                <a:solidFill>
                  <a:schemeClr val="dk1"/>
                </a:solidFill>
                <a:latin typeface="Twentieth Century"/>
                <a:ea typeface="Twentieth Century"/>
                <a:cs typeface="Twentieth Century"/>
                <a:sym typeface="Twentieth Century"/>
              </a:rPr>
              <a:t>Upcoming Fall Workshops</a:t>
            </a:r>
            <a:endParaRPr b="1" sz="3600">
              <a:solidFill>
                <a:schemeClr val="dk1"/>
              </a:solidFill>
              <a:latin typeface="Twentieth Century"/>
              <a:ea typeface="Twentieth Century"/>
              <a:cs typeface="Twentieth Century"/>
              <a:sym typeface="Twentieth Century"/>
            </a:endParaRPr>
          </a:p>
        </p:txBody>
      </p:sp>
      <p:sp>
        <p:nvSpPr>
          <p:cNvPr id="144" name="Google Shape;144;p6"/>
          <p:cNvSpPr/>
          <p:nvPr/>
        </p:nvSpPr>
        <p:spPr>
          <a:xfrm>
            <a:off x="408125" y="3469100"/>
            <a:ext cx="1789800" cy="1380900"/>
          </a:xfrm>
          <a:prstGeom prst="rect">
            <a:avLst/>
          </a:prstGeom>
          <a:solidFill>
            <a:srgbClr val="F7F7F7"/>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45" name="Google Shape;145;p6"/>
          <p:cNvSpPr/>
          <p:nvPr/>
        </p:nvSpPr>
        <p:spPr>
          <a:xfrm>
            <a:off x="330039" y="1460300"/>
            <a:ext cx="1861800" cy="1398300"/>
          </a:xfrm>
          <a:prstGeom prst="rect">
            <a:avLst/>
          </a:prstGeom>
          <a:solidFill>
            <a:srgbClr val="F7F7F7"/>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46" name="Google Shape;146;p6"/>
          <p:cNvSpPr txBox="1"/>
          <p:nvPr/>
        </p:nvSpPr>
        <p:spPr>
          <a:xfrm>
            <a:off x="2781298" y="1178100"/>
            <a:ext cx="6230700" cy="327600"/>
          </a:xfrm>
          <a:prstGeom prst="rect">
            <a:avLst/>
          </a:prstGeom>
          <a:solidFill>
            <a:srgbClr val="85200C"/>
          </a:solidFill>
          <a:ln>
            <a:noFill/>
          </a:ln>
        </p:spPr>
        <p:txBody>
          <a:bodyPr anchorCtr="0" anchor="t" bIns="0" lIns="91425" spcFirstLastPara="1" rIns="91425" wrap="square" tIns="0">
            <a:noAutofit/>
          </a:bodyPr>
          <a:lstStyle/>
          <a:p>
            <a:pPr indent="0" lvl="0" marL="0" marR="0" rtl="0" algn="l">
              <a:lnSpc>
                <a:spcPct val="100000"/>
              </a:lnSpc>
              <a:spcBef>
                <a:spcPts val="0"/>
              </a:spcBef>
              <a:spcAft>
                <a:spcPts val="0"/>
              </a:spcAft>
              <a:buClr>
                <a:srgbClr val="000000"/>
              </a:buClr>
              <a:buSzPts val="1900"/>
              <a:buFont typeface="Arial"/>
              <a:buNone/>
            </a:pPr>
            <a:r>
              <a:rPr b="1" i="0" lang="en" sz="1900" u="none" cap="none" strike="noStrike">
                <a:solidFill>
                  <a:schemeClr val="lt1"/>
                </a:solidFill>
                <a:latin typeface="Twentieth Century"/>
                <a:ea typeface="Twentieth Century"/>
                <a:cs typeface="Twentieth Century"/>
                <a:sym typeface="Twentieth Century"/>
              </a:rPr>
              <a:t>Data &amp; Donuts Workshop Series</a:t>
            </a:r>
            <a:endParaRPr b="1" i="0" sz="1900" u="none" cap="none" strike="noStrike">
              <a:solidFill>
                <a:schemeClr val="lt1"/>
              </a:solidFill>
              <a:latin typeface="Twentieth Century"/>
              <a:ea typeface="Twentieth Century"/>
              <a:cs typeface="Twentieth Century"/>
              <a:sym typeface="Twentieth Century"/>
            </a:endParaRPr>
          </a:p>
        </p:txBody>
      </p:sp>
      <p:sp>
        <p:nvSpPr>
          <p:cNvPr id="147" name="Google Shape;147;p6"/>
          <p:cNvSpPr txBox="1"/>
          <p:nvPr/>
        </p:nvSpPr>
        <p:spPr>
          <a:xfrm>
            <a:off x="2781300" y="1513613"/>
            <a:ext cx="6230700" cy="1549200"/>
          </a:xfrm>
          <a:prstGeom prst="rect">
            <a:avLst/>
          </a:prstGeom>
          <a:solidFill>
            <a:srgbClr val="F3F3F3"/>
          </a:solidFill>
          <a:ln>
            <a:noFill/>
          </a:ln>
        </p:spPr>
        <p:txBody>
          <a:bodyPr anchorCtr="0" anchor="t" bIns="91425" lIns="91425" spcFirstLastPara="1" rIns="91425" wrap="square" tIns="91425">
            <a:noAutofit/>
          </a:bodyPr>
          <a:lstStyle/>
          <a:p>
            <a:pPr indent="0" lvl="0" marL="0" marR="0" rtl="0" algn="l">
              <a:lnSpc>
                <a:spcPct val="125000"/>
              </a:lnSpc>
              <a:spcBef>
                <a:spcPts val="0"/>
              </a:spcBef>
              <a:spcAft>
                <a:spcPts val="0"/>
              </a:spcAft>
              <a:buClr>
                <a:srgbClr val="000000"/>
              </a:buClr>
              <a:buSzPts val="1400"/>
              <a:buFont typeface="Arial"/>
              <a:buNone/>
            </a:pPr>
            <a:r>
              <a:rPr b="1" i="0" lang="en" sz="1400" u="none" cap="none" strike="noStrike">
                <a:solidFill>
                  <a:srgbClr val="000000"/>
                </a:solidFill>
                <a:latin typeface="Twentieth Century"/>
                <a:ea typeface="Twentieth Century"/>
                <a:cs typeface="Twentieth Century"/>
                <a:sym typeface="Twentieth Century"/>
              </a:rPr>
              <a:t>What		</a:t>
            </a:r>
            <a:r>
              <a:rPr b="0" i="0" lang="en" sz="1400" u="none" cap="none" strike="noStrike">
                <a:solidFill>
                  <a:srgbClr val="000000"/>
                </a:solidFill>
                <a:latin typeface="Twentieth Century"/>
                <a:ea typeface="Twentieth Century"/>
                <a:cs typeface="Twentieth Century"/>
                <a:sym typeface="Twentieth Century"/>
              </a:rPr>
              <a:t>Workshops covering research data practices and software</a:t>
            </a:r>
            <a:endParaRPr b="0" i="0" sz="1400" u="none" cap="none" strike="noStrike">
              <a:solidFill>
                <a:srgbClr val="000000"/>
              </a:solidFill>
              <a:latin typeface="Twentieth Century"/>
              <a:ea typeface="Twentieth Century"/>
              <a:cs typeface="Twentieth Century"/>
              <a:sym typeface="Twentieth Century"/>
            </a:endParaRPr>
          </a:p>
          <a:p>
            <a:pPr indent="0" lvl="0" marL="0" marR="0" rtl="0" algn="l">
              <a:lnSpc>
                <a:spcPct val="125000"/>
              </a:lnSpc>
              <a:spcBef>
                <a:spcPts val="0"/>
              </a:spcBef>
              <a:spcAft>
                <a:spcPts val="0"/>
              </a:spcAft>
              <a:buClr>
                <a:srgbClr val="000000"/>
              </a:buClr>
              <a:buSzPts val="1400"/>
              <a:buFont typeface="Arial"/>
              <a:buNone/>
            </a:pPr>
            <a:r>
              <a:rPr b="1" i="0" lang="en" sz="1400" u="none" cap="none" strike="noStrike">
                <a:solidFill>
                  <a:srgbClr val="000000"/>
                </a:solidFill>
                <a:latin typeface="Twentieth Century"/>
                <a:ea typeface="Twentieth Century"/>
                <a:cs typeface="Twentieth Century"/>
                <a:sym typeface="Twentieth Century"/>
              </a:rPr>
              <a:t>When		</a:t>
            </a:r>
            <a:r>
              <a:rPr b="0" i="0" lang="en" sz="1400" u="none" cap="none" strike="noStrike">
                <a:solidFill>
                  <a:srgbClr val="000000"/>
                </a:solidFill>
                <a:latin typeface="Twentieth Century"/>
                <a:ea typeface="Twentieth Century"/>
                <a:cs typeface="Twentieth Century"/>
                <a:sym typeface="Twentieth Century"/>
              </a:rPr>
              <a:t>On the following dates: </a:t>
            </a:r>
            <a:r>
              <a:rPr lang="en">
                <a:latin typeface="Twentieth Century"/>
                <a:ea typeface="Twentieth Century"/>
                <a:cs typeface="Twentieth Century"/>
                <a:sym typeface="Twentieth Century"/>
              </a:rPr>
              <a:t>Sept. 11, Sept. 25, Oct. 9, Oct. 23</a:t>
            </a:r>
            <a:endParaRPr b="0" i="0" sz="1300" u="none" cap="none" strike="noStrike">
              <a:solidFill>
                <a:srgbClr val="000000"/>
              </a:solidFill>
              <a:latin typeface="Twentieth Century"/>
              <a:ea typeface="Twentieth Century"/>
              <a:cs typeface="Twentieth Century"/>
              <a:sym typeface="Twentieth Century"/>
            </a:endParaRPr>
          </a:p>
          <a:p>
            <a:pPr indent="0" lvl="0" marL="0" marR="0" rtl="0" algn="l">
              <a:lnSpc>
                <a:spcPct val="125000"/>
              </a:lnSpc>
              <a:spcBef>
                <a:spcPts val="0"/>
              </a:spcBef>
              <a:spcAft>
                <a:spcPts val="0"/>
              </a:spcAft>
              <a:buClr>
                <a:srgbClr val="000000"/>
              </a:buClr>
              <a:buSzPts val="1400"/>
              <a:buFont typeface="Arial"/>
              <a:buNone/>
            </a:pPr>
            <a:r>
              <a:rPr b="1" i="0" lang="en" sz="1400" u="none" cap="none" strike="noStrike">
                <a:solidFill>
                  <a:srgbClr val="000000"/>
                </a:solidFill>
                <a:latin typeface="Twentieth Century"/>
                <a:ea typeface="Twentieth Century"/>
                <a:cs typeface="Twentieth Century"/>
                <a:sym typeface="Twentieth Century"/>
              </a:rPr>
              <a:t>Time		</a:t>
            </a:r>
            <a:r>
              <a:rPr b="0" i="0" lang="en" sz="1400" u="none" cap="none" strike="noStrike">
                <a:solidFill>
                  <a:srgbClr val="000000"/>
                </a:solidFill>
                <a:latin typeface="Twentieth Century"/>
                <a:ea typeface="Twentieth Century"/>
                <a:cs typeface="Twentieth Century"/>
                <a:sym typeface="Twentieth Century"/>
              </a:rPr>
              <a:t>12pm - 1:15pm</a:t>
            </a:r>
            <a:endParaRPr b="0" i="0" sz="1400" u="none" cap="none" strike="noStrike">
              <a:solidFill>
                <a:srgbClr val="000000"/>
              </a:solidFill>
              <a:latin typeface="Twentieth Century"/>
              <a:ea typeface="Twentieth Century"/>
              <a:cs typeface="Twentieth Century"/>
              <a:sym typeface="Twentieth Century"/>
            </a:endParaRPr>
          </a:p>
          <a:p>
            <a:pPr indent="0" lvl="0" marL="0" marR="0" rtl="0" algn="l">
              <a:lnSpc>
                <a:spcPct val="125000"/>
              </a:lnSpc>
              <a:spcBef>
                <a:spcPts val="0"/>
              </a:spcBef>
              <a:spcAft>
                <a:spcPts val="0"/>
              </a:spcAft>
              <a:buClr>
                <a:srgbClr val="000000"/>
              </a:buClr>
              <a:buSzPts val="1400"/>
              <a:buFont typeface="Arial"/>
              <a:buNone/>
            </a:pPr>
            <a:r>
              <a:rPr b="1" i="0" lang="en" sz="1400" u="none" cap="none" strike="noStrike">
                <a:solidFill>
                  <a:srgbClr val="000000"/>
                </a:solidFill>
                <a:latin typeface="Twentieth Century"/>
                <a:ea typeface="Twentieth Century"/>
                <a:cs typeface="Twentieth Century"/>
                <a:sym typeface="Twentieth Century"/>
              </a:rPr>
              <a:t>Where	</a:t>
            </a:r>
            <a:r>
              <a:rPr b="0" i="0" lang="en" sz="1400" u="none" cap="none" strike="noStrike">
                <a:solidFill>
                  <a:srgbClr val="000000"/>
                </a:solidFill>
                <a:latin typeface="Twentieth Century"/>
                <a:ea typeface="Twentieth Century"/>
                <a:cs typeface="Twentieth Century"/>
                <a:sym typeface="Twentieth Century"/>
              </a:rPr>
              <a:t>Zoom (all dates) / </a:t>
            </a:r>
            <a:r>
              <a:rPr b="0" i="0" lang="en" sz="1400" u="sng" cap="none" strike="noStrike">
                <a:solidFill>
                  <a:srgbClr val="0097A7"/>
                </a:solidFill>
                <a:latin typeface="Twentieth Century"/>
                <a:ea typeface="Twentieth Century"/>
                <a:cs typeface="Twentieth Century"/>
                <a:sym typeface="Twentieth Century"/>
                <a:hlinkClick r:id="rId3">
                  <a:extLst>
                    <a:ext uri="{A12FA001-AC4F-418D-AE19-62706E023703}">
                      <ahyp:hlinkClr val="tx"/>
                    </a:ext>
                  </a:extLst>
                </a:hlinkClick>
              </a:rPr>
              <a:t>PCL Scholars Lab</a:t>
            </a:r>
            <a:r>
              <a:rPr b="0" i="0" lang="en" sz="1400" u="none" cap="none" strike="noStrike">
                <a:solidFill>
                  <a:srgbClr val="000000"/>
                </a:solidFill>
                <a:latin typeface="Twentieth Century"/>
                <a:ea typeface="Twentieth Century"/>
                <a:cs typeface="Twentieth Century"/>
                <a:sym typeface="Twentieth Century"/>
              </a:rPr>
              <a:t> (select dates)</a:t>
            </a:r>
            <a:endParaRPr b="0" i="0" sz="1400" u="none" cap="none" strike="noStrike">
              <a:solidFill>
                <a:srgbClr val="000000"/>
              </a:solidFill>
              <a:latin typeface="Twentieth Century"/>
              <a:ea typeface="Twentieth Century"/>
              <a:cs typeface="Twentieth Century"/>
              <a:sym typeface="Twentieth Century"/>
            </a:endParaRPr>
          </a:p>
          <a:p>
            <a:pPr indent="0" lvl="0" marL="0" marR="0" rtl="0" algn="l">
              <a:lnSpc>
                <a:spcPct val="125000"/>
              </a:lnSpc>
              <a:spcBef>
                <a:spcPts val="0"/>
              </a:spcBef>
              <a:spcAft>
                <a:spcPts val="0"/>
              </a:spcAft>
              <a:buClr>
                <a:srgbClr val="000000"/>
              </a:buClr>
              <a:buSzPts val="1400"/>
              <a:buFont typeface="Arial"/>
              <a:buNone/>
            </a:pPr>
            <a:r>
              <a:rPr b="1" i="0" lang="en" sz="1400" u="none" cap="none" strike="noStrike">
                <a:solidFill>
                  <a:srgbClr val="000000"/>
                </a:solidFill>
                <a:latin typeface="Twentieth Century"/>
                <a:ea typeface="Twentieth Century"/>
                <a:cs typeface="Twentieth Century"/>
                <a:sym typeface="Twentieth Century"/>
              </a:rPr>
              <a:t>More info</a:t>
            </a:r>
            <a:r>
              <a:rPr b="0" i="0" lang="en" sz="1400" u="none" cap="none" strike="noStrike">
                <a:solidFill>
                  <a:srgbClr val="000000"/>
                </a:solidFill>
                <a:latin typeface="Twentieth Century"/>
                <a:ea typeface="Twentieth Century"/>
                <a:cs typeface="Twentieth Century"/>
                <a:sym typeface="Twentieth Century"/>
              </a:rPr>
              <a:t>	</a:t>
            </a:r>
            <a:r>
              <a:rPr b="0" i="0" lang="en" sz="1400" u="sng" cap="none" strike="noStrike">
                <a:solidFill>
                  <a:srgbClr val="0097A7"/>
                </a:solidFill>
                <a:latin typeface="Twentieth Century"/>
                <a:ea typeface="Twentieth Century"/>
                <a:cs typeface="Twentieth Century"/>
                <a:sym typeface="Twentieth Century"/>
                <a:hlinkClick r:id="rId4">
                  <a:extLst>
                    <a:ext uri="{A12FA001-AC4F-418D-AE19-62706E023703}">
                      <ahyp:hlinkClr val="tx"/>
                    </a:ext>
                  </a:extLst>
                </a:hlinkClick>
              </a:rPr>
              <a:t>https://guides.lib.utexas.edu/data-and-donuts</a:t>
            </a:r>
            <a:r>
              <a:rPr b="0" i="0" lang="en" sz="1400" u="none" cap="none" strike="noStrike">
                <a:solidFill>
                  <a:srgbClr val="000000"/>
                </a:solidFill>
                <a:latin typeface="Twentieth Century"/>
                <a:ea typeface="Twentieth Century"/>
                <a:cs typeface="Twentieth Century"/>
                <a:sym typeface="Twentieth Century"/>
              </a:rPr>
              <a:t> </a:t>
            </a:r>
            <a:endParaRPr b="0" i="0" sz="1400" u="none" cap="none" strike="noStrike">
              <a:solidFill>
                <a:srgbClr val="000000"/>
              </a:solidFill>
              <a:latin typeface="Twentieth Century"/>
              <a:ea typeface="Twentieth Century"/>
              <a:cs typeface="Twentieth Century"/>
              <a:sym typeface="Twentieth Century"/>
            </a:endParaRPr>
          </a:p>
        </p:txBody>
      </p:sp>
      <p:sp>
        <p:nvSpPr>
          <p:cNvPr id="148" name="Google Shape;148;p6"/>
          <p:cNvSpPr txBox="1"/>
          <p:nvPr/>
        </p:nvSpPr>
        <p:spPr>
          <a:xfrm>
            <a:off x="2781300" y="3422875"/>
            <a:ext cx="6230700" cy="327600"/>
          </a:xfrm>
          <a:prstGeom prst="rect">
            <a:avLst/>
          </a:prstGeom>
          <a:solidFill>
            <a:srgbClr val="85200C"/>
          </a:solidFill>
          <a:ln>
            <a:noFill/>
          </a:ln>
        </p:spPr>
        <p:txBody>
          <a:bodyPr anchorCtr="0" anchor="t" bIns="0" lIns="91425" spcFirstLastPara="1" rIns="91425" wrap="square" tIns="0">
            <a:noAutofit/>
          </a:bodyPr>
          <a:lstStyle/>
          <a:p>
            <a:pPr indent="0" lvl="0" marL="0" marR="0" rtl="0" algn="l">
              <a:lnSpc>
                <a:spcPct val="100000"/>
              </a:lnSpc>
              <a:spcBef>
                <a:spcPts val="0"/>
              </a:spcBef>
              <a:spcAft>
                <a:spcPts val="0"/>
              </a:spcAft>
              <a:buClr>
                <a:srgbClr val="000000"/>
              </a:buClr>
              <a:buSzPts val="1900"/>
              <a:buFont typeface="Arial"/>
              <a:buNone/>
            </a:pPr>
            <a:r>
              <a:rPr b="1" i="0" lang="en" sz="1900" u="none" cap="none" strike="noStrike">
                <a:solidFill>
                  <a:schemeClr val="lt1"/>
                </a:solidFill>
                <a:latin typeface="Twentieth Century"/>
                <a:ea typeface="Twentieth Century"/>
                <a:cs typeface="Twentieth Century"/>
                <a:sym typeface="Twentieth Century"/>
              </a:rPr>
              <a:t>Using AI for Research</a:t>
            </a:r>
            <a:endParaRPr b="1" i="0" sz="1900" u="none" cap="none" strike="noStrike">
              <a:solidFill>
                <a:schemeClr val="lt1"/>
              </a:solidFill>
              <a:latin typeface="Twentieth Century"/>
              <a:ea typeface="Twentieth Century"/>
              <a:cs typeface="Twentieth Century"/>
              <a:sym typeface="Twentieth Century"/>
            </a:endParaRPr>
          </a:p>
        </p:txBody>
      </p:sp>
      <p:pic>
        <p:nvPicPr>
          <p:cNvPr id="149" name="Google Shape;149;p6"/>
          <p:cNvPicPr preferRelativeResize="0"/>
          <p:nvPr/>
        </p:nvPicPr>
        <p:blipFill rotWithShape="1">
          <a:blip r:embed="rId5">
            <a:alphaModFix/>
          </a:blip>
          <a:srcRect b="0" l="62910" r="-208" t="67448"/>
          <a:stretch/>
        </p:blipFill>
        <p:spPr>
          <a:xfrm>
            <a:off x="373647" y="2529716"/>
            <a:ext cx="1818030" cy="301939"/>
          </a:xfrm>
          <a:prstGeom prst="rect">
            <a:avLst/>
          </a:prstGeom>
          <a:noFill/>
          <a:ln>
            <a:noFill/>
          </a:ln>
        </p:spPr>
      </p:pic>
      <p:pic>
        <p:nvPicPr>
          <p:cNvPr id="150" name="Google Shape;150;p6"/>
          <p:cNvPicPr preferRelativeResize="0"/>
          <p:nvPr/>
        </p:nvPicPr>
        <p:blipFill rotWithShape="1">
          <a:blip r:embed="rId6">
            <a:alphaModFix/>
          </a:blip>
          <a:srcRect b="19376" l="0" r="0" t="4756"/>
          <a:stretch/>
        </p:blipFill>
        <p:spPr>
          <a:xfrm>
            <a:off x="469100" y="3529825"/>
            <a:ext cx="1665025" cy="1263150"/>
          </a:xfrm>
          <a:prstGeom prst="rect">
            <a:avLst/>
          </a:prstGeom>
          <a:noFill/>
          <a:ln>
            <a:noFill/>
          </a:ln>
        </p:spPr>
      </p:pic>
      <p:pic>
        <p:nvPicPr>
          <p:cNvPr id="151" name="Google Shape;151;p6"/>
          <p:cNvPicPr preferRelativeResize="0"/>
          <p:nvPr/>
        </p:nvPicPr>
        <p:blipFill rotWithShape="1">
          <a:blip r:embed="rId5">
            <a:alphaModFix/>
          </a:blip>
          <a:srcRect b="0" l="0" r="37154" t="0"/>
          <a:stretch/>
        </p:blipFill>
        <p:spPr>
          <a:xfrm>
            <a:off x="373647" y="1482648"/>
            <a:ext cx="1778400" cy="645419"/>
          </a:xfrm>
          <a:prstGeom prst="rect">
            <a:avLst/>
          </a:prstGeom>
          <a:noFill/>
          <a:ln>
            <a:noFill/>
          </a:ln>
        </p:spPr>
      </p:pic>
      <p:sp>
        <p:nvSpPr>
          <p:cNvPr id="152" name="Google Shape;152;p6"/>
          <p:cNvSpPr txBox="1"/>
          <p:nvPr/>
        </p:nvSpPr>
        <p:spPr>
          <a:xfrm>
            <a:off x="400825" y="2156225"/>
            <a:ext cx="1733400" cy="301800"/>
          </a:xfrm>
          <a:prstGeom prst="rect">
            <a:avLst/>
          </a:prstGeom>
          <a:solidFill>
            <a:srgbClr val="B45F06"/>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Arial"/>
              <a:buNone/>
            </a:pPr>
            <a:r>
              <a:rPr b="1" lang="en" sz="1700">
                <a:solidFill>
                  <a:schemeClr val="lt1"/>
                </a:solidFill>
                <a:latin typeface="Twentieth Century"/>
                <a:ea typeface="Twentieth Century"/>
                <a:cs typeface="Twentieth Century"/>
                <a:sym typeface="Twentieth Century"/>
              </a:rPr>
              <a:t>Fall </a:t>
            </a:r>
            <a:r>
              <a:rPr b="1" i="0" lang="en" sz="1700" u="none" cap="none" strike="noStrike">
                <a:solidFill>
                  <a:schemeClr val="lt1"/>
                </a:solidFill>
                <a:latin typeface="Twentieth Century"/>
                <a:ea typeface="Twentieth Century"/>
                <a:cs typeface="Twentieth Century"/>
                <a:sym typeface="Twentieth Century"/>
              </a:rPr>
              <a:t>2026</a:t>
            </a:r>
            <a:endParaRPr b="1" i="0" sz="1700" u="none" cap="none" strike="noStrike">
              <a:solidFill>
                <a:schemeClr val="lt1"/>
              </a:solidFill>
              <a:latin typeface="Twentieth Century"/>
              <a:ea typeface="Twentieth Century"/>
              <a:cs typeface="Twentieth Century"/>
              <a:sym typeface="Twentieth Century"/>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7"/>
          <p:cNvSpPr txBox="1"/>
          <p:nvPr>
            <p:ph type="title"/>
          </p:nvPr>
        </p:nvSpPr>
        <p:spPr>
          <a:xfrm>
            <a:off x="226400" y="91975"/>
            <a:ext cx="8765400" cy="564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4400"/>
              <a:buNone/>
            </a:pPr>
            <a:r>
              <a:rPr b="1" lang="en" sz="3000">
                <a:solidFill>
                  <a:schemeClr val="dk1"/>
                </a:solidFill>
                <a:latin typeface="Trebuchet MS"/>
                <a:ea typeface="Trebuchet MS"/>
                <a:cs typeface="Trebuchet MS"/>
                <a:sym typeface="Trebuchet MS"/>
              </a:rPr>
              <a:t>Code of Conduct</a:t>
            </a:r>
            <a:endParaRPr b="1" sz="3000">
              <a:solidFill>
                <a:schemeClr val="dk1"/>
              </a:solidFill>
              <a:latin typeface="Trebuchet MS"/>
              <a:ea typeface="Trebuchet MS"/>
              <a:cs typeface="Trebuchet MS"/>
              <a:sym typeface="Trebuchet MS"/>
            </a:endParaRPr>
          </a:p>
        </p:txBody>
      </p:sp>
      <p:sp>
        <p:nvSpPr>
          <p:cNvPr id="158" name="Google Shape;158;p7"/>
          <p:cNvSpPr txBox="1"/>
          <p:nvPr>
            <p:ph idx="1" type="body"/>
          </p:nvPr>
        </p:nvSpPr>
        <p:spPr>
          <a:xfrm>
            <a:off x="332525" y="1025600"/>
            <a:ext cx="8659200" cy="3604200"/>
          </a:xfrm>
          <a:prstGeom prst="rect">
            <a:avLst/>
          </a:prstGeom>
          <a:noFill/>
          <a:ln>
            <a:noFill/>
          </a:ln>
        </p:spPr>
        <p:txBody>
          <a:bodyPr anchorCtr="0" anchor="t" bIns="91425" lIns="91425" spcFirstLastPara="1" rIns="91425" wrap="square" tIns="91425">
            <a:normAutofit/>
          </a:bodyPr>
          <a:lstStyle/>
          <a:p>
            <a:pPr indent="-336550" lvl="0" marL="457200" rtl="0" algn="l">
              <a:lnSpc>
                <a:spcPct val="150000"/>
              </a:lnSpc>
              <a:spcBef>
                <a:spcPts val="640"/>
              </a:spcBef>
              <a:spcAft>
                <a:spcPts val="0"/>
              </a:spcAft>
              <a:buClr>
                <a:schemeClr val="dk1"/>
              </a:buClr>
              <a:buSzPts val="1700"/>
              <a:buFont typeface="Twentieth Century"/>
              <a:buChar char="•"/>
            </a:pPr>
            <a:r>
              <a:rPr lang="en" sz="1700">
                <a:solidFill>
                  <a:schemeClr val="dk1"/>
                </a:solidFill>
                <a:latin typeface="Twentieth Century"/>
                <a:ea typeface="Twentieth Century"/>
                <a:cs typeface="Twentieth Century"/>
                <a:sym typeface="Twentieth Century"/>
              </a:rPr>
              <a:t>Use welcoming and inclusive language</a:t>
            </a:r>
            <a:endParaRPr sz="1700">
              <a:solidFill>
                <a:schemeClr val="dk1"/>
              </a:solidFill>
              <a:latin typeface="Twentieth Century"/>
              <a:ea typeface="Twentieth Century"/>
              <a:cs typeface="Twentieth Century"/>
              <a:sym typeface="Twentieth Century"/>
            </a:endParaRPr>
          </a:p>
          <a:p>
            <a:pPr indent="-336550" lvl="0" marL="457200" rtl="0" algn="l">
              <a:lnSpc>
                <a:spcPct val="150000"/>
              </a:lnSpc>
              <a:spcBef>
                <a:spcPts val="640"/>
              </a:spcBef>
              <a:spcAft>
                <a:spcPts val="0"/>
              </a:spcAft>
              <a:buClr>
                <a:schemeClr val="dk1"/>
              </a:buClr>
              <a:buSzPts val="1700"/>
              <a:buFont typeface="Twentieth Century"/>
              <a:buChar char="•"/>
            </a:pPr>
            <a:r>
              <a:rPr lang="en" sz="1700">
                <a:solidFill>
                  <a:schemeClr val="dk1"/>
                </a:solidFill>
                <a:latin typeface="Twentieth Century"/>
                <a:ea typeface="Twentieth Century"/>
                <a:cs typeface="Twentieth Century"/>
                <a:sym typeface="Twentieth Century"/>
              </a:rPr>
              <a:t>Be respectful of different viewpoints and experiences</a:t>
            </a:r>
            <a:endParaRPr sz="1700">
              <a:solidFill>
                <a:schemeClr val="dk1"/>
              </a:solidFill>
              <a:latin typeface="Twentieth Century"/>
              <a:ea typeface="Twentieth Century"/>
              <a:cs typeface="Twentieth Century"/>
              <a:sym typeface="Twentieth Century"/>
            </a:endParaRPr>
          </a:p>
          <a:p>
            <a:pPr indent="-336550" lvl="0" marL="457200" rtl="0" algn="l">
              <a:lnSpc>
                <a:spcPct val="150000"/>
              </a:lnSpc>
              <a:spcBef>
                <a:spcPts val="640"/>
              </a:spcBef>
              <a:spcAft>
                <a:spcPts val="0"/>
              </a:spcAft>
              <a:buClr>
                <a:schemeClr val="dk1"/>
              </a:buClr>
              <a:buSzPts val="1700"/>
              <a:buFont typeface="Twentieth Century"/>
              <a:buChar char="•"/>
            </a:pPr>
            <a:r>
              <a:rPr lang="en" sz="1700">
                <a:solidFill>
                  <a:schemeClr val="dk1"/>
                </a:solidFill>
                <a:latin typeface="Twentieth Century"/>
                <a:ea typeface="Twentieth Century"/>
                <a:cs typeface="Twentieth Century"/>
                <a:sym typeface="Twentieth Century"/>
              </a:rPr>
              <a:t>Gracefully accept constructive criticism</a:t>
            </a:r>
            <a:endParaRPr sz="1700">
              <a:solidFill>
                <a:schemeClr val="dk1"/>
              </a:solidFill>
              <a:latin typeface="Twentieth Century"/>
              <a:ea typeface="Twentieth Century"/>
              <a:cs typeface="Twentieth Century"/>
              <a:sym typeface="Twentieth Century"/>
            </a:endParaRPr>
          </a:p>
          <a:p>
            <a:pPr indent="-336550" lvl="0" marL="457200" rtl="0" algn="l">
              <a:lnSpc>
                <a:spcPct val="150000"/>
              </a:lnSpc>
              <a:spcBef>
                <a:spcPts val="640"/>
              </a:spcBef>
              <a:spcAft>
                <a:spcPts val="0"/>
              </a:spcAft>
              <a:buClr>
                <a:schemeClr val="dk1"/>
              </a:buClr>
              <a:buSzPts val="1700"/>
              <a:buFont typeface="Twentieth Century"/>
              <a:buChar char="•"/>
            </a:pPr>
            <a:r>
              <a:rPr lang="en" sz="1700">
                <a:solidFill>
                  <a:schemeClr val="dk1"/>
                </a:solidFill>
                <a:latin typeface="Twentieth Century"/>
                <a:ea typeface="Twentieth Century"/>
                <a:cs typeface="Twentieth Century"/>
                <a:sym typeface="Twentieth Century"/>
              </a:rPr>
              <a:t>Focus on what is best for the community</a:t>
            </a:r>
            <a:endParaRPr sz="1700">
              <a:solidFill>
                <a:schemeClr val="dk1"/>
              </a:solidFill>
              <a:latin typeface="Twentieth Century"/>
              <a:ea typeface="Twentieth Century"/>
              <a:cs typeface="Twentieth Century"/>
              <a:sym typeface="Twentieth Century"/>
            </a:endParaRPr>
          </a:p>
          <a:p>
            <a:pPr indent="-336550" lvl="0" marL="457200" rtl="0" algn="l">
              <a:lnSpc>
                <a:spcPct val="150000"/>
              </a:lnSpc>
              <a:spcBef>
                <a:spcPts val="640"/>
              </a:spcBef>
              <a:spcAft>
                <a:spcPts val="0"/>
              </a:spcAft>
              <a:buClr>
                <a:schemeClr val="dk1"/>
              </a:buClr>
              <a:buSzPts val="1700"/>
              <a:buFont typeface="Twentieth Century"/>
              <a:buChar char="•"/>
            </a:pPr>
            <a:r>
              <a:rPr lang="en" sz="1700">
                <a:solidFill>
                  <a:schemeClr val="dk1"/>
                </a:solidFill>
                <a:latin typeface="Twentieth Century"/>
                <a:ea typeface="Twentieth Century"/>
                <a:cs typeface="Twentieth Century"/>
                <a:sym typeface="Twentieth Century"/>
              </a:rPr>
              <a:t>Show courtesy and respect towards other community members</a:t>
            </a:r>
            <a:br>
              <a:rPr lang="en" sz="1700">
                <a:solidFill>
                  <a:schemeClr val="dk1"/>
                </a:solidFill>
                <a:latin typeface="Twentieth Century"/>
                <a:ea typeface="Twentieth Century"/>
                <a:cs typeface="Twentieth Century"/>
                <a:sym typeface="Twentieth Century"/>
              </a:rPr>
            </a:br>
            <a:endParaRPr sz="1700">
              <a:solidFill>
                <a:schemeClr val="dk1"/>
              </a:solidFill>
              <a:latin typeface="Twentieth Century"/>
              <a:ea typeface="Twentieth Century"/>
              <a:cs typeface="Twentieth Century"/>
              <a:sym typeface="Twentieth Century"/>
            </a:endParaRPr>
          </a:p>
          <a:p>
            <a:pPr indent="0" lvl="0" marL="0" rtl="0" algn="l">
              <a:lnSpc>
                <a:spcPct val="150000"/>
              </a:lnSpc>
              <a:spcBef>
                <a:spcPts val="640"/>
              </a:spcBef>
              <a:spcAft>
                <a:spcPts val="0"/>
              </a:spcAft>
              <a:buSzPts val="1800"/>
              <a:buNone/>
            </a:pPr>
            <a:r>
              <a:rPr i="1" lang="en" sz="1700">
                <a:solidFill>
                  <a:schemeClr val="dk1"/>
                </a:solidFill>
                <a:latin typeface="Twentieth Century"/>
                <a:ea typeface="Twentieth Century"/>
                <a:cs typeface="Twentieth Century"/>
                <a:sym typeface="Twentieth Century"/>
              </a:rPr>
              <a:t>Contact any Instructor/Helper for assistance</a:t>
            </a:r>
            <a:endParaRPr i="1" sz="1700">
              <a:solidFill>
                <a:schemeClr val="dk1"/>
              </a:solidFill>
              <a:latin typeface="Twentieth Century"/>
              <a:ea typeface="Twentieth Century"/>
              <a:cs typeface="Twentieth Century"/>
              <a:sym typeface="Twentieth Century"/>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8"/>
          <p:cNvSpPr txBox="1"/>
          <p:nvPr>
            <p:ph type="title"/>
          </p:nvPr>
        </p:nvSpPr>
        <p:spPr>
          <a:xfrm>
            <a:off x="1163250" y="994900"/>
            <a:ext cx="6817500" cy="2911800"/>
          </a:xfrm>
          <a:prstGeom prst="rect">
            <a:avLst/>
          </a:prstGeom>
          <a:solidFill>
            <a:srgbClr val="B45F06"/>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b="1" lang="en" sz="4100">
                <a:solidFill>
                  <a:schemeClr val="lt1"/>
                </a:solidFill>
              </a:rPr>
              <a:t>Day 2</a:t>
            </a:r>
            <a:endParaRPr b="1" sz="4100">
              <a:solidFill>
                <a:schemeClr val="lt1"/>
              </a:solidFill>
            </a:endParaRPr>
          </a:p>
          <a:p>
            <a:pPr indent="0" lvl="0" marL="0" rtl="0" algn="ctr">
              <a:lnSpc>
                <a:spcPct val="100000"/>
              </a:lnSpc>
              <a:spcBef>
                <a:spcPts val="0"/>
              </a:spcBef>
              <a:spcAft>
                <a:spcPts val="0"/>
              </a:spcAft>
              <a:buSzPts val="3600"/>
              <a:buNone/>
            </a:pPr>
            <a:r>
              <a:t/>
            </a:r>
            <a:endParaRPr b="1" sz="4100">
              <a:solidFill>
                <a:schemeClr val="lt1"/>
              </a:solidFill>
            </a:endParaRPr>
          </a:p>
          <a:p>
            <a:pPr indent="0" lvl="0" marL="0" rtl="0" algn="ctr">
              <a:lnSpc>
                <a:spcPct val="100000"/>
              </a:lnSpc>
              <a:spcBef>
                <a:spcPts val="0"/>
              </a:spcBef>
              <a:spcAft>
                <a:spcPts val="0"/>
              </a:spcAft>
              <a:buSzPts val="3600"/>
              <a:buNone/>
            </a:pPr>
            <a:r>
              <a:rPr b="1" lang="en" sz="4100">
                <a:solidFill>
                  <a:schemeClr val="lt1"/>
                </a:solidFill>
              </a:rPr>
              <a:t>Intro to Python</a:t>
            </a:r>
            <a:endParaRPr b="1" sz="4100">
              <a:solidFill>
                <a:schemeClr val="l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9"/>
          <p:cNvSpPr txBox="1"/>
          <p:nvPr/>
        </p:nvSpPr>
        <p:spPr>
          <a:xfrm>
            <a:off x="382350" y="1300650"/>
            <a:ext cx="8370300" cy="3281100"/>
          </a:xfrm>
          <a:prstGeom prst="rect">
            <a:avLst/>
          </a:prstGeom>
          <a:solidFill>
            <a:srgbClr val="FFFFFF"/>
          </a:solidFill>
          <a:ln cap="flat" cmpd="sng" w="9525">
            <a:solidFill>
              <a:schemeClr val="dk1"/>
            </a:solidFill>
            <a:prstDash val="solid"/>
            <a:round/>
            <a:headEnd len="sm" w="sm" type="none"/>
            <a:tailEnd len="sm" w="sm" type="none"/>
          </a:ln>
          <a:effectLst>
            <a:outerShdw blurRad="101600" rotWithShape="0" algn="tl" dir="2700000" dist="50800">
              <a:srgbClr val="000000">
                <a:alpha val="66667"/>
              </a:srgbClr>
            </a:outerShdw>
          </a:effectLst>
        </p:spPr>
        <p:txBody>
          <a:bodyPr anchorCtr="0" anchor="t" bIns="34275" lIns="205725" spcFirstLastPara="1" rIns="68575" wrap="square" tIns="68575">
            <a:noAutofit/>
          </a:bodyPr>
          <a:lstStyle/>
          <a:p>
            <a:pPr indent="-260350" lvl="0" marL="342900" marR="0" rtl="0" algn="l">
              <a:lnSpc>
                <a:spcPct val="115000"/>
              </a:lnSpc>
              <a:spcBef>
                <a:spcPts val="2800"/>
              </a:spcBef>
              <a:spcAft>
                <a:spcPts val="0"/>
              </a:spcAft>
              <a:buClr>
                <a:schemeClr val="dk1"/>
              </a:buClr>
              <a:buSzPts val="1400"/>
              <a:buFont typeface="Twentieth Century"/>
              <a:buChar char="➔"/>
            </a:pPr>
            <a:r>
              <a:rPr b="0" i="0" lang="en" sz="1500" u="none" cap="none" strike="noStrike">
                <a:solidFill>
                  <a:schemeClr val="dk1"/>
                </a:solidFill>
                <a:latin typeface="Twentieth Century"/>
                <a:ea typeface="Twentieth Century"/>
                <a:cs typeface="Twentieth Century"/>
                <a:sym typeface="Twentieth Century"/>
              </a:rPr>
              <a:t>Introduce the fundamental knowledge required to help you get started using Python</a:t>
            </a:r>
            <a:endParaRPr b="0" i="0" sz="1500" u="none" cap="none" strike="noStrike">
              <a:solidFill>
                <a:schemeClr val="dk1"/>
              </a:solidFill>
              <a:latin typeface="Twentieth Century"/>
              <a:ea typeface="Twentieth Century"/>
              <a:cs typeface="Twentieth Century"/>
              <a:sym typeface="Twentieth Century"/>
            </a:endParaRPr>
          </a:p>
          <a:p>
            <a:pPr indent="-260350" lvl="0" marL="342900" marR="0" rtl="0" algn="l">
              <a:lnSpc>
                <a:spcPct val="115000"/>
              </a:lnSpc>
              <a:spcBef>
                <a:spcPts val="2800"/>
              </a:spcBef>
              <a:spcAft>
                <a:spcPts val="0"/>
              </a:spcAft>
              <a:buClr>
                <a:schemeClr val="dk1"/>
              </a:buClr>
              <a:buSzPts val="1400"/>
              <a:buFont typeface="Twentieth Century"/>
              <a:buChar char="➔"/>
            </a:pPr>
            <a:r>
              <a:rPr b="0" i="0" lang="en" sz="1500" u="none" cap="none" strike="noStrike">
                <a:solidFill>
                  <a:schemeClr val="dk1"/>
                </a:solidFill>
                <a:latin typeface="Twentieth Century"/>
                <a:ea typeface="Twentieth Century"/>
                <a:cs typeface="Twentieth Century"/>
                <a:sym typeface="Twentieth Century"/>
              </a:rPr>
              <a:t>Provide information about related resources you can use to learn more about Python moving forward</a:t>
            </a:r>
            <a:endParaRPr b="0" i="0" sz="1500" u="none" cap="none" strike="noStrike">
              <a:solidFill>
                <a:schemeClr val="dk1"/>
              </a:solidFill>
              <a:latin typeface="Twentieth Century"/>
              <a:ea typeface="Twentieth Century"/>
              <a:cs typeface="Twentieth Century"/>
              <a:sym typeface="Twentieth Century"/>
            </a:endParaRPr>
          </a:p>
          <a:p>
            <a:pPr indent="-260350" lvl="0" marL="342900" marR="0" rtl="0" algn="l">
              <a:lnSpc>
                <a:spcPct val="115000"/>
              </a:lnSpc>
              <a:spcBef>
                <a:spcPts val="2800"/>
              </a:spcBef>
              <a:spcAft>
                <a:spcPts val="0"/>
              </a:spcAft>
              <a:buClr>
                <a:schemeClr val="dk1"/>
              </a:buClr>
              <a:buSzPts val="1400"/>
              <a:buFont typeface="Twentieth Century"/>
              <a:buChar char="➔"/>
            </a:pPr>
            <a:r>
              <a:rPr b="0" i="0" lang="en" sz="1500" u="none" cap="none" strike="noStrike">
                <a:solidFill>
                  <a:schemeClr val="dk1"/>
                </a:solidFill>
                <a:latin typeface="Twentieth Century"/>
                <a:ea typeface="Twentieth Century"/>
                <a:cs typeface="Twentieth Century"/>
                <a:sym typeface="Twentieth Century"/>
              </a:rPr>
              <a:t>Showcase the benefits of using Python for reproducible research</a:t>
            </a:r>
            <a:endParaRPr b="0" i="0" sz="1500" u="none" cap="none" strike="noStrike">
              <a:solidFill>
                <a:schemeClr val="dk1"/>
              </a:solidFill>
              <a:latin typeface="Twentieth Century"/>
              <a:ea typeface="Twentieth Century"/>
              <a:cs typeface="Twentieth Century"/>
              <a:sym typeface="Twentieth Century"/>
            </a:endParaRPr>
          </a:p>
          <a:p>
            <a:pPr indent="0" lvl="0" marL="457200" marR="0" rtl="0" algn="l">
              <a:lnSpc>
                <a:spcPct val="115000"/>
              </a:lnSpc>
              <a:spcBef>
                <a:spcPts val="2800"/>
              </a:spcBef>
              <a:spcAft>
                <a:spcPts val="0"/>
              </a:spcAft>
              <a:buClr>
                <a:srgbClr val="000000"/>
              </a:buClr>
              <a:buSzPts val="100"/>
              <a:buFont typeface="Arial"/>
              <a:buNone/>
            </a:pPr>
            <a:r>
              <a:t/>
            </a:r>
            <a:endParaRPr b="0" i="0" sz="100" u="none" cap="none" strike="noStrike">
              <a:solidFill>
                <a:schemeClr val="dk1"/>
              </a:solidFill>
              <a:latin typeface="Twentieth Century"/>
              <a:ea typeface="Twentieth Century"/>
              <a:cs typeface="Twentieth Century"/>
              <a:sym typeface="Twentieth Century"/>
            </a:endParaRPr>
          </a:p>
          <a:p>
            <a:pPr indent="-260350" lvl="0" marL="342900" marR="0" rtl="0" algn="l">
              <a:lnSpc>
                <a:spcPct val="115000"/>
              </a:lnSpc>
              <a:spcBef>
                <a:spcPts val="0"/>
              </a:spcBef>
              <a:spcAft>
                <a:spcPts val="0"/>
              </a:spcAft>
              <a:buClr>
                <a:schemeClr val="dk1"/>
              </a:buClr>
              <a:buSzPts val="1400"/>
              <a:buFont typeface="Twentieth Century"/>
              <a:buChar char="➔"/>
            </a:pPr>
            <a:r>
              <a:rPr b="0" i="0" lang="en" sz="1500" u="none" cap="none" strike="noStrike">
                <a:solidFill>
                  <a:schemeClr val="dk1"/>
                </a:solidFill>
                <a:latin typeface="Twentieth Century"/>
                <a:ea typeface="Twentieth Century"/>
                <a:cs typeface="Twentieth Century"/>
                <a:sym typeface="Twentieth Century"/>
              </a:rPr>
              <a:t>Learn how to use Python without installing any software - this workshop will use </a:t>
            </a:r>
            <a:r>
              <a:rPr b="0" i="0" lang="en" sz="1500" u="sng" cap="none" strike="noStrike">
                <a:solidFill>
                  <a:schemeClr val="dk1"/>
                </a:solidFill>
                <a:latin typeface="Twentieth Century"/>
                <a:ea typeface="Twentieth Century"/>
                <a:cs typeface="Twentieth Century"/>
                <a:sym typeface="Twentieth Century"/>
                <a:hlinkClick r:id="rId3">
                  <a:extLst>
                    <a:ext uri="{A12FA001-AC4F-418D-AE19-62706E023703}">
                      <ahyp:hlinkClr val="tx"/>
                    </a:ext>
                  </a:extLst>
                </a:hlinkClick>
              </a:rPr>
              <a:t>Google Colab</a:t>
            </a:r>
            <a:endParaRPr b="0" i="0" sz="1500" u="none" cap="none" strike="noStrike">
              <a:solidFill>
                <a:schemeClr val="dk1"/>
              </a:solidFill>
              <a:latin typeface="Twentieth Century"/>
              <a:ea typeface="Twentieth Century"/>
              <a:cs typeface="Twentieth Century"/>
              <a:sym typeface="Twentieth Century"/>
            </a:endParaRPr>
          </a:p>
          <a:p>
            <a:pPr indent="-323850" lvl="1" marL="914400" marR="0" rtl="0" algn="l">
              <a:lnSpc>
                <a:spcPct val="115000"/>
              </a:lnSpc>
              <a:spcBef>
                <a:spcPts val="0"/>
              </a:spcBef>
              <a:spcAft>
                <a:spcPts val="0"/>
              </a:spcAft>
              <a:buClr>
                <a:schemeClr val="dk1"/>
              </a:buClr>
              <a:buSzPts val="1500"/>
              <a:buFont typeface="Twentieth Century"/>
              <a:buChar char="◆"/>
            </a:pPr>
            <a:r>
              <a:rPr b="0" i="0" lang="en" sz="1500" u="none" cap="none" strike="noStrike">
                <a:solidFill>
                  <a:schemeClr val="dk1"/>
                </a:solidFill>
                <a:latin typeface="Twentieth Century"/>
                <a:ea typeface="Twentieth Century"/>
                <a:cs typeface="Twentieth Century"/>
                <a:sym typeface="Twentieth Century"/>
              </a:rPr>
              <a:t>We will focus on using a local Python installation during tomorrow’s session</a:t>
            </a:r>
            <a:endParaRPr b="0" i="0" sz="1500" u="none" cap="none" strike="noStrike">
              <a:solidFill>
                <a:schemeClr val="dk1"/>
              </a:solidFill>
              <a:latin typeface="Twentieth Century"/>
              <a:ea typeface="Twentieth Century"/>
              <a:cs typeface="Twentieth Century"/>
              <a:sym typeface="Twentieth Century"/>
            </a:endParaRPr>
          </a:p>
        </p:txBody>
      </p:sp>
      <p:sp>
        <p:nvSpPr>
          <p:cNvPr id="169" name="Google Shape;169;p9"/>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196"/>
              </a:srgbClr>
            </a:outerShdw>
          </a:effectLst>
        </p:spPr>
        <p:txBody>
          <a:bodyPr anchorCtr="0" anchor="ctr" bIns="34275" lIns="68575" spcFirstLastPara="1" rIns="68575" wrap="square" tIns="34275">
            <a:norm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Goals for the Intro to Python Section of the Workshop</a:t>
            </a:r>
            <a:endParaRPr b="1" sz="2500">
              <a:solidFill>
                <a:schemeClr val="lt1"/>
              </a:solidFill>
              <a:latin typeface="Twentieth Century"/>
              <a:ea typeface="Twentieth Century"/>
              <a:cs typeface="Twentieth Century"/>
              <a:sym typeface="Twentieth Century"/>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0"/>
          <p:cNvSpPr txBox="1"/>
          <p:nvPr/>
        </p:nvSpPr>
        <p:spPr>
          <a:xfrm>
            <a:off x="382350" y="941600"/>
            <a:ext cx="8370300" cy="4023900"/>
          </a:xfrm>
          <a:prstGeom prst="rect">
            <a:avLst/>
          </a:prstGeom>
          <a:solidFill>
            <a:srgbClr val="FFFFFF"/>
          </a:solidFill>
          <a:ln cap="flat" cmpd="sng" w="9525">
            <a:solidFill>
              <a:schemeClr val="dk1"/>
            </a:solidFill>
            <a:prstDash val="solid"/>
            <a:round/>
            <a:headEnd len="sm" w="sm" type="none"/>
            <a:tailEnd len="sm" w="sm" type="none"/>
          </a:ln>
          <a:effectLst>
            <a:outerShdw blurRad="101600" rotWithShape="0" algn="tl" dir="2700000" dist="50800">
              <a:srgbClr val="000000">
                <a:alpha val="66667"/>
              </a:srgbClr>
            </a:outerShdw>
          </a:effectLst>
        </p:spPr>
        <p:txBody>
          <a:bodyPr anchorCtr="0" anchor="t" bIns="34275" lIns="205725" spcFirstLastPara="1" rIns="68575" wrap="square" tIns="68575">
            <a:noAutofit/>
          </a:bodyPr>
          <a:lstStyle/>
          <a:p>
            <a:pPr indent="-260350" lvl="0" marL="342900" marR="0" rtl="0" algn="l">
              <a:lnSpc>
                <a:spcPct val="115000"/>
              </a:lnSpc>
              <a:spcBef>
                <a:spcPts val="1000"/>
              </a:spcBef>
              <a:spcAft>
                <a:spcPts val="0"/>
              </a:spcAft>
              <a:buClr>
                <a:schemeClr val="dk1"/>
              </a:buClr>
              <a:buSzPts val="1400"/>
              <a:buFont typeface="Twentieth Century"/>
              <a:buChar char="➔"/>
            </a:pPr>
            <a:r>
              <a:rPr b="0" i="0" lang="en" sz="1500" u="none" cap="none" strike="noStrike">
                <a:solidFill>
                  <a:schemeClr val="dk1"/>
                </a:solidFill>
                <a:latin typeface="Twentieth Century"/>
                <a:ea typeface="Twentieth Century"/>
                <a:cs typeface="Twentieth Century"/>
                <a:sym typeface="Twentieth Century"/>
              </a:rPr>
              <a:t>Scaling data retrieval</a:t>
            </a:r>
            <a:endParaRPr b="0" i="0" sz="1500" u="none" cap="none" strike="noStrike">
              <a:solidFill>
                <a:schemeClr val="dk1"/>
              </a:solidFill>
              <a:latin typeface="Twentieth Century"/>
              <a:ea typeface="Twentieth Century"/>
              <a:cs typeface="Twentieth Century"/>
              <a:sym typeface="Twentieth Century"/>
            </a:endParaRPr>
          </a:p>
          <a:p>
            <a:pPr indent="-323850" lvl="1" marL="914400" marR="0" rtl="0" algn="l">
              <a:lnSpc>
                <a:spcPct val="115000"/>
              </a:lnSpc>
              <a:spcBef>
                <a:spcPts val="1000"/>
              </a:spcBef>
              <a:spcAft>
                <a:spcPts val="0"/>
              </a:spcAft>
              <a:buClr>
                <a:schemeClr val="dk1"/>
              </a:buClr>
              <a:buSzPts val="1500"/>
              <a:buFont typeface="Twentieth Century"/>
              <a:buChar char="◆"/>
            </a:pPr>
            <a:r>
              <a:rPr b="0" i="0" lang="en" sz="1500" u="none" cap="none" strike="noStrike">
                <a:solidFill>
                  <a:schemeClr val="dk1"/>
                </a:solidFill>
                <a:latin typeface="Twentieth Century"/>
                <a:ea typeface="Twentieth Century"/>
                <a:cs typeface="Twentieth Century"/>
                <a:sym typeface="Twentieth Century"/>
              </a:rPr>
              <a:t>Example: APIs vs. web-interface retrieval</a:t>
            </a:r>
            <a:endParaRPr b="0" i="0" sz="1500" u="none" cap="none" strike="noStrike">
              <a:solidFill>
                <a:schemeClr val="dk1"/>
              </a:solidFill>
              <a:latin typeface="Twentieth Century"/>
              <a:ea typeface="Twentieth Century"/>
              <a:cs typeface="Twentieth Century"/>
              <a:sym typeface="Twentieth Century"/>
            </a:endParaRPr>
          </a:p>
          <a:p>
            <a:pPr indent="-266700" lvl="0" marL="342900" marR="0" rtl="0" algn="l">
              <a:lnSpc>
                <a:spcPct val="115000"/>
              </a:lnSpc>
              <a:spcBef>
                <a:spcPts val="1000"/>
              </a:spcBef>
              <a:spcAft>
                <a:spcPts val="0"/>
              </a:spcAft>
              <a:buClr>
                <a:schemeClr val="dk1"/>
              </a:buClr>
              <a:buSzPts val="1500"/>
              <a:buFont typeface="Twentieth Century"/>
              <a:buChar char="➔"/>
            </a:pPr>
            <a:r>
              <a:rPr b="0" i="0" lang="en" sz="1500" u="none" cap="none" strike="noStrike">
                <a:solidFill>
                  <a:schemeClr val="dk1"/>
                </a:solidFill>
                <a:latin typeface="Twentieth Century"/>
                <a:ea typeface="Twentieth Century"/>
                <a:cs typeface="Twentieth Century"/>
                <a:sym typeface="Twentieth Century"/>
              </a:rPr>
              <a:t>Scaling data management tasks</a:t>
            </a:r>
            <a:endParaRPr b="0" i="0" sz="1500" u="none" cap="none" strike="noStrike">
              <a:solidFill>
                <a:schemeClr val="dk1"/>
              </a:solidFill>
              <a:latin typeface="Twentieth Century"/>
              <a:ea typeface="Twentieth Century"/>
              <a:cs typeface="Twentieth Century"/>
              <a:sym typeface="Twentieth Century"/>
            </a:endParaRPr>
          </a:p>
          <a:p>
            <a:pPr indent="-323850" lvl="1" marL="914400" marR="0" rtl="0" algn="l">
              <a:lnSpc>
                <a:spcPct val="115000"/>
              </a:lnSpc>
              <a:spcBef>
                <a:spcPts val="1000"/>
              </a:spcBef>
              <a:spcAft>
                <a:spcPts val="0"/>
              </a:spcAft>
              <a:buClr>
                <a:schemeClr val="dk1"/>
              </a:buClr>
              <a:buSzPts val="1500"/>
              <a:buFont typeface="Twentieth Century"/>
              <a:buChar char="◆"/>
            </a:pPr>
            <a:r>
              <a:rPr b="0" i="0" lang="en" sz="1500" u="none" cap="none" strike="noStrike">
                <a:solidFill>
                  <a:schemeClr val="dk1"/>
                </a:solidFill>
                <a:latin typeface="Twentieth Century"/>
                <a:ea typeface="Twentieth Century"/>
                <a:cs typeface="Twentieth Century"/>
                <a:sym typeface="Twentieth Century"/>
              </a:rPr>
              <a:t>Example: batch renaming thousands of files; indexing a compressed archive</a:t>
            </a:r>
            <a:endParaRPr b="0" i="0" sz="1500" u="none" cap="none" strike="noStrike">
              <a:solidFill>
                <a:schemeClr val="dk1"/>
              </a:solidFill>
              <a:latin typeface="Twentieth Century"/>
              <a:ea typeface="Twentieth Century"/>
              <a:cs typeface="Twentieth Century"/>
              <a:sym typeface="Twentieth Century"/>
            </a:endParaRPr>
          </a:p>
          <a:p>
            <a:pPr indent="-266700" lvl="0" marL="342900" marR="0" rtl="0" algn="l">
              <a:lnSpc>
                <a:spcPct val="115000"/>
              </a:lnSpc>
              <a:spcBef>
                <a:spcPts val="1000"/>
              </a:spcBef>
              <a:spcAft>
                <a:spcPts val="0"/>
              </a:spcAft>
              <a:buClr>
                <a:schemeClr val="dk1"/>
              </a:buClr>
              <a:buSzPts val="1500"/>
              <a:buFont typeface="Twentieth Century"/>
              <a:buChar char="➔"/>
            </a:pPr>
            <a:r>
              <a:rPr b="0" i="0" lang="en" sz="1500" u="none" cap="none" strike="noStrike">
                <a:solidFill>
                  <a:schemeClr val="dk1"/>
                </a:solidFill>
                <a:latin typeface="Twentieth Century"/>
                <a:ea typeface="Twentieth Century"/>
                <a:cs typeface="Twentieth Century"/>
                <a:sym typeface="Twentieth Century"/>
              </a:rPr>
              <a:t>Handling large data files</a:t>
            </a:r>
            <a:endParaRPr b="0" i="0" sz="1500" u="none" cap="none" strike="noStrike">
              <a:solidFill>
                <a:schemeClr val="dk1"/>
              </a:solidFill>
              <a:latin typeface="Twentieth Century"/>
              <a:ea typeface="Twentieth Century"/>
              <a:cs typeface="Twentieth Century"/>
              <a:sym typeface="Twentieth Century"/>
            </a:endParaRPr>
          </a:p>
          <a:p>
            <a:pPr indent="-323850" lvl="1" marL="914400" marR="0" rtl="0" algn="l">
              <a:lnSpc>
                <a:spcPct val="115000"/>
              </a:lnSpc>
              <a:spcBef>
                <a:spcPts val="1000"/>
              </a:spcBef>
              <a:spcAft>
                <a:spcPts val="0"/>
              </a:spcAft>
              <a:buClr>
                <a:schemeClr val="dk1"/>
              </a:buClr>
              <a:buSzPts val="1500"/>
              <a:buFont typeface="Twentieth Century"/>
              <a:buChar char="◆"/>
            </a:pPr>
            <a:r>
              <a:rPr b="0" i="0" lang="en" sz="1500" u="none" cap="none" strike="noStrike">
                <a:solidFill>
                  <a:schemeClr val="dk1"/>
                </a:solidFill>
                <a:latin typeface="Twentieth Century"/>
                <a:ea typeface="Twentieth Century"/>
                <a:cs typeface="Twentieth Century"/>
                <a:sym typeface="Twentieth Century"/>
              </a:rPr>
              <a:t>Example: 200 MB CSV file</a:t>
            </a:r>
            <a:endParaRPr b="0" i="0" sz="1500" u="none" cap="none" strike="noStrike">
              <a:solidFill>
                <a:schemeClr val="dk1"/>
              </a:solidFill>
              <a:latin typeface="Twentieth Century"/>
              <a:ea typeface="Twentieth Century"/>
              <a:cs typeface="Twentieth Century"/>
              <a:sym typeface="Twentieth Century"/>
            </a:endParaRPr>
          </a:p>
          <a:p>
            <a:pPr indent="-266700" lvl="0" marL="342900" marR="0" rtl="0" algn="l">
              <a:lnSpc>
                <a:spcPct val="115000"/>
              </a:lnSpc>
              <a:spcBef>
                <a:spcPts val="1000"/>
              </a:spcBef>
              <a:spcAft>
                <a:spcPts val="0"/>
              </a:spcAft>
              <a:buClr>
                <a:schemeClr val="dk1"/>
              </a:buClr>
              <a:buSzPts val="1500"/>
              <a:buFont typeface="Twentieth Century"/>
              <a:buChar char="➔"/>
            </a:pPr>
            <a:r>
              <a:rPr b="0" i="0" lang="en" sz="1500" u="none" cap="none" strike="noStrike">
                <a:solidFill>
                  <a:schemeClr val="dk1"/>
                </a:solidFill>
                <a:latin typeface="Twentieth Century"/>
                <a:ea typeface="Twentieth Century"/>
                <a:cs typeface="Twentieth Century"/>
                <a:sym typeface="Twentieth Century"/>
              </a:rPr>
              <a:t>Ensuring reproducibility</a:t>
            </a:r>
            <a:endParaRPr b="0" i="0" sz="1500" u="none" cap="none" strike="noStrike">
              <a:solidFill>
                <a:schemeClr val="dk1"/>
              </a:solidFill>
              <a:latin typeface="Twentieth Century"/>
              <a:ea typeface="Twentieth Century"/>
              <a:cs typeface="Twentieth Century"/>
              <a:sym typeface="Twentieth Century"/>
            </a:endParaRPr>
          </a:p>
          <a:p>
            <a:pPr indent="-323850" lvl="1" marL="914400" marR="0" rtl="0" algn="l">
              <a:lnSpc>
                <a:spcPct val="115000"/>
              </a:lnSpc>
              <a:spcBef>
                <a:spcPts val="1000"/>
              </a:spcBef>
              <a:spcAft>
                <a:spcPts val="0"/>
              </a:spcAft>
              <a:buClr>
                <a:schemeClr val="dk1"/>
              </a:buClr>
              <a:buSzPts val="1500"/>
              <a:buFont typeface="Twentieth Century"/>
              <a:buChar char="◆"/>
            </a:pPr>
            <a:r>
              <a:rPr b="0" i="0" lang="en" sz="1500" u="none" cap="none" strike="noStrike">
                <a:solidFill>
                  <a:schemeClr val="dk1"/>
                </a:solidFill>
                <a:latin typeface="Twentieth Century"/>
                <a:ea typeface="Twentieth Century"/>
                <a:cs typeface="Twentieth Century"/>
                <a:sym typeface="Twentieth Century"/>
              </a:rPr>
              <a:t>All steps in a process are preserved in code</a:t>
            </a:r>
            <a:endParaRPr b="0" i="0" sz="1500" u="none" cap="none" strike="noStrike">
              <a:solidFill>
                <a:schemeClr val="dk1"/>
              </a:solidFill>
              <a:latin typeface="Twentieth Century"/>
              <a:ea typeface="Twentieth Century"/>
              <a:cs typeface="Twentieth Century"/>
              <a:sym typeface="Twentieth Century"/>
            </a:endParaRPr>
          </a:p>
          <a:p>
            <a:pPr indent="-266700" lvl="0" marL="342900" marR="0" rtl="0" algn="l">
              <a:lnSpc>
                <a:spcPct val="115000"/>
              </a:lnSpc>
              <a:spcBef>
                <a:spcPts val="1000"/>
              </a:spcBef>
              <a:spcAft>
                <a:spcPts val="0"/>
              </a:spcAft>
              <a:buClr>
                <a:schemeClr val="dk1"/>
              </a:buClr>
              <a:buSzPts val="1500"/>
              <a:buFont typeface="Twentieth Century"/>
              <a:buChar char="➔"/>
            </a:pPr>
            <a:r>
              <a:rPr b="0" i="0" lang="en" sz="1500" u="none" cap="none" strike="noStrike">
                <a:solidFill>
                  <a:schemeClr val="dk1"/>
                </a:solidFill>
                <a:latin typeface="Twentieth Century"/>
                <a:ea typeface="Twentieth Century"/>
                <a:cs typeface="Twentieth Century"/>
                <a:sym typeface="Twentieth Century"/>
              </a:rPr>
              <a:t>Automating recurring processes</a:t>
            </a:r>
            <a:endParaRPr b="0" i="0" sz="1500" u="none" cap="none" strike="noStrike">
              <a:solidFill>
                <a:schemeClr val="dk1"/>
              </a:solidFill>
              <a:latin typeface="Twentieth Century"/>
              <a:ea typeface="Twentieth Century"/>
              <a:cs typeface="Twentieth Century"/>
              <a:sym typeface="Twentieth Century"/>
            </a:endParaRPr>
          </a:p>
          <a:p>
            <a:pPr indent="-323850" lvl="1" marL="914400" marR="0" rtl="0" algn="l">
              <a:lnSpc>
                <a:spcPct val="115000"/>
              </a:lnSpc>
              <a:spcBef>
                <a:spcPts val="1000"/>
              </a:spcBef>
              <a:spcAft>
                <a:spcPts val="0"/>
              </a:spcAft>
              <a:buClr>
                <a:schemeClr val="dk1"/>
              </a:buClr>
              <a:buSzPts val="1500"/>
              <a:buFont typeface="Twentieth Century"/>
              <a:buChar char="◆"/>
            </a:pPr>
            <a:r>
              <a:rPr b="0" i="0" lang="en" sz="1500" u="none" cap="none" strike="noStrike">
                <a:solidFill>
                  <a:schemeClr val="dk1"/>
                </a:solidFill>
                <a:latin typeface="Twentieth Century"/>
                <a:ea typeface="Twentieth Century"/>
                <a:cs typeface="Twentieth Century"/>
                <a:sym typeface="Twentieth Century"/>
              </a:rPr>
              <a:t>Example: scheduling weekly back-up; producing graphical summaries</a:t>
            </a:r>
            <a:endParaRPr b="0" i="0" sz="1500" u="none" cap="none" strike="noStrike">
              <a:solidFill>
                <a:schemeClr val="dk1"/>
              </a:solidFill>
              <a:latin typeface="Twentieth Century"/>
              <a:ea typeface="Twentieth Century"/>
              <a:cs typeface="Twentieth Century"/>
              <a:sym typeface="Twentieth Century"/>
            </a:endParaRPr>
          </a:p>
          <a:p>
            <a:pPr indent="0" lvl="0" marL="0" marR="0" rtl="0" algn="l">
              <a:lnSpc>
                <a:spcPct val="115000"/>
              </a:lnSpc>
              <a:spcBef>
                <a:spcPts val="1000"/>
              </a:spcBef>
              <a:spcAft>
                <a:spcPts val="0"/>
              </a:spcAft>
              <a:buClr>
                <a:srgbClr val="000000"/>
              </a:buClr>
              <a:buSzPts val="1500"/>
              <a:buFont typeface="Arial"/>
              <a:buNone/>
            </a:pPr>
            <a:r>
              <a:t/>
            </a:r>
            <a:endParaRPr b="0" i="0" sz="1500" u="none" cap="none" strike="noStrike">
              <a:solidFill>
                <a:schemeClr val="dk1"/>
              </a:solidFill>
              <a:latin typeface="Twentieth Century"/>
              <a:ea typeface="Twentieth Century"/>
              <a:cs typeface="Twentieth Century"/>
              <a:sym typeface="Twentieth Century"/>
            </a:endParaRPr>
          </a:p>
        </p:txBody>
      </p:sp>
      <p:sp>
        <p:nvSpPr>
          <p:cNvPr id="175" name="Google Shape;175;p10"/>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196"/>
              </a:srgbClr>
            </a:outerShdw>
          </a:effectLst>
        </p:spPr>
        <p:txBody>
          <a:bodyPr anchorCtr="0" anchor="ctr" bIns="34275" lIns="68575" spcFirstLastPara="1" rIns="68575" wrap="square" tIns="34275">
            <a:norm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Benefits of Using Scripted Approaches</a:t>
            </a:r>
            <a:endParaRPr b="1" sz="2500">
              <a:solidFill>
                <a:schemeClr val="lt1"/>
              </a:solidFill>
              <a:latin typeface="Twentieth Century"/>
              <a:ea typeface="Twentieth Century"/>
              <a:cs typeface="Twentieth Century"/>
              <a:sym typeface="Twentieth Century"/>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1"/>
          <p:cNvSpPr txBox="1"/>
          <p:nvPr>
            <p:ph idx="1" type="body"/>
          </p:nvPr>
        </p:nvSpPr>
        <p:spPr>
          <a:xfrm>
            <a:off x="510000" y="1252600"/>
            <a:ext cx="8115000" cy="3362400"/>
          </a:xfrm>
          <a:prstGeom prst="rect">
            <a:avLst/>
          </a:prstGeom>
          <a:solidFill>
            <a:schemeClr val="lt1"/>
          </a:solidFill>
          <a:ln cap="flat" cmpd="sng" w="9525">
            <a:solidFill>
              <a:srgbClr val="000000"/>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t" bIns="137150" lIns="137150" spcFirstLastPara="1" rIns="137150" wrap="square" tIns="137150">
            <a:normAutofit/>
          </a:bodyPr>
          <a:lstStyle/>
          <a:p>
            <a:pPr indent="-177800" lvl="0" marL="177800" rtl="0" algn="l">
              <a:lnSpc>
                <a:spcPct val="300000"/>
              </a:lnSpc>
              <a:spcBef>
                <a:spcPts val="0"/>
              </a:spcBef>
              <a:spcAft>
                <a:spcPts val="0"/>
              </a:spcAft>
              <a:buSzPts val="1400"/>
              <a:buFont typeface="Twentieth Century"/>
              <a:buChar char="●"/>
            </a:pPr>
            <a:r>
              <a:rPr lang="en" sz="1500">
                <a:solidFill>
                  <a:schemeClr val="dk1"/>
                </a:solidFill>
                <a:latin typeface="Twentieth Century"/>
                <a:ea typeface="Twentieth Century"/>
                <a:cs typeface="Twentieth Century"/>
                <a:sym typeface="Twentieth Century"/>
              </a:rPr>
              <a:t>Open source, interpreted programming language</a:t>
            </a:r>
            <a:endParaRPr sz="1100">
              <a:solidFill>
                <a:schemeClr val="dk1"/>
              </a:solidFill>
            </a:endParaRPr>
          </a:p>
          <a:p>
            <a:pPr indent="-177800" lvl="0" marL="177800" rtl="0" algn="l">
              <a:lnSpc>
                <a:spcPct val="300000"/>
              </a:lnSpc>
              <a:spcBef>
                <a:spcPts val="0"/>
              </a:spcBef>
              <a:spcAft>
                <a:spcPts val="0"/>
              </a:spcAft>
              <a:buSzPts val="1400"/>
              <a:buFont typeface="Twentieth Century"/>
              <a:buChar char="●"/>
            </a:pPr>
            <a:r>
              <a:rPr lang="en" sz="1500">
                <a:solidFill>
                  <a:schemeClr val="dk1"/>
                </a:solidFill>
                <a:latin typeface="Twentieth Century"/>
                <a:ea typeface="Twentieth Century"/>
                <a:cs typeface="Twentieth Century"/>
                <a:sym typeface="Twentieth Century"/>
              </a:rPr>
              <a:t>Cross platform compatible (Windows, MacOS, &amp; Linux)</a:t>
            </a:r>
            <a:endParaRPr sz="1500">
              <a:solidFill>
                <a:schemeClr val="dk1"/>
              </a:solidFill>
              <a:latin typeface="Twentieth Century"/>
              <a:ea typeface="Twentieth Century"/>
              <a:cs typeface="Twentieth Century"/>
              <a:sym typeface="Twentieth Century"/>
            </a:endParaRPr>
          </a:p>
          <a:p>
            <a:pPr indent="-177800" lvl="0" marL="177800" rtl="0" algn="l">
              <a:lnSpc>
                <a:spcPct val="300000"/>
              </a:lnSpc>
              <a:spcBef>
                <a:spcPts val="0"/>
              </a:spcBef>
              <a:spcAft>
                <a:spcPts val="0"/>
              </a:spcAft>
              <a:buSzPts val="1400"/>
              <a:buFont typeface="Twentieth Century"/>
              <a:buChar char="●"/>
            </a:pPr>
            <a:r>
              <a:rPr lang="en" sz="1500">
                <a:solidFill>
                  <a:schemeClr val="dk1"/>
                </a:solidFill>
                <a:latin typeface="Twentieth Century"/>
                <a:ea typeface="Twentieth Century"/>
                <a:cs typeface="Twentieth Century"/>
                <a:sym typeface="Twentieth Century"/>
              </a:rPr>
              <a:t>Large ecosystem of open source packages</a:t>
            </a:r>
            <a:endParaRPr sz="1100">
              <a:solidFill>
                <a:schemeClr val="dk1"/>
              </a:solidFill>
            </a:endParaRPr>
          </a:p>
          <a:p>
            <a:pPr indent="-177800" lvl="0" marL="177800" rtl="0" algn="l">
              <a:lnSpc>
                <a:spcPct val="300000"/>
              </a:lnSpc>
              <a:spcBef>
                <a:spcPts val="0"/>
              </a:spcBef>
              <a:spcAft>
                <a:spcPts val="0"/>
              </a:spcAft>
              <a:buSzPts val="1400"/>
              <a:buFont typeface="Twentieth Century"/>
              <a:buChar char="●"/>
            </a:pPr>
            <a:r>
              <a:rPr lang="en" sz="1500">
                <a:solidFill>
                  <a:schemeClr val="dk1"/>
                </a:solidFill>
                <a:latin typeface="Twentieth Century"/>
                <a:ea typeface="Twentieth Century"/>
                <a:cs typeface="Twentieth Century"/>
                <a:sym typeface="Twentieth Century"/>
              </a:rPr>
              <a:t>Can be used for file management, analyzing data, editing data, visualizing data, and more!</a:t>
            </a:r>
            <a:endParaRPr sz="1500">
              <a:solidFill>
                <a:schemeClr val="dk1"/>
              </a:solidFill>
              <a:latin typeface="Twentieth Century"/>
              <a:ea typeface="Twentieth Century"/>
              <a:cs typeface="Twentieth Century"/>
              <a:sym typeface="Twentieth Century"/>
            </a:endParaRPr>
          </a:p>
          <a:p>
            <a:pPr indent="-177800" lvl="0" marL="177800" rtl="0" algn="l">
              <a:lnSpc>
                <a:spcPct val="300000"/>
              </a:lnSpc>
              <a:spcBef>
                <a:spcPts val="0"/>
              </a:spcBef>
              <a:spcAft>
                <a:spcPts val="1200"/>
              </a:spcAft>
              <a:buSzPts val="1400"/>
              <a:buFont typeface="Twentieth Century"/>
              <a:buChar char="●"/>
            </a:pPr>
            <a:r>
              <a:rPr lang="en" sz="1500">
                <a:solidFill>
                  <a:schemeClr val="dk1"/>
                </a:solidFill>
                <a:latin typeface="Twentieth Century"/>
                <a:ea typeface="Twentieth Century"/>
                <a:cs typeface="Twentieth Century"/>
                <a:sym typeface="Twentieth Century"/>
              </a:rPr>
              <a:t>Extensive use in a variety of fields and non-academic settings</a:t>
            </a:r>
            <a:endParaRPr sz="1500">
              <a:solidFill>
                <a:schemeClr val="dk1"/>
              </a:solidFill>
              <a:latin typeface="Twentieth Century"/>
              <a:ea typeface="Twentieth Century"/>
              <a:cs typeface="Twentieth Century"/>
              <a:sym typeface="Twentieth Century"/>
            </a:endParaRPr>
          </a:p>
        </p:txBody>
      </p:sp>
      <p:pic>
        <p:nvPicPr>
          <p:cNvPr id="182" name="Google Shape;182;p11"/>
          <p:cNvPicPr preferRelativeResize="0"/>
          <p:nvPr/>
        </p:nvPicPr>
        <p:blipFill rotWithShape="1">
          <a:blip r:embed="rId3">
            <a:alphaModFix/>
          </a:blip>
          <a:srcRect b="0" l="0" r="0" t="0"/>
          <a:stretch/>
        </p:blipFill>
        <p:spPr>
          <a:xfrm>
            <a:off x="7505575" y="1341473"/>
            <a:ext cx="1015950" cy="1015925"/>
          </a:xfrm>
          <a:prstGeom prst="rect">
            <a:avLst/>
          </a:prstGeom>
          <a:noFill/>
          <a:ln>
            <a:noFill/>
          </a:ln>
        </p:spPr>
      </p:pic>
      <p:sp>
        <p:nvSpPr>
          <p:cNvPr id="183" name="Google Shape;183;p11"/>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196"/>
              </a:srgbClr>
            </a:outerShdw>
          </a:effectLst>
        </p:spPr>
        <p:txBody>
          <a:bodyPr anchorCtr="0" anchor="ctr" bIns="34275" lIns="68575" spcFirstLastPara="1" rIns="68575" wrap="square" tIns="34275">
            <a:norm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What is Python?</a:t>
            </a:r>
            <a:endParaRPr b="1" sz="2500">
              <a:solidFill>
                <a:schemeClr val="lt1"/>
              </a:solidFill>
              <a:latin typeface="Twentieth Century"/>
              <a:ea typeface="Twentieth Century"/>
              <a:cs typeface="Twentieth Century"/>
              <a:sym typeface="Twentieth Century"/>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pic>
        <p:nvPicPr>
          <p:cNvPr id="189" name="Google Shape;189;p12"/>
          <p:cNvPicPr preferRelativeResize="0"/>
          <p:nvPr/>
        </p:nvPicPr>
        <p:blipFill rotWithShape="1">
          <a:blip r:embed="rId3">
            <a:alphaModFix/>
          </a:blip>
          <a:srcRect b="0" l="0" r="0" t="0"/>
          <a:stretch/>
        </p:blipFill>
        <p:spPr>
          <a:xfrm>
            <a:off x="7033250" y="1008749"/>
            <a:ext cx="691600" cy="691575"/>
          </a:xfrm>
          <a:prstGeom prst="rect">
            <a:avLst/>
          </a:prstGeom>
          <a:noFill/>
          <a:ln>
            <a:noFill/>
          </a:ln>
        </p:spPr>
      </p:pic>
      <p:sp>
        <p:nvSpPr>
          <p:cNvPr id="190" name="Google Shape;190;p12"/>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196"/>
              </a:srgbClr>
            </a:outerShdw>
          </a:effectLst>
        </p:spPr>
        <p:txBody>
          <a:bodyPr anchorCtr="0" anchor="ctr" bIns="34275" lIns="68575" spcFirstLastPara="1" rIns="68575" wrap="square" tIns="34275">
            <a:norm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Python and Other Programming Languages</a:t>
            </a:r>
            <a:endParaRPr b="1" sz="2500">
              <a:solidFill>
                <a:schemeClr val="lt1"/>
              </a:solidFill>
              <a:latin typeface="Twentieth Century"/>
              <a:ea typeface="Twentieth Century"/>
              <a:cs typeface="Twentieth Century"/>
              <a:sym typeface="Twentieth Century"/>
            </a:endParaRPr>
          </a:p>
        </p:txBody>
      </p:sp>
      <p:grpSp>
        <p:nvGrpSpPr>
          <p:cNvPr id="191" name="Google Shape;191;p12"/>
          <p:cNvGrpSpPr/>
          <p:nvPr/>
        </p:nvGrpSpPr>
        <p:grpSpPr>
          <a:xfrm>
            <a:off x="223250" y="1008750"/>
            <a:ext cx="6664676" cy="4087575"/>
            <a:chOff x="152400" y="1016600"/>
            <a:chExt cx="6664676" cy="4087575"/>
          </a:xfrm>
        </p:grpSpPr>
        <p:pic>
          <p:nvPicPr>
            <p:cNvPr id="192" name="Google Shape;192;p12"/>
            <p:cNvPicPr preferRelativeResize="0"/>
            <p:nvPr/>
          </p:nvPicPr>
          <p:blipFill rotWithShape="1">
            <a:blip r:embed="rId4">
              <a:alphaModFix/>
            </a:blip>
            <a:srcRect b="0" l="0" r="0" t="0"/>
            <a:stretch/>
          </p:blipFill>
          <p:spPr>
            <a:xfrm>
              <a:off x="152400" y="1016600"/>
              <a:ext cx="6664676" cy="3748874"/>
            </a:xfrm>
            <a:prstGeom prst="rect">
              <a:avLst/>
            </a:prstGeom>
            <a:noFill/>
            <a:ln>
              <a:noFill/>
            </a:ln>
          </p:spPr>
        </p:pic>
        <p:sp>
          <p:nvSpPr>
            <p:cNvPr id="193" name="Google Shape;193;p12"/>
            <p:cNvSpPr txBox="1"/>
            <p:nvPr/>
          </p:nvSpPr>
          <p:spPr>
            <a:xfrm>
              <a:off x="152400" y="4765475"/>
              <a:ext cx="42876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2"/>
                  </a:solidFill>
                  <a:latin typeface="Twentieth Century"/>
                  <a:ea typeface="Twentieth Century"/>
                  <a:cs typeface="Twentieth Century"/>
                  <a:sym typeface="Twentieth Century"/>
                </a:rPr>
                <a:t>GitHub (2025)</a:t>
              </a:r>
              <a:endParaRPr b="0" i="0" sz="1000" u="none" cap="none" strike="noStrike">
                <a:solidFill>
                  <a:schemeClr val="dk2"/>
                </a:solidFill>
                <a:latin typeface="Twentieth Century"/>
                <a:ea typeface="Twentieth Century"/>
                <a:cs typeface="Twentieth Century"/>
                <a:sym typeface="Twentieth Century"/>
              </a:endParaRPr>
            </a:p>
          </p:txBody>
        </p:sp>
      </p:grpSp>
      <p:pic>
        <p:nvPicPr>
          <p:cNvPr id="194" name="Google Shape;194;p12"/>
          <p:cNvPicPr preferRelativeResize="0"/>
          <p:nvPr/>
        </p:nvPicPr>
        <p:blipFill rotWithShape="1">
          <a:blip r:embed="rId5">
            <a:alphaModFix/>
          </a:blip>
          <a:srcRect b="0" l="0" r="0" t="0"/>
          <a:stretch/>
        </p:blipFill>
        <p:spPr>
          <a:xfrm>
            <a:off x="8136083" y="1259524"/>
            <a:ext cx="850877" cy="659351"/>
          </a:xfrm>
          <a:prstGeom prst="rect">
            <a:avLst/>
          </a:prstGeom>
          <a:noFill/>
          <a:ln>
            <a:noFill/>
          </a:ln>
        </p:spPr>
      </p:pic>
      <p:pic>
        <p:nvPicPr>
          <p:cNvPr id="195" name="Google Shape;195;p12"/>
          <p:cNvPicPr preferRelativeResize="0"/>
          <p:nvPr/>
        </p:nvPicPr>
        <p:blipFill rotWithShape="1">
          <a:blip r:embed="rId6">
            <a:alphaModFix/>
          </a:blip>
          <a:srcRect b="0" l="0" r="0" t="0"/>
          <a:stretch/>
        </p:blipFill>
        <p:spPr>
          <a:xfrm>
            <a:off x="7072626" y="1844875"/>
            <a:ext cx="691599" cy="691599"/>
          </a:xfrm>
          <a:prstGeom prst="rect">
            <a:avLst/>
          </a:prstGeom>
          <a:noFill/>
          <a:ln>
            <a:noFill/>
          </a:ln>
        </p:spPr>
      </p:pic>
      <p:pic>
        <p:nvPicPr>
          <p:cNvPr id="196" name="Google Shape;196;p12"/>
          <p:cNvPicPr preferRelativeResize="0"/>
          <p:nvPr/>
        </p:nvPicPr>
        <p:blipFill rotWithShape="1">
          <a:blip r:embed="rId7">
            <a:alphaModFix/>
          </a:blip>
          <a:srcRect b="0" l="0" r="0" t="0"/>
          <a:stretch/>
        </p:blipFill>
        <p:spPr>
          <a:xfrm>
            <a:off x="8269063" y="2093750"/>
            <a:ext cx="584907" cy="659350"/>
          </a:xfrm>
          <a:prstGeom prst="rect">
            <a:avLst/>
          </a:prstGeom>
          <a:noFill/>
          <a:ln>
            <a:noFill/>
          </a:ln>
        </p:spPr>
      </p:pic>
      <p:pic>
        <p:nvPicPr>
          <p:cNvPr id="197" name="Google Shape;197;p12"/>
          <p:cNvPicPr preferRelativeResize="0"/>
          <p:nvPr/>
        </p:nvPicPr>
        <p:blipFill rotWithShape="1">
          <a:blip r:embed="rId8">
            <a:alphaModFix/>
          </a:blip>
          <a:srcRect b="0" l="0" r="0" t="0"/>
          <a:stretch/>
        </p:blipFill>
        <p:spPr>
          <a:xfrm>
            <a:off x="6992990" y="2681025"/>
            <a:ext cx="850875" cy="548101"/>
          </a:xfrm>
          <a:prstGeom prst="rect">
            <a:avLst/>
          </a:prstGeom>
          <a:noFill/>
          <a:ln>
            <a:noFill/>
          </a:ln>
        </p:spPr>
      </p:pic>
      <p:pic>
        <p:nvPicPr>
          <p:cNvPr id="198" name="Google Shape;198;p12"/>
          <p:cNvPicPr preferRelativeResize="0"/>
          <p:nvPr/>
        </p:nvPicPr>
        <p:blipFill rotWithShape="1">
          <a:blip r:embed="rId9">
            <a:alphaModFix/>
          </a:blip>
          <a:srcRect b="0" l="0" r="0" t="0"/>
          <a:stretch/>
        </p:blipFill>
        <p:spPr>
          <a:xfrm>
            <a:off x="8255361" y="2970576"/>
            <a:ext cx="612329" cy="548101"/>
          </a:xfrm>
          <a:prstGeom prst="rect">
            <a:avLst/>
          </a:prstGeom>
          <a:noFill/>
          <a:ln>
            <a:noFill/>
          </a:ln>
        </p:spPr>
      </p:pic>
      <p:sp>
        <p:nvSpPr>
          <p:cNvPr id="199" name="Google Shape;199;p12"/>
          <p:cNvSpPr txBox="1"/>
          <p:nvPr/>
        </p:nvSpPr>
        <p:spPr>
          <a:xfrm>
            <a:off x="7033250" y="3736150"/>
            <a:ext cx="1953600" cy="1031400"/>
          </a:xfrm>
          <a:prstGeom prst="rect">
            <a:avLst/>
          </a:prstGeom>
          <a:solidFill>
            <a:srgbClr val="F7F7F7"/>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1" lang="en" sz="1100" u="none" cap="none" strike="noStrike">
                <a:solidFill>
                  <a:schemeClr val="dk2"/>
                </a:solidFill>
                <a:latin typeface="Twentieth Century"/>
                <a:ea typeface="Twentieth Century"/>
                <a:cs typeface="Twentieth Century"/>
                <a:sym typeface="Twentieth Century"/>
              </a:rPr>
              <a:t>Nature</a:t>
            </a:r>
            <a:r>
              <a:rPr b="0" i="0" lang="en" sz="1100" u="none" cap="none" strike="noStrike">
                <a:solidFill>
                  <a:schemeClr val="dk2"/>
                </a:solidFill>
                <a:latin typeface="Twentieth Century"/>
                <a:ea typeface="Twentieth Century"/>
                <a:cs typeface="Twentieth Century"/>
                <a:sym typeface="Twentieth Century"/>
              </a:rPr>
              <a:t> Technology Feature (April 2025): </a:t>
            </a:r>
            <a:r>
              <a:rPr b="1" i="0" lang="en" sz="1100" u="sng" cap="none" strike="noStrike">
                <a:solidFill>
                  <a:schemeClr val="hlink"/>
                </a:solidFill>
                <a:latin typeface="Twentieth Century"/>
                <a:ea typeface="Twentieth Century"/>
                <a:cs typeface="Twentieth Century"/>
                <a:sym typeface="Twentieth Century"/>
                <a:hlinkClick r:id="rId10"/>
              </a:rPr>
              <a:t>Which programming language should I use? A guide for early-career researchers</a:t>
            </a:r>
            <a:endParaRPr b="0" i="0" sz="1100" u="none" cap="none" strike="noStrike">
              <a:solidFill>
                <a:schemeClr val="dk2"/>
              </a:solidFill>
              <a:latin typeface="Twentieth Century"/>
              <a:ea typeface="Twentieth Century"/>
              <a:cs typeface="Twentieth Century"/>
              <a:sym typeface="Twentieth Century"/>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pic>
        <p:nvPicPr>
          <p:cNvPr id="205" name="Google Shape;205;p13"/>
          <p:cNvPicPr preferRelativeResize="0"/>
          <p:nvPr/>
        </p:nvPicPr>
        <p:blipFill>
          <a:blip r:embed="rId3">
            <a:alphaModFix/>
          </a:blip>
          <a:stretch>
            <a:fillRect/>
          </a:stretch>
        </p:blipFill>
        <p:spPr>
          <a:xfrm>
            <a:off x="329700" y="3207625"/>
            <a:ext cx="4978676" cy="1724375"/>
          </a:xfrm>
          <a:prstGeom prst="rect">
            <a:avLst/>
          </a:prstGeom>
          <a:noFill/>
          <a:ln>
            <a:noFill/>
          </a:ln>
        </p:spPr>
      </p:pic>
      <p:sp>
        <p:nvSpPr>
          <p:cNvPr id="206" name="Google Shape;206;p13"/>
          <p:cNvSpPr txBox="1"/>
          <p:nvPr/>
        </p:nvSpPr>
        <p:spPr>
          <a:xfrm>
            <a:off x="3476400" y="2117450"/>
            <a:ext cx="3000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https://research.google.com/colaboratory/faq.html</a:t>
            </a:r>
            <a:endParaRPr b="0" i="0" sz="1400" u="none" cap="none" strike="noStrike">
              <a:solidFill>
                <a:srgbClr val="000000"/>
              </a:solidFill>
              <a:latin typeface="Arial"/>
              <a:ea typeface="Arial"/>
              <a:cs typeface="Arial"/>
              <a:sym typeface="Arial"/>
            </a:endParaRPr>
          </a:p>
        </p:txBody>
      </p:sp>
      <p:sp>
        <p:nvSpPr>
          <p:cNvPr id="207" name="Google Shape;207;p13"/>
          <p:cNvSpPr txBox="1"/>
          <p:nvPr>
            <p:ph idx="1" type="body"/>
          </p:nvPr>
        </p:nvSpPr>
        <p:spPr>
          <a:xfrm>
            <a:off x="329700" y="1091975"/>
            <a:ext cx="8475600" cy="2010300"/>
          </a:xfrm>
          <a:prstGeom prst="rect">
            <a:avLst/>
          </a:prstGeom>
          <a:solidFill>
            <a:schemeClr val="lt1"/>
          </a:solidFill>
          <a:ln cap="flat" cmpd="sng" w="9525">
            <a:solidFill>
              <a:srgbClr val="000000"/>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t" bIns="68575" lIns="68575" spcFirstLastPara="1" rIns="68575" wrap="square" tIns="68575">
            <a:normAutofit/>
          </a:bodyPr>
          <a:lstStyle/>
          <a:p>
            <a:pPr indent="-241300" lvl="0" marL="342900" rtl="0" algn="l">
              <a:lnSpc>
                <a:spcPct val="150000"/>
              </a:lnSpc>
              <a:spcBef>
                <a:spcPts val="1000"/>
              </a:spcBef>
              <a:spcAft>
                <a:spcPts val="0"/>
              </a:spcAft>
              <a:buSzPts val="1200"/>
              <a:buFont typeface="Twentieth Century"/>
              <a:buChar char="●"/>
            </a:pPr>
            <a:r>
              <a:rPr b="1" lang="en" sz="1400">
                <a:solidFill>
                  <a:schemeClr val="dk1"/>
                </a:solidFill>
                <a:latin typeface="Twentieth Century"/>
                <a:ea typeface="Twentieth Century"/>
                <a:cs typeface="Twentieth Century"/>
                <a:sym typeface="Twentieth Century"/>
              </a:rPr>
              <a:t>Colab is a free Google service that allows you to create and run Jupyter Notebooks in the cloud</a:t>
            </a:r>
            <a:endParaRPr b="1" sz="1400">
              <a:solidFill>
                <a:schemeClr val="dk1"/>
              </a:solidFill>
              <a:latin typeface="Twentieth Century"/>
              <a:ea typeface="Twentieth Century"/>
              <a:cs typeface="Twentieth Century"/>
              <a:sym typeface="Twentieth Century"/>
            </a:endParaRPr>
          </a:p>
          <a:p>
            <a:pPr indent="-241300" lvl="0" marL="342900" rtl="0" algn="l">
              <a:lnSpc>
                <a:spcPct val="150000"/>
              </a:lnSpc>
              <a:spcBef>
                <a:spcPts val="1000"/>
              </a:spcBef>
              <a:spcAft>
                <a:spcPts val="0"/>
              </a:spcAft>
              <a:buSzPts val="1200"/>
              <a:buFont typeface="Twentieth Century"/>
              <a:buChar char="●"/>
            </a:pPr>
            <a:r>
              <a:rPr b="1" lang="en" sz="1400">
                <a:solidFill>
                  <a:schemeClr val="dk1"/>
                </a:solidFill>
                <a:latin typeface="Twentieth Century"/>
                <a:ea typeface="Twentieth Century"/>
                <a:cs typeface="Twentieth Century"/>
                <a:sym typeface="Twentieth Century"/>
              </a:rPr>
              <a:t>Allows you to write Python code and text notes in compartmentalized cells within a notebook</a:t>
            </a:r>
            <a:endParaRPr b="1" sz="1400">
              <a:solidFill>
                <a:schemeClr val="dk1"/>
              </a:solidFill>
              <a:latin typeface="Twentieth Century"/>
              <a:ea typeface="Twentieth Century"/>
              <a:cs typeface="Twentieth Century"/>
              <a:sym typeface="Twentieth Century"/>
            </a:endParaRPr>
          </a:p>
          <a:p>
            <a:pPr indent="-165100" lvl="1" marL="520700" rtl="0" algn="l">
              <a:lnSpc>
                <a:spcPct val="150000"/>
              </a:lnSpc>
              <a:spcBef>
                <a:spcPts val="1000"/>
              </a:spcBef>
              <a:spcAft>
                <a:spcPts val="0"/>
              </a:spcAft>
              <a:buSzPts val="1200"/>
              <a:buFont typeface="Noto Sans Symbols"/>
              <a:buChar char="○"/>
            </a:pPr>
            <a:r>
              <a:rPr lang="en" sz="1400">
                <a:solidFill>
                  <a:schemeClr val="dk1"/>
                </a:solidFill>
                <a:latin typeface="Twentieth Century"/>
                <a:ea typeface="Twentieth Century"/>
                <a:cs typeface="Twentieth Century"/>
                <a:sym typeface="Twentieth Century"/>
              </a:rPr>
              <a:t>Code cells can be run individually to allow for previewing outputs and troubleshooting issues</a:t>
            </a:r>
            <a:endParaRPr sz="1400">
              <a:solidFill>
                <a:schemeClr val="dk1"/>
              </a:solidFill>
              <a:latin typeface="Twentieth Century"/>
              <a:ea typeface="Twentieth Century"/>
              <a:cs typeface="Twentieth Century"/>
              <a:sym typeface="Twentieth Century"/>
            </a:endParaRPr>
          </a:p>
          <a:p>
            <a:pPr indent="-241300" lvl="0" marL="342900" rtl="0" algn="l">
              <a:lnSpc>
                <a:spcPct val="150000"/>
              </a:lnSpc>
              <a:spcBef>
                <a:spcPts val="1200"/>
              </a:spcBef>
              <a:spcAft>
                <a:spcPts val="0"/>
              </a:spcAft>
              <a:buSzPts val="1200"/>
              <a:buFont typeface="Twentieth Century"/>
              <a:buChar char="●"/>
            </a:pPr>
            <a:r>
              <a:rPr b="1" lang="en" sz="1400">
                <a:solidFill>
                  <a:schemeClr val="dk1"/>
                </a:solidFill>
                <a:latin typeface="Twentieth Century"/>
                <a:ea typeface="Twentieth Century"/>
                <a:cs typeface="Twentieth Century"/>
                <a:sym typeface="Twentieth Century"/>
              </a:rPr>
              <a:t>Notebooks are stored in Google Drive and can access other files in Google Drive</a:t>
            </a:r>
            <a:endParaRPr sz="1500">
              <a:solidFill>
                <a:schemeClr val="dk1"/>
              </a:solidFill>
              <a:latin typeface="Twentieth Century"/>
              <a:ea typeface="Twentieth Century"/>
              <a:cs typeface="Twentieth Century"/>
              <a:sym typeface="Twentieth Century"/>
            </a:endParaRPr>
          </a:p>
        </p:txBody>
      </p:sp>
      <p:pic>
        <p:nvPicPr>
          <p:cNvPr id="208" name="Google Shape;208;p13"/>
          <p:cNvPicPr preferRelativeResize="0"/>
          <p:nvPr/>
        </p:nvPicPr>
        <p:blipFill rotWithShape="1">
          <a:blip r:embed="rId4">
            <a:alphaModFix/>
          </a:blip>
          <a:srcRect b="0" l="0" r="0" t="0"/>
          <a:stretch/>
        </p:blipFill>
        <p:spPr>
          <a:xfrm>
            <a:off x="7826900" y="1886926"/>
            <a:ext cx="847250" cy="1076650"/>
          </a:xfrm>
          <a:prstGeom prst="rect">
            <a:avLst/>
          </a:prstGeom>
          <a:noFill/>
          <a:ln>
            <a:noFill/>
          </a:ln>
        </p:spPr>
      </p:pic>
      <p:sp>
        <p:nvSpPr>
          <p:cNvPr id="209" name="Google Shape;209;p13"/>
          <p:cNvSpPr txBox="1"/>
          <p:nvPr/>
        </p:nvSpPr>
        <p:spPr>
          <a:xfrm rot="-666665">
            <a:off x="4913173" y="4228247"/>
            <a:ext cx="4153353" cy="384900"/>
          </a:xfrm>
          <a:prstGeom prst="rect">
            <a:avLst/>
          </a:prstGeom>
          <a:solidFill>
            <a:schemeClr val="lt1"/>
          </a:solidFill>
          <a:ln cap="flat" cmpd="sng" w="19050">
            <a:solidFill>
              <a:srgbClr val="CC0000"/>
            </a:solidFill>
            <a:prstDash val="solid"/>
            <a:round/>
            <a:headEnd len="sm" w="sm" type="none"/>
            <a:tailEnd len="sm" w="sm" type="none"/>
          </a:ln>
          <a:effectLst>
            <a:outerShdw blurRad="57150" rotWithShape="0" algn="bl" dir="5400000" dist="19050">
              <a:srgbClr val="000000">
                <a:alpha val="50196"/>
              </a:srgbClr>
            </a:outerShdw>
          </a:effectLst>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rgbClr val="CC0000"/>
                </a:solidFill>
                <a:latin typeface="Arial"/>
                <a:ea typeface="Arial"/>
                <a:cs typeface="Arial"/>
                <a:sym typeface="Arial"/>
              </a:rPr>
              <a:t>Colab FAQs at  </a:t>
            </a:r>
            <a:r>
              <a:rPr b="1" i="0" lang="en" sz="900" u="sng" cap="none" strike="noStrike">
                <a:solidFill>
                  <a:schemeClr val="hlink"/>
                </a:solidFill>
                <a:latin typeface="Arial"/>
                <a:ea typeface="Arial"/>
                <a:cs typeface="Arial"/>
                <a:sym typeface="Arial"/>
                <a:hlinkClick r:id="rId5"/>
              </a:rPr>
              <a:t>https://research.google.com/colaboratory/faq.html</a:t>
            </a:r>
            <a:r>
              <a:rPr b="1" i="0" lang="en" sz="1100" u="none" cap="none" strike="noStrike">
                <a:solidFill>
                  <a:srgbClr val="000000"/>
                </a:solidFill>
                <a:latin typeface="Arial"/>
                <a:ea typeface="Arial"/>
                <a:cs typeface="Arial"/>
                <a:sym typeface="Arial"/>
              </a:rPr>
              <a:t> </a:t>
            </a:r>
            <a:endParaRPr b="1" i="0" sz="1100" u="none" cap="none" strike="noStrike">
              <a:solidFill>
                <a:srgbClr val="000000"/>
              </a:solidFill>
              <a:latin typeface="Arial"/>
              <a:ea typeface="Arial"/>
              <a:cs typeface="Arial"/>
              <a:sym typeface="Arial"/>
            </a:endParaRPr>
          </a:p>
        </p:txBody>
      </p:sp>
      <p:sp>
        <p:nvSpPr>
          <p:cNvPr id="210" name="Google Shape;210;p13"/>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196"/>
              </a:srgbClr>
            </a:outerShdw>
          </a:effectLst>
        </p:spPr>
        <p:txBody>
          <a:bodyPr anchorCtr="0" anchor="ctr" bIns="34275" lIns="68575" spcFirstLastPara="1" rIns="68575" wrap="square" tIns="34275">
            <a:norm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Google Colab</a:t>
            </a:r>
            <a:endParaRPr b="1" sz="2500">
              <a:solidFill>
                <a:schemeClr val="lt1"/>
              </a:solidFill>
              <a:latin typeface="Twentieth Century"/>
              <a:ea typeface="Twentieth Century"/>
              <a:cs typeface="Twentieth Century"/>
              <a:sym typeface="Twentieth Century"/>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4"/>
          <p:cNvSpPr txBox="1"/>
          <p:nvPr>
            <p:ph idx="1" type="body"/>
          </p:nvPr>
        </p:nvSpPr>
        <p:spPr>
          <a:xfrm>
            <a:off x="260575" y="1016500"/>
            <a:ext cx="2778000" cy="2274000"/>
          </a:xfrm>
          <a:prstGeom prst="rect">
            <a:avLst/>
          </a:prstGeom>
          <a:solidFill>
            <a:schemeClr val="lt1"/>
          </a:solidFill>
          <a:ln cap="flat" cmpd="sng" w="9525">
            <a:solidFill>
              <a:srgbClr val="000000"/>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t" bIns="68575" lIns="68575" spcFirstLastPara="1" rIns="68575" wrap="square" tIns="68575">
            <a:normAutofit lnSpcReduction="20000"/>
          </a:bodyPr>
          <a:lstStyle/>
          <a:p>
            <a:pPr indent="0" lvl="0" marL="0" rtl="0" algn="l">
              <a:lnSpc>
                <a:spcPct val="150000"/>
              </a:lnSpc>
              <a:spcBef>
                <a:spcPts val="1000"/>
              </a:spcBef>
              <a:spcAft>
                <a:spcPts val="0"/>
              </a:spcAft>
              <a:buSzPts val="1400"/>
              <a:buNone/>
            </a:pPr>
            <a:r>
              <a:rPr b="1" lang="en" sz="1400">
                <a:solidFill>
                  <a:schemeClr val="dk1"/>
                </a:solidFill>
                <a:latin typeface="Twentieth Century"/>
                <a:ea typeface="Twentieth Century"/>
                <a:cs typeface="Twentieth Century"/>
                <a:sym typeface="Twentieth Century"/>
              </a:rPr>
              <a:t>Python Basics</a:t>
            </a:r>
            <a:endParaRPr b="1" sz="1400">
              <a:solidFill>
                <a:schemeClr val="dk1"/>
              </a:solidFill>
              <a:latin typeface="Twentieth Century"/>
              <a:ea typeface="Twentieth Century"/>
              <a:cs typeface="Twentieth Century"/>
              <a:sym typeface="Twentieth Century"/>
            </a:endParaRPr>
          </a:p>
          <a:p>
            <a:pPr indent="-247650" lvl="0" marL="342900" rtl="0" algn="l">
              <a:lnSpc>
                <a:spcPct val="115000"/>
              </a:lnSpc>
              <a:spcBef>
                <a:spcPts val="1000"/>
              </a:spcBef>
              <a:spcAft>
                <a:spcPts val="0"/>
              </a:spcAft>
              <a:buSzPts val="1300"/>
              <a:buFont typeface="Noto Sans Symbols"/>
              <a:buChar char="●"/>
            </a:pPr>
            <a:r>
              <a:rPr lang="en" sz="1300">
                <a:solidFill>
                  <a:schemeClr val="dk1"/>
                </a:solidFill>
                <a:latin typeface="Twentieth Century"/>
                <a:ea typeface="Twentieth Century"/>
                <a:cs typeface="Twentieth Century"/>
                <a:sym typeface="Twentieth Century"/>
              </a:rPr>
              <a:t>Packages and modules</a:t>
            </a:r>
            <a:endParaRPr sz="1300">
              <a:solidFill>
                <a:schemeClr val="dk1"/>
              </a:solidFill>
              <a:latin typeface="Twentieth Century"/>
              <a:ea typeface="Twentieth Century"/>
              <a:cs typeface="Twentieth Century"/>
              <a:sym typeface="Twentieth Century"/>
            </a:endParaRPr>
          </a:p>
          <a:p>
            <a:pPr indent="-247650" lvl="0" marL="342900" rtl="0" algn="l">
              <a:lnSpc>
                <a:spcPct val="115000"/>
              </a:lnSpc>
              <a:spcBef>
                <a:spcPts val="1000"/>
              </a:spcBef>
              <a:spcAft>
                <a:spcPts val="0"/>
              </a:spcAft>
              <a:buSzPts val="1300"/>
              <a:buFont typeface="Noto Sans Symbols"/>
              <a:buChar char="●"/>
            </a:pPr>
            <a:r>
              <a:rPr lang="en" sz="1300">
                <a:solidFill>
                  <a:schemeClr val="dk1"/>
                </a:solidFill>
                <a:latin typeface="Twentieth Century"/>
                <a:ea typeface="Twentieth Century"/>
                <a:cs typeface="Twentieth Century"/>
                <a:sym typeface="Twentieth Century"/>
              </a:rPr>
              <a:t>Variables and object types</a:t>
            </a:r>
            <a:endParaRPr sz="1300">
              <a:solidFill>
                <a:schemeClr val="dk1"/>
              </a:solidFill>
            </a:endParaRPr>
          </a:p>
          <a:p>
            <a:pPr indent="-247650" lvl="0" marL="342900" rtl="0" algn="l">
              <a:lnSpc>
                <a:spcPct val="115000"/>
              </a:lnSpc>
              <a:spcBef>
                <a:spcPts val="1000"/>
              </a:spcBef>
              <a:spcAft>
                <a:spcPts val="0"/>
              </a:spcAft>
              <a:buSzPts val="1300"/>
              <a:buFont typeface="Noto Sans Symbols"/>
              <a:buChar char="●"/>
            </a:pPr>
            <a:r>
              <a:rPr lang="en" sz="1300">
                <a:solidFill>
                  <a:schemeClr val="dk1"/>
                </a:solidFill>
                <a:latin typeface="Twentieth Century"/>
                <a:ea typeface="Twentieth Century"/>
                <a:cs typeface="Twentieth Century"/>
                <a:sym typeface="Twentieth Century"/>
              </a:rPr>
              <a:t>Syntax</a:t>
            </a:r>
            <a:endParaRPr sz="1300">
              <a:solidFill>
                <a:schemeClr val="dk1"/>
              </a:solidFill>
            </a:endParaRPr>
          </a:p>
          <a:p>
            <a:pPr indent="-247650" lvl="0" marL="342900" rtl="0" algn="l">
              <a:lnSpc>
                <a:spcPct val="115000"/>
              </a:lnSpc>
              <a:spcBef>
                <a:spcPts val="1000"/>
              </a:spcBef>
              <a:spcAft>
                <a:spcPts val="0"/>
              </a:spcAft>
              <a:buSzPts val="1300"/>
              <a:buFont typeface="Noto Sans Symbols"/>
              <a:buChar char="●"/>
            </a:pPr>
            <a:r>
              <a:rPr lang="en" sz="1300">
                <a:solidFill>
                  <a:schemeClr val="dk1"/>
                </a:solidFill>
                <a:latin typeface="Twentieth Century"/>
                <a:ea typeface="Twentieth Century"/>
                <a:cs typeface="Twentieth Century"/>
                <a:sym typeface="Twentieth Century"/>
              </a:rPr>
              <a:t>Comments</a:t>
            </a:r>
            <a:endParaRPr sz="1300">
              <a:solidFill>
                <a:schemeClr val="dk1"/>
              </a:solidFill>
              <a:latin typeface="Twentieth Century"/>
              <a:ea typeface="Twentieth Century"/>
              <a:cs typeface="Twentieth Century"/>
              <a:sym typeface="Twentieth Century"/>
            </a:endParaRPr>
          </a:p>
          <a:p>
            <a:pPr indent="-254000" lvl="0" marL="342900" rtl="0" algn="l">
              <a:lnSpc>
                <a:spcPct val="115000"/>
              </a:lnSpc>
              <a:spcBef>
                <a:spcPts val="1000"/>
              </a:spcBef>
              <a:spcAft>
                <a:spcPts val="0"/>
              </a:spcAft>
              <a:buSzPts val="1400"/>
              <a:buFont typeface="Noto Sans Symbols"/>
              <a:buChar char="●"/>
            </a:pPr>
            <a:r>
              <a:rPr lang="en" sz="1300">
                <a:solidFill>
                  <a:schemeClr val="dk1"/>
                </a:solidFill>
                <a:latin typeface="Twentieth Century"/>
                <a:ea typeface="Twentieth Century"/>
                <a:cs typeface="Twentieth Century"/>
                <a:sym typeface="Twentieth Century"/>
              </a:rPr>
              <a:t>Retrieve data with the requests module</a:t>
            </a:r>
            <a:endParaRPr sz="1400">
              <a:solidFill>
                <a:schemeClr val="dk1"/>
              </a:solidFill>
              <a:latin typeface="Twentieth Century"/>
              <a:ea typeface="Twentieth Century"/>
              <a:cs typeface="Twentieth Century"/>
              <a:sym typeface="Twentieth Century"/>
            </a:endParaRPr>
          </a:p>
        </p:txBody>
      </p:sp>
      <p:sp>
        <p:nvSpPr>
          <p:cNvPr id="217" name="Google Shape;217;p14"/>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196"/>
              </a:srgbClr>
            </a:outerShdw>
          </a:effectLst>
        </p:spPr>
        <p:txBody>
          <a:bodyPr anchorCtr="0" anchor="ctr" bIns="34275" lIns="68575" spcFirstLastPara="1" rIns="68575" wrap="square" tIns="34275">
            <a:norm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DEMO: Basics of Python for Reproducible Research</a:t>
            </a:r>
            <a:endParaRPr b="1" sz="2500">
              <a:solidFill>
                <a:schemeClr val="lt1"/>
              </a:solidFill>
              <a:latin typeface="Twentieth Century"/>
              <a:ea typeface="Twentieth Century"/>
              <a:cs typeface="Twentieth Century"/>
              <a:sym typeface="Twentieth Century"/>
            </a:endParaRPr>
          </a:p>
        </p:txBody>
      </p:sp>
      <p:pic>
        <p:nvPicPr>
          <p:cNvPr id="218" name="Google Shape;218;p14"/>
          <p:cNvPicPr preferRelativeResize="0"/>
          <p:nvPr/>
        </p:nvPicPr>
        <p:blipFill rotWithShape="1">
          <a:blip r:embed="rId3">
            <a:alphaModFix/>
          </a:blip>
          <a:srcRect b="0" l="0" r="0" t="0"/>
          <a:stretch/>
        </p:blipFill>
        <p:spPr>
          <a:xfrm>
            <a:off x="3190975" y="1016603"/>
            <a:ext cx="5775629" cy="3131196"/>
          </a:xfrm>
          <a:prstGeom prst="rect">
            <a:avLst/>
          </a:prstGeom>
          <a:noFill/>
          <a:ln>
            <a:noFill/>
          </a:ln>
        </p:spPr>
      </p:pic>
      <p:sp>
        <p:nvSpPr>
          <p:cNvPr id="219" name="Google Shape;219;p14"/>
          <p:cNvSpPr txBox="1"/>
          <p:nvPr/>
        </p:nvSpPr>
        <p:spPr>
          <a:xfrm>
            <a:off x="2439750" y="4300200"/>
            <a:ext cx="4255500" cy="655500"/>
          </a:xfrm>
          <a:prstGeom prst="rect">
            <a:avLst/>
          </a:prstGeom>
          <a:solidFill>
            <a:schemeClr val="lt1"/>
          </a:solidFill>
          <a:ln cap="flat" cmpd="sng" w="28575">
            <a:solidFill>
              <a:srgbClr val="F6B26B"/>
            </a:solidFill>
            <a:prstDash val="solid"/>
            <a:round/>
            <a:headEnd len="sm" w="sm" type="none"/>
            <a:tailEnd len="sm" w="sm" type="none"/>
          </a:ln>
          <a:effectLst>
            <a:outerShdw blurRad="57150" rotWithShape="0" algn="bl" dir="5400000" dist="19050">
              <a:srgbClr val="000000">
                <a:alpha val="50196"/>
              </a:srgbClr>
            </a:outerShdw>
          </a:effectLst>
        </p:spPr>
        <p:txBody>
          <a:bodyPr anchorCtr="0" anchor="t"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300"/>
              <a:buFont typeface="Arial"/>
              <a:buNone/>
            </a:pPr>
            <a:r>
              <a:rPr b="1" i="0" lang="en" sz="1300" u="none" cap="none" strike="noStrike">
                <a:solidFill>
                  <a:srgbClr val="000000"/>
                </a:solidFill>
                <a:latin typeface="Arial"/>
                <a:ea typeface="Arial"/>
                <a:cs typeface="Arial"/>
                <a:sym typeface="Arial"/>
              </a:rPr>
              <a:t>Link to publicly shared Google Colab Notebook: </a:t>
            </a:r>
            <a:endParaRPr b="1" i="0" sz="800" u="none" cap="none" strike="noStrike">
              <a:solidFill>
                <a:srgbClr val="000000"/>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300"/>
              <a:buFont typeface="Arial"/>
              <a:buNone/>
            </a:pPr>
            <a:r>
              <a:rPr b="1" lang="en" sz="1300" u="sng">
                <a:solidFill>
                  <a:schemeClr val="hlink"/>
                </a:solidFill>
                <a:hlinkClick r:id="rId4"/>
              </a:rPr>
              <a:t>https://bit.ly/4g78KR7</a:t>
            </a:r>
            <a:r>
              <a:rPr b="1" lang="en" sz="1300"/>
              <a:t> </a:t>
            </a:r>
            <a:r>
              <a:rPr b="1" i="0" lang="en" sz="1300" u="none" cap="none" strike="noStrike">
                <a:solidFill>
                  <a:srgbClr val="000000"/>
                </a:solidFill>
                <a:latin typeface="Arial"/>
                <a:ea typeface="Arial"/>
                <a:cs typeface="Arial"/>
                <a:sym typeface="Arial"/>
              </a:rPr>
              <a:t>  </a:t>
            </a:r>
            <a:endParaRPr b="1" i="0" sz="13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pic>
        <p:nvPicPr>
          <p:cNvPr id="225" name="Google Shape;225;p15"/>
          <p:cNvPicPr preferRelativeResize="0"/>
          <p:nvPr/>
        </p:nvPicPr>
        <p:blipFill rotWithShape="1">
          <a:blip r:embed="rId3">
            <a:alphaModFix/>
          </a:blip>
          <a:srcRect b="0" l="0" r="0" t="0"/>
          <a:stretch/>
        </p:blipFill>
        <p:spPr>
          <a:xfrm>
            <a:off x="2791325" y="936150"/>
            <a:ext cx="6248501" cy="2512175"/>
          </a:xfrm>
          <a:prstGeom prst="rect">
            <a:avLst/>
          </a:prstGeom>
          <a:noFill/>
          <a:ln>
            <a:noFill/>
          </a:ln>
        </p:spPr>
      </p:pic>
      <p:sp>
        <p:nvSpPr>
          <p:cNvPr id="226" name="Google Shape;226;p15"/>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196"/>
              </a:srgbClr>
            </a:outerShdw>
          </a:effectLst>
        </p:spPr>
        <p:txBody>
          <a:bodyPr anchorCtr="0" anchor="ctr" bIns="34275" lIns="68575" spcFirstLastPara="1" rIns="68575" wrap="square" tIns="34275">
            <a:norm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DEMO: Python Essentials</a:t>
            </a:r>
            <a:endParaRPr b="1" sz="2500">
              <a:solidFill>
                <a:schemeClr val="lt1"/>
              </a:solidFill>
              <a:latin typeface="Twentieth Century"/>
              <a:ea typeface="Twentieth Century"/>
              <a:cs typeface="Twentieth Century"/>
              <a:sym typeface="Twentieth Century"/>
            </a:endParaRPr>
          </a:p>
        </p:txBody>
      </p:sp>
      <p:sp>
        <p:nvSpPr>
          <p:cNvPr id="227" name="Google Shape;227;p15"/>
          <p:cNvSpPr txBox="1"/>
          <p:nvPr>
            <p:ph idx="1" type="body"/>
          </p:nvPr>
        </p:nvSpPr>
        <p:spPr>
          <a:xfrm>
            <a:off x="108000" y="936150"/>
            <a:ext cx="2430300" cy="2512200"/>
          </a:xfrm>
          <a:prstGeom prst="rect">
            <a:avLst/>
          </a:prstGeom>
          <a:solidFill>
            <a:schemeClr val="lt1"/>
          </a:solidFill>
          <a:ln cap="flat" cmpd="sng" w="9525">
            <a:solidFill>
              <a:srgbClr val="000000"/>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t" bIns="68575" lIns="68575" spcFirstLastPara="1" rIns="68575" wrap="square" tIns="68575">
            <a:normAutofit/>
          </a:bodyPr>
          <a:lstStyle/>
          <a:p>
            <a:pPr indent="0" lvl="0" marL="0" rtl="0" algn="l">
              <a:lnSpc>
                <a:spcPct val="150000"/>
              </a:lnSpc>
              <a:spcBef>
                <a:spcPts val="0"/>
              </a:spcBef>
              <a:spcAft>
                <a:spcPts val="0"/>
              </a:spcAft>
              <a:buSzPts val="1400"/>
              <a:buNone/>
            </a:pPr>
            <a:r>
              <a:rPr b="1" lang="en" sz="1300">
                <a:solidFill>
                  <a:schemeClr val="dk1"/>
                </a:solidFill>
                <a:latin typeface="Twentieth Century"/>
                <a:ea typeface="Twentieth Century"/>
                <a:cs typeface="Twentieth Century"/>
                <a:sym typeface="Twentieth Century"/>
              </a:rPr>
              <a:t>Python Essentials:</a:t>
            </a:r>
            <a:endParaRPr sz="1300">
              <a:solidFill>
                <a:schemeClr val="dk1"/>
              </a:solidFill>
              <a:latin typeface="Twentieth Century"/>
              <a:ea typeface="Twentieth Century"/>
              <a:cs typeface="Twentieth Century"/>
              <a:sym typeface="Twentieth Century"/>
            </a:endParaRPr>
          </a:p>
          <a:p>
            <a:pPr indent="-196850" lvl="0" marL="400050" rtl="0" algn="l">
              <a:lnSpc>
                <a:spcPct val="150000"/>
              </a:lnSpc>
              <a:spcBef>
                <a:spcPts val="0"/>
              </a:spcBef>
              <a:spcAft>
                <a:spcPts val="0"/>
              </a:spcAft>
              <a:buSzPts val="1300"/>
              <a:buFont typeface="Noto Sans Symbols"/>
              <a:buChar char="●"/>
            </a:pPr>
            <a:r>
              <a:rPr lang="en" sz="1300">
                <a:solidFill>
                  <a:schemeClr val="dk1"/>
                </a:solidFill>
                <a:latin typeface="Twentieth Century"/>
                <a:ea typeface="Twentieth Century"/>
                <a:cs typeface="Twentieth Century"/>
                <a:sym typeface="Twentieth Century"/>
              </a:rPr>
              <a:t>Work with dataframes</a:t>
            </a:r>
            <a:endParaRPr sz="1300">
              <a:solidFill>
                <a:schemeClr val="dk1"/>
              </a:solidFill>
              <a:latin typeface="Twentieth Century"/>
              <a:ea typeface="Twentieth Century"/>
              <a:cs typeface="Twentieth Century"/>
              <a:sym typeface="Twentieth Century"/>
            </a:endParaRPr>
          </a:p>
          <a:p>
            <a:pPr indent="-196850" lvl="0" marL="400050" rtl="0" algn="l">
              <a:lnSpc>
                <a:spcPct val="150000"/>
              </a:lnSpc>
              <a:spcBef>
                <a:spcPts val="0"/>
              </a:spcBef>
              <a:spcAft>
                <a:spcPts val="0"/>
              </a:spcAft>
              <a:buSzPts val="1300"/>
              <a:buFont typeface="Noto Sans Symbols"/>
              <a:buChar char="●"/>
            </a:pPr>
            <a:r>
              <a:rPr lang="en" sz="1300">
                <a:solidFill>
                  <a:schemeClr val="dk1"/>
                </a:solidFill>
                <a:latin typeface="Twentieth Century"/>
                <a:ea typeface="Twentieth Century"/>
                <a:cs typeface="Twentieth Century"/>
                <a:sym typeface="Twentieth Century"/>
              </a:rPr>
              <a:t>Utilize “for” loops</a:t>
            </a:r>
            <a:endParaRPr sz="1300">
              <a:solidFill>
                <a:schemeClr val="dk1"/>
              </a:solidFill>
              <a:latin typeface="Twentieth Century"/>
              <a:ea typeface="Twentieth Century"/>
              <a:cs typeface="Twentieth Century"/>
              <a:sym typeface="Twentieth Century"/>
            </a:endParaRPr>
          </a:p>
          <a:p>
            <a:pPr indent="-196850" lvl="0" marL="400050" rtl="0" algn="l">
              <a:lnSpc>
                <a:spcPct val="150000"/>
              </a:lnSpc>
              <a:spcBef>
                <a:spcPts val="0"/>
              </a:spcBef>
              <a:spcAft>
                <a:spcPts val="0"/>
              </a:spcAft>
              <a:buSzPts val="1300"/>
              <a:buFont typeface="Twentieth Century"/>
              <a:buChar char="●"/>
            </a:pPr>
            <a:r>
              <a:rPr lang="en" sz="1300">
                <a:solidFill>
                  <a:schemeClr val="dk1"/>
                </a:solidFill>
                <a:latin typeface="Twentieth Century"/>
                <a:ea typeface="Twentieth Century"/>
                <a:cs typeface="Twentieth Century"/>
                <a:sym typeface="Twentieth Century"/>
              </a:rPr>
              <a:t>Write conditional statements</a:t>
            </a:r>
            <a:endParaRPr sz="1300">
              <a:solidFill>
                <a:schemeClr val="dk1"/>
              </a:solidFill>
              <a:latin typeface="Twentieth Century"/>
              <a:ea typeface="Twentieth Century"/>
              <a:cs typeface="Twentieth Century"/>
              <a:sym typeface="Twentieth Century"/>
            </a:endParaRPr>
          </a:p>
          <a:p>
            <a:pPr indent="-196850" lvl="0" marL="400050" rtl="0" algn="l">
              <a:lnSpc>
                <a:spcPct val="150000"/>
              </a:lnSpc>
              <a:spcBef>
                <a:spcPts val="0"/>
              </a:spcBef>
              <a:spcAft>
                <a:spcPts val="0"/>
              </a:spcAft>
              <a:buSzPts val="1300"/>
              <a:buFont typeface="Twentieth Century"/>
              <a:buChar char="●"/>
            </a:pPr>
            <a:r>
              <a:rPr lang="en" sz="1300">
                <a:solidFill>
                  <a:schemeClr val="dk1"/>
                </a:solidFill>
                <a:latin typeface="Twentieth Century"/>
                <a:ea typeface="Twentieth Century"/>
                <a:cs typeface="Twentieth Century"/>
                <a:sym typeface="Twentieth Century"/>
              </a:rPr>
              <a:t>Use try and except to catch errors</a:t>
            </a:r>
            <a:endParaRPr sz="1300">
              <a:solidFill>
                <a:schemeClr val="dk1"/>
              </a:solidFill>
              <a:latin typeface="Twentieth Century"/>
              <a:ea typeface="Twentieth Century"/>
              <a:cs typeface="Twentieth Century"/>
              <a:sym typeface="Twentieth Century"/>
            </a:endParaRPr>
          </a:p>
          <a:p>
            <a:pPr indent="-196850" lvl="0" marL="400050" rtl="0" algn="l">
              <a:lnSpc>
                <a:spcPct val="150000"/>
              </a:lnSpc>
              <a:spcBef>
                <a:spcPts val="0"/>
              </a:spcBef>
              <a:spcAft>
                <a:spcPts val="0"/>
              </a:spcAft>
              <a:buSzPts val="1300"/>
              <a:buFont typeface="Twentieth Century"/>
              <a:buChar char="●"/>
            </a:pPr>
            <a:r>
              <a:rPr lang="en" sz="1300">
                <a:solidFill>
                  <a:schemeClr val="dk1"/>
                </a:solidFill>
                <a:latin typeface="Twentieth Century"/>
                <a:ea typeface="Twentieth Century"/>
                <a:cs typeface="Twentieth Century"/>
                <a:sym typeface="Twentieth Century"/>
              </a:rPr>
              <a:t>Define new functions</a:t>
            </a:r>
            <a:endParaRPr sz="1300">
              <a:solidFill>
                <a:schemeClr val="dk1"/>
              </a:solidFill>
              <a:latin typeface="Twentieth Century"/>
              <a:ea typeface="Twentieth Century"/>
              <a:cs typeface="Twentieth Century"/>
              <a:sym typeface="Twentieth Century"/>
            </a:endParaRPr>
          </a:p>
        </p:txBody>
      </p:sp>
      <p:sp>
        <p:nvSpPr>
          <p:cNvPr id="228" name="Google Shape;228;p15"/>
          <p:cNvSpPr txBox="1"/>
          <p:nvPr/>
        </p:nvSpPr>
        <p:spPr>
          <a:xfrm>
            <a:off x="2439750" y="4300200"/>
            <a:ext cx="4255500" cy="655500"/>
          </a:xfrm>
          <a:prstGeom prst="rect">
            <a:avLst/>
          </a:prstGeom>
          <a:solidFill>
            <a:schemeClr val="lt1"/>
          </a:solidFill>
          <a:ln cap="flat" cmpd="sng" w="28575">
            <a:solidFill>
              <a:srgbClr val="F6B26B"/>
            </a:solidFill>
            <a:prstDash val="solid"/>
            <a:round/>
            <a:headEnd len="sm" w="sm" type="none"/>
            <a:tailEnd len="sm" w="sm" type="none"/>
          </a:ln>
          <a:effectLst>
            <a:outerShdw blurRad="57150" rotWithShape="0" algn="bl" dir="5400000" dist="19050">
              <a:srgbClr val="000000">
                <a:alpha val="50196"/>
              </a:srgbClr>
            </a:outerShdw>
          </a:effectLst>
        </p:spPr>
        <p:txBody>
          <a:bodyPr anchorCtr="0" anchor="t"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300"/>
              <a:buFont typeface="Arial"/>
              <a:buNone/>
            </a:pPr>
            <a:r>
              <a:rPr b="1" i="0" lang="en" sz="1300" u="none" cap="none" strike="noStrike">
                <a:solidFill>
                  <a:srgbClr val="000000"/>
                </a:solidFill>
                <a:latin typeface="Arial"/>
                <a:ea typeface="Arial"/>
                <a:cs typeface="Arial"/>
                <a:sym typeface="Arial"/>
              </a:rPr>
              <a:t>Link to publicly shared Google Colab Notebook: </a:t>
            </a:r>
            <a:endParaRPr b="1" i="0" sz="800" u="none" cap="none" strike="noStrike">
              <a:solidFill>
                <a:srgbClr val="000000"/>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300"/>
              <a:buFont typeface="Arial"/>
              <a:buNone/>
            </a:pPr>
            <a:r>
              <a:rPr b="1" lang="en" sz="1300" u="sng">
                <a:solidFill>
                  <a:schemeClr val="hlink"/>
                </a:solidFill>
                <a:hlinkClick r:id="rId4"/>
              </a:rPr>
              <a:t>https://bit.ly/4g78KR7</a:t>
            </a:r>
            <a:r>
              <a:rPr b="1" lang="en" sz="1300"/>
              <a:t> </a:t>
            </a:r>
            <a:r>
              <a:rPr b="1" i="0" lang="en" sz="1300" u="none" cap="none" strike="noStrike">
                <a:solidFill>
                  <a:srgbClr val="000000"/>
                </a:solidFill>
                <a:latin typeface="Arial"/>
                <a:ea typeface="Arial"/>
                <a:cs typeface="Arial"/>
                <a:sym typeface="Arial"/>
              </a:rPr>
              <a:t> </a:t>
            </a:r>
            <a:endParaRPr b="1" i="0" sz="13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16"/>
          <p:cNvSpPr txBox="1"/>
          <p:nvPr>
            <p:ph type="title"/>
          </p:nvPr>
        </p:nvSpPr>
        <p:spPr>
          <a:xfrm>
            <a:off x="-390906" y="20894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196"/>
              </a:srgbClr>
            </a:outerShdw>
          </a:effectLst>
        </p:spPr>
        <p:txBody>
          <a:bodyPr anchorCtr="0" anchor="ctr" bIns="34275" lIns="68575" spcFirstLastPara="1" rIns="68575" wrap="square" tIns="34275">
            <a:norm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Running Python 101</a:t>
            </a:r>
            <a:endParaRPr b="1" sz="2500">
              <a:solidFill>
                <a:schemeClr val="lt1"/>
              </a:solidFill>
              <a:latin typeface="Twentieth Century"/>
              <a:ea typeface="Twentieth Century"/>
              <a:cs typeface="Twentieth Century"/>
              <a:sym typeface="Twentieth Century"/>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g3f6c0a7b51b_0_0"/>
          <p:cNvSpPr txBox="1"/>
          <p:nvPr>
            <p:ph idx="1" type="body"/>
          </p:nvPr>
        </p:nvSpPr>
        <p:spPr>
          <a:xfrm>
            <a:off x="162425" y="1122725"/>
            <a:ext cx="8907000" cy="3856800"/>
          </a:xfrm>
          <a:prstGeom prst="rect">
            <a:avLst/>
          </a:prstGeom>
          <a:solidFill>
            <a:schemeClr val="lt1"/>
          </a:solidFill>
          <a:ln>
            <a:noFill/>
          </a:ln>
        </p:spPr>
        <p:txBody>
          <a:bodyPr anchorCtr="0" anchor="t" bIns="137150" lIns="137150" spcFirstLastPara="1" rIns="137150" wrap="square" tIns="137150">
            <a:noAutofit/>
          </a:bodyPr>
          <a:lstStyle/>
          <a:p>
            <a:pPr indent="-198681" lvl="0" marL="285750" rtl="0" algn="l">
              <a:lnSpc>
                <a:spcPct val="150000"/>
              </a:lnSpc>
              <a:spcBef>
                <a:spcPts val="1000"/>
              </a:spcBef>
              <a:spcAft>
                <a:spcPts val="0"/>
              </a:spcAft>
              <a:buSzPts val="1629"/>
              <a:buFont typeface="Twentieth Century"/>
              <a:buChar char="●"/>
            </a:pPr>
            <a:r>
              <a:rPr lang="en" sz="1628">
                <a:solidFill>
                  <a:schemeClr val="dk1"/>
                </a:solidFill>
                <a:latin typeface="Twentieth Century"/>
                <a:ea typeface="Twentieth Century"/>
                <a:cs typeface="Twentieth Century"/>
                <a:sym typeface="Twentieth Century"/>
              </a:rPr>
              <a:t>Might already be on your computer due to it being included with your OS or other software</a:t>
            </a:r>
            <a:endParaRPr sz="1628">
              <a:solidFill>
                <a:schemeClr val="dk1"/>
              </a:solidFill>
              <a:latin typeface="Twentieth Century"/>
              <a:ea typeface="Twentieth Century"/>
              <a:cs typeface="Twentieth Century"/>
              <a:sym typeface="Twentieth Century"/>
            </a:endParaRPr>
          </a:p>
          <a:p>
            <a:pPr indent="-192331" lvl="1" marL="520700" rtl="0" algn="l">
              <a:lnSpc>
                <a:spcPct val="150000"/>
              </a:lnSpc>
              <a:spcBef>
                <a:spcPts val="1000"/>
              </a:spcBef>
              <a:spcAft>
                <a:spcPts val="0"/>
              </a:spcAft>
              <a:buSzPts val="1629"/>
              <a:buFont typeface="Twentieth Century"/>
              <a:buChar char="○"/>
            </a:pPr>
            <a:r>
              <a:rPr lang="en" sz="1628">
                <a:solidFill>
                  <a:schemeClr val="dk1"/>
                </a:solidFill>
                <a:latin typeface="Twentieth Century"/>
                <a:ea typeface="Twentieth Century"/>
                <a:cs typeface="Twentieth Century"/>
                <a:sym typeface="Twentieth Century"/>
              </a:rPr>
              <a:t>Be careful if you have multiple Python versions installed and on Mac </a:t>
            </a:r>
            <a:r>
              <a:rPr b="1" lang="en" sz="1628">
                <a:solidFill>
                  <a:schemeClr val="dk1"/>
                </a:solidFill>
                <a:latin typeface="Twentieth Century"/>
                <a:ea typeface="Twentieth Century"/>
                <a:cs typeface="Twentieth Century"/>
                <a:sym typeface="Twentieth Century"/>
              </a:rPr>
              <a:t>do not </a:t>
            </a:r>
            <a:r>
              <a:rPr lang="en" sz="1628">
                <a:solidFill>
                  <a:schemeClr val="dk1"/>
                </a:solidFill>
                <a:latin typeface="Twentieth Century"/>
                <a:ea typeface="Twentieth Century"/>
                <a:cs typeface="Twentieth Century"/>
                <a:sym typeface="Twentieth Century"/>
              </a:rPr>
              <a:t>use OS Python version</a:t>
            </a:r>
            <a:endParaRPr sz="1628">
              <a:solidFill>
                <a:schemeClr val="dk1"/>
              </a:solidFill>
              <a:latin typeface="Twentieth Century"/>
              <a:ea typeface="Twentieth Century"/>
              <a:cs typeface="Twentieth Century"/>
              <a:sym typeface="Twentieth Century"/>
            </a:endParaRPr>
          </a:p>
          <a:p>
            <a:pPr indent="-187569" lvl="1" marL="520700" rtl="0" algn="l">
              <a:lnSpc>
                <a:spcPct val="150000"/>
              </a:lnSpc>
              <a:spcBef>
                <a:spcPts val="1000"/>
              </a:spcBef>
              <a:spcAft>
                <a:spcPts val="0"/>
              </a:spcAft>
              <a:buSzPts val="1554"/>
              <a:buFont typeface="Twentieth Century"/>
              <a:buChar char="○"/>
            </a:pPr>
            <a:r>
              <a:rPr lang="en" sz="1628">
                <a:solidFill>
                  <a:schemeClr val="dk1"/>
                </a:solidFill>
                <a:latin typeface="Twentieth Century"/>
                <a:ea typeface="Twentieth Century"/>
                <a:cs typeface="Twentieth Century"/>
                <a:sym typeface="Twentieth Century"/>
              </a:rPr>
              <a:t>Virtual environments can help manage multiple Python and package versions on your local machine. For more information and installation instructions, please consult this link: </a:t>
            </a:r>
            <a:r>
              <a:rPr lang="en" sz="1628" u="sng">
                <a:solidFill>
                  <a:schemeClr val="hlink"/>
                </a:solidFill>
                <a:latin typeface="Twentieth Century"/>
                <a:ea typeface="Twentieth Century"/>
                <a:cs typeface="Twentieth Century"/>
                <a:sym typeface="Twentieth Century"/>
                <a:hlinkClick r:id="rId3"/>
              </a:rPr>
              <a:t>http://tiny.cc/k1zv001</a:t>
            </a:r>
            <a:endParaRPr sz="1628">
              <a:latin typeface="Twentieth Century"/>
              <a:ea typeface="Twentieth Century"/>
              <a:cs typeface="Twentieth Century"/>
              <a:sym typeface="Twentieth Century"/>
            </a:endParaRPr>
          </a:p>
          <a:p>
            <a:pPr indent="-198681" lvl="0" marL="285750" rtl="0" algn="l">
              <a:lnSpc>
                <a:spcPct val="150000"/>
              </a:lnSpc>
              <a:spcBef>
                <a:spcPts val="1000"/>
              </a:spcBef>
              <a:spcAft>
                <a:spcPts val="0"/>
              </a:spcAft>
              <a:buSzPts val="1629"/>
              <a:buFont typeface="Twentieth Century"/>
              <a:buChar char="●"/>
            </a:pPr>
            <a:r>
              <a:rPr lang="en" sz="1628">
                <a:solidFill>
                  <a:schemeClr val="dk1"/>
                </a:solidFill>
                <a:latin typeface="Twentieth Century"/>
                <a:ea typeface="Twentieth Century"/>
                <a:cs typeface="Twentieth Century"/>
                <a:sym typeface="Twentieth Century"/>
              </a:rPr>
              <a:t>You can install Python using the </a:t>
            </a:r>
            <a:r>
              <a:rPr lang="en" sz="1628" u="sng">
                <a:solidFill>
                  <a:schemeClr val="hlink"/>
                </a:solidFill>
                <a:latin typeface="Twentieth Century"/>
                <a:ea typeface="Twentieth Century"/>
                <a:cs typeface="Twentieth Century"/>
                <a:sym typeface="Twentieth Century"/>
                <a:hlinkClick r:id="rId4"/>
              </a:rPr>
              <a:t>default installer</a:t>
            </a:r>
            <a:r>
              <a:rPr lang="en" sz="1628">
                <a:latin typeface="Twentieth Century"/>
                <a:ea typeface="Twentieth Century"/>
                <a:cs typeface="Twentieth Century"/>
                <a:sym typeface="Twentieth Century"/>
              </a:rPr>
              <a:t> </a:t>
            </a:r>
            <a:r>
              <a:rPr lang="en" sz="1628">
                <a:solidFill>
                  <a:schemeClr val="dk1"/>
                </a:solidFill>
                <a:latin typeface="Twentieth Century"/>
                <a:ea typeface="Twentieth Century"/>
                <a:cs typeface="Twentieth Century"/>
                <a:sym typeface="Twentieth Century"/>
              </a:rPr>
              <a:t>or you can use a package manager like </a:t>
            </a:r>
            <a:r>
              <a:rPr lang="en" sz="1628" u="sng">
                <a:solidFill>
                  <a:schemeClr val="hlink"/>
                </a:solidFill>
                <a:latin typeface="Twentieth Century"/>
                <a:ea typeface="Twentieth Century"/>
                <a:cs typeface="Twentieth Century"/>
                <a:sym typeface="Twentieth Century"/>
                <a:hlinkClick r:id="rId5"/>
              </a:rPr>
              <a:t>Anaconda</a:t>
            </a:r>
            <a:endParaRPr sz="1628">
              <a:latin typeface="Twentieth Century"/>
              <a:ea typeface="Twentieth Century"/>
              <a:cs typeface="Twentieth Century"/>
              <a:sym typeface="Twentieth Century"/>
            </a:endParaRPr>
          </a:p>
          <a:p>
            <a:pPr indent="-198681" lvl="0" marL="285750" rtl="0" algn="l">
              <a:lnSpc>
                <a:spcPct val="150000"/>
              </a:lnSpc>
              <a:spcBef>
                <a:spcPts val="1000"/>
              </a:spcBef>
              <a:spcAft>
                <a:spcPts val="0"/>
              </a:spcAft>
              <a:buSzPts val="1629"/>
              <a:buFont typeface="Twentieth Century"/>
              <a:buChar char="●"/>
            </a:pPr>
            <a:r>
              <a:rPr lang="en" sz="1628">
                <a:solidFill>
                  <a:schemeClr val="dk1"/>
                </a:solidFill>
                <a:latin typeface="Twentieth Century"/>
                <a:ea typeface="Twentieth Century"/>
                <a:cs typeface="Twentieth Century"/>
                <a:sym typeface="Twentieth Century"/>
              </a:rPr>
              <a:t>Once Python is installed, you will likely want to install extra packages</a:t>
            </a:r>
            <a:endParaRPr sz="1628">
              <a:solidFill>
                <a:schemeClr val="dk1"/>
              </a:solidFill>
              <a:latin typeface="Twentieth Century"/>
              <a:ea typeface="Twentieth Century"/>
              <a:cs typeface="Twentieth Century"/>
              <a:sym typeface="Twentieth Century"/>
            </a:endParaRPr>
          </a:p>
          <a:p>
            <a:pPr indent="-192331" lvl="1" marL="520700" rtl="0" algn="l">
              <a:lnSpc>
                <a:spcPct val="150000"/>
              </a:lnSpc>
              <a:spcBef>
                <a:spcPts val="1000"/>
              </a:spcBef>
              <a:spcAft>
                <a:spcPts val="0"/>
              </a:spcAft>
              <a:buSzPts val="1629"/>
              <a:buFont typeface="Twentieth Century"/>
              <a:buChar char="○"/>
            </a:pPr>
            <a:r>
              <a:rPr lang="en" sz="1628">
                <a:solidFill>
                  <a:schemeClr val="dk1"/>
                </a:solidFill>
                <a:latin typeface="Twentieth Century"/>
                <a:ea typeface="Twentieth Century"/>
                <a:cs typeface="Twentieth Century"/>
                <a:sym typeface="Twentieth Century"/>
              </a:rPr>
              <a:t>You can do this with </a:t>
            </a:r>
            <a:r>
              <a:rPr b="1" lang="en" sz="1628">
                <a:solidFill>
                  <a:schemeClr val="dk1"/>
                </a:solidFill>
                <a:latin typeface="Twentieth Century"/>
                <a:ea typeface="Twentieth Century"/>
                <a:cs typeface="Twentieth Century"/>
                <a:sym typeface="Twentieth Century"/>
              </a:rPr>
              <a:t>pip </a:t>
            </a:r>
            <a:r>
              <a:rPr lang="en" sz="1628">
                <a:solidFill>
                  <a:schemeClr val="dk1"/>
                </a:solidFill>
                <a:latin typeface="Twentieth Century"/>
                <a:ea typeface="Twentieth Century"/>
                <a:cs typeface="Twentieth Century"/>
                <a:sym typeface="Twentieth Century"/>
              </a:rPr>
              <a:t>or with </a:t>
            </a:r>
            <a:r>
              <a:rPr b="1" lang="en" sz="1628">
                <a:solidFill>
                  <a:schemeClr val="dk1"/>
                </a:solidFill>
                <a:latin typeface="Twentieth Century"/>
                <a:ea typeface="Twentieth Century"/>
                <a:cs typeface="Twentieth Century"/>
                <a:sym typeface="Twentieth Century"/>
              </a:rPr>
              <a:t>Anaconda, </a:t>
            </a:r>
            <a:r>
              <a:rPr lang="en" sz="1628">
                <a:solidFill>
                  <a:schemeClr val="dk1"/>
                </a:solidFill>
                <a:latin typeface="Twentieth Century"/>
                <a:ea typeface="Twentieth Century"/>
                <a:cs typeface="Twentieth Century"/>
                <a:sym typeface="Twentieth Century"/>
              </a:rPr>
              <a:t>but for this workshop we will focus on using </a:t>
            </a:r>
            <a:r>
              <a:rPr b="1" lang="en" sz="1628">
                <a:solidFill>
                  <a:schemeClr val="dk1"/>
                </a:solidFill>
                <a:latin typeface="Twentieth Century"/>
                <a:ea typeface="Twentieth Century"/>
                <a:cs typeface="Twentieth Century"/>
                <a:sym typeface="Twentieth Century"/>
              </a:rPr>
              <a:t>pip</a:t>
            </a:r>
            <a:endParaRPr b="1" sz="1478">
              <a:solidFill>
                <a:schemeClr val="dk1"/>
              </a:solidFill>
              <a:latin typeface="Twentieth Century"/>
              <a:ea typeface="Twentieth Century"/>
              <a:cs typeface="Twentieth Century"/>
              <a:sym typeface="Twentieth Century"/>
            </a:endParaRPr>
          </a:p>
          <a:p>
            <a:pPr indent="0" lvl="1" marL="342900" rtl="0" algn="l">
              <a:lnSpc>
                <a:spcPct val="150000"/>
              </a:lnSpc>
              <a:spcBef>
                <a:spcPts val="1000"/>
              </a:spcBef>
              <a:spcAft>
                <a:spcPts val="0"/>
              </a:spcAft>
              <a:buClr>
                <a:schemeClr val="dk1"/>
              </a:buClr>
              <a:buSzPts val="200"/>
              <a:buNone/>
            </a:pPr>
            <a:r>
              <a:t/>
            </a:r>
            <a:endParaRPr sz="950">
              <a:latin typeface="Twentieth Century"/>
              <a:ea typeface="Twentieth Century"/>
              <a:cs typeface="Twentieth Century"/>
              <a:sym typeface="Twentieth Century"/>
            </a:endParaRPr>
          </a:p>
          <a:p>
            <a:pPr indent="-127000" lvl="1" marL="520700" rtl="0" algn="l">
              <a:lnSpc>
                <a:spcPct val="150000"/>
              </a:lnSpc>
              <a:spcBef>
                <a:spcPts val="1000"/>
              </a:spcBef>
              <a:spcAft>
                <a:spcPts val="0"/>
              </a:spcAft>
              <a:buClr>
                <a:schemeClr val="dk1"/>
              </a:buClr>
              <a:buSzPts val="200"/>
              <a:buFont typeface="Noto Sans Symbols"/>
              <a:buNone/>
            </a:pPr>
            <a:r>
              <a:t/>
            </a:r>
            <a:endParaRPr sz="950">
              <a:latin typeface="Twentieth Century"/>
              <a:ea typeface="Twentieth Century"/>
              <a:cs typeface="Twentieth Century"/>
              <a:sym typeface="Twentieth Century"/>
            </a:endParaRPr>
          </a:p>
          <a:p>
            <a:pPr indent="-127000" lvl="0" marL="177800" rtl="0" algn="l">
              <a:lnSpc>
                <a:spcPct val="150000"/>
              </a:lnSpc>
              <a:spcBef>
                <a:spcPts val="1000"/>
              </a:spcBef>
              <a:spcAft>
                <a:spcPts val="1200"/>
              </a:spcAft>
              <a:buClr>
                <a:schemeClr val="dk1"/>
              </a:buClr>
              <a:buSzPts val="200"/>
              <a:buFont typeface="Noto Sans Symbols"/>
              <a:buNone/>
            </a:pPr>
            <a:r>
              <a:t/>
            </a:r>
            <a:endParaRPr sz="950">
              <a:latin typeface="Twentieth Century"/>
              <a:ea typeface="Twentieth Century"/>
              <a:cs typeface="Twentieth Century"/>
              <a:sym typeface="Twentieth Century"/>
            </a:endParaRPr>
          </a:p>
        </p:txBody>
      </p:sp>
      <p:sp>
        <p:nvSpPr>
          <p:cNvPr id="241" name="Google Shape;241;g3f6c0a7b51b_0_0"/>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200"/>
              </a:srgbClr>
            </a:outerShdw>
          </a:effectLst>
        </p:spPr>
        <p:txBody>
          <a:bodyPr anchorCtr="0" anchor="ctr" bIns="34275" lIns="68575" spcFirstLastPara="1" rIns="68575" wrap="square" tIns="34275">
            <a:norm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Installing Python Locally</a:t>
            </a:r>
            <a:endParaRPr b="1" sz="2500">
              <a:solidFill>
                <a:schemeClr val="lt1"/>
              </a:solidFill>
              <a:latin typeface="Twentieth Century"/>
              <a:ea typeface="Twentieth Century"/>
              <a:cs typeface="Twentieth Century"/>
              <a:sym typeface="Twentieth Century"/>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g3f6c0a7b51b_0_6"/>
          <p:cNvSpPr txBox="1"/>
          <p:nvPr>
            <p:ph idx="1" type="body"/>
          </p:nvPr>
        </p:nvSpPr>
        <p:spPr>
          <a:xfrm>
            <a:off x="162425" y="1122725"/>
            <a:ext cx="6623700" cy="3871500"/>
          </a:xfrm>
          <a:prstGeom prst="rect">
            <a:avLst/>
          </a:prstGeom>
          <a:solidFill>
            <a:schemeClr val="lt1"/>
          </a:solidFill>
          <a:ln>
            <a:noFill/>
          </a:ln>
        </p:spPr>
        <p:txBody>
          <a:bodyPr anchorCtr="0" anchor="t" bIns="137150" lIns="137150" spcFirstLastPara="1" rIns="137150" wrap="square" tIns="137150">
            <a:noAutofit/>
          </a:bodyPr>
          <a:lstStyle/>
          <a:p>
            <a:pPr indent="-198681" lvl="0" marL="285750" rtl="0" algn="l">
              <a:lnSpc>
                <a:spcPct val="150000"/>
              </a:lnSpc>
              <a:spcBef>
                <a:spcPts val="1000"/>
              </a:spcBef>
              <a:spcAft>
                <a:spcPts val="0"/>
              </a:spcAft>
              <a:buSzPts val="1629"/>
              <a:buFont typeface="Twentieth Century"/>
              <a:buChar char="●"/>
            </a:pPr>
            <a:r>
              <a:rPr lang="en" sz="1478">
                <a:solidFill>
                  <a:schemeClr val="dk1"/>
                </a:solidFill>
                <a:latin typeface="Twentieth Century"/>
                <a:ea typeface="Twentieth Century"/>
                <a:cs typeface="Twentieth Century"/>
                <a:sym typeface="Twentieth Century"/>
              </a:rPr>
              <a:t>A virtual environment is an isolated, self-contained environment on your local computer that uses specific versions of a programming language (such as Python) and any installed libraries or packages. </a:t>
            </a:r>
            <a:endParaRPr sz="1478">
              <a:solidFill>
                <a:schemeClr val="dk1"/>
              </a:solidFill>
              <a:latin typeface="Twentieth Century"/>
              <a:ea typeface="Twentieth Century"/>
              <a:cs typeface="Twentieth Century"/>
              <a:sym typeface="Twentieth Century"/>
            </a:endParaRPr>
          </a:p>
          <a:p>
            <a:pPr indent="-189093" lvl="0" marL="285750" rtl="0" algn="l">
              <a:lnSpc>
                <a:spcPct val="150000"/>
              </a:lnSpc>
              <a:spcBef>
                <a:spcPts val="1000"/>
              </a:spcBef>
              <a:spcAft>
                <a:spcPts val="0"/>
              </a:spcAft>
              <a:buSzPts val="1478"/>
              <a:buFont typeface="Twentieth Century"/>
              <a:buChar char="●"/>
            </a:pPr>
            <a:r>
              <a:rPr lang="en" sz="1478">
                <a:solidFill>
                  <a:schemeClr val="dk1"/>
                </a:solidFill>
                <a:latin typeface="Twentieth Century"/>
                <a:ea typeface="Twentieth Century"/>
                <a:cs typeface="Twentieth Century"/>
                <a:sym typeface="Twentieth Century"/>
              </a:rPr>
              <a:t>This environment lives in a directory on your computer, and can be activated and deactivated whenever you need to enter or leave it.</a:t>
            </a:r>
            <a:endParaRPr sz="1478">
              <a:solidFill>
                <a:schemeClr val="dk1"/>
              </a:solidFill>
              <a:latin typeface="Twentieth Century"/>
              <a:ea typeface="Twentieth Century"/>
              <a:cs typeface="Twentieth Century"/>
              <a:sym typeface="Twentieth Century"/>
            </a:endParaRPr>
          </a:p>
          <a:p>
            <a:pPr indent="-189093" lvl="0" marL="285750" rtl="0" algn="l">
              <a:lnSpc>
                <a:spcPct val="150000"/>
              </a:lnSpc>
              <a:spcBef>
                <a:spcPts val="1000"/>
              </a:spcBef>
              <a:spcAft>
                <a:spcPts val="0"/>
              </a:spcAft>
              <a:buSzPts val="1478"/>
              <a:buFont typeface="Twentieth Century"/>
              <a:buChar char="●"/>
            </a:pPr>
            <a:r>
              <a:rPr lang="en" sz="1478">
                <a:solidFill>
                  <a:schemeClr val="dk1"/>
                </a:solidFill>
                <a:latin typeface="Twentieth Century"/>
                <a:ea typeface="Twentieth Century"/>
                <a:cs typeface="Twentieth Century"/>
                <a:sym typeface="Twentieth Century"/>
              </a:rPr>
              <a:t>Virtual environments are independent of your code–you can run the same Python script in different virtual environments.</a:t>
            </a:r>
            <a:endParaRPr sz="1478">
              <a:solidFill>
                <a:schemeClr val="dk1"/>
              </a:solidFill>
              <a:latin typeface="Twentieth Century"/>
              <a:ea typeface="Twentieth Century"/>
              <a:cs typeface="Twentieth Century"/>
              <a:sym typeface="Twentieth Century"/>
            </a:endParaRPr>
          </a:p>
          <a:p>
            <a:pPr indent="-189093" lvl="0" marL="285750" rtl="0" algn="l">
              <a:lnSpc>
                <a:spcPct val="150000"/>
              </a:lnSpc>
              <a:spcBef>
                <a:spcPts val="1000"/>
              </a:spcBef>
              <a:spcAft>
                <a:spcPts val="0"/>
              </a:spcAft>
              <a:buSzPts val="1478"/>
              <a:buFont typeface="Twentieth Century"/>
              <a:buChar char="●"/>
            </a:pPr>
            <a:r>
              <a:rPr lang="en" sz="1478">
                <a:solidFill>
                  <a:schemeClr val="dk1"/>
                </a:solidFill>
                <a:latin typeface="Twentieth Century"/>
                <a:ea typeface="Twentieth Century"/>
                <a:cs typeface="Twentieth Century"/>
                <a:sym typeface="Twentieth Century"/>
              </a:rPr>
              <a:t>Using virtual environments helps to avoid issues with software versioning, as you can have different versions of a Python package installed in different virtual environments. </a:t>
            </a:r>
            <a:endParaRPr sz="950">
              <a:solidFill>
                <a:schemeClr val="dk1"/>
              </a:solidFill>
              <a:latin typeface="Twentieth Century"/>
              <a:ea typeface="Twentieth Century"/>
              <a:cs typeface="Twentieth Century"/>
              <a:sym typeface="Twentieth Century"/>
            </a:endParaRPr>
          </a:p>
          <a:p>
            <a:pPr indent="-127000" lvl="1" marL="520700" rtl="0" algn="l">
              <a:lnSpc>
                <a:spcPct val="150000"/>
              </a:lnSpc>
              <a:spcBef>
                <a:spcPts val="1000"/>
              </a:spcBef>
              <a:spcAft>
                <a:spcPts val="0"/>
              </a:spcAft>
              <a:buClr>
                <a:schemeClr val="dk1"/>
              </a:buClr>
              <a:buSzPts val="200"/>
              <a:buFont typeface="Noto Sans Symbols"/>
              <a:buNone/>
            </a:pPr>
            <a:r>
              <a:t/>
            </a:r>
            <a:endParaRPr sz="950">
              <a:latin typeface="Twentieth Century"/>
              <a:ea typeface="Twentieth Century"/>
              <a:cs typeface="Twentieth Century"/>
              <a:sym typeface="Twentieth Century"/>
            </a:endParaRPr>
          </a:p>
          <a:p>
            <a:pPr indent="-127000" lvl="0" marL="177800" rtl="0" algn="l">
              <a:lnSpc>
                <a:spcPct val="150000"/>
              </a:lnSpc>
              <a:spcBef>
                <a:spcPts val="1000"/>
              </a:spcBef>
              <a:spcAft>
                <a:spcPts val="1200"/>
              </a:spcAft>
              <a:buClr>
                <a:schemeClr val="dk1"/>
              </a:buClr>
              <a:buSzPts val="200"/>
              <a:buFont typeface="Noto Sans Symbols"/>
              <a:buNone/>
            </a:pPr>
            <a:r>
              <a:t/>
            </a:r>
            <a:endParaRPr sz="950">
              <a:latin typeface="Twentieth Century"/>
              <a:ea typeface="Twentieth Century"/>
              <a:cs typeface="Twentieth Century"/>
              <a:sym typeface="Twentieth Century"/>
            </a:endParaRPr>
          </a:p>
        </p:txBody>
      </p:sp>
      <p:sp>
        <p:nvSpPr>
          <p:cNvPr id="248" name="Google Shape;248;g3f6c0a7b51b_0_6"/>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200"/>
              </a:srgbClr>
            </a:outerShdw>
          </a:effectLst>
        </p:spPr>
        <p:txBody>
          <a:bodyPr anchorCtr="0" anchor="ctr" bIns="34275" lIns="68575" spcFirstLastPara="1" rIns="68575" wrap="square" tIns="34275">
            <a:norm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Virtual Environments  </a:t>
            </a:r>
            <a:endParaRPr b="1" sz="2500">
              <a:solidFill>
                <a:schemeClr val="lt1"/>
              </a:solidFill>
              <a:latin typeface="Twentieth Century"/>
              <a:ea typeface="Twentieth Century"/>
              <a:cs typeface="Twentieth Century"/>
              <a:sym typeface="Twentieth Century"/>
            </a:endParaRPr>
          </a:p>
        </p:txBody>
      </p:sp>
      <p:pic>
        <p:nvPicPr>
          <p:cNvPr id="249" name="Google Shape;249;g3f6c0a7b51b_0_6" title="Screenshot 2026-07-07 at 11.23.33 AM.png"/>
          <p:cNvPicPr preferRelativeResize="0"/>
          <p:nvPr/>
        </p:nvPicPr>
        <p:blipFill>
          <a:blip r:embed="rId3">
            <a:alphaModFix/>
          </a:blip>
          <a:stretch>
            <a:fillRect/>
          </a:stretch>
        </p:blipFill>
        <p:spPr>
          <a:xfrm>
            <a:off x="6897300" y="2082600"/>
            <a:ext cx="2133600" cy="14097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g3f6c0a7b51b_0_13"/>
          <p:cNvSpPr txBox="1"/>
          <p:nvPr>
            <p:ph idx="1" type="body"/>
          </p:nvPr>
        </p:nvSpPr>
        <p:spPr>
          <a:xfrm>
            <a:off x="162425" y="1122725"/>
            <a:ext cx="8836500" cy="3856800"/>
          </a:xfrm>
          <a:prstGeom prst="rect">
            <a:avLst/>
          </a:prstGeom>
          <a:solidFill>
            <a:schemeClr val="lt1"/>
          </a:solidFill>
          <a:ln>
            <a:noFill/>
          </a:ln>
        </p:spPr>
        <p:txBody>
          <a:bodyPr anchorCtr="0" anchor="t" bIns="137150" lIns="137150" spcFirstLastPara="1" rIns="137150" wrap="square" tIns="137150">
            <a:noAutofit/>
          </a:bodyPr>
          <a:lstStyle/>
          <a:p>
            <a:pPr indent="-196840" lvl="0" marL="285750" rtl="0" algn="l">
              <a:lnSpc>
                <a:spcPct val="115000"/>
              </a:lnSpc>
              <a:spcBef>
                <a:spcPts val="1000"/>
              </a:spcBef>
              <a:spcAft>
                <a:spcPts val="0"/>
              </a:spcAft>
              <a:buSzPts val="1600"/>
              <a:buFont typeface="Twentieth Century"/>
              <a:buChar char="●"/>
            </a:pPr>
            <a:r>
              <a:rPr lang="en" sz="1600">
                <a:solidFill>
                  <a:schemeClr val="dk1"/>
                </a:solidFill>
                <a:latin typeface="Twentieth Century"/>
                <a:ea typeface="Twentieth Century"/>
                <a:cs typeface="Twentieth Century"/>
                <a:sym typeface="Twentieth Century"/>
              </a:rPr>
              <a:t>Using virtual environments helps to avoid issues with software versioning, as you can have different versions of a Python package installed in different virtual environments. </a:t>
            </a:r>
            <a:endParaRPr sz="1600">
              <a:solidFill>
                <a:schemeClr val="dk1"/>
              </a:solidFill>
              <a:latin typeface="Twentieth Century"/>
              <a:ea typeface="Twentieth Century"/>
              <a:cs typeface="Twentieth Century"/>
              <a:sym typeface="Twentieth Century"/>
            </a:endParaRPr>
          </a:p>
          <a:p>
            <a:pPr indent="-196840" lvl="0" marL="285750" rtl="0" algn="l">
              <a:lnSpc>
                <a:spcPct val="115000"/>
              </a:lnSpc>
              <a:spcBef>
                <a:spcPts val="3300"/>
              </a:spcBef>
              <a:spcAft>
                <a:spcPts val="0"/>
              </a:spcAft>
              <a:buSzPts val="1600"/>
              <a:buFont typeface="Twentieth Century"/>
              <a:buChar char="●"/>
            </a:pPr>
            <a:r>
              <a:rPr lang="en" sz="1600">
                <a:solidFill>
                  <a:schemeClr val="dk1"/>
                </a:solidFill>
                <a:latin typeface="Twentieth Century"/>
                <a:ea typeface="Twentieth Century"/>
                <a:cs typeface="Twentieth Century"/>
                <a:sym typeface="Twentieth Century"/>
              </a:rPr>
              <a:t>A virtual environment is a sandboxed directory where you can install packages and run different Python versions separate from your main machine. This can also help avoid clashes between your system’s version of Python and a version you are using for coding.</a:t>
            </a:r>
            <a:endParaRPr sz="1600">
              <a:solidFill>
                <a:schemeClr val="dk1"/>
              </a:solidFill>
              <a:latin typeface="Twentieth Century"/>
              <a:ea typeface="Twentieth Century"/>
              <a:cs typeface="Twentieth Century"/>
              <a:sym typeface="Twentieth Century"/>
            </a:endParaRPr>
          </a:p>
          <a:p>
            <a:pPr indent="-195443" lvl="0" marL="285750" rtl="0" algn="l">
              <a:lnSpc>
                <a:spcPct val="115000"/>
              </a:lnSpc>
              <a:spcBef>
                <a:spcPts val="3300"/>
              </a:spcBef>
              <a:spcAft>
                <a:spcPts val="0"/>
              </a:spcAft>
              <a:buSzPts val="1578"/>
              <a:buFont typeface="Twentieth Century"/>
              <a:buChar char="●"/>
            </a:pPr>
            <a:r>
              <a:rPr lang="en" sz="1600">
                <a:solidFill>
                  <a:schemeClr val="dk1"/>
                </a:solidFill>
                <a:latin typeface="Twentieth Century"/>
                <a:ea typeface="Twentieth Century"/>
                <a:cs typeface="Twentieth Century"/>
                <a:sym typeface="Twentieth Century"/>
              </a:rPr>
              <a:t>Virtual environments help facilitate reproducibility</a:t>
            </a:r>
            <a:r>
              <a:rPr lang="en" sz="1578">
                <a:latin typeface="Twentieth Century"/>
                <a:ea typeface="Twentieth Century"/>
                <a:cs typeface="Twentieth Century"/>
                <a:sym typeface="Twentieth Century"/>
              </a:rPr>
              <a:t> </a:t>
            </a:r>
            <a:r>
              <a:rPr lang="en" sz="1600">
                <a:solidFill>
                  <a:srgbClr val="121212"/>
                </a:solidFill>
                <a:latin typeface="Twentieth Century"/>
                <a:ea typeface="Twentieth Century"/>
                <a:cs typeface="Twentieth Century"/>
                <a:sym typeface="Twentieth Century"/>
              </a:rPr>
              <a:t>because you can export exact package versions into a </a:t>
            </a:r>
            <a:r>
              <a:rPr b="1" lang="en" sz="1250">
                <a:solidFill>
                  <a:srgbClr val="188038"/>
                </a:solidFill>
                <a:latin typeface="Courier New"/>
                <a:ea typeface="Courier New"/>
                <a:cs typeface="Courier New"/>
                <a:sym typeface="Courier New"/>
              </a:rPr>
              <a:t>requirements.txt</a:t>
            </a:r>
            <a:r>
              <a:rPr b="1" lang="en" sz="1300">
                <a:solidFill>
                  <a:schemeClr val="dk1"/>
                </a:solidFill>
              </a:rPr>
              <a:t> </a:t>
            </a:r>
            <a:r>
              <a:rPr lang="en" sz="1600">
                <a:solidFill>
                  <a:srgbClr val="121212"/>
                </a:solidFill>
                <a:latin typeface="Twentieth Century"/>
                <a:ea typeface="Twentieth Century"/>
                <a:cs typeface="Twentieth Century"/>
                <a:sym typeface="Twentieth Century"/>
              </a:rPr>
              <a:t>using the </a:t>
            </a:r>
            <a:r>
              <a:rPr b="1" lang="en" sz="1250">
                <a:solidFill>
                  <a:srgbClr val="188038"/>
                </a:solidFill>
                <a:latin typeface="Courier New"/>
                <a:ea typeface="Courier New"/>
                <a:cs typeface="Courier New"/>
                <a:sym typeface="Courier New"/>
              </a:rPr>
              <a:t>pip freeze &gt; requirements.txt</a:t>
            </a:r>
            <a:r>
              <a:rPr b="1" lang="en" sz="1100">
                <a:solidFill>
                  <a:schemeClr val="dk1"/>
                </a:solidFill>
              </a:rPr>
              <a:t> </a:t>
            </a:r>
            <a:r>
              <a:rPr lang="en" sz="1600">
                <a:solidFill>
                  <a:srgbClr val="121212"/>
                </a:solidFill>
                <a:latin typeface="Twentieth Century"/>
                <a:ea typeface="Twentieth Century"/>
                <a:cs typeface="Twentieth Century"/>
                <a:sym typeface="Twentieth Century"/>
              </a:rPr>
              <a:t>command. This allows other users of your scripts to quickly recreate the same setup on their machine.</a:t>
            </a:r>
            <a:endParaRPr sz="950">
              <a:latin typeface="Twentieth Century"/>
              <a:ea typeface="Twentieth Century"/>
              <a:cs typeface="Twentieth Century"/>
              <a:sym typeface="Twentieth Century"/>
            </a:endParaRPr>
          </a:p>
          <a:p>
            <a:pPr indent="-127000" lvl="0" marL="177800" rtl="0" algn="l">
              <a:lnSpc>
                <a:spcPct val="115000"/>
              </a:lnSpc>
              <a:spcBef>
                <a:spcPts val="3300"/>
              </a:spcBef>
              <a:spcAft>
                <a:spcPts val="2200"/>
              </a:spcAft>
              <a:buClr>
                <a:schemeClr val="dk1"/>
              </a:buClr>
              <a:buSzPts val="200"/>
              <a:buFont typeface="Noto Sans Symbols"/>
              <a:buNone/>
            </a:pPr>
            <a:r>
              <a:t/>
            </a:r>
            <a:endParaRPr sz="950">
              <a:latin typeface="Twentieth Century"/>
              <a:ea typeface="Twentieth Century"/>
              <a:cs typeface="Twentieth Century"/>
              <a:sym typeface="Twentieth Century"/>
            </a:endParaRPr>
          </a:p>
        </p:txBody>
      </p:sp>
      <p:sp>
        <p:nvSpPr>
          <p:cNvPr id="256" name="Google Shape;256;g3f6c0a7b51b_0_13"/>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200"/>
              </a:srgbClr>
            </a:outerShdw>
          </a:effectLst>
        </p:spPr>
        <p:txBody>
          <a:bodyPr anchorCtr="0" anchor="ctr" bIns="34275" lIns="68575" spcFirstLastPara="1" rIns="68575" wrap="square" tIns="34275">
            <a:norm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Why Use Virtual Environments?</a:t>
            </a:r>
            <a:endParaRPr b="1" sz="2500">
              <a:solidFill>
                <a:schemeClr val="lt1"/>
              </a:solidFill>
              <a:latin typeface="Twentieth Century"/>
              <a:ea typeface="Twentieth Century"/>
              <a:cs typeface="Twentieth Century"/>
              <a:sym typeface="Twentieth Century"/>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g3f6c0a7b51b_0_25"/>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200"/>
              </a:srgbClr>
            </a:outerShdw>
          </a:effectLst>
        </p:spPr>
        <p:txBody>
          <a:bodyPr anchorCtr="0" anchor="ctr" bIns="34275" lIns="68575" spcFirstLastPara="1" rIns="68575" wrap="square" tIns="34275">
            <a:norm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Manage Use of Existing Virtual Environment with VSCode</a:t>
            </a:r>
            <a:endParaRPr b="1" sz="2500">
              <a:solidFill>
                <a:schemeClr val="lt1"/>
              </a:solidFill>
              <a:latin typeface="Twentieth Century"/>
              <a:ea typeface="Twentieth Century"/>
              <a:cs typeface="Twentieth Century"/>
              <a:sym typeface="Twentieth Century"/>
            </a:endParaRPr>
          </a:p>
        </p:txBody>
      </p:sp>
      <p:sp>
        <p:nvSpPr>
          <p:cNvPr id="263" name="Google Shape;263;g3f6c0a7b51b_0_25"/>
          <p:cNvSpPr txBox="1"/>
          <p:nvPr/>
        </p:nvSpPr>
        <p:spPr>
          <a:xfrm>
            <a:off x="304950" y="960775"/>
            <a:ext cx="3889800" cy="1386600"/>
          </a:xfrm>
          <a:prstGeom prst="rect">
            <a:avLst/>
          </a:prstGeom>
          <a:solidFill>
            <a:srgbClr val="FFFFFF"/>
          </a:solidFill>
          <a:ln cap="flat" cmpd="sng" w="9525">
            <a:solidFill>
              <a:srgbClr val="7F7F7F"/>
            </a:solidFill>
            <a:prstDash val="solid"/>
            <a:round/>
            <a:headEnd len="sm" w="sm" type="none"/>
            <a:tailEnd len="sm" w="sm" type="none"/>
          </a:ln>
          <a:effectLst>
            <a:outerShdw blurRad="101600" rotWithShape="0" algn="tl" dir="2700000" dist="50800">
              <a:srgbClr val="000000">
                <a:alpha val="66670"/>
              </a:srgbClr>
            </a:outerShdw>
          </a:effectLst>
        </p:spPr>
        <p:txBody>
          <a:bodyPr anchorCtr="0" anchor="t" bIns="34275" lIns="205725" spcFirstLastPara="1" rIns="68575" wrap="square" tIns="246875">
            <a:noAutofit/>
          </a:bodyPr>
          <a:lstStyle/>
          <a:p>
            <a:pPr indent="-317500" lvl="0" marL="457200" marR="0" rtl="0" algn="l">
              <a:lnSpc>
                <a:spcPct val="100000"/>
              </a:lnSpc>
              <a:spcBef>
                <a:spcPts val="2000"/>
              </a:spcBef>
              <a:spcAft>
                <a:spcPts val="0"/>
              </a:spcAft>
              <a:buClr>
                <a:schemeClr val="dk1"/>
              </a:buClr>
              <a:buSzPts val="1400"/>
              <a:buFont typeface="Twentieth Century"/>
              <a:buAutoNum type="arabicPeriod"/>
            </a:pPr>
            <a:r>
              <a:rPr lang="en">
                <a:solidFill>
                  <a:schemeClr val="dk1"/>
                </a:solidFill>
                <a:latin typeface="Twentieth Century"/>
                <a:ea typeface="Twentieth Century"/>
                <a:cs typeface="Twentieth Century"/>
                <a:sym typeface="Twentieth Century"/>
              </a:rPr>
              <a:t>Open project repo folder in VSCode</a:t>
            </a:r>
            <a:endParaRPr>
              <a:solidFill>
                <a:schemeClr val="dk1"/>
              </a:solidFill>
              <a:latin typeface="Twentieth Century"/>
              <a:ea typeface="Twentieth Century"/>
              <a:cs typeface="Twentieth Century"/>
              <a:sym typeface="Twentieth Century"/>
            </a:endParaRPr>
          </a:p>
          <a:p>
            <a:pPr indent="-317500" lvl="0" marL="457200" marR="0" rtl="0" algn="l">
              <a:lnSpc>
                <a:spcPct val="100000"/>
              </a:lnSpc>
              <a:spcBef>
                <a:spcPts val="2000"/>
              </a:spcBef>
              <a:spcAft>
                <a:spcPts val="0"/>
              </a:spcAft>
              <a:buClr>
                <a:schemeClr val="dk1"/>
              </a:buClr>
              <a:buSzPts val="1400"/>
              <a:buFont typeface="Twentieth Century"/>
              <a:buAutoNum type="arabicPeriod"/>
            </a:pPr>
            <a:r>
              <a:rPr lang="en">
                <a:solidFill>
                  <a:schemeClr val="dk1"/>
                </a:solidFill>
                <a:latin typeface="Twentieth Century"/>
                <a:ea typeface="Twentieth Century"/>
                <a:cs typeface="Twentieth Century"/>
                <a:sym typeface="Twentieth Century"/>
              </a:rPr>
              <a:t>Click on Python version in bottom right to view the Python interpreter selection menu</a:t>
            </a:r>
            <a:endParaRPr>
              <a:solidFill>
                <a:schemeClr val="dk1"/>
              </a:solidFill>
              <a:latin typeface="Twentieth Century"/>
              <a:ea typeface="Twentieth Century"/>
              <a:cs typeface="Twentieth Century"/>
              <a:sym typeface="Twentieth Century"/>
            </a:endParaRPr>
          </a:p>
        </p:txBody>
      </p:sp>
      <p:grpSp>
        <p:nvGrpSpPr>
          <p:cNvPr id="264" name="Google Shape;264;g3f6c0a7b51b_0_25"/>
          <p:cNvGrpSpPr/>
          <p:nvPr/>
        </p:nvGrpSpPr>
        <p:grpSpPr>
          <a:xfrm>
            <a:off x="439360" y="2493351"/>
            <a:ext cx="3675570" cy="2517095"/>
            <a:chOff x="373200" y="2279575"/>
            <a:chExt cx="4056921" cy="2778250"/>
          </a:xfrm>
        </p:grpSpPr>
        <p:pic>
          <p:nvPicPr>
            <p:cNvPr id="265" name="Google Shape;265;g3f6c0a7b51b_0_25"/>
            <p:cNvPicPr preferRelativeResize="0"/>
            <p:nvPr/>
          </p:nvPicPr>
          <p:blipFill>
            <a:blip r:embed="rId3">
              <a:alphaModFix/>
            </a:blip>
            <a:stretch>
              <a:fillRect/>
            </a:stretch>
          </p:blipFill>
          <p:spPr>
            <a:xfrm>
              <a:off x="373200" y="2279575"/>
              <a:ext cx="4056921" cy="2679351"/>
            </a:xfrm>
            <a:prstGeom prst="rect">
              <a:avLst/>
            </a:prstGeom>
            <a:noFill/>
            <a:ln>
              <a:noFill/>
            </a:ln>
            <a:effectLst>
              <a:outerShdw blurRad="51780" rotWithShape="0" algn="bl" dir="5400000" dist="17260">
                <a:srgbClr val="000000">
                  <a:alpha val="50000"/>
                </a:srgbClr>
              </a:outerShdw>
            </a:effectLst>
          </p:spPr>
        </p:pic>
        <p:sp>
          <p:nvSpPr>
            <p:cNvPr id="266" name="Google Shape;266;g3f6c0a7b51b_0_25"/>
            <p:cNvSpPr/>
            <p:nvPr/>
          </p:nvSpPr>
          <p:spPr>
            <a:xfrm>
              <a:off x="3821050" y="4781825"/>
              <a:ext cx="507900" cy="276000"/>
            </a:xfrm>
            <a:prstGeom prst="roundRect">
              <a:avLst>
                <a:gd fmla="val 16667" name="adj"/>
              </a:avLst>
            </a:prstGeom>
            <a:noFill/>
            <a:ln cap="flat" cmpd="sng" w="34525">
              <a:solidFill>
                <a:srgbClr val="00FF00"/>
              </a:solidFill>
              <a:prstDash val="solid"/>
              <a:round/>
              <a:headEnd len="sm" w="sm" type="none"/>
              <a:tailEnd len="sm" w="sm" type="none"/>
            </a:ln>
          </p:spPr>
          <p:txBody>
            <a:bodyPr anchorCtr="0" anchor="ctr" bIns="82825" lIns="82825" spcFirstLastPara="1" rIns="82825" wrap="square" tIns="82825">
              <a:noAutofit/>
            </a:bodyPr>
            <a:lstStyle/>
            <a:p>
              <a:pPr indent="0" lvl="0" marL="0" rtl="0" algn="ctr">
                <a:spcBef>
                  <a:spcPts val="0"/>
                </a:spcBef>
                <a:spcAft>
                  <a:spcPts val="0"/>
                </a:spcAft>
                <a:buNone/>
              </a:pPr>
              <a:r>
                <a:t/>
              </a:r>
              <a:endParaRPr sz="1268">
                <a:latin typeface="Calibri"/>
                <a:ea typeface="Calibri"/>
                <a:cs typeface="Calibri"/>
                <a:sym typeface="Calibri"/>
              </a:endParaRPr>
            </a:p>
          </p:txBody>
        </p:sp>
        <p:sp>
          <p:nvSpPr>
            <p:cNvPr id="267" name="Google Shape;267;g3f6c0a7b51b_0_25"/>
            <p:cNvSpPr/>
            <p:nvPr/>
          </p:nvSpPr>
          <p:spPr>
            <a:xfrm>
              <a:off x="536725" y="2543075"/>
              <a:ext cx="1859700" cy="582300"/>
            </a:xfrm>
            <a:prstGeom prst="roundRect">
              <a:avLst>
                <a:gd fmla="val 16667" name="adj"/>
              </a:avLst>
            </a:prstGeom>
            <a:noFill/>
            <a:ln cap="flat" cmpd="sng" w="34525">
              <a:solidFill>
                <a:srgbClr val="00FF00"/>
              </a:solidFill>
              <a:prstDash val="solid"/>
              <a:round/>
              <a:headEnd len="sm" w="sm" type="none"/>
              <a:tailEnd len="sm" w="sm" type="none"/>
            </a:ln>
          </p:spPr>
          <p:txBody>
            <a:bodyPr anchorCtr="0" anchor="ctr" bIns="82825" lIns="82825" spcFirstLastPara="1" rIns="82825" wrap="square" tIns="82825">
              <a:noAutofit/>
            </a:bodyPr>
            <a:lstStyle/>
            <a:p>
              <a:pPr indent="0" lvl="0" marL="0" rtl="0" algn="ctr">
                <a:spcBef>
                  <a:spcPts val="0"/>
                </a:spcBef>
                <a:spcAft>
                  <a:spcPts val="0"/>
                </a:spcAft>
                <a:buNone/>
              </a:pPr>
              <a:r>
                <a:t/>
              </a:r>
              <a:endParaRPr sz="1268">
                <a:latin typeface="Calibri"/>
                <a:ea typeface="Calibri"/>
                <a:cs typeface="Calibri"/>
                <a:sym typeface="Calibri"/>
              </a:endParaRPr>
            </a:p>
          </p:txBody>
        </p:sp>
      </p:grpSp>
      <p:grpSp>
        <p:nvGrpSpPr>
          <p:cNvPr id="268" name="Google Shape;268;g3f6c0a7b51b_0_25"/>
          <p:cNvGrpSpPr/>
          <p:nvPr/>
        </p:nvGrpSpPr>
        <p:grpSpPr>
          <a:xfrm>
            <a:off x="5111123" y="2493345"/>
            <a:ext cx="3593144" cy="2517094"/>
            <a:chOff x="4937308" y="2279575"/>
            <a:chExt cx="3965943" cy="2778250"/>
          </a:xfrm>
        </p:grpSpPr>
        <p:pic>
          <p:nvPicPr>
            <p:cNvPr id="269" name="Google Shape;269;g3f6c0a7b51b_0_25"/>
            <p:cNvPicPr preferRelativeResize="0"/>
            <p:nvPr/>
          </p:nvPicPr>
          <p:blipFill>
            <a:blip r:embed="rId4">
              <a:alphaModFix/>
            </a:blip>
            <a:stretch>
              <a:fillRect/>
            </a:stretch>
          </p:blipFill>
          <p:spPr>
            <a:xfrm>
              <a:off x="4937308" y="2279575"/>
              <a:ext cx="3965943" cy="2679350"/>
            </a:xfrm>
            <a:prstGeom prst="rect">
              <a:avLst/>
            </a:prstGeom>
            <a:noFill/>
            <a:ln>
              <a:noFill/>
            </a:ln>
            <a:effectLst>
              <a:outerShdw blurRad="51778" rotWithShape="0" algn="bl" dir="5400000" dist="17259">
                <a:srgbClr val="000000">
                  <a:alpha val="50000"/>
                </a:srgbClr>
              </a:outerShdw>
            </a:effectLst>
          </p:spPr>
        </p:pic>
        <p:sp>
          <p:nvSpPr>
            <p:cNvPr id="270" name="Google Shape;270;g3f6c0a7b51b_0_25"/>
            <p:cNvSpPr/>
            <p:nvPr/>
          </p:nvSpPr>
          <p:spPr>
            <a:xfrm>
              <a:off x="5795625" y="3984482"/>
              <a:ext cx="2498100" cy="123600"/>
            </a:xfrm>
            <a:prstGeom prst="roundRect">
              <a:avLst>
                <a:gd fmla="val 16667" name="adj"/>
              </a:avLst>
            </a:prstGeom>
            <a:noFill/>
            <a:ln cap="flat" cmpd="sng" w="34525">
              <a:solidFill>
                <a:srgbClr val="00FF00"/>
              </a:solidFill>
              <a:prstDash val="solid"/>
              <a:round/>
              <a:headEnd len="sm" w="sm" type="none"/>
              <a:tailEnd len="sm" w="sm" type="none"/>
            </a:ln>
          </p:spPr>
          <p:txBody>
            <a:bodyPr anchorCtr="0" anchor="ctr" bIns="82825" lIns="82825" spcFirstLastPara="1" rIns="82825" wrap="square" tIns="82825">
              <a:noAutofit/>
            </a:bodyPr>
            <a:lstStyle/>
            <a:p>
              <a:pPr indent="0" lvl="0" marL="0" rtl="0" algn="ctr">
                <a:spcBef>
                  <a:spcPts val="0"/>
                </a:spcBef>
                <a:spcAft>
                  <a:spcPts val="0"/>
                </a:spcAft>
                <a:buNone/>
              </a:pPr>
              <a:r>
                <a:t/>
              </a:r>
              <a:endParaRPr sz="1268">
                <a:latin typeface="Calibri"/>
                <a:ea typeface="Calibri"/>
                <a:cs typeface="Calibri"/>
                <a:sym typeface="Calibri"/>
              </a:endParaRPr>
            </a:p>
          </p:txBody>
        </p:sp>
        <p:sp>
          <p:nvSpPr>
            <p:cNvPr id="271" name="Google Shape;271;g3f6c0a7b51b_0_25"/>
            <p:cNvSpPr/>
            <p:nvPr/>
          </p:nvSpPr>
          <p:spPr>
            <a:xfrm>
              <a:off x="8305300" y="4781825"/>
              <a:ext cx="507900" cy="276000"/>
            </a:xfrm>
            <a:prstGeom prst="roundRect">
              <a:avLst>
                <a:gd fmla="val 16667" name="adj"/>
              </a:avLst>
            </a:prstGeom>
            <a:noFill/>
            <a:ln cap="flat" cmpd="sng" w="34525">
              <a:solidFill>
                <a:srgbClr val="00FF00"/>
              </a:solidFill>
              <a:prstDash val="solid"/>
              <a:round/>
              <a:headEnd len="sm" w="sm" type="none"/>
              <a:tailEnd len="sm" w="sm" type="none"/>
            </a:ln>
          </p:spPr>
          <p:txBody>
            <a:bodyPr anchorCtr="0" anchor="ctr" bIns="82825" lIns="82825" spcFirstLastPara="1" rIns="82825" wrap="square" tIns="82825">
              <a:noAutofit/>
            </a:bodyPr>
            <a:lstStyle/>
            <a:p>
              <a:pPr indent="0" lvl="0" marL="0" rtl="0" algn="ctr">
                <a:spcBef>
                  <a:spcPts val="0"/>
                </a:spcBef>
                <a:spcAft>
                  <a:spcPts val="0"/>
                </a:spcAft>
                <a:buNone/>
              </a:pPr>
              <a:r>
                <a:t/>
              </a:r>
              <a:endParaRPr sz="1268">
                <a:latin typeface="Calibri"/>
                <a:ea typeface="Calibri"/>
                <a:cs typeface="Calibri"/>
                <a:sym typeface="Calibri"/>
              </a:endParaRPr>
            </a:p>
          </p:txBody>
        </p:sp>
      </p:grpSp>
      <p:sp>
        <p:nvSpPr>
          <p:cNvPr id="272" name="Google Shape;272;g3f6c0a7b51b_0_25"/>
          <p:cNvSpPr txBox="1"/>
          <p:nvPr/>
        </p:nvSpPr>
        <p:spPr>
          <a:xfrm>
            <a:off x="4592725" y="983125"/>
            <a:ext cx="4295700" cy="1368300"/>
          </a:xfrm>
          <a:prstGeom prst="rect">
            <a:avLst/>
          </a:prstGeom>
          <a:solidFill>
            <a:srgbClr val="FFFFFF"/>
          </a:solidFill>
          <a:ln cap="flat" cmpd="sng" w="9525">
            <a:solidFill>
              <a:srgbClr val="7F7F7F"/>
            </a:solidFill>
            <a:prstDash val="solid"/>
            <a:round/>
            <a:headEnd len="sm" w="sm" type="none"/>
            <a:tailEnd len="sm" w="sm" type="none"/>
          </a:ln>
          <a:effectLst>
            <a:outerShdw blurRad="101600" rotWithShape="0" algn="tl" dir="2700000" dist="50800">
              <a:srgbClr val="000000">
                <a:alpha val="66670"/>
              </a:srgbClr>
            </a:outerShdw>
          </a:effectLst>
        </p:spPr>
        <p:txBody>
          <a:bodyPr anchorCtr="0" anchor="t" bIns="34275" lIns="205725" spcFirstLastPara="1" rIns="68575" wrap="square" tIns="246875">
            <a:noAutofit/>
          </a:bodyPr>
          <a:lstStyle/>
          <a:p>
            <a:pPr indent="-317500" lvl="0" marL="457200" marR="0" rtl="0" algn="l">
              <a:lnSpc>
                <a:spcPct val="100000"/>
              </a:lnSpc>
              <a:spcBef>
                <a:spcPts val="2000"/>
              </a:spcBef>
              <a:spcAft>
                <a:spcPts val="0"/>
              </a:spcAft>
              <a:buClr>
                <a:schemeClr val="dk1"/>
              </a:buClr>
              <a:buSzPts val="1400"/>
              <a:buFont typeface="Twentieth Century"/>
              <a:buAutoNum type="arabicPeriod" startAt="3"/>
            </a:pPr>
            <a:r>
              <a:rPr lang="en">
                <a:solidFill>
                  <a:schemeClr val="dk1"/>
                </a:solidFill>
                <a:latin typeface="Twentieth Century"/>
                <a:ea typeface="Twentieth Century"/>
                <a:cs typeface="Twentieth Century"/>
                <a:sym typeface="Twentieth Century"/>
              </a:rPr>
              <a:t>Select the interpreter entry that begins with </a:t>
            </a:r>
            <a:r>
              <a:rPr b="1" lang="en">
                <a:solidFill>
                  <a:schemeClr val="dk1"/>
                </a:solidFill>
                <a:latin typeface="Twentieth Century"/>
                <a:ea typeface="Twentieth Century"/>
                <a:cs typeface="Twentieth Century"/>
                <a:sym typeface="Twentieth Century"/>
              </a:rPr>
              <a:t>venv</a:t>
            </a:r>
            <a:endParaRPr b="1">
              <a:solidFill>
                <a:schemeClr val="dk1"/>
              </a:solidFill>
              <a:latin typeface="Twentieth Century"/>
              <a:ea typeface="Twentieth Century"/>
              <a:cs typeface="Twentieth Century"/>
              <a:sym typeface="Twentieth Century"/>
            </a:endParaRPr>
          </a:p>
          <a:p>
            <a:pPr indent="-317500" lvl="0" marL="457200" marR="0" rtl="0" algn="l">
              <a:lnSpc>
                <a:spcPct val="100000"/>
              </a:lnSpc>
              <a:spcBef>
                <a:spcPts val="2000"/>
              </a:spcBef>
              <a:spcAft>
                <a:spcPts val="0"/>
              </a:spcAft>
              <a:buClr>
                <a:schemeClr val="dk1"/>
              </a:buClr>
              <a:buSzPts val="1400"/>
              <a:buFont typeface="Twentieth Century"/>
              <a:buAutoNum type="arabicPeriod" startAt="3"/>
            </a:pPr>
            <a:r>
              <a:rPr lang="en">
                <a:solidFill>
                  <a:schemeClr val="dk1"/>
                </a:solidFill>
                <a:latin typeface="Twentieth Century"/>
                <a:ea typeface="Twentieth Century"/>
                <a:cs typeface="Twentieth Century"/>
                <a:sym typeface="Twentieth Century"/>
              </a:rPr>
              <a:t>Check the Python version in the bottom right of the screen and make sure it lists venv</a:t>
            </a:r>
            <a:endParaRPr>
              <a:solidFill>
                <a:schemeClr val="dk1"/>
              </a:solidFill>
              <a:latin typeface="Twentieth Century"/>
              <a:ea typeface="Twentieth Century"/>
              <a:cs typeface="Twentieth Century"/>
              <a:sym typeface="Twentieth Century"/>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g3f6c0a7b51b_0_40"/>
          <p:cNvSpPr txBox="1"/>
          <p:nvPr>
            <p:ph idx="1" type="body"/>
          </p:nvPr>
        </p:nvSpPr>
        <p:spPr>
          <a:xfrm>
            <a:off x="127200" y="991650"/>
            <a:ext cx="8115000" cy="18840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t" bIns="137150" lIns="228600" spcFirstLastPara="1" rIns="137150" wrap="square" tIns="137150">
            <a:normAutofit/>
          </a:bodyPr>
          <a:lstStyle/>
          <a:p>
            <a:pPr indent="-228600" lvl="0" marL="342900" rtl="0" algn="l">
              <a:lnSpc>
                <a:spcPct val="200000"/>
              </a:lnSpc>
              <a:spcBef>
                <a:spcPts val="0"/>
              </a:spcBef>
              <a:spcAft>
                <a:spcPts val="0"/>
              </a:spcAft>
              <a:buSzPts val="1500"/>
              <a:buFont typeface="Twentieth Century"/>
              <a:buChar char="●"/>
            </a:pPr>
            <a:r>
              <a:rPr b="1" lang="en" sz="1500">
                <a:solidFill>
                  <a:schemeClr val="dk1"/>
                </a:solidFill>
                <a:latin typeface="Twentieth Century"/>
                <a:ea typeface="Twentieth Century"/>
                <a:cs typeface="Twentieth Century"/>
                <a:sym typeface="Twentieth Century"/>
              </a:rPr>
              <a:t>pip </a:t>
            </a:r>
            <a:r>
              <a:rPr lang="en" sz="1500">
                <a:solidFill>
                  <a:schemeClr val="dk1"/>
                </a:solidFill>
                <a:latin typeface="Twentieth Century"/>
                <a:ea typeface="Twentieth Century"/>
                <a:cs typeface="Twentieth Century"/>
                <a:sym typeface="Twentieth Century"/>
              </a:rPr>
              <a:t>is the default package installer for Python</a:t>
            </a:r>
            <a:endParaRPr sz="1500">
              <a:solidFill>
                <a:schemeClr val="dk1"/>
              </a:solidFill>
              <a:latin typeface="Twentieth Century"/>
              <a:ea typeface="Twentieth Century"/>
              <a:cs typeface="Twentieth Century"/>
              <a:sym typeface="Twentieth Century"/>
            </a:endParaRPr>
          </a:p>
          <a:p>
            <a:pPr indent="-228600" lvl="0" marL="342900" rtl="0" algn="l">
              <a:lnSpc>
                <a:spcPct val="200000"/>
              </a:lnSpc>
              <a:spcBef>
                <a:spcPts val="0"/>
              </a:spcBef>
              <a:spcAft>
                <a:spcPts val="0"/>
              </a:spcAft>
              <a:buSzPts val="1500"/>
              <a:buFont typeface="Twentieth Century"/>
              <a:buChar char="●"/>
            </a:pPr>
            <a:r>
              <a:rPr lang="en" sz="1500">
                <a:solidFill>
                  <a:schemeClr val="dk1"/>
                </a:solidFill>
                <a:latin typeface="Twentieth Century"/>
                <a:ea typeface="Twentieth Century"/>
                <a:cs typeface="Twentieth Century"/>
                <a:sym typeface="Twentieth Century"/>
              </a:rPr>
              <a:t>You can use pip to install packages from the Python Package Index and other indexes</a:t>
            </a:r>
            <a:endParaRPr sz="1500">
              <a:solidFill>
                <a:schemeClr val="dk1"/>
              </a:solidFill>
              <a:latin typeface="Twentieth Century"/>
              <a:ea typeface="Twentieth Century"/>
              <a:cs typeface="Twentieth Century"/>
              <a:sym typeface="Twentieth Century"/>
            </a:endParaRPr>
          </a:p>
          <a:p>
            <a:pPr indent="-228600" lvl="0" marL="342900" rtl="0" algn="l">
              <a:lnSpc>
                <a:spcPct val="200000"/>
              </a:lnSpc>
              <a:spcBef>
                <a:spcPts val="0"/>
              </a:spcBef>
              <a:spcAft>
                <a:spcPts val="0"/>
              </a:spcAft>
              <a:buSzPts val="1500"/>
              <a:buFont typeface="Twentieth Century"/>
              <a:buChar char="●"/>
            </a:pPr>
            <a:r>
              <a:rPr lang="en" sz="1500">
                <a:solidFill>
                  <a:schemeClr val="dk1"/>
                </a:solidFill>
                <a:latin typeface="Twentieth Century"/>
                <a:ea typeface="Twentieth Century"/>
                <a:cs typeface="Twentieth Century"/>
                <a:sym typeface="Twentieth Century"/>
              </a:rPr>
              <a:t>pip can be used to install packages if you are running Python locally or in Google Colab</a:t>
            </a:r>
            <a:endParaRPr sz="1500">
              <a:solidFill>
                <a:schemeClr val="dk1"/>
              </a:solidFill>
              <a:latin typeface="Twentieth Century"/>
              <a:ea typeface="Twentieth Century"/>
              <a:cs typeface="Twentieth Century"/>
              <a:sym typeface="Twentieth Century"/>
            </a:endParaRPr>
          </a:p>
          <a:p>
            <a:pPr indent="-228600" lvl="0" marL="342900" rtl="0" algn="l">
              <a:lnSpc>
                <a:spcPct val="200000"/>
              </a:lnSpc>
              <a:spcBef>
                <a:spcPts val="0"/>
              </a:spcBef>
              <a:spcAft>
                <a:spcPts val="1200"/>
              </a:spcAft>
              <a:buSzPts val="1500"/>
              <a:buFont typeface="Twentieth Century"/>
              <a:buChar char="●"/>
            </a:pPr>
            <a:r>
              <a:rPr lang="en" sz="1500">
                <a:solidFill>
                  <a:schemeClr val="dk1"/>
                </a:solidFill>
                <a:latin typeface="Twentieth Century"/>
                <a:ea typeface="Twentieth Century"/>
                <a:cs typeface="Twentieth Century"/>
                <a:sym typeface="Twentieth Century"/>
              </a:rPr>
              <a:t>Packages should always be vetted before installation and use</a:t>
            </a:r>
            <a:endParaRPr sz="1500">
              <a:solidFill>
                <a:schemeClr val="dk1"/>
              </a:solidFill>
              <a:latin typeface="Twentieth Century"/>
              <a:ea typeface="Twentieth Century"/>
              <a:cs typeface="Twentieth Century"/>
              <a:sym typeface="Twentieth Century"/>
            </a:endParaRPr>
          </a:p>
        </p:txBody>
      </p:sp>
      <p:sp>
        <p:nvSpPr>
          <p:cNvPr id="279" name="Google Shape;279;g3f6c0a7b51b_0_40"/>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200"/>
              </a:srgbClr>
            </a:outerShdw>
          </a:effectLst>
        </p:spPr>
        <p:txBody>
          <a:bodyPr anchorCtr="0" anchor="ctr" bIns="34275" lIns="68575" spcFirstLastPara="1" rIns="68575" wrap="square" tIns="34275">
            <a:norm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Installing New Python Packages</a:t>
            </a:r>
            <a:endParaRPr b="1" sz="2500">
              <a:solidFill>
                <a:schemeClr val="lt1"/>
              </a:solidFill>
              <a:latin typeface="Twentieth Century"/>
              <a:ea typeface="Twentieth Century"/>
              <a:cs typeface="Twentieth Century"/>
              <a:sym typeface="Twentieth Century"/>
            </a:endParaRPr>
          </a:p>
        </p:txBody>
      </p:sp>
      <p:pic>
        <p:nvPicPr>
          <p:cNvPr id="280" name="Google Shape;280;g3f6c0a7b51b_0_40"/>
          <p:cNvPicPr preferRelativeResize="0"/>
          <p:nvPr/>
        </p:nvPicPr>
        <p:blipFill rotWithShape="1">
          <a:blip r:embed="rId3">
            <a:alphaModFix/>
          </a:blip>
          <a:srcRect b="0" l="0" r="0" t="0"/>
          <a:stretch/>
        </p:blipFill>
        <p:spPr>
          <a:xfrm>
            <a:off x="7663350" y="920150"/>
            <a:ext cx="1369750" cy="957699"/>
          </a:xfrm>
          <a:prstGeom prst="rect">
            <a:avLst/>
          </a:prstGeom>
          <a:noFill/>
          <a:ln>
            <a:noFill/>
          </a:ln>
          <a:effectLst>
            <a:outerShdw blurRad="57150" rotWithShape="0" algn="bl" dir="5400000" dist="19050">
              <a:srgbClr val="000000">
                <a:alpha val="50200"/>
              </a:srgbClr>
            </a:outerShdw>
          </a:effectLst>
        </p:spPr>
      </p:pic>
      <p:pic>
        <p:nvPicPr>
          <p:cNvPr id="281" name="Google Shape;281;g3f6c0a7b51b_0_40"/>
          <p:cNvPicPr preferRelativeResize="0"/>
          <p:nvPr/>
        </p:nvPicPr>
        <p:blipFill rotWithShape="1">
          <a:blip r:embed="rId4">
            <a:alphaModFix/>
          </a:blip>
          <a:srcRect b="0" l="0" r="0" t="0"/>
          <a:stretch/>
        </p:blipFill>
        <p:spPr>
          <a:xfrm>
            <a:off x="5291750" y="2775025"/>
            <a:ext cx="3593876" cy="2212800"/>
          </a:xfrm>
          <a:prstGeom prst="rect">
            <a:avLst/>
          </a:prstGeom>
          <a:noFill/>
          <a:ln>
            <a:noFill/>
          </a:ln>
          <a:effectLst>
            <a:outerShdw blurRad="57150" rotWithShape="0" algn="bl" dir="5400000" dist="19050">
              <a:srgbClr val="000000">
                <a:alpha val="50200"/>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19"/>
          <p:cNvSpPr txBox="1"/>
          <p:nvPr>
            <p:ph idx="1" type="body"/>
          </p:nvPr>
        </p:nvSpPr>
        <p:spPr>
          <a:xfrm>
            <a:off x="302150" y="1019700"/>
            <a:ext cx="4900800" cy="10032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t" bIns="137150" lIns="137150" spcFirstLastPara="1" rIns="137150" wrap="square" tIns="137150">
            <a:normAutofit/>
          </a:bodyPr>
          <a:lstStyle/>
          <a:p>
            <a:pPr indent="-6350" lvl="0" marL="177800" rtl="0" algn="l">
              <a:lnSpc>
                <a:spcPct val="150000"/>
              </a:lnSpc>
              <a:spcBef>
                <a:spcPts val="0"/>
              </a:spcBef>
              <a:spcAft>
                <a:spcPts val="1200"/>
              </a:spcAft>
              <a:buClr>
                <a:schemeClr val="dk1"/>
              </a:buClr>
              <a:buSzPts val="700"/>
              <a:buFont typeface="Noto Sans Symbols"/>
              <a:buNone/>
            </a:pPr>
            <a:r>
              <a:rPr lang="en" sz="1600">
                <a:solidFill>
                  <a:schemeClr val="dk1"/>
                </a:solidFill>
                <a:latin typeface="Twentieth Century"/>
                <a:ea typeface="Twentieth Century"/>
                <a:cs typeface="Twentieth Century"/>
                <a:sym typeface="Twentieth Century"/>
              </a:rPr>
              <a:t>You </a:t>
            </a:r>
            <a:r>
              <a:rPr b="1" lang="en" sz="1600">
                <a:solidFill>
                  <a:schemeClr val="dk1"/>
                </a:solidFill>
                <a:latin typeface="Twentieth Century"/>
                <a:ea typeface="Twentieth Century"/>
                <a:cs typeface="Twentieth Century"/>
                <a:sym typeface="Twentieth Century"/>
              </a:rPr>
              <a:t>can </a:t>
            </a:r>
            <a:r>
              <a:rPr lang="en" sz="1600">
                <a:solidFill>
                  <a:schemeClr val="dk1"/>
                </a:solidFill>
                <a:latin typeface="Twentieth Century"/>
                <a:ea typeface="Twentieth Century"/>
                <a:cs typeface="Twentieth Century"/>
                <a:sym typeface="Twentieth Century"/>
              </a:rPr>
              <a:t>write Python code and run it from your Command Prompt or Terminal…</a:t>
            </a:r>
            <a:endParaRPr sz="1500">
              <a:solidFill>
                <a:schemeClr val="dk1"/>
              </a:solidFill>
              <a:latin typeface="Twentieth Century"/>
              <a:ea typeface="Twentieth Century"/>
              <a:cs typeface="Twentieth Century"/>
              <a:sym typeface="Twentieth Century"/>
            </a:endParaRPr>
          </a:p>
        </p:txBody>
      </p:sp>
      <p:sp>
        <p:nvSpPr>
          <p:cNvPr id="288" name="Google Shape;288;p19"/>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196"/>
              </a:srgbClr>
            </a:outerShdw>
          </a:effectLst>
        </p:spPr>
        <p:txBody>
          <a:bodyPr anchorCtr="0" anchor="ctr" bIns="34275" lIns="68575" spcFirstLastPara="1" rIns="68575" wrap="square" tIns="34275">
            <a:norm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Code Editors and </a:t>
            </a:r>
            <a:r>
              <a:rPr b="1" lang="en" sz="2500">
                <a:solidFill>
                  <a:schemeClr val="lt1"/>
                </a:solidFill>
                <a:latin typeface="Twentieth Century"/>
                <a:ea typeface="Twentieth Century"/>
                <a:cs typeface="Twentieth Century"/>
                <a:sym typeface="Twentieth Century"/>
              </a:rPr>
              <a:t>Integrated Development Environments (IDEs)</a:t>
            </a:r>
            <a:endParaRPr b="1" sz="2500">
              <a:solidFill>
                <a:schemeClr val="lt1"/>
              </a:solidFill>
              <a:latin typeface="Twentieth Century"/>
              <a:ea typeface="Twentieth Century"/>
              <a:cs typeface="Twentieth Century"/>
              <a:sym typeface="Twentieth Century"/>
            </a:endParaRPr>
          </a:p>
        </p:txBody>
      </p:sp>
      <p:pic>
        <p:nvPicPr>
          <p:cNvPr id="289" name="Google Shape;289;p19"/>
          <p:cNvPicPr preferRelativeResize="0"/>
          <p:nvPr/>
        </p:nvPicPr>
        <p:blipFill rotWithShape="1">
          <a:blip r:embed="rId3">
            <a:alphaModFix/>
          </a:blip>
          <a:srcRect b="0" l="0" r="0" t="0"/>
          <a:stretch/>
        </p:blipFill>
        <p:spPr>
          <a:xfrm>
            <a:off x="2501800" y="2153550"/>
            <a:ext cx="6483750" cy="24415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20"/>
          <p:cNvSpPr txBox="1"/>
          <p:nvPr>
            <p:ph idx="1" type="body"/>
          </p:nvPr>
        </p:nvSpPr>
        <p:spPr>
          <a:xfrm>
            <a:off x="412575" y="2778900"/>
            <a:ext cx="4900800" cy="2179500"/>
          </a:xfrm>
          <a:prstGeom prst="rect">
            <a:avLst/>
          </a:prstGeom>
          <a:solidFill>
            <a:schemeClr val="lt1"/>
          </a:solidFill>
          <a:ln>
            <a:noFill/>
          </a:ln>
        </p:spPr>
        <p:txBody>
          <a:bodyPr anchorCtr="0" anchor="t" bIns="137150" lIns="137150" spcFirstLastPara="1" rIns="137150" wrap="square" tIns="137150">
            <a:normAutofit/>
          </a:bodyPr>
          <a:lstStyle/>
          <a:p>
            <a:pPr indent="-209550" lvl="0" marL="285750" rtl="0" algn="l">
              <a:lnSpc>
                <a:spcPct val="140000"/>
              </a:lnSpc>
              <a:spcBef>
                <a:spcPts val="1000"/>
              </a:spcBef>
              <a:spcAft>
                <a:spcPts val="0"/>
              </a:spcAft>
              <a:buClr>
                <a:schemeClr val="dk1"/>
              </a:buClr>
              <a:buSzPts val="1200"/>
              <a:buFont typeface="Noto Sans Symbols"/>
              <a:buChar char="●"/>
            </a:pPr>
            <a:r>
              <a:rPr b="1" lang="en" sz="1200">
                <a:latin typeface="Twentieth Century"/>
                <a:ea typeface="Twentieth Century"/>
                <a:cs typeface="Twentieth Century"/>
                <a:sym typeface="Twentieth Century"/>
              </a:rPr>
              <a:t>Jupyter (</a:t>
            </a:r>
            <a:r>
              <a:rPr b="1" lang="en" sz="1200" u="sng">
                <a:solidFill>
                  <a:schemeClr val="hlink"/>
                </a:solidFill>
                <a:latin typeface="Twentieth Century"/>
                <a:ea typeface="Twentieth Century"/>
                <a:cs typeface="Twentieth Century"/>
                <a:sym typeface="Twentieth Century"/>
                <a:hlinkClick r:id="rId3"/>
              </a:rPr>
              <a:t>https://jupyter.org/</a:t>
            </a:r>
            <a:r>
              <a:rPr b="1" lang="en" sz="1200">
                <a:latin typeface="Twentieth Century"/>
                <a:ea typeface="Twentieth Century"/>
                <a:cs typeface="Twentieth Century"/>
                <a:sym typeface="Twentieth Century"/>
              </a:rPr>
              <a:t>)</a:t>
            </a:r>
            <a:endParaRPr b="1" sz="1200">
              <a:latin typeface="Twentieth Century"/>
              <a:ea typeface="Twentieth Century"/>
              <a:cs typeface="Twentieth Century"/>
              <a:sym typeface="Twentieth Century"/>
            </a:endParaRPr>
          </a:p>
          <a:p>
            <a:pPr indent="-209550" lvl="0" marL="285750" rtl="0" algn="l">
              <a:lnSpc>
                <a:spcPct val="140000"/>
              </a:lnSpc>
              <a:spcBef>
                <a:spcPts val="1000"/>
              </a:spcBef>
              <a:spcAft>
                <a:spcPts val="0"/>
              </a:spcAft>
              <a:buClr>
                <a:schemeClr val="dk1"/>
              </a:buClr>
              <a:buSzPts val="1200"/>
              <a:buFont typeface="Noto Sans Symbols"/>
              <a:buChar char="●"/>
            </a:pPr>
            <a:r>
              <a:rPr b="1" lang="en" sz="1200">
                <a:latin typeface="Twentieth Century"/>
                <a:ea typeface="Twentieth Century"/>
                <a:cs typeface="Twentieth Century"/>
                <a:sym typeface="Twentieth Century"/>
              </a:rPr>
              <a:t>VS Code (</a:t>
            </a:r>
            <a:r>
              <a:rPr b="1" lang="en" sz="1200" u="sng">
                <a:solidFill>
                  <a:schemeClr val="hlink"/>
                </a:solidFill>
                <a:latin typeface="Twentieth Century"/>
                <a:ea typeface="Twentieth Century"/>
                <a:cs typeface="Twentieth Century"/>
                <a:sym typeface="Twentieth Century"/>
                <a:hlinkClick r:id="rId4"/>
              </a:rPr>
              <a:t>https://code.visualstudio.com/</a:t>
            </a:r>
            <a:r>
              <a:rPr b="1" lang="en" sz="1200">
                <a:latin typeface="Twentieth Century"/>
                <a:ea typeface="Twentieth Century"/>
                <a:cs typeface="Twentieth Century"/>
                <a:sym typeface="Twentieth Century"/>
              </a:rPr>
              <a:t>) </a:t>
            </a:r>
            <a:endParaRPr b="1" sz="1200">
              <a:latin typeface="Twentieth Century"/>
              <a:ea typeface="Twentieth Century"/>
              <a:cs typeface="Twentieth Century"/>
              <a:sym typeface="Twentieth Century"/>
            </a:endParaRPr>
          </a:p>
          <a:p>
            <a:pPr indent="-209550" lvl="0" marL="285750" rtl="0" algn="l">
              <a:lnSpc>
                <a:spcPct val="140000"/>
              </a:lnSpc>
              <a:spcBef>
                <a:spcPts val="1000"/>
              </a:spcBef>
              <a:spcAft>
                <a:spcPts val="0"/>
              </a:spcAft>
              <a:buSzPts val="1200"/>
              <a:buFont typeface="Twentieth Century"/>
              <a:buChar char="●"/>
            </a:pPr>
            <a:r>
              <a:rPr b="1" lang="en" sz="1200">
                <a:latin typeface="Twentieth Century"/>
                <a:ea typeface="Twentieth Century"/>
                <a:cs typeface="Twentieth Century"/>
                <a:sym typeface="Twentieth Century"/>
              </a:rPr>
              <a:t>Pulsar (</a:t>
            </a:r>
            <a:r>
              <a:rPr b="1" lang="en" sz="1200" u="sng">
                <a:solidFill>
                  <a:schemeClr val="hlink"/>
                </a:solidFill>
                <a:latin typeface="Twentieth Century"/>
                <a:ea typeface="Twentieth Century"/>
                <a:cs typeface="Twentieth Century"/>
                <a:sym typeface="Twentieth Century"/>
                <a:hlinkClick r:id="rId5"/>
              </a:rPr>
              <a:t>https://pulsar-edit.dev/</a:t>
            </a:r>
            <a:r>
              <a:rPr b="1" lang="en" sz="1200">
                <a:latin typeface="Twentieth Century"/>
                <a:ea typeface="Twentieth Century"/>
                <a:cs typeface="Twentieth Century"/>
                <a:sym typeface="Twentieth Century"/>
              </a:rPr>
              <a:t>) </a:t>
            </a:r>
            <a:endParaRPr b="1" sz="1200">
              <a:latin typeface="Twentieth Century"/>
              <a:ea typeface="Twentieth Century"/>
              <a:cs typeface="Twentieth Century"/>
              <a:sym typeface="Twentieth Century"/>
            </a:endParaRPr>
          </a:p>
          <a:p>
            <a:pPr indent="-209550" lvl="0" marL="285750" rtl="0" algn="l">
              <a:lnSpc>
                <a:spcPct val="140000"/>
              </a:lnSpc>
              <a:spcBef>
                <a:spcPts val="1000"/>
              </a:spcBef>
              <a:spcAft>
                <a:spcPts val="0"/>
              </a:spcAft>
              <a:buSzPts val="1200"/>
              <a:buFont typeface="Noto Sans Symbols"/>
              <a:buChar char="●"/>
            </a:pPr>
            <a:r>
              <a:rPr b="1" lang="en" sz="1200">
                <a:latin typeface="Twentieth Century"/>
                <a:ea typeface="Twentieth Century"/>
                <a:cs typeface="Twentieth Century"/>
                <a:sym typeface="Twentieth Century"/>
              </a:rPr>
              <a:t>PyCharm (</a:t>
            </a:r>
            <a:r>
              <a:rPr b="1" lang="en" sz="1200" u="sng">
                <a:solidFill>
                  <a:schemeClr val="hlink"/>
                </a:solidFill>
                <a:latin typeface="Twentieth Century"/>
                <a:ea typeface="Twentieth Century"/>
                <a:cs typeface="Twentieth Century"/>
                <a:sym typeface="Twentieth Century"/>
                <a:hlinkClick r:id="rId6"/>
              </a:rPr>
              <a:t>https://www.jetbrains.com/pycharm/download/</a:t>
            </a:r>
            <a:r>
              <a:rPr b="1" lang="en" sz="1200">
                <a:latin typeface="Twentieth Century"/>
                <a:ea typeface="Twentieth Century"/>
                <a:cs typeface="Twentieth Century"/>
                <a:sym typeface="Twentieth Century"/>
              </a:rPr>
              <a:t>)</a:t>
            </a:r>
            <a:endParaRPr b="1" sz="1200">
              <a:latin typeface="Twentieth Century"/>
              <a:ea typeface="Twentieth Century"/>
              <a:cs typeface="Twentieth Century"/>
              <a:sym typeface="Twentieth Century"/>
            </a:endParaRPr>
          </a:p>
          <a:p>
            <a:pPr indent="-209550" lvl="0" marL="285750" rtl="0" algn="l">
              <a:lnSpc>
                <a:spcPct val="140000"/>
              </a:lnSpc>
              <a:spcBef>
                <a:spcPts val="1200"/>
              </a:spcBef>
              <a:spcAft>
                <a:spcPts val="1200"/>
              </a:spcAft>
              <a:buSzPts val="1200"/>
              <a:buFont typeface="Noto Sans Symbols"/>
              <a:buChar char="●"/>
            </a:pPr>
            <a:r>
              <a:rPr b="1" lang="en" sz="1200">
                <a:latin typeface="Twentieth Century"/>
                <a:ea typeface="Twentieth Century"/>
                <a:cs typeface="Twentieth Century"/>
                <a:sym typeface="Twentieth Century"/>
              </a:rPr>
              <a:t>Spyder (</a:t>
            </a:r>
            <a:r>
              <a:rPr b="1" lang="en" sz="1200" u="sng">
                <a:solidFill>
                  <a:schemeClr val="hlink"/>
                </a:solidFill>
                <a:latin typeface="Twentieth Century"/>
                <a:ea typeface="Twentieth Century"/>
                <a:cs typeface="Twentieth Century"/>
                <a:sym typeface="Twentieth Century"/>
                <a:hlinkClick r:id="rId7"/>
              </a:rPr>
              <a:t>https://www.spyder-ide.org/</a:t>
            </a:r>
            <a:r>
              <a:rPr lang="en" sz="1200">
                <a:latin typeface="Twentieth Century"/>
                <a:ea typeface="Twentieth Century"/>
                <a:cs typeface="Twentieth Century"/>
                <a:sym typeface="Twentieth Century"/>
              </a:rPr>
              <a:t>)</a:t>
            </a:r>
            <a:endParaRPr sz="1200">
              <a:latin typeface="Twentieth Century"/>
              <a:ea typeface="Twentieth Century"/>
              <a:cs typeface="Twentieth Century"/>
              <a:sym typeface="Twentieth Century"/>
            </a:endParaRPr>
          </a:p>
        </p:txBody>
      </p:sp>
      <p:pic>
        <p:nvPicPr>
          <p:cNvPr id="296" name="Google Shape;296;p20"/>
          <p:cNvPicPr preferRelativeResize="0"/>
          <p:nvPr/>
        </p:nvPicPr>
        <p:blipFill rotWithShape="1">
          <a:blip r:embed="rId8">
            <a:alphaModFix/>
          </a:blip>
          <a:srcRect b="0" l="0" r="0" t="0"/>
          <a:stretch/>
        </p:blipFill>
        <p:spPr>
          <a:xfrm>
            <a:off x="3249300" y="4391900"/>
            <a:ext cx="1803974" cy="442475"/>
          </a:xfrm>
          <a:prstGeom prst="rect">
            <a:avLst/>
          </a:prstGeom>
          <a:noFill/>
          <a:ln>
            <a:noFill/>
          </a:ln>
        </p:spPr>
      </p:pic>
      <p:sp>
        <p:nvSpPr>
          <p:cNvPr id="297" name="Google Shape;297;p20"/>
          <p:cNvSpPr txBox="1"/>
          <p:nvPr>
            <p:ph idx="1" type="body"/>
          </p:nvPr>
        </p:nvSpPr>
        <p:spPr>
          <a:xfrm>
            <a:off x="302150" y="1019700"/>
            <a:ext cx="5241600" cy="1529400"/>
          </a:xfrm>
          <a:prstGeom prst="rect">
            <a:avLst/>
          </a:prstGeom>
          <a:solidFill>
            <a:schemeClr val="lt1"/>
          </a:solidFill>
          <a:ln>
            <a:noFill/>
          </a:ln>
        </p:spPr>
        <p:txBody>
          <a:bodyPr anchorCtr="0" anchor="t" bIns="137150" lIns="137150" spcFirstLastPara="1" rIns="137150" wrap="square" tIns="137150">
            <a:noAutofit/>
          </a:bodyPr>
          <a:lstStyle/>
          <a:p>
            <a:pPr indent="-6350" lvl="0" marL="177800" rtl="0" algn="l">
              <a:lnSpc>
                <a:spcPct val="140000"/>
              </a:lnSpc>
              <a:spcBef>
                <a:spcPts val="0"/>
              </a:spcBef>
              <a:spcAft>
                <a:spcPts val="0"/>
              </a:spcAft>
              <a:buClr>
                <a:schemeClr val="dk1"/>
              </a:buClr>
              <a:buSzPts val="543"/>
              <a:buFont typeface="Noto Sans Symbols"/>
              <a:buNone/>
            </a:pPr>
            <a:r>
              <a:rPr lang="en" sz="1407">
                <a:solidFill>
                  <a:schemeClr val="dk1"/>
                </a:solidFill>
                <a:latin typeface="Twentieth Century"/>
                <a:ea typeface="Twentieth Century"/>
                <a:cs typeface="Twentieth Century"/>
                <a:sym typeface="Twentieth Century"/>
              </a:rPr>
              <a:t>You </a:t>
            </a:r>
            <a:r>
              <a:rPr b="1" lang="en" sz="1407">
                <a:solidFill>
                  <a:schemeClr val="dk1"/>
                </a:solidFill>
                <a:latin typeface="Twentieth Century"/>
                <a:ea typeface="Twentieth Century"/>
                <a:cs typeface="Twentieth Century"/>
                <a:sym typeface="Twentieth Century"/>
              </a:rPr>
              <a:t>can </a:t>
            </a:r>
            <a:r>
              <a:rPr lang="en" sz="1407">
                <a:solidFill>
                  <a:schemeClr val="dk1"/>
                </a:solidFill>
                <a:latin typeface="Twentieth Century"/>
                <a:ea typeface="Twentieth Century"/>
                <a:cs typeface="Twentieth Century"/>
                <a:sym typeface="Twentieth Century"/>
              </a:rPr>
              <a:t>write Python code and run it from your Command Prompt or Terminal…</a:t>
            </a:r>
            <a:r>
              <a:rPr b="1" lang="en" sz="1407">
                <a:solidFill>
                  <a:schemeClr val="dk1"/>
                </a:solidFill>
                <a:latin typeface="Twentieth Century"/>
                <a:ea typeface="Twentieth Century"/>
                <a:cs typeface="Twentieth Century"/>
                <a:sym typeface="Twentieth Century"/>
              </a:rPr>
              <a:t>but </a:t>
            </a:r>
            <a:r>
              <a:rPr lang="en" sz="1407">
                <a:solidFill>
                  <a:schemeClr val="dk1"/>
                </a:solidFill>
                <a:latin typeface="Twentieth Century"/>
                <a:ea typeface="Twentieth Century"/>
                <a:cs typeface="Twentieth Century"/>
                <a:sym typeface="Twentieth Century"/>
              </a:rPr>
              <a:t>using an IDE makes writing code much easier</a:t>
            </a:r>
            <a:endParaRPr sz="710">
              <a:solidFill>
                <a:schemeClr val="dk1"/>
              </a:solidFill>
              <a:latin typeface="Twentieth Century"/>
              <a:ea typeface="Twentieth Century"/>
              <a:cs typeface="Twentieth Century"/>
              <a:sym typeface="Twentieth Century"/>
            </a:endParaRPr>
          </a:p>
          <a:p>
            <a:pPr indent="-6350" lvl="0" marL="177800" rtl="0" algn="l">
              <a:lnSpc>
                <a:spcPct val="140000"/>
              </a:lnSpc>
              <a:spcBef>
                <a:spcPts val="1200"/>
              </a:spcBef>
              <a:spcAft>
                <a:spcPts val="1200"/>
              </a:spcAft>
              <a:buClr>
                <a:schemeClr val="dk1"/>
              </a:buClr>
              <a:buSzPts val="543"/>
              <a:buFont typeface="Noto Sans Symbols"/>
              <a:buNone/>
            </a:pPr>
            <a:r>
              <a:rPr lang="en" sz="1407">
                <a:solidFill>
                  <a:schemeClr val="dk1"/>
                </a:solidFill>
                <a:latin typeface="Twentieth Century"/>
                <a:ea typeface="Twentieth Century"/>
                <a:cs typeface="Twentieth Century"/>
                <a:sym typeface="Twentieth Century"/>
              </a:rPr>
              <a:t>An </a:t>
            </a:r>
            <a:r>
              <a:rPr b="1" lang="en" sz="1407">
                <a:solidFill>
                  <a:schemeClr val="dk1"/>
                </a:solidFill>
                <a:latin typeface="Twentieth Century"/>
                <a:ea typeface="Twentieth Century"/>
                <a:cs typeface="Twentieth Century"/>
                <a:sym typeface="Twentieth Century"/>
              </a:rPr>
              <a:t>IDE (integrated development environment) </a:t>
            </a:r>
            <a:r>
              <a:rPr lang="en" sz="1407">
                <a:solidFill>
                  <a:schemeClr val="dk1"/>
                </a:solidFill>
                <a:latin typeface="Twentieth Century"/>
                <a:ea typeface="Twentieth Century"/>
                <a:cs typeface="Twentieth Century"/>
                <a:sym typeface="Twentieth Century"/>
              </a:rPr>
              <a:t>is a software solution designed to facilitate writing code</a:t>
            </a:r>
            <a:endParaRPr sz="1330">
              <a:solidFill>
                <a:schemeClr val="dk1"/>
              </a:solidFill>
              <a:latin typeface="Twentieth Century"/>
              <a:ea typeface="Twentieth Century"/>
              <a:cs typeface="Twentieth Century"/>
              <a:sym typeface="Twentieth Century"/>
            </a:endParaRPr>
          </a:p>
        </p:txBody>
      </p:sp>
      <p:sp>
        <p:nvSpPr>
          <p:cNvPr id="298" name="Google Shape;298;p20"/>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196"/>
              </a:srgbClr>
            </a:outerShdw>
          </a:effectLst>
        </p:spPr>
        <p:txBody>
          <a:bodyPr anchorCtr="0" anchor="ctr" bIns="34275" lIns="68575" spcFirstLastPara="1" rIns="68575" wrap="square" tIns="34275">
            <a:norm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Integrated Development Environments (IDEs)</a:t>
            </a:r>
            <a:endParaRPr b="1" sz="2500">
              <a:solidFill>
                <a:schemeClr val="lt1"/>
              </a:solidFill>
              <a:latin typeface="Twentieth Century"/>
              <a:ea typeface="Twentieth Century"/>
              <a:cs typeface="Twentieth Century"/>
              <a:sym typeface="Twentieth Century"/>
            </a:endParaRPr>
          </a:p>
        </p:txBody>
      </p:sp>
      <p:pic>
        <p:nvPicPr>
          <p:cNvPr id="299" name="Google Shape;299;p20"/>
          <p:cNvPicPr preferRelativeResize="0"/>
          <p:nvPr/>
        </p:nvPicPr>
        <p:blipFill rotWithShape="1">
          <a:blip r:embed="rId9">
            <a:alphaModFix/>
          </a:blip>
          <a:srcRect b="0" l="0" r="0" t="0"/>
          <a:stretch/>
        </p:blipFill>
        <p:spPr>
          <a:xfrm>
            <a:off x="2911758" y="3607974"/>
            <a:ext cx="492268" cy="482501"/>
          </a:xfrm>
          <a:prstGeom prst="rect">
            <a:avLst/>
          </a:prstGeom>
          <a:noFill/>
          <a:ln>
            <a:noFill/>
          </a:ln>
        </p:spPr>
      </p:pic>
      <p:pic>
        <p:nvPicPr>
          <p:cNvPr id="300" name="Google Shape;300;p20"/>
          <p:cNvPicPr preferRelativeResize="0"/>
          <p:nvPr/>
        </p:nvPicPr>
        <p:blipFill rotWithShape="1">
          <a:blip r:embed="rId10">
            <a:alphaModFix/>
          </a:blip>
          <a:srcRect b="0" l="0" r="0" t="0"/>
          <a:stretch/>
        </p:blipFill>
        <p:spPr>
          <a:xfrm>
            <a:off x="3604650" y="3163927"/>
            <a:ext cx="492276" cy="492276"/>
          </a:xfrm>
          <a:prstGeom prst="rect">
            <a:avLst/>
          </a:prstGeom>
          <a:noFill/>
          <a:ln>
            <a:noFill/>
          </a:ln>
        </p:spPr>
      </p:pic>
      <p:pic>
        <p:nvPicPr>
          <p:cNvPr id="301" name="Google Shape;301;p20"/>
          <p:cNvPicPr preferRelativeResize="0"/>
          <p:nvPr/>
        </p:nvPicPr>
        <p:blipFill rotWithShape="1">
          <a:blip r:embed="rId11">
            <a:alphaModFix/>
          </a:blip>
          <a:srcRect b="0" l="0" r="0" t="0"/>
          <a:stretch/>
        </p:blipFill>
        <p:spPr>
          <a:xfrm>
            <a:off x="2856527" y="2735974"/>
            <a:ext cx="492273" cy="570568"/>
          </a:xfrm>
          <a:prstGeom prst="rect">
            <a:avLst/>
          </a:prstGeom>
          <a:noFill/>
          <a:ln>
            <a:noFill/>
          </a:ln>
        </p:spPr>
      </p:pic>
      <p:pic>
        <p:nvPicPr>
          <p:cNvPr id="302" name="Google Shape;302;p20"/>
          <p:cNvPicPr preferRelativeResize="0"/>
          <p:nvPr/>
        </p:nvPicPr>
        <p:blipFill rotWithShape="1">
          <a:blip r:embed="rId12">
            <a:alphaModFix/>
          </a:blip>
          <a:srcRect b="0" l="0" r="0" t="0"/>
          <a:stretch/>
        </p:blipFill>
        <p:spPr>
          <a:xfrm>
            <a:off x="4682425" y="3925176"/>
            <a:ext cx="492276" cy="492276"/>
          </a:xfrm>
          <a:prstGeom prst="rect">
            <a:avLst/>
          </a:prstGeom>
          <a:noFill/>
          <a:ln>
            <a:noFill/>
          </a:ln>
        </p:spPr>
      </p:pic>
      <p:pic>
        <p:nvPicPr>
          <p:cNvPr id="303" name="Google Shape;303;p20"/>
          <p:cNvPicPr preferRelativeResize="0"/>
          <p:nvPr/>
        </p:nvPicPr>
        <p:blipFill rotWithShape="1">
          <a:blip r:embed="rId13">
            <a:alphaModFix/>
          </a:blip>
          <a:srcRect b="0" l="0" r="0" t="0"/>
          <a:stretch/>
        </p:blipFill>
        <p:spPr>
          <a:xfrm>
            <a:off x="5895225" y="1019700"/>
            <a:ext cx="3103028" cy="398340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21"/>
          <p:cNvSpPr txBox="1"/>
          <p:nvPr/>
        </p:nvSpPr>
        <p:spPr>
          <a:xfrm>
            <a:off x="328550" y="1047000"/>
            <a:ext cx="5439600" cy="3049500"/>
          </a:xfrm>
          <a:prstGeom prst="rect">
            <a:avLst/>
          </a:prstGeom>
          <a:solidFill>
            <a:srgbClr val="FFFFFF"/>
          </a:solidFill>
          <a:ln>
            <a:noFill/>
          </a:ln>
        </p:spPr>
        <p:txBody>
          <a:bodyPr anchorCtr="0" anchor="t" bIns="182875" lIns="365750" spcFirstLastPara="1" rIns="182875" wrap="square" tIns="182875">
            <a:normAutofit/>
          </a:bodyPr>
          <a:lstStyle/>
          <a:p>
            <a:pPr indent="-228600" lvl="0" marL="228600" marR="0" rtl="0" algn="l">
              <a:lnSpc>
                <a:spcPct val="140000"/>
              </a:lnSpc>
              <a:spcBef>
                <a:spcPts val="0"/>
              </a:spcBef>
              <a:spcAft>
                <a:spcPts val="0"/>
              </a:spcAft>
              <a:buClr>
                <a:srgbClr val="000000"/>
              </a:buClr>
              <a:buSzPts val="1799"/>
              <a:buFont typeface="Noto Sans Symbols"/>
              <a:buChar char="➔"/>
            </a:pPr>
            <a:r>
              <a:rPr b="0" i="0" lang="en" sz="1799" u="none" cap="none" strike="noStrike">
                <a:solidFill>
                  <a:srgbClr val="000000"/>
                </a:solidFill>
                <a:latin typeface="Twentieth Century"/>
                <a:ea typeface="Twentieth Century"/>
                <a:cs typeface="Twentieth Century"/>
                <a:sym typeface="Twentieth Century"/>
              </a:rPr>
              <a:t>VS Code is a great IDE for Python because it is:</a:t>
            </a:r>
            <a:endParaRPr b="0" i="0" sz="1799" u="none" cap="none" strike="noStrike">
              <a:solidFill>
                <a:srgbClr val="000000"/>
              </a:solidFill>
              <a:latin typeface="Arial"/>
              <a:ea typeface="Arial"/>
              <a:cs typeface="Arial"/>
              <a:sym typeface="Arial"/>
            </a:endParaRPr>
          </a:p>
          <a:p>
            <a:pPr indent="-270809" lvl="1" marL="685800" marR="0" rtl="0" algn="l">
              <a:lnSpc>
                <a:spcPct val="140000"/>
              </a:lnSpc>
              <a:spcBef>
                <a:spcPts val="1000"/>
              </a:spcBef>
              <a:spcAft>
                <a:spcPts val="0"/>
              </a:spcAft>
              <a:buClr>
                <a:schemeClr val="dk1"/>
              </a:buClr>
              <a:buSzPts val="1545"/>
              <a:buFont typeface="Noto Sans Symbols"/>
              <a:buChar char="◆"/>
            </a:pPr>
            <a:r>
              <a:rPr b="0" i="0" lang="en" sz="1544" u="none" cap="none" strike="noStrike">
                <a:solidFill>
                  <a:srgbClr val="000000"/>
                </a:solidFill>
                <a:latin typeface="Twentieth Century"/>
                <a:ea typeface="Twentieth Century"/>
                <a:cs typeface="Twentieth Century"/>
                <a:sym typeface="Twentieth Century"/>
              </a:rPr>
              <a:t>Free</a:t>
            </a:r>
            <a:endParaRPr b="0" i="0" sz="1344" u="none" cap="none" strike="noStrike">
              <a:solidFill>
                <a:srgbClr val="000000"/>
              </a:solidFill>
              <a:latin typeface="Arial"/>
              <a:ea typeface="Arial"/>
              <a:cs typeface="Arial"/>
              <a:sym typeface="Arial"/>
            </a:endParaRPr>
          </a:p>
          <a:p>
            <a:pPr indent="-270809" lvl="1" marL="685800" marR="0" rtl="0" algn="l">
              <a:lnSpc>
                <a:spcPct val="140000"/>
              </a:lnSpc>
              <a:spcBef>
                <a:spcPts val="1000"/>
              </a:spcBef>
              <a:spcAft>
                <a:spcPts val="0"/>
              </a:spcAft>
              <a:buClr>
                <a:schemeClr val="dk1"/>
              </a:buClr>
              <a:buSzPts val="1545"/>
              <a:buFont typeface="Noto Sans Symbols"/>
              <a:buChar char="◆"/>
            </a:pPr>
            <a:r>
              <a:rPr b="0" i="0" lang="en" sz="1544" u="none" cap="none" strike="noStrike">
                <a:solidFill>
                  <a:srgbClr val="000000"/>
                </a:solidFill>
                <a:latin typeface="Twentieth Century"/>
                <a:ea typeface="Twentieth Century"/>
                <a:cs typeface="Twentieth Century"/>
                <a:sym typeface="Twentieth Century"/>
              </a:rPr>
              <a:t>Open source</a:t>
            </a:r>
            <a:endParaRPr b="0" i="0" sz="1544" u="none" cap="none" strike="noStrike">
              <a:solidFill>
                <a:srgbClr val="000000"/>
              </a:solidFill>
              <a:latin typeface="Arial"/>
              <a:ea typeface="Arial"/>
              <a:cs typeface="Arial"/>
              <a:sym typeface="Arial"/>
            </a:endParaRPr>
          </a:p>
          <a:p>
            <a:pPr indent="-270809" lvl="1" marL="685800" marR="0" rtl="0" algn="l">
              <a:lnSpc>
                <a:spcPct val="140000"/>
              </a:lnSpc>
              <a:spcBef>
                <a:spcPts val="1000"/>
              </a:spcBef>
              <a:spcAft>
                <a:spcPts val="0"/>
              </a:spcAft>
              <a:buClr>
                <a:schemeClr val="dk1"/>
              </a:buClr>
              <a:buSzPts val="1545"/>
              <a:buFont typeface="Noto Sans Symbols"/>
              <a:buChar char="◆"/>
            </a:pPr>
            <a:r>
              <a:rPr b="0" i="0" lang="en" sz="1544" u="none" cap="none" strike="noStrike">
                <a:solidFill>
                  <a:srgbClr val="000000"/>
                </a:solidFill>
                <a:latin typeface="Twentieth Century"/>
                <a:ea typeface="Twentieth Century"/>
                <a:cs typeface="Twentieth Century"/>
                <a:sym typeface="Twentieth Century"/>
              </a:rPr>
              <a:t>Cross platform compatible</a:t>
            </a:r>
            <a:endParaRPr b="0" i="0" sz="1544" u="none" cap="none" strike="noStrike">
              <a:solidFill>
                <a:srgbClr val="000000"/>
              </a:solidFill>
              <a:latin typeface="Twentieth Century"/>
              <a:ea typeface="Twentieth Century"/>
              <a:cs typeface="Twentieth Century"/>
              <a:sym typeface="Twentieth Century"/>
            </a:endParaRPr>
          </a:p>
          <a:p>
            <a:pPr indent="-270809" lvl="1" marL="685800" marR="0" rtl="0" algn="l">
              <a:lnSpc>
                <a:spcPct val="140000"/>
              </a:lnSpc>
              <a:spcBef>
                <a:spcPts val="1000"/>
              </a:spcBef>
              <a:spcAft>
                <a:spcPts val="0"/>
              </a:spcAft>
              <a:buClr>
                <a:schemeClr val="dk1"/>
              </a:buClr>
              <a:buSzPts val="1545"/>
              <a:buFont typeface="Twentieth Century"/>
              <a:buChar char="◆"/>
            </a:pPr>
            <a:r>
              <a:rPr b="0" i="0" lang="en" sz="1544" u="none" cap="none" strike="noStrike">
                <a:solidFill>
                  <a:srgbClr val="000000"/>
                </a:solidFill>
                <a:latin typeface="Twentieth Century"/>
                <a:ea typeface="Twentieth Century"/>
                <a:cs typeface="Twentieth Century"/>
                <a:sym typeface="Twentieth Century"/>
              </a:rPr>
              <a:t>Widely utilized</a:t>
            </a:r>
            <a:endParaRPr b="0" i="0" sz="1544" u="none" cap="none" strike="noStrike">
              <a:solidFill>
                <a:srgbClr val="000000"/>
              </a:solidFill>
              <a:latin typeface="Twentieth Century"/>
              <a:ea typeface="Twentieth Century"/>
              <a:cs typeface="Twentieth Century"/>
              <a:sym typeface="Twentieth Century"/>
            </a:endParaRPr>
          </a:p>
          <a:p>
            <a:pPr indent="-270809" lvl="1" marL="685800" marR="0" rtl="0" algn="l">
              <a:lnSpc>
                <a:spcPct val="140000"/>
              </a:lnSpc>
              <a:spcBef>
                <a:spcPts val="1000"/>
              </a:spcBef>
              <a:spcAft>
                <a:spcPts val="1000"/>
              </a:spcAft>
              <a:buClr>
                <a:schemeClr val="dk1"/>
              </a:buClr>
              <a:buSzPts val="1545"/>
              <a:buFont typeface="Noto Sans Symbols"/>
              <a:buChar char="◆"/>
            </a:pPr>
            <a:r>
              <a:rPr b="0" i="0" lang="en" sz="1544" u="none" cap="none" strike="noStrike">
                <a:solidFill>
                  <a:srgbClr val="000000"/>
                </a:solidFill>
                <a:latin typeface="Twentieth Century"/>
                <a:ea typeface="Twentieth Century"/>
                <a:cs typeface="Twentieth Century"/>
                <a:sym typeface="Twentieth Century"/>
              </a:rPr>
              <a:t>Extensible and customizable</a:t>
            </a:r>
            <a:endParaRPr b="0" i="0" sz="807" u="none" cap="none" strike="noStrike">
              <a:solidFill>
                <a:srgbClr val="000000"/>
              </a:solidFill>
              <a:latin typeface="Twentieth Century"/>
              <a:ea typeface="Twentieth Century"/>
              <a:cs typeface="Twentieth Century"/>
              <a:sym typeface="Twentieth Century"/>
            </a:endParaRPr>
          </a:p>
        </p:txBody>
      </p:sp>
      <p:sp>
        <p:nvSpPr>
          <p:cNvPr id="310" name="Google Shape;310;p21"/>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196"/>
              </a:srgbClr>
            </a:outerShdw>
          </a:effectLst>
        </p:spPr>
        <p:txBody>
          <a:bodyPr anchorCtr="0" anchor="ctr" bIns="34275" lIns="68575" spcFirstLastPara="1" rIns="68575" wrap="square" tIns="34275">
            <a:norm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Using VS Code as your Python IDE</a:t>
            </a:r>
            <a:endParaRPr b="1" sz="2500">
              <a:solidFill>
                <a:schemeClr val="lt1"/>
              </a:solidFill>
              <a:latin typeface="Twentieth Century"/>
              <a:ea typeface="Twentieth Century"/>
              <a:cs typeface="Twentieth Century"/>
              <a:sym typeface="Twentieth Century"/>
            </a:endParaRPr>
          </a:p>
        </p:txBody>
      </p:sp>
      <p:pic>
        <p:nvPicPr>
          <p:cNvPr id="311" name="Google Shape;311;p21"/>
          <p:cNvPicPr preferRelativeResize="0"/>
          <p:nvPr/>
        </p:nvPicPr>
        <p:blipFill rotWithShape="1">
          <a:blip r:embed="rId3">
            <a:alphaModFix/>
          </a:blip>
          <a:srcRect b="0" l="0" r="0" t="0"/>
          <a:stretch/>
        </p:blipFill>
        <p:spPr>
          <a:xfrm>
            <a:off x="328551" y="4315675"/>
            <a:ext cx="2883591" cy="585000"/>
          </a:xfrm>
          <a:prstGeom prst="rect">
            <a:avLst/>
          </a:prstGeom>
          <a:noFill/>
          <a:ln>
            <a:noFill/>
          </a:ln>
          <a:effectLst>
            <a:outerShdw blurRad="57150" rotWithShape="0" algn="bl" dir="5400000" dist="19050">
              <a:srgbClr val="000000">
                <a:alpha val="50196"/>
              </a:srgbClr>
            </a:outerShdw>
          </a:effectLst>
        </p:spPr>
      </p:pic>
      <p:sp>
        <p:nvSpPr>
          <p:cNvPr id="312" name="Google Shape;312;p21"/>
          <p:cNvSpPr txBox="1"/>
          <p:nvPr/>
        </p:nvSpPr>
        <p:spPr>
          <a:xfrm>
            <a:off x="3339288" y="4315675"/>
            <a:ext cx="2428800" cy="585000"/>
          </a:xfrm>
          <a:prstGeom prst="rect">
            <a:avLst/>
          </a:prstGeom>
          <a:solidFill>
            <a:srgbClr val="262626"/>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chemeClr val="lt1"/>
                </a:solidFill>
                <a:latin typeface="Calibri"/>
                <a:ea typeface="Calibri"/>
                <a:cs typeface="Calibri"/>
                <a:sym typeface="Calibri"/>
              </a:rPr>
              <a:t>Download VS Code at </a:t>
            </a:r>
            <a:r>
              <a:rPr b="1" i="0" lang="en" sz="1300" u="sng" cap="none" strike="noStrike">
                <a:solidFill>
                  <a:srgbClr val="9FC5E8"/>
                </a:solidFill>
                <a:latin typeface="Calibri"/>
                <a:ea typeface="Calibri"/>
                <a:cs typeface="Calibri"/>
                <a:sym typeface="Calibri"/>
                <a:hlinkClick r:id="rId4">
                  <a:extLst>
                    <a:ext uri="{A12FA001-AC4F-418D-AE19-62706E023703}">
                      <ahyp:hlinkClr val="tx"/>
                    </a:ext>
                  </a:extLst>
                </a:hlinkClick>
              </a:rPr>
              <a:t>https://code.visualstudio.com/</a:t>
            </a:r>
            <a:r>
              <a:rPr b="1" i="0" lang="en" sz="1300" u="none" cap="none" strike="noStrike">
                <a:solidFill>
                  <a:schemeClr val="lt1"/>
                </a:solidFill>
                <a:latin typeface="Calibri"/>
                <a:ea typeface="Calibri"/>
                <a:cs typeface="Calibri"/>
                <a:sym typeface="Calibri"/>
              </a:rPr>
              <a:t> </a:t>
            </a:r>
            <a:endParaRPr b="1" i="0" sz="1300" u="none" cap="none" strike="noStrike">
              <a:solidFill>
                <a:schemeClr val="lt1"/>
              </a:solidFill>
              <a:latin typeface="Calibri"/>
              <a:ea typeface="Calibri"/>
              <a:cs typeface="Calibri"/>
              <a:sym typeface="Calibri"/>
            </a:endParaRPr>
          </a:p>
        </p:txBody>
      </p:sp>
      <p:pic>
        <p:nvPicPr>
          <p:cNvPr id="313" name="Google Shape;313;p21"/>
          <p:cNvPicPr preferRelativeResize="0"/>
          <p:nvPr/>
        </p:nvPicPr>
        <p:blipFill rotWithShape="1">
          <a:blip r:embed="rId5">
            <a:alphaModFix/>
          </a:blip>
          <a:srcRect b="0" l="0" r="0" t="0"/>
          <a:stretch/>
        </p:blipFill>
        <p:spPr>
          <a:xfrm>
            <a:off x="5895225" y="1019700"/>
            <a:ext cx="3103028" cy="398340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22"/>
          <p:cNvSpPr txBox="1"/>
          <p:nvPr>
            <p:ph idx="1" type="body"/>
          </p:nvPr>
        </p:nvSpPr>
        <p:spPr>
          <a:xfrm>
            <a:off x="2471925" y="988450"/>
            <a:ext cx="6428100" cy="4006200"/>
          </a:xfrm>
          <a:prstGeom prst="rect">
            <a:avLst/>
          </a:prstGeom>
          <a:solidFill>
            <a:schemeClr val="lt1"/>
          </a:solidFill>
          <a:ln>
            <a:noFill/>
          </a:ln>
        </p:spPr>
        <p:txBody>
          <a:bodyPr anchorCtr="0" anchor="t" bIns="68575" lIns="68575" spcFirstLastPara="1" rIns="68575" wrap="square" tIns="68575">
            <a:normAutofit/>
          </a:bodyPr>
          <a:lstStyle/>
          <a:p>
            <a:pPr indent="-165100" lvl="0" marL="285750" rtl="0" algn="l">
              <a:lnSpc>
                <a:spcPct val="200000"/>
              </a:lnSpc>
              <a:spcBef>
                <a:spcPts val="1000"/>
              </a:spcBef>
              <a:spcAft>
                <a:spcPts val="0"/>
              </a:spcAft>
              <a:buClr>
                <a:schemeClr val="dk1"/>
              </a:buClr>
              <a:buSzPts val="800"/>
              <a:buFont typeface="Noto Sans Symbols"/>
              <a:buChar char="●"/>
            </a:pPr>
            <a:r>
              <a:rPr b="1" lang="en" sz="1400">
                <a:latin typeface="Twentieth Century"/>
                <a:ea typeface="Twentieth Century"/>
                <a:cs typeface="Twentieth Century"/>
                <a:sym typeface="Twentieth Century"/>
              </a:rPr>
              <a:t>Stack Overflow </a:t>
            </a:r>
            <a:r>
              <a:rPr b="1" lang="en" sz="1500">
                <a:latin typeface="Twentieth Century"/>
                <a:ea typeface="Twentieth Century"/>
                <a:cs typeface="Twentieth Century"/>
                <a:sym typeface="Twentieth Century"/>
              </a:rPr>
              <a:t>  </a:t>
            </a:r>
            <a:r>
              <a:rPr lang="en" sz="900">
                <a:latin typeface="Twentieth Century"/>
                <a:ea typeface="Twentieth Century"/>
                <a:cs typeface="Twentieth Century"/>
                <a:sym typeface="Twentieth Century"/>
              </a:rPr>
              <a:t>(</a:t>
            </a:r>
            <a:r>
              <a:rPr lang="en" sz="900" u="sng">
                <a:solidFill>
                  <a:schemeClr val="hlink"/>
                </a:solidFill>
                <a:latin typeface="Twentieth Century"/>
                <a:ea typeface="Twentieth Century"/>
                <a:cs typeface="Twentieth Century"/>
                <a:sym typeface="Twentieth Century"/>
                <a:hlinkClick r:id="rId3"/>
              </a:rPr>
              <a:t>https://stackoverflow.com/</a:t>
            </a:r>
            <a:r>
              <a:rPr lang="en" sz="900">
                <a:latin typeface="Twentieth Century"/>
                <a:ea typeface="Twentieth Century"/>
                <a:cs typeface="Twentieth Century"/>
                <a:sym typeface="Twentieth Century"/>
              </a:rPr>
              <a:t>) </a:t>
            </a:r>
            <a:endParaRPr sz="1100"/>
          </a:p>
          <a:p>
            <a:pPr indent="-165100" lvl="0" marL="285750" rtl="0" algn="l">
              <a:lnSpc>
                <a:spcPct val="200000"/>
              </a:lnSpc>
              <a:spcBef>
                <a:spcPts val="1000"/>
              </a:spcBef>
              <a:spcAft>
                <a:spcPts val="0"/>
              </a:spcAft>
              <a:buClr>
                <a:schemeClr val="dk1"/>
              </a:buClr>
              <a:buSzPts val="800"/>
              <a:buFont typeface="Noto Sans Symbols"/>
              <a:buChar char="●"/>
            </a:pPr>
            <a:r>
              <a:rPr b="1" lang="en" sz="1400">
                <a:latin typeface="Twentieth Century"/>
                <a:ea typeface="Twentieth Century"/>
                <a:cs typeface="Twentieth Century"/>
                <a:sym typeface="Twentieth Century"/>
              </a:rPr>
              <a:t>Data Carpentry</a:t>
            </a:r>
            <a:r>
              <a:rPr b="1" lang="en" sz="1500">
                <a:latin typeface="Twentieth Century"/>
                <a:ea typeface="Twentieth Century"/>
                <a:cs typeface="Twentieth Century"/>
                <a:sym typeface="Twentieth Century"/>
              </a:rPr>
              <a:t>  </a:t>
            </a:r>
            <a:r>
              <a:rPr lang="en" sz="900">
                <a:latin typeface="Twentieth Century"/>
                <a:ea typeface="Twentieth Century"/>
                <a:cs typeface="Twentieth Century"/>
                <a:sym typeface="Twentieth Century"/>
              </a:rPr>
              <a:t>(</a:t>
            </a:r>
            <a:r>
              <a:rPr lang="en" sz="900" u="sng">
                <a:solidFill>
                  <a:schemeClr val="hlink"/>
                </a:solidFill>
                <a:latin typeface="Twentieth Century"/>
                <a:ea typeface="Twentieth Century"/>
                <a:cs typeface="Twentieth Century"/>
                <a:sym typeface="Twentieth Century"/>
                <a:hlinkClick r:id="rId4"/>
              </a:rPr>
              <a:t>https://datacarpentry.org/python-ecology-lesson/</a:t>
            </a:r>
            <a:r>
              <a:rPr lang="en" sz="900">
                <a:latin typeface="Twentieth Century"/>
                <a:ea typeface="Twentieth Century"/>
                <a:cs typeface="Twentieth Century"/>
                <a:sym typeface="Twentieth Century"/>
              </a:rPr>
              <a:t>) </a:t>
            </a:r>
            <a:endParaRPr sz="900">
              <a:latin typeface="Twentieth Century"/>
              <a:ea typeface="Twentieth Century"/>
              <a:cs typeface="Twentieth Century"/>
              <a:sym typeface="Twentieth Century"/>
            </a:endParaRPr>
          </a:p>
          <a:p>
            <a:pPr indent="-165100" lvl="0" marL="285750" rtl="0" algn="l">
              <a:lnSpc>
                <a:spcPct val="200000"/>
              </a:lnSpc>
              <a:spcBef>
                <a:spcPts val="1200"/>
              </a:spcBef>
              <a:spcAft>
                <a:spcPts val="0"/>
              </a:spcAft>
              <a:buSzPts val="800"/>
              <a:buFont typeface="Noto Sans Symbols"/>
              <a:buChar char="●"/>
            </a:pPr>
            <a:r>
              <a:rPr b="1" lang="en" sz="1400">
                <a:latin typeface="Twentieth Century"/>
                <a:ea typeface="Twentieth Century"/>
                <a:cs typeface="Twentieth Century"/>
                <a:sym typeface="Twentieth Century"/>
              </a:rPr>
              <a:t>Python Documentation</a:t>
            </a:r>
            <a:r>
              <a:rPr b="1" lang="en" sz="1500">
                <a:latin typeface="Twentieth Century"/>
                <a:ea typeface="Twentieth Century"/>
                <a:cs typeface="Twentieth Century"/>
                <a:sym typeface="Twentieth Century"/>
              </a:rPr>
              <a:t>  </a:t>
            </a:r>
            <a:r>
              <a:rPr lang="en" sz="900">
                <a:latin typeface="Twentieth Century"/>
                <a:ea typeface="Twentieth Century"/>
                <a:cs typeface="Twentieth Century"/>
                <a:sym typeface="Twentieth Century"/>
              </a:rPr>
              <a:t>(</a:t>
            </a:r>
            <a:r>
              <a:rPr lang="en" sz="900" u="sng">
                <a:solidFill>
                  <a:schemeClr val="hlink"/>
                </a:solidFill>
                <a:latin typeface="Twentieth Century"/>
                <a:ea typeface="Twentieth Century"/>
                <a:cs typeface="Twentieth Century"/>
                <a:sym typeface="Twentieth Century"/>
                <a:hlinkClick r:id="rId5"/>
              </a:rPr>
              <a:t>https://docs.python.org/3/library/index.html</a:t>
            </a:r>
            <a:r>
              <a:rPr lang="en" sz="900">
                <a:latin typeface="Twentieth Century"/>
                <a:ea typeface="Twentieth Century"/>
                <a:cs typeface="Twentieth Century"/>
                <a:sym typeface="Twentieth Century"/>
              </a:rPr>
              <a:t>) </a:t>
            </a:r>
            <a:endParaRPr sz="1100"/>
          </a:p>
          <a:p>
            <a:pPr indent="-165100" lvl="0" marL="285750" rtl="0" algn="l">
              <a:lnSpc>
                <a:spcPct val="200000"/>
              </a:lnSpc>
              <a:spcBef>
                <a:spcPts val="1200"/>
              </a:spcBef>
              <a:spcAft>
                <a:spcPts val="0"/>
              </a:spcAft>
              <a:buSzPts val="800"/>
              <a:buFont typeface="Noto Sans Symbols"/>
              <a:buChar char="●"/>
            </a:pPr>
            <a:r>
              <a:rPr b="1" lang="en" sz="1400">
                <a:latin typeface="Twentieth Century"/>
                <a:ea typeface="Twentieth Century"/>
                <a:cs typeface="Twentieth Century"/>
                <a:sym typeface="Twentieth Century"/>
              </a:rPr>
              <a:t>Python Tutorial  </a:t>
            </a:r>
            <a:r>
              <a:rPr b="1" lang="en" sz="1500">
                <a:latin typeface="Twentieth Century"/>
                <a:ea typeface="Twentieth Century"/>
                <a:cs typeface="Twentieth Century"/>
                <a:sym typeface="Twentieth Century"/>
              </a:rPr>
              <a:t> </a:t>
            </a:r>
            <a:r>
              <a:rPr lang="en" sz="900">
                <a:latin typeface="Twentieth Century"/>
                <a:ea typeface="Twentieth Century"/>
                <a:cs typeface="Twentieth Century"/>
                <a:sym typeface="Twentieth Century"/>
              </a:rPr>
              <a:t>(</a:t>
            </a:r>
            <a:r>
              <a:rPr lang="en" sz="900" u="sng">
                <a:solidFill>
                  <a:schemeClr val="hlink"/>
                </a:solidFill>
                <a:latin typeface="Twentieth Century"/>
                <a:ea typeface="Twentieth Century"/>
                <a:cs typeface="Twentieth Century"/>
                <a:sym typeface="Twentieth Century"/>
                <a:hlinkClick r:id="rId6"/>
              </a:rPr>
              <a:t>https://docs.python.org/3/tutorial/index.html</a:t>
            </a:r>
            <a:r>
              <a:rPr lang="en" sz="900">
                <a:latin typeface="Twentieth Century"/>
                <a:ea typeface="Twentieth Century"/>
                <a:cs typeface="Twentieth Century"/>
                <a:sym typeface="Twentieth Century"/>
              </a:rPr>
              <a:t>) </a:t>
            </a:r>
            <a:endParaRPr sz="900">
              <a:latin typeface="Twentieth Century"/>
              <a:ea typeface="Twentieth Century"/>
              <a:cs typeface="Twentieth Century"/>
              <a:sym typeface="Twentieth Century"/>
            </a:endParaRPr>
          </a:p>
          <a:p>
            <a:pPr indent="-165100" lvl="0" marL="285750" rtl="0" algn="l">
              <a:lnSpc>
                <a:spcPct val="200000"/>
              </a:lnSpc>
              <a:spcBef>
                <a:spcPts val="1200"/>
              </a:spcBef>
              <a:spcAft>
                <a:spcPts val="0"/>
              </a:spcAft>
              <a:buSzPts val="800"/>
              <a:buFont typeface="Noto Sans Symbols"/>
              <a:buChar char="●"/>
            </a:pPr>
            <a:r>
              <a:rPr b="1" lang="en" sz="1400">
                <a:latin typeface="Twentieth Century"/>
                <a:ea typeface="Twentieth Century"/>
                <a:cs typeface="Twentieth Century"/>
                <a:sym typeface="Twentieth Century"/>
              </a:rPr>
              <a:t>LinkedIn Learning</a:t>
            </a:r>
            <a:r>
              <a:rPr b="1" lang="en" sz="1500">
                <a:latin typeface="Twentieth Century"/>
                <a:ea typeface="Twentieth Century"/>
                <a:cs typeface="Twentieth Century"/>
                <a:sym typeface="Twentieth Century"/>
              </a:rPr>
              <a:t>  </a:t>
            </a:r>
            <a:r>
              <a:rPr lang="en" sz="900">
                <a:latin typeface="Twentieth Century"/>
                <a:ea typeface="Twentieth Century"/>
                <a:cs typeface="Twentieth Century"/>
                <a:sym typeface="Twentieth Century"/>
              </a:rPr>
              <a:t>(</a:t>
            </a:r>
            <a:r>
              <a:rPr lang="en" sz="900" u="sng">
                <a:solidFill>
                  <a:schemeClr val="hlink"/>
                </a:solidFill>
                <a:latin typeface="Twentieth Century"/>
                <a:ea typeface="Twentieth Century"/>
                <a:cs typeface="Twentieth Century"/>
                <a:sym typeface="Twentieth Century"/>
                <a:hlinkClick r:id="rId7"/>
              </a:rPr>
              <a:t>https://www.linkedin.com/learning/topics/python</a:t>
            </a:r>
            <a:r>
              <a:rPr lang="en" sz="900">
                <a:latin typeface="Twentieth Century"/>
                <a:ea typeface="Twentieth Century"/>
                <a:cs typeface="Twentieth Century"/>
                <a:sym typeface="Twentieth Century"/>
              </a:rPr>
              <a:t>)</a:t>
            </a:r>
            <a:endParaRPr sz="900">
              <a:latin typeface="Twentieth Century"/>
              <a:ea typeface="Twentieth Century"/>
              <a:cs typeface="Twentieth Century"/>
              <a:sym typeface="Twentieth Century"/>
            </a:endParaRPr>
          </a:p>
          <a:p>
            <a:pPr indent="-171450" lvl="0" marL="285750" rtl="0" algn="l">
              <a:lnSpc>
                <a:spcPct val="200000"/>
              </a:lnSpc>
              <a:spcBef>
                <a:spcPts val="1200"/>
              </a:spcBef>
              <a:spcAft>
                <a:spcPts val="0"/>
              </a:spcAft>
              <a:buSzPts val="900"/>
              <a:buFont typeface="Twentieth Century"/>
              <a:buChar char="●"/>
            </a:pPr>
            <a:r>
              <a:rPr b="1" lang="en" sz="1400">
                <a:latin typeface="Twentieth Century"/>
                <a:ea typeface="Twentieth Century"/>
                <a:cs typeface="Twentieth Century"/>
                <a:sym typeface="Twentieth Century"/>
              </a:rPr>
              <a:t>UT Statistics Short Courses</a:t>
            </a:r>
            <a:r>
              <a:rPr lang="en" sz="900">
                <a:latin typeface="Twentieth Century"/>
                <a:ea typeface="Twentieth Century"/>
                <a:cs typeface="Twentieth Century"/>
                <a:sym typeface="Twentieth Century"/>
              </a:rPr>
              <a:t> (</a:t>
            </a:r>
            <a:r>
              <a:rPr lang="en" sz="900" u="sng">
                <a:solidFill>
                  <a:schemeClr val="hlink"/>
                </a:solidFill>
                <a:latin typeface="Twentieth Century"/>
                <a:ea typeface="Twentieth Century"/>
                <a:cs typeface="Twentieth Century"/>
                <a:sym typeface="Twentieth Century"/>
                <a:hlinkClick r:id="rId8"/>
              </a:rPr>
              <a:t>https://stat.utexas.edu/training/software-short-courses</a:t>
            </a:r>
            <a:r>
              <a:rPr lang="en" sz="900">
                <a:latin typeface="Twentieth Century"/>
                <a:ea typeface="Twentieth Century"/>
                <a:cs typeface="Twentieth Century"/>
                <a:sym typeface="Twentieth Century"/>
              </a:rPr>
              <a:t>) </a:t>
            </a:r>
            <a:endParaRPr sz="900">
              <a:latin typeface="Twentieth Century"/>
              <a:ea typeface="Twentieth Century"/>
              <a:cs typeface="Twentieth Century"/>
              <a:sym typeface="Twentieth Century"/>
            </a:endParaRPr>
          </a:p>
          <a:p>
            <a:pPr indent="-171450" lvl="0" marL="285750" rtl="0" algn="l">
              <a:lnSpc>
                <a:spcPct val="200000"/>
              </a:lnSpc>
              <a:spcBef>
                <a:spcPts val="1200"/>
              </a:spcBef>
              <a:spcAft>
                <a:spcPts val="1200"/>
              </a:spcAft>
              <a:buSzPts val="900"/>
              <a:buFont typeface="Twentieth Century"/>
              <a:buChar char="●"/>
            </a:pPr>
            <a:r>
              <a:rPr b="1" lang="en" sz="1400">
                <a:latin typeface="Twentieth Century"/>
                <a:ea typeface="Twentieth Century"/>
                <a:cs typeface="Twentieth Century"/>
                <a:sym typeface="Twentieth Century"/>
              </a:rPr>
              <a:t>Google Colab: Intro to Python</a:t>
            </a:r>
            <a:r>
              <a:rPr b="1" lang="en" sz="1300">
                <a:latin typeface="Twentieth Century"/>
                <a:ea typeface="Twentieth Century"/>
                <a:cs typeface="Twentieth Century"/>
                <a:sym typeface="Twentieth Century"/>
              </a:rPr>
              <a:t> </a:t>
            </a:r>
            <a:r>
              <a:rPr lang="en" sz="900">
                <a:latin typeface="Twentieth Century"/>
                <a:ea typeface="Twentieth Century"/>
                <a:cs typeface="Twentieth Century"/>
                <a:sym typeface="Twentieth Century"/>
              </a:rPr>
              <a:t>(</a:t>
            </a:r>
            <a:r>
              <a:rPr lang="en" sz="900" u="sng">
                <a:solidFill>
                  <a:schemeClr val="hlink"/>
                </a:solidFill>
                <a:latin typeface="Twentieth Century"/>
                <a:ea typeface="Twentieth Century"/>
                <a:cs typeface="Twentieth Century"/>
                <a:sym typeface="Twentieth Century"/>
                <a:hlinkClick r:id="rId9"/>
              </a:rPr>
              <a:t>https://colab.research.google.com/notebooks/intro.ipynb</a:t>
            </a:r>
            <a:r>
              <a:rPr lang="en" sz="900">
                <a:latin typeface="Twentieth Century"/>
                <a:ea typeface="Twentieth Century"/>
                <a:cs typeface="Twentieth Century"/>
                <a:sym typeface="Twentieth Century"/>
              </a:rPr>
              <a:t>) </a:t>
            </a:r>
            <a:endParaRPr sz="900">
              <a:latin typeface="Twentieth Century"/>
              <a:ea typeface="Twentieth Century"/>
              <a:cs typeface="Twentieth Century"/>
              <a:sym typeface="Twentieth Century"/>
            </a:endParaRPr>
          </a:p>
        </p:txBody>
      </p:sp>
      <p:pic>
        <p:nvPicPr>
          <p:cNvPr id="320" name="Google Shape;320;p22"/>
          <p:cNvPicPr preferRelativeResize="0"/>
          <p:nvPr/>
        </p:nvPicPr>
        <p:blipFill rotWithShape="1">
          <a:blip r:embed="rId10">
            <a:alphaModFix/>
          </a:blip>
          <a:srcRect b="0" l="0" r="0" t="0"/>
          <a:stretch/>
        </p:blipFill>
        <p:spPr>
          <a:xfrm>
            <a:off x="245724" y="1064650"/>
            <a:ext cx="1898427" cy="1024274"/>
          </a:xfrm>
          <a:prstGeom prst="rect">
            <a:avLst/>
          </a:prstGeom>
          <a:noFill/>
          <a:ln>
            <a:noFill/>
          </a:ln>
          <a:effectLst>
            <a:outerShdw blurRad="57150" rotWithShape="0" algn="bl" dir="5400000" dist="19050">
              <a:srgbClr val="000000">
                <a:alpha val="50196"/>
              </a:srgbClr>
            </a:outerShdw>
          </a:effectLst>
        </p:spPr>
      </p:pic>
      <p:pic>
        <p:nvPicPr>
          <p:cNvPr id="321" name="Google Shape;321;p22"/>
          <p:cNvPicPr preferRelativeResize="0"/>
          <p:nvPr/>
        </p:nvPicPr>
        <p:blipFill rotWithShape="1">
          <a:blip r:embed="rId11">
            <a:alphaModFix/>
          </a:blip>
          <a:srcRect b="0" l="0" r="0" t="0"/>
          <a:stretch/>
        </p:blipFill>
        <p:spPr>
          <a:xfrm>
            <a:off x="245725" y="2345450"/>
            <a:ext cx="1898425" cy="1226275"/>
          </a:xfrm>
          <a:prstGeom prst="rect">
            <a:avLst/>
          </a:prstGeom>
          <a:noFill/>
          <a:ln>
            <a:noFill/>
          </a:ln>
          <a:effectLst>
            <a:outerShdw blurRad="57150" rotWithShape="0" algn="bl" dir="5400000" dist="19050">
              <a:srgbClr val="000000">
                <a:alpha val="50196"/>
              </a:srgbClr>
            </a:outerShdw>
          </a:effectLst>
        </p:spPr>
      </p:pic>
      <p:pic>
        <p:nvPicPr>
          <p:cNvPr id="322" name="Google Shape;322;p22"/>
          <p:cNvPicPr preferRelativeResize="0"/>
          <p:nvPr/>
        </p:nvPicPr>
        <p:blipFill rotWithShape="1">
          <a:blip r:embed="rId12">
            <a:alphaModFix/>
          </a:blip>
          <a:srcRect b="0" l="0" r="0" t="0"/>
          <a:stretch/>
        </p:blipFill>
        <p:spPr>
          <a:xfrm>
            <a:off x="245725" y="3893747"/>
            <a:ext cx="1898427" cy="1051151"/>
          </a:xfrm>
          <a:prstGeom prst="rect">
            <a:avLst/>
          </a:prstGeom>
          <a:noFill/>
          <a:ln>
            <a:noFill/>
          </a:ln>
          <a:effectLst>
            <a:outerShdw blurRad="57150" rotWithShape="0" algn="bl" dir="5400000" dist="19050">
              <a:srgbClr val="000000">
                <a:alpha val="50196"/>
              </a:srgbClr>
            </a:outerShdw>
          </a:effectLst>
        </p:spPr>
      </p:pic>
      <p:sp>
        <p:nvSpPr>
          <p:cNvPr id="323" name="Google Shape;323;p22"/>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196"/>
              </a:srgbClr>
            </a:outerShdw>
          </a:effectLst>
        </p:spPr>
        <p:txBody>
          <a:bodyPr anchorCtr="0" anchor="ctr" bIns="34275" lIns="68575" spcFirstLastPara="1" rIns="68575" wrap="square" tIns="34275">
            <a:norm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Python Resources, Documentation, and Help</a:t>
            </a:r>
            <a:endParaRPr b="1" sz="2500">
              <a:solidFill>
                <a:schemeClr val="lt1"/>
              </a:solidFill>
              <a:latin typeface="Twentieth Century"/>
              <a:ea typeface="Twentieth Century"/>
              <a:cs typeface="Twentieth Century"/>
              <a:sym typeface="Twentieth Century"/>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23"/>
          <p:cNvSpPr txBox="1"/>
          <p:nvPr>
            <p:ph type="title"/>
          </p:nvPr>
        </p:nvSpPr>
        <p:spPr>
          <a:xfrm>
            <a:off x="-390906" y="20894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196"/>
              </a:srgbClr>
            </a:outerShdw>
          </a:effectLst>
        </p:spPr>
        <p:txBody>
          <a:bodyPr anchorCtr="0" anchor="ctr" bIns="34275" lIns="68575" spcFirstLastPara="1" rIns="68575" wrap="square" tIns="34275">
            <a:norm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Software Installation Support</a:t>
            </a:r>
            <a:endParaRPr b="1" sz="2500">
              <a:solidFill>
                <a:schemeClr val="lt1"/>
              </a:solidFill>
              <a:latin typeface="Twentieth Century"/>
              <a:ea typeface="Twentieth Century"/>
              <a:cs typeface="Twentieth Century"/>
              <a:sym typeface="Twentieth Century"/>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g3f6c0a7b51b_0_109"/>
          <p:cNvSpPr txBox="1"/>
          <p:nvPr>
            <p:ph idx="1" type="body"/>
          </p:nvPr>
        </p:nvSpPr>
        <p:spPr>
          <a:xfrm>
            <a:off x="320250" y="988450"/>
            <a:ext cx="8579700" cy="1163700"/>
          </a:xfrm>
          <a:prstGeom prst="rect">
            <a:avLst/>
          </a:prstGeom>
          <a:solidFill>
            <a:schemeClr val="lt1"/>
          </a:solidFill>
          <a:ln>
            <a:noFill/>
          </a:ln>
        </p:spPr>
        <p:txBody>
          <a:bodyPr anchorCtr="0" anchor="t" bIns="68575" lIns="68575" spcFirstLastPara="1" rIns="68575" wrap="square" tIns="155425">
            <a:normAutofit/>
          </a:bodyPr>
          <a:lstStyle/>
          <a:p>
            <a:pPr indent="0" lvl="0" marL="0" rtl="0" algn="ctr">
              <a:lnSpc>
                <a:spcPct val="115000"/>
              </a:lnSpc>
              <a:spcBef>
                <a:spcPts val="1200"/>
              </a:spcBef>
              <a:spcAft>
                <a:spcPts val="0"/>
              </a:spcAft>
              <a:buNone/>
            </a:pPr>
            <a:r>
              <a:rPr lang="en" sz="2124">
                <a:solidFill>
                  <a:schemeClr val="dk1"/>
                </a:solidFill>
                <a:latin typeface="Twentieth Century"/>
                <a:ea typeface="Twentieth Century"/>
                <a:cs typeface="Twentieth Century"/>
                <a:sym typeface="Twentieth Century"/>
              </a:rPr>
              <a:t>Visit link below for detailed instructions for installing all required software</a:t>
            </a:r>
            <a:endParaRPr sz="2124">
              <a:solidFill>
                <a:schemeClr val="dk1"/>
              </a:solidFill>
              <a:latin typeface="Twentieth Century"/>
              <a:ea typeface="Twentieth Century"/>
              <a:cs typeface="Twentieth Century"/>
              <a:sym typeface="Twentieth Century"/>
            </a:endParaRPr>
          </a:p>
          <a:p>
            <a:pPr indent="0" lvl="0" marL="0" rtl="0" algn="ctr">
              <a:lnSpc>
                <a:spcPct val="115000"/>
              </a:lnSpc>
              <a:spcBef>
                <a:spcPts val="1200"/>
              </a:spcBef>
              <a:spcAft>
                <a:spcPts val="1200"/>
              </a:spcAft>
              <a:buNone/>
            </a:pPr>
            <a:r>
              <a:rPr b="1" lang="en" sz="2100" u="sng">
                <a:solidFill>
                  <a:schemeClr val="hlink"/>
                </a:solidFill>
                <a:latin typeface="Twentieth Century"/>
                <a:ea typeface="Twentieth Century"/>
                <a:cs typeface="Twentieth Century"/>
                <a:sym typeface="Twentieth Century"/>
                <a:hlinkClick r:id="rId3"/>
              </a:rPr>
              <a:t>https://bit.ly/python-install-test-aug26</a:t>
            </a:r>
            <a:r>
              <a:rPr b="1" lang="en" sz="2100">
                <a:latin typeface="Twentieth Century"/>
                <a:ea typeface="Twentieth Century"/>
                <a:cs typeface="Twentieth Century"/>
                <a:sym typeface="Twentieth Century"/>
              </a:rPr>
              <a:t> </a:t>
            </a:r>
            <a:endParaRPr b="1" sz="2100">
              <a:latin typeface="Twentieth Century"/>
              <a:ea typeface="Twentieth Century"/>
              <a:cs typeface="Twentieth Century"/>
              <a:sym typeface="Twentieth Century"/>
            </a:endParaRPr>
          </a:p>
        </p:txBody>
      </p:sp>
      <p:sp>
        <p:nvSpPr>
          <p:cNvPr id="336" name="Google Shape;336;g3f6c0a7b51b_0_109"/>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200"/>
              </a:srgbClr>
            </a:outerShdw>
          </a:effectLst>
        </p:spPr>
        <p:txBody>
          <a:bodyPr anchorCtr="0" anchor="ctr" bIns="34275" lIns="68575" spcFirstLastPara="1" rIns="68575" wrap="square" tIns="34275">
            <a:norm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Python Resources, Documentation, and Help</a:t>
            </a:r>
            <a:endParaRPr b="1" sz="2500">
              <a:solidFill>
                <a:schemeClr val="lt1"/>
              </a:solidFill>
              <a:latin typeface="Twentieth Century"/>
              <a:ea typeface="Twentieth Century"/>
              <a:cs typeface="Twentieth Century"/>
              <a:sym typeface="Twentieth Century"/>
            </a:endParaRPr>
          </a:p>
        </p:txBody>
      </p:sp>
      <p:pic>
        <p:nvPicPr>
          <p:cNvPr id="337" name="Google Shape;337;g3f6c0a7b51b_0_109"/>
          <p:cNvPicPr preferRelativeResize="0"/>
          <p:nvPr/>
        </p:nvPicPr>
        <p:blipFill>
          <a:blip r:embed="rId4">
            <a:alphaModFix/>
          </a:blip>
          <a:stretch>
            <a:fillRect/>
          </a:stretch>
        </p:blipFill>
        <p:spPr>
          <a:xfrm>
            <a:off x="3357137" y="2505500"/>
            <a:ext cx="2675914" cy="2458374"/>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42" name="Shape 342"/>
        <p:cNvGrpSpPr/>
        <p:nvPr/>
      </p:nvGrpSpPr>
      <p:grpSpPr>
        <a:xfrm>
          <a:off x="0" y="0"/>
          <a:ext cx="0" cy="0"/>
          <a:chOff x="0" y="0"/>
          <a:chExt cx="0" cy="0"/>
        </a:xfrm>
      </p:grpSpPr>
      <p:sp>
        <p:nvSpPr>
          <p:cNvPr id="343" name="Google Shape;343;g3f6c0a7b51b_0_19"/>
          <p:cNvSpPr txBox="1"/>
          <p:nvPr>
            <p:ph idx="1" type="body"/>
          </p:nvPr>
        </p:nvSpPr>
        <p:spPr>
          <a:xfrm>
            <a:off x="162425" y="965575"/>
            <a:ext cx="8830500" cy="4084800"/>
          </a:xfrm>
          <a:prstGeom prst="rect">
            <a:avLst/>
          </a:prstGeom>
          <a:solidFill>
            <a:schemeClr val="lt1"/>
          </a:solidFill>
          <a:ln>
            <a:noFill/>
          </a:ln>
        </p:spPr>
        <p:txBody>
          <a:bodyPr anchorCtr="0" anchor="t" bIns="137150" lIns="137150" spcFirstLastPara="1" rIns="137150" wrap="square" tIns="137150">
            <a:noAutofit/>
          </a:bodyPr>
          <a:lstStyle/>
          <a:p>
            <a:pPr indent="-304800" lvl="0" marL="457200" rtl="0" algn="l">
              <a:lnSpc>
                <a:spcPct val="115000"/>
              </a:lnSpc>
              <a:spcBef>
                <a:spcPts val="0"/>
              </a:spcBef>
              <a:spcAft>
                <a:spcPts val="0"/>
              </a:spcAft>
              <a:buSzPts val="1200"/>
              <a:buFont typeface="Twentieth Century"/>
              <a:buChar char="●"/>
            </a:pPr>
            <a:r>
              <a:rPr lang="en" sz="1200">
                <a:solidFill>
                  <a:schemeClr val="dk1"/>
                </a:solidFill>
                <a:latin typeface="Twentieth Century"/>
                <a:ea typeface="Twentieth Century"/>
                <a:cs typeface="Twentieth Century"/>
                <a:sym typeface="Twentieth Century"/>
              </a:rPr>
              <a:t>Use your command prompt/terminal to navigate to your project folder:</a:t>
            </a:r>
            <a:endParaRPr sz="1200">
              <a:solidFill>
                <a:schemeClr val="dk1"/>
              </a:solidFill>
              <a:latin typeface="Twentieth Century"/>
              <a:ea typeface="Twentieth Century"/>
              <a:cs typeface="Twentieth Century"/>
              <a:sym typeface="Twentieth Century"/>
            </a:endParaRPr>
          </a:p>
          <a:p>
            <a:pPr indent="-304800" lvl="1" marL="914400" rtl="0" algn="l">
              <a:lnSpc>
                <a:spcPct val="115000"/>
              </a:lnSpc>
              <a:spcBef>
                <a:spcPts val="0"/>
              </a:spcBef>
              <a:spcAft>
                <a:spcPts val="0"/>
              </a:spcAft>
              <a:buSzPts val="1200"/>
              <a:buFont typeface="Twentieth Century"/>
              <a:buChar char="○"/>
            </a:pPr>
            <a:r>
              <a:rPr i="1" lang="en" sz="1200">
                <a:solidFill>
                  <a:schemeClr val="dk1"/>
                </a:solidFill>
                <a:latin typeface="Twentieth Century"/>
                <a:ea typeface="Twentieth Century"/>
                <a:cs typeface="Twentieth Century"/>
                <a:sym typeface="Twentieth Century"/>
              </a:rPr>
              <a:t>cd your/path</a:t>
            </a:r>
            <a:endParaRPr i="1" sz="1200">
              <a:solidFill>
                <a:schemeClr val="dk1"/>
              </a:solidFill>
              <a:latin typeface="Twentieth Century"/>
              <a:ea typeface="Twentieth Century"/>
              <a:cs typeface="Twentieth Century"/>
              <a:sym typeface="Twentieth Century"/>
            </a:endParaRPr>
          </a:p>
          <a:p>
            <a:pPr indent="-304800" lvl="2" marL="1371600" rtl="0" algn="l">
              <a:lnSpc>
                <a:spcPct val="115000"/>
              </a:lnSpc>
              <a:spcBef>
                <a:spcPts val="0"/>
              </a:spcBef>
              <a:spcAft>
                <a:spcPts val="0"/>
              </a:spcAft>
              <a:buSzPts val="1200"/>
              <a:buFont typeface="Twentieth Century"/>
              <a:buChar char="■"/>
            </a:pPr>
            <a:r>
              <a:rPr lang="en" sz="1200">
                <a:solidFill>
                  <a:schemeClr val="dk1"/>
                </a:solidFill>
                <a:latin typeface="Twentieth Century"/>
                <a:ea typeface="Twentieth Century"/>
                <a:cs typeface="Twentieth Century"/>
                <a:sym typeface="Twentieth Century"/>
              </a:rPr>
              <a:t>Example: </a:t>
            </a:r>
            <a:r>
              <a:rPr i="1" lang="en" sz="1200">
                <a:solidFill>
                  <a:schemeClr val="dk1"/>
                </a:solidFill>
                <a:latin typeface="Twentieth Century"/>
                <a:ea typeface="Twentieth Century"/>
                <a:cs typeface="Twentieth Century"/>
                <a:sym typeface="Twentieth Century"/>
              </a:rPr>
              <a:t>cd documents </a:t>
            </a:r>
            <a:endParaRPr i="1" sz="1200">
              <a:solidFill>
                <a:schemeClr val="dk1"/>
              </a:solidFill>
              <a:latin typeface="Twentieth Century"/>
              <a:ea typeface="Twentieth Century"/>
              <a:cs typeface="Twentieth Century"/>
              <a:sym typeface="Twentieth Century"/>
            </a:endParaRPr>
          </a:p>
          <a:p>
            <a:pPr indent="0" lvl="0" marL="1371600" rtl="0" algn="l">
              <a:lnSpc>
                <a:spcPct val="115000"/>
              </a:lnSpc>
              <a:spcBef>
                <a:spcPts val="0"/>
              </a:spcBef>
              <a:spcAft>
                <a:spcPts val="0"/>
              </a:spcAft>
              <a:buNone/>
            </a:pPr>
            <a:r>
              <a:t/>
            </a:r>
            <a:endParaRPr i="1" sz="1200">
              <a:solidFill>
                <a:schemeClr val="dk1"/>
              </a:solidFill>
              <a:latin typeface="Twentieth Century"/>
              <a:ea typeface="Twentieth Century"/>
              <a:cs typeface="Twentieth Century"/>
              <a:sym typeface="Twentieth Century"/>
            </a:endParaRPr>
          </a:p>
          <a:p>
            <a:pPr indent="-304800" lvl="0" marL="457200" rtl="0" algn="l">
              <a:lnSpc>
                <a:spcPct val="115000"/>
              </a:lnSpc>
              <a:spcBef>
                <a:spcPts val="0"/>
              </a:spcBef>
              <a:spcAft>
                <a:spcPts val="0"/>
              </a:spcAft>
              <a:buSzPts val="1200"/>
              <a:buFont typeface="Twentieth Century"/>
              <a:buChar char="●"/>
            </a:pPr>
            <a:r>
              <a:rPr lang="en" sz="1200">
                <a:solidFill>
                  <a:schemeClr val="dk1"/>
                </a:solidFill>
                <a:latin typeface="Twentieth Century"/>
                <a:ea typeface="Twentieth Century"/>
                <a:cs typeface="Twentieth Century"/>
                <a:sym typeface="Twentieth Century"/>
              </a:rPr>
              <a:t>Create your virtual environment:</a:t>
            </a:r>
            <a:endParaRPr sz="1200">
              <a:solidFill>
                <a:schemeClr val="dk1"/>
              </a:solidFill>
              <a:latin typeface="Twentieth Century"/>
              <a:ea typeface="Twentieth Century"/>
              <a:cs typeface="Twentieth Century"/>
              <a:sym typeface="Twentieth Century"/>
            </a:endParaRPr>
          </a:p>
          <a:p>
            <a:pPr indent="-304800" lvl="1" marL="914400" rtl="0" algn="l">
              <a:lnSpc>
                <a:spcPct val="115000"/>
              </a:lnSpc>
              <a:spcBef>
                <a:spcPts val="0"/>
              </a:spcBef>
              <a:spcAft>
                <a:spcPts val="0"/>
              </a:spcAft>
              <a:buSzPts val="1200"/>
              <a:buFont typeface="Twentieth Century"/>
              <a:buChar char="○"/>
            </a:pPr>
            <a:r>
              <a:rPr lang="en" sz="1200">
                <a:solidFill>
                  <a:schemeClr val="dk1"/>
                </a:solidFill>
                <a:latin typeface="Twentieth Century"/>
                <a:ea typeface="Twentieth Century"/>
                <a:cs typeface="Twentieth Century"/>
                <a:sym typeface="Twentieth Century"/>
              </a:rPr>
              <a:t>On Mac:</a:t>
            </a:r>
            <a:endParaRPr sz="1200">
              <a:solidFill>
                <a:schemeClr val="dk1"/>
              </a:solidFill>
              <a:latin typeface="Twentieth Century"/>
              <a:ea typeface="Twentieth Century"/>
              <a:cs typeface="Twentieth Century"/>
              <a:sym typeface="Twentieth Century"/>
            </a:endParaRPr>
          </a:p>
          <a:p>
            <a:pPr indent="-304800" lvl="2" marL="1371600" rtl="0" algn="l">
              <a:lnSpc>
                <a:spcPct val="115000"/>
              </a:lnSpc>
              <a:spcBef>
                <a:spcPts val="0"/>
              </a:spcBef>
              <a:spcAft>
                <a:spcPts val="0"/>
              </a:spcAft>
              <a:buSzPts val="1200"/>
              <a:buFont typeface="Twentieth Century"/>
              <a:buChar char="■"/>
            </a:pPr>
            <a:r>
              <a:rPr i="1" lang="en" sz="1200">
                <a:solidFill>
                  <a:schemeClr val="dk1"/>
                </a:solidFill>
                <a:latin typeface="Twentieth Century"/>
                <a:ea typeface="Twentieth Century"/>
                <a:cs typeface="Twentieth Century"/>
                <a:sym typeface="Twentieth Century"/>
              </a:rPr>
              <a:t>python3 -m venv venv</a:t>
            </a:r>
            <a:endParaRPr i="1" sz="1200">
              <a:solidFill>
                <a:schemeClr val="dk1"/>
              </a:solidFill>
              <a:latin typeface="Twentieth Century"/>
              <a:ea typeface="Twentieth Century"/>
              <a:cs typeface="Twentieth Century"/>
              <a:sym typeface="Twentieth Century"/>
            </a:endParaRPr>
          </a:p>
          <a:p>
            <a:pPr indent="-304800" lvl="1" marL="914400" rtl="0" algn="l">
              <a:lnSpc>
                <a:spcPct val="115000"/>
              </a:lnSpc>
              <a:spcBef>
                <a:spcPts val="0"/>
              </a:spcBef>
              <a:spcAft>
                <a:spcPts val="0"/>
              </a:spcAft>
              <a:buSzPts val="1200"/>
              <a:buFont typeface="Twentieth Century"/>
              <a:buChar char="○"/>
            </a:pPr>
            <a:r>
              <a:rPr lang="en" sz="1200">
                <a:solidFill>
                  <a:schemeClr val="dk1"/>
                </a:solidFill>
                <a:latin typeface="Twentieth Century"/>
                <a:ea typeface="Twentieth Century"/>
                <a:cs typeface="Twentieth Century"/>
                <a:sym typeface="Twentieth Century"/>
              </a:rPr>
              <a:t>On Windows:</a:t>
            </a:r>
            <a:endParaRPr sz="1200">
              <a:solidFill>
                <a:schemeClr val="dk1"/>
              </a:solidFill>
              <a:latin typeface="Twentieth Century"/>
              <a:ea typeface="Twentieth Century"/>
              <a:cs typeface="Twentieth Century"/>
              <a:sym typeface="Twentieth Century"/>
            </a:endParaRPr>
          </a:p>
          <a:p>
            <a:pPr indent="-304800" lvl="2" marL="1371600" rtl="0" algn="l">
              <a:lnSpc>
                <a:spcPct val="115000"/>
              </a:lnSpc>
              <a:spcBef>
                <a:spcPts val="0"/>
              </a:spcBef>
              <a:spcAft>
                <a:spcPts val="0"/>
              </a:spcAft>
              <a:buSzPts val="1200"/>
              <a:buFont typeface="Twentieth Century"/>
              <a:buChar char="■"/>
            </a:pPr>
            <a:r>
              <a:rPr i="1" lang="en" sz="1200">
                <a:solidFill>
                  <a:schemeClr val="dk1"/>
                </a:solidFill>
                <a:latin typeface="Twentieth Century"/>
                <a:ea typeface="Twentieth Century"/>
                <a:cs typeface="Twentieth Century"/>
                <a:sym typeface="Twentieth Century"/>
              </a:rPr>
              <a:t>python -m venv venv</a:t>
            </a:r>
            <a:endParaRPr sz="1200">
              <a:solidFill>
                <a:schemeClr val="dk1"/>
              </a:solidFill>
              <a:latin typeface="Twentieth Century"/>
              <a:ea typeface="Twentieth Century"/>
              <a:cs typeface="Twentieth Century"/>
              <a:sym typeface="Twentieth Century"/>
            </a:endParaRPr>
          </a:p>
          <a:p>
            <a:pPr indent="-304800" lvl="1" marL="914400" rtl="0" algn="l">
              <a:lnSpc>
                <a:spcPct val="115000"/>
              </a:lnSpc>
              <a:spcBef>
                <a:spcPts val="0"/>
              </a:spcBef>
              <a:spcAft>
                <a:spcPts val="0"/>
              </a:spcAft>
              <a:buSzPts val="1200"/>
              <a:buFont typeface="Twentieth Century"/>
              <a:buChar char="○"/>
            </a:pPr>
            <a:r>
              <a:rPr lang="en" sz="1200">
                <a:solidFill>
                  <a:schemeClr val="dk1"/>
                </a:solidFill>
                <a:latin typeface="Twentieth Century"/>
                <a:ea typeface="Twentieth Century"/>
                <a:cs typeface="Twentieth Century"/>
                <a:sym typeface="Twentieth Century"/>
              </a:rPr>
              <a:t>The above commands create a virtual environment in the folder named “venv” (short for “virtual environment”). You can change the name of your folder to whatever you want, but for simplicity’s sake attendees should just use “venv” here (the second “venv” is the folder name, so to have a different name you could type something like </a:t>
            </a:r>
            <a:r>
              <a:rPr i="1" lang="en" sz="1200">
                <a:solidFill>
                  <a:schemeClr val="dk1"/>
                </a:solidFill>
                <a:latin typeface="Twentieth Century"/>
                <a:ea typeface="Twentieth Century"/>
                <a:cs typeface="Twentieth Century"/>
                <a:sym typeface="Twentieth Century"/>
              </a:rPr>
              <a:t>python3 -m venv different_name</a:t>
            </a:r>
            <a:r>
              <a:rPr lang="en" sz="1200">
                <a:solidFill>
                  <a:schemeClr val="dk1"/>
                </a:solidFill>
                <a:latin typeface="Twentieth Century"/>
                <a:ea typeface="Twentieth Century"/>
                <a:cs typeface="Twentieth Century"/>
                <a:sym typeface="Twentieth Century"/>
              </a:rPr>
              <a:t>.</a:t>
            </a:r>
            <a:endParaRPr sz="1200">
              <a:solidFill>
                <a:schemeClr val="dk1"/>
              </a:solidFill>
              <a:latin typeface="Twentieth Century"/>
              <a:ea typeface="Twentieth Century"/>
              <a:cs typeface="Twentieth Century"/>
              <a:sym typeface="Twentieth Century"/>
            </a:endParaRPr>
          </a:p>
          <a:p>
            <a:pPr indent="0" lvl="0" marL="914400" rtl="0" algn="l">
              <a:lnSpc>
                <a:spcPct val="115000"/>
              </a:lnSpc>
              <a:spcBef>
                <a:spcPts val="0"/>
              </a:spcBef>
              <a:spcAft>
                <a:spcPts val="0"/>
              </a:spcAft>
              <a:buNone/>
            </a:pPr>
            <a:r>
              <a:t/>
            </a:r>
            <a:endParaRPr sz="1200">
              <a:solidFill>
                <a:schemeClr val="dk1"/>
              </a:solidFill>
              <a:latin typeface="Twentieth Century"/>
              <a:ea typeface="Twentieth Century"/>
              <a:cs typeface="Twentieth Century"/>
              <a:sym typeface="Twentieth Century"/>
            </a:endParaRPr>
          </a:p>
          <a:p>
            <a:pPr indent="-304800" lvl="0" marL="457200" rtl="0" algn="l">
              <a:lnSpc>
                <a:spcPct val="115000"/>
              </a:lnSpc>
              <a:spcBef>
                <a:spcPts val="0"/>
              </a:spcBef>
              <a:spcAft>
                <a:spcPts val="0"/>
              </a:spcAft>
              <a:buSzPts val="1200"/>
              <a:buFont typeface="Twentieth Century"/>
              <a:buChar char="●"/>
            </a:pPr>
            <a:r>
              <a:rPr lang="en" sz="1200">
                <a:solidFill>
                  <a:schemeClr val="dk1"/>
                </a:solidFill>
                <a:latin typeface="Twentieth Century"/>
                <a:ea typeface="Twentieth Century"/>
                <a:cs typeface="Twentieth Century"/>
                <a:sym typeface="Twentieth Century"/>
              </a:rPr>
              <a:t>If you running your scripts in the Terminal or Command Prompt you should use the commands below to activate the virtual environment</a:t>
            </a:r>
            <a:endParaRPr sz="1200">
              <a:solidFill>
                <a:schemeClr val="dk1"/>
              </a:solidFill>
              <a:latin typeface="Twentieth Century"/>
              <a:ea typeface="Twentieth Century"/>
              <a:cs typeface="Twentieth Century"/>
              <a:sym typeface="Twentieth Century"/>
            </a:endParaRPr>
          </a:p>
          <a:p>
            <a:pPr indent="-304800" lvl="1" marL="914400" rtl="0" algn="l">
              <a:lnSpc>
                <a:spcPct val="115000"/>
              </a:lnSpc>
              <a:spcBef>
                <a:spcPts val="0"/>
              </a:spcBef>
              <a:spcAft>
                <a:spcPts val="0"/>
              </a:spcAft>
              <a:buSzPts val="1200"/>
              <a:buFont typeface="Twentieth Century"/>
              <a:buChar char="○"/>
            </a:pPr>
            <a:r>
              <a:rPr lang="en" sz="1200">
                <a:solidFill>
                  <a:schemeClr val="dk1"/>
                </a:solidFill>
                <a:latin typeface="Twentieth Century"/>
                <a:ea typeface="Twentieth Century"/>
                <a:cs typeface="Twentieth Century"/>
                <a:sym typeface="Twentieth Century"/>
              </a:rPr>
              <a:t>Mac:</a:t>
            </a:r>
            <a:endParaRPr sz="1200">
              <a:solidFill>
                <a:schemeClr val="dk1"/>
              </a:solidFill>
              <a:latin typeface="Twentieth Century"/>
              <a:ea typeface="Twentieth Century"/>
              <a:cs typeface="Twentieth Century"/>
              <a:sym typeface="Twentieth Century"/>
            </a:endParaRPr>
          </a:p>
          <a:p>
            <a:pPr indent="-304800" lvl="2" marL="1371600" rtl="0" algn="l">
              <a:lnSpc>
                <a:spcPct val="115000"/>
              </a:lnSpc>
              <a:spcBef>
                <a:spcPts val="0"/>
              </a:spcBef>
              <a:spcAft>
                <a:spcPts val="0"/>
              </a:spcAft>
              <a:buSzPts val="1200"/>
              <a:buFont typeface="Twentieth Century"/>
              <a:buChar char="■"/>
            </a:pPr>
            <a:r>
              <a:rPr i="1" lang="en" sz="1200">
                <a:solidFill>
                  <a:schemeClr val="dk1"/>
                </a:solidFill>
                <a:latin typeface="Twentieth Century"/>
                <a:ea typeface="Twentieth Century"/>
                <a:cs typeface="Twentieth Century"/>
                <a:sym typeface="Twentieth Century"/>
              </a:rPr>
              <a:t>source venv/bin/activate</a:t>
            </a:r>
            <a:endParaRPr i="1" sz="1200">
              <a:solidFill>
                <a:schemeClr val="dk1"/>
              </a:solidFill>
              <a:latin typeface="Twentieth Century"/>
              <a:ea typeface="Twentieth Century"/>
              <a:cs typeface="Twentieth Century"/>
              <a:sym typeface="Twentieth Century"/>
            </a:endParaRPr>
          </a:p>
          <a:p>
            <a:pPr indent="-304800" lvl="1" marL="914400" rtl="0" algn="l">
              <a:lnSpc>
                <a:spcPct val="115000"/>
              </a:lnSpc>
              <a:spcBef>
                <a:spcPts val="0"/>
              </a:spcBef>
              <a:spcAft>
                <a:spcPts val="0"/>
              </a:spcAft>
              <a:buSzPts val="1200"/>
              <a:buFont typeface="Twentieth Century"/>
              <a:buChar char="○"/>
            </a:pPr>
            <a:r>
              <a:rPr lang="en" sz="1200">
                <a:solidFill>
                  <a:schemeClr val="dk1"/>
                </a:solidFill>
                <a:latin typeface="Twentieth Century"/>
                <a:ea typeface="Twentieth Century"/>
                <a:cs typeface="Twentieth Century"/>
                <a:sym typeface="Twentieth Century"/>
              </a:rPr>
              <a:t>Windows:</a:t>
            </a:r>
            <a:endParaRPr sz="1200">
              <a:solidFill>
                <a:schemeClr val="dk1"/>
              </a:solidFill>
              <a:latin typeface="Twentieth Century"/>
              <a:ea typeface="Twentieth Century"/>
              <a:cs typeface="Twentieth Century"/>
              <a:sym typeface="Twentieth Century"/>
            </a:endParaRPr>
          </a:p>
          <a:p>
            <a:pPr indent="-304800" lvl="2" marL="1371600" rtl="0" algn="l">
              <a:lnSpc>
                <a:spcPct val="115000"/>
              </a:lnSpc>
              <a:spcBef>
                <a:spcPts val="0"/>
              </a:spcBef>
              <a:spcAft>
                <a:spcPts val="0"/>
              </a:spcAft>
              <a:buSzPts val="1200"/>
              <a:buFont typeface="Twentieth Century"/>
              <a:buChar char="■"/>
            </a:pPr>
            <a:r>
              <a:rPr lang="en" sz="1200">
                <a:solidFill>
                  <a:schemeClr val="dk1"/>
                </a:solidFill>
                <a:latin typeface="Twentieth Century"/>
                <a:ea typeface="Twentieth Century"/>
                <a:cs typeface="Twentieth Century"/>
                <a:sym typeface="Twentieth Century"/>
              </a:rPr>
              <a:t>If using Command Prompt: </a:t>
            </a:r>
            <a:r>
              <a:rPr i="1" lang="en" sz="1200">
                <a:solidFill>
                  <a:schemeClr val="dk1"/>
                </a:solidFill>
                <a:latin typeface="Twentieth Century"/>
                <a:ea typeface="Twentieth Century"/>
                <a:cs typeface="Twentieth Century"/>
                <a:sym typeface="Twentieth Century"/>
              </a:rPr>
              <a:t>venv\Scripts\activate.bat</a:t>
            </a:r>
            <a:endParaRPr i="1" sz="1200">
              <a:solidFill>
                <a:schemeClr val="dk1"/>
              </a:solidFill>
              <a:latin typeface="Twentieth Century"/>
              <a:ea typeface="Twentieth Century"/>
              <a:cs typeface="Twentieth Century"/>
              <a:sym typeface="Twentieth Century"/>
            </a:endParaRPr>
          </a:p>
          <a:p>
            <a:pPr indent="-304800" lvl="2" marL="1371600" rtl="0" algn="l">
              <a:lnSpc>
                <a:spcPct val="115000"/>
              </a:lnSpc>
              <a:spcBef>
                <a:spcPts val="0"/>
              </a:spcBef>
              <a:spcAft>
                <a:spcPts val="0"/>
              </a:spcAft>
              <a:buSzPts val="1200"/>
              <a:buFont typeface="Twentieth Century"/>
              <a:buChar char="■"/>
            </a:pPr>
            <a:r>
              <a:rPr lang="en" sz="1200">
                <a:solidFill>
                  <a:schemeClr val="dk1"/>
                </a:solidFill>
                <a:latin typeface="Twentieth Century"/>
                <a:ea typeface="Twentieth Century"/>
                <a:cs typeface="Twentieth Century"/>
                <a:sym typeface="Twentieth Century"/>
              </a:rPr>
              <a:t>If using PowerShell: </a:t>
            </a:r>
            <a:r>
              <a:rPr i="1" lang="en" sz="1200">
                <a:solidFill>
                  <a:schemeClr val="dk1"/>
                </a:solidFill>
                <a:latin typeface="Twentieth Century"/>
                <a:ea typeface="Twentieth Century"/>
                <a:cs typeface="Twentieth Century"/>
                <a:sym typeface="Twentieth Century"/>
              </a:rPr>
              <a:t>venv\Scripts\Activate.ps1</a:t>
            </a:r>
            <a:endParaRPr sz="1050">
              <a:solidFill>
                <a:schemeClr val="dk1"/>
              </a:solidFill>
              <a:latin typeface="Twentieth Century"/>
              <a:ea typeface="Twentieth Century"/>
              <a:cs typeface="Twentieth Century"/>
              <a:sym typeface="Twentieth Century"/>
            </a:endParaRPr>
          </a:p>
        </p:txBody>
      </p:sp>
      <p:sp>
        <p:nvSpPr>
          <p:cNvPr id="344" name="Google Shape;344;g3f6c0a7b51b_0_19"/>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200"/>
              </a:srgbClr>
            </a:outerShdw>
          </a:effectLst>
        </p:spPr>
        <p:txBody>
          <a:bodyPr anchorCtr="0" anchor="ctr" bIns="34275" lIns="68575" spcFirstLastPara="1" rIns="68575" wrap="square" tIns="34275">
            <a:norm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Create a Virtual Environment</a:t>
            </a:r>
            <a:endParaRPr b="1" sz="2500">
              <a:solidFill>
                <a:schemeClr val="lt1"/>
              </a:solidFill>
              <a:latin typeface="Twentieth Century"/>
              <a:ea typeface="Twentieth Century"/>
              <a:cs typeface="Twentieth Century"/>
              <a:sym typeface="Twentieth Century"/>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49" name="Shape 349"/>
        <p:cNvGrpSpPr/>
        <p:nvPr/>
      </p:nvGrpSpPr>
      <p:grpSpPr>
        <a:xfrm>
          <a:off x="0" y="0"/>
          <a:ext cx="0" cy="0"/>
          <a:chOff x="0" y="0"/>
          <a:chExt cx="0" cy="0"/>
        </a:xfrm>
      </p:grpSpPr>
      <p:sp>
        <p:nvSpPr>
          <p:cNvPr id="350" name="Google Shape;350;p24"/>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196"/>
              </a:srgbClr>
            </a:outerShdw>
          </a:effectLst>
        </p:spPr>
        <p:txBody>
          <a:bodyPr anchorCtr="0" anchor="ctr" bIns="34275" lIns="68575" spcFirstLastPara="1" rIns="68575" wrap="square" tIns="34275">
            <a:norm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Software Installation Support</a:t>
            </a:r>
            <a:endParaRPr b="1" sz="2500">
              <a:solidFill>
                <a:schemeClr val="lt1"/>
              </a:solidFill>
              <a:latin typeface="Twentieth Century"/>
              <a:ea typeface="Twentieth Century"/>
              <a:cs typeface="Twentieth Century"/>
              <a:sym typeface="Twentieth Century"/>
            </a:endParaRPr>
          </a:p>
        </p:txBody>
      </p:sp>
      <p:sp>
        <p:nvSpPr>
          <p:cNvPr id="351" name="Google Shape;351;p24"/>
          <p:cNvSpPr txBox="1"/>
          <p:nvPr>
            <p:ph idx="1" type="body"/>
          </p:nvPr>
        </p:nvSpPr>
        <p:spPr>
          <a:xfrm>
            <a:off x="134400" y="967248"/>
            <a:ext cx="8866200" cy="40116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t" bIns="137150" lIns="137150" spcFirstLastPara="1" rIns="137150" wrap="square" tIns="228600">
            <a:normAutofit/>
          </a:bodyPr>
          <a:lstStyle/>
          <a:p>
            <a:pPr indent="-317500" lvl="0" marL="457200" rtl="0" algn="l">
              <a:lnSpc>
                <a:spcPct val="200000"/>
              </a:lnSpc>
              <a:spcBef>
                <a:spcPts val="0"/>
              </a:spcBef>
              <a:spcAft>
                <a:spcPts val="0"/>
              </a:spcAft>
              <a:buSzPts val="1400"/>
              <a:buFont typeface="Twentieth Century"/>
              <a:buChar char="●"/>
            </a:pPr>
            <a:r>
              <a:rPr b="1" lang="en" sz="1400">
                <a:solidFill>
                  <a:schemeClr val="dk1"/>
                </a:solidFill>
                <a:latin typeface="Twentieth Century"/>
                <a:ea typeface="Twentieth Century"/>
                <a:cs typeface="Twentieth Century"/>
                <a:sym typeface="Twentieth Century"/>
              </a:rPr>
              <a:t>Python (</a:t>
            </a:r>
            <a:r>
              <a:rPr b="1" lang="en" sz="1400" u="sng">
                <a:solidFill>
                  <a:srgbClr val="1155CC"/>
                </a:solidFill>
                <a:latin typeface="Twentieth Century"/>
                <a:ea typeface="Twentieth Century"/>
                <a:cs typeface="Twentieth Century"/>
                <a:sym typeface="Twentieth Century"/>
                <a:hlinkClick r:id="rId3">
                  <a:extLst>
                    <a:ext uri="{A12FA001-AC4F-418D-AE19-62706E023703}">
                      <ahyp:hlinkClr val="tx"/>
                    </a:ext>
                  </a:extLst>
                </a:hlinkClick>
              </a:rPr>
              <a:t>https://www.python.org/downloads/</a:t>
            </a:r>
            <a:r>
              <a:rPr b="1" lang="en" sz="1400">
                <a:solidFill>
                  <a:schemeClr val="dk1"/>
                </a:solidFill>
                <a:latin typeface="Twentieth Century"/>
                <a:ea typeface="Twentieth Century"/>
                <a:cs typeface="Twentieth Century"/>
                <a:sym typeface="Twentieth Century"/>
              </a:rPr>
              <a:t>) </a:t>
            </a:r>
            <a:endParaRPr b="1" sz="1400">
              <a:solidFill>
                <a:schemeClr val="dk1"/>
              </a:solidFill>
              <a:latin typeface="Twentieth Century"/>
              <a:ea typeface="Twentieth Century"/>
              <a:cs typeface="Twentieth Century"/>
              <a:sym typeface="Twentieth Century"/>
            </a:endParaRPr>
          </a:p>
          <a:p>
            <a:pPr indent="-317500" lvl="1" marL="914400" rtl="0" algn="l">
              <a:lnSpc>
                <a:spcPct val="200000"/>
              </a:lnSpc>
              <a:spcBef>
                <a:spcPts val="0"/>
              </a:spcBef>
              <a:spcAft>
                <a:spcPts val="0"/>
              </a:spcAft>
              <a:buSzPts val="1400"/>
              <a:buFont typeface="Twentieth Century"/>
              <a:buChar char="○"/>
            </a:pPr>
            <a:r>
              <a:rPr lang="en" sz="1400">
                <a:solidFill>
                  <a:schemeClr val="dk1"/>
                </a:solidFill>
                <a:latin typeface="Twentieth Century"/>
                <a:ea typeface="Twentieth Century"/>
                <a:cs typeface="Twentieth Century"/>
                <a:sym typeface="Twentieth Century"/>
              </a:rPr>
              <a:t>Make sure you can install new Python packages using the Terminal (MacOS) or Command Prompt (Windows)</a:t>
            </a:r>
            <a:endParaRPr sz="1400">
              <a:solidFill>
                <a:schemeClr val="dk1"/>
              </a:solidFill>
              <a:latin typeface="Twentieth Century"/>
              <a:ea typeface="Twentieth Century"/>
              <a:cs typeface="Twentieth Century"/>
              <a:sym typeface="Twentieth Century"/>
            </a:endParaRPr>
          </a:p>
          <a:p>
            <a:pPr indent="-317500" lvl="1" marL="914400" rtl="0" algn="l">
              <a:lnSpc>
                <a:spcPct val="200000"/>
              </a:lnSpc>
              <a:spcBef>
                <a:spcPts val="0"/>
              </a:spcBef>
              <a:spcAft>
                <a:spcPts val="0"/>
              </a:spcAft>
              <a:buSzPts val="1400"/>
              <a:buFont typeface="Twentieth Century"/>
              <a:buChar char="○"/>
            </a:pPr>
            <a:r>
              <a:rPr lang="en" sz="1400">
                <a:solidFill>
                  <a:schemeClr val="dk1"/>
                </a:solidFill>
                <a:latin typeface="Twentieth Century"/>
                <a:ea typeface="Twentieth Century"/>
                <a:cs typeface="Twentieth Century"/>
                <a:sym typeface="Twentieth Century"/>
              </a:rPr>
              <a:t>Try the following command on your PC:     </a:t>
            </a:r>
            <a:r>
              <a:rPr b="1" lang="en" sz="1400">
                <a:solidFill>
                  <a:schemeClr val="dk1"/>
                </a:solidFill>
                <a:latin typeface="Twentieth Century"/>
                <a:ea typeface="Twentieth Century"/>
                <a:cs typeface="Twentieth Century"/>
                <a:sym typeface="Twentieth Century"/>
              </a:rPr>
              <a:t>python -m pip install pandas</a:t>
            </a:r>
            <a:endParaRPr b="1" sz="1400">
              <a:solidFill>
                <a:schemeClr val="dk1"/>
              </a:solidFill>
              <a:latin typeface="Twentieth Century"/>
              <a:ea typeface="Twentieth Century"/>
              <a:cs typeface="Twentieth Century"/>
              <a:sym typeface="Twentieth Century"/>
            </a:endParaRPr>
          </a:p>
          <a:p>
            <a:pPr indent="-317500" lvl="1" marL="914400" rtl="0" algn="l">
              <a:lnSpc>
                <a:spcPct val="200000"/>
              </a:lnSpc>
              <a:spcBef>
                <a:spcPts val="0"/>
              </a:spcBef>
              <a:spcAft>
                <a:spcPts val="0"/>
              </a:spcAft>
              <a:buSzPts val="1400"/>
              <a:buFont typeface="Twentieth Century"/>
              <a:buChar char="○"/>
            </a:pPr>
            <a:r>
              <a:rPr lang="en" sz="1400">
                <a:solidFill>
                  <a:schemeClr val="dk1"/>
                </a:solidFill>
                <a:latin typeface="Twentieth Century"/>
                <a:ea typeface="Twentieth Century"/>
                <a:cs typeface="Twentieth Century"/>
                <a:sym typeface="Twentieth Century"/>
              </a:rPr>
              <a:t>Try the following command on your Mac:     </a:t>
            </a:r>
            <a:r>
              <a:rPr b="1" lang="en" sz="1400">
                <a:solidFill>
                  <a:schemeClr val="dk1"/>
                </a:solidFill>
                <a:latin typeface="Twentieth Century"/>
                <a:ea typeface="Twentieth Century"/>
                <a:cs typeface="Twentieth Century"/>
                <a:sym typeface="Twentieth Century"/>
              </a:rPr>
              <a:t>python3 -m pip install pandas</a:t>
            </a:r>
            <a:endParaRPr b="1" sz="1400">
              <a:solidFill>
                <a:schemeClr val="dk1"/>
              </a:solidFill>
              <a:latin typeface="Twentieth Century"/>
              <a:ea typeface="Twentieth Century"/>
              <a:cs typeface="Twentieth Century"/>
              <a:sym typeface="Twentieth Century"/>
            </a:endParaRPr>
          </a:p>
          <a:p>
            <a:pPr indent="-317500" lvl="0" marL="457200" rtl="0" algn="l">
              <a:lnSpc>
                <a:spcPct val="200000"/>
              </a:lnSpc>
              <a:spcBef>
                <a:spcPts val="0"/>
              </a:spcBef>
              <a:spcAft>
                <a:spcPts val="0"/>
              </a:spcAft>
              <a:buSzPts val="1400"/>
              <a:buFont typeface="Twentieth Century"/>
              <a:buChar char="●"/>
            </a:pPr>
            <a:r>
              <a:rPr b="1" lang="en" sz="1400">
                <a:solidFill>
                  <a:schemeClr val="dk1"/>
                </a:solidFill>
                <a:latin typeface="Twentieth Century"/>
                <a:ea typeface="Twentieth Century"/>
                <a:cs typeface="Twentieth Century"/>
                <a:sym typeface="Twentieth Century"/>
              </a:rPr>
              <a:t>VSCode (</a:t>
            </a:r>
            <a:r>
              <a:rPr b="1" lang="en" sz="1400" u="sng">
                <a:solidFill>
                  <a:srgbClr val="1155CC"/>
                </a:solidFill>
                <a:latin typeface="Twentieth Century"/>
                <a:ea typeface="Twentieth Century"/>
                <a:cs typeface="Twentieth Century"/>
                <a:sym typeface="Twentieth Century"/>
                <a:hlinkClick r:id="rId4">
                  <a:extLst>
                    <a:ext uri="{A12FA001-AC4F-418D-AE19-62706E023703}">
                      <ahyp:hlinkClr val="tx"/>
                    </a:ext>
                  </a:extLst>
                </a:hlinkClick>
              </a:rPr>
              <a:t>https://code.visualstudio.com/download</a:t>
            </a:r>
            <a:r>
              <a:rPr b="1" lang="en" sz="1400">
                <a:latin typeface="Twentieth Century"/>
                <a:ea typeface="Twentieth Century"/>
                <a:cs typeface="Twentieth Century"/>
                <a:sym typeface="Twentieth Century"/>
              </a:rPr>
              <a:t>) </a:t>
            </a:r>
            <a:endParaRPr b="1" sz="1400">
              <a:latin typeface="Twentieth Century"/>
              <a:ea typeface="Twentieth Century"/>
              <a:cs typeface="Twentieth Century"/>
              <a:sym typeface="Twentieth Century"/>
            </a:endParaRPr>
          </a:p>
          <a:p>
            <a:pPr indent="-317500" lvl="1" marL="914400" rtl="0" algn="l">
              <a:lnSpc>
                <a:spcPct val="200000"/>
              </a:lnSpc>
              <a:spcBef>
                <a:spcPts val="0"/>
              </a:spcBef>
              <a:spcAft>
                <a:spcPts val="0"/>
              </a:spcAft>
              <a:buSzPts val="1400"/>
              <a:buFont typeface="Twentieth Century"/>
              <a:buChar char="○"/>
            </a:pPr>
            <a:r>
              <a:rPr lang="en" sz="1400">
                <a:solidFill>
                  <a:schemeClr val="dk1"/>
                </a:solidFill>
                <a:latin typeface="Twentieth Century"/>
                <a:ea typeface="Twentieth Century"/>
                <a:cs typeface="Twentieth Century"/>
                <a:sym typeface="Twentieth Century"/>
              </a:rPr>
              <a:t>Create a new file with the extension .py (to designate the file as a Python script)</a:t>
            </a:r>
            <a:endParaRPr sz="1400">
              <a:solidFill>
                <a:schemeClr val="dk1"/>
              </a:solidFill>
              <a:latin typeface="Twentieth Century"/>
              <a:ea typeface="Twentieth Century"/>
              <a:cs typeface="Twentieth Century"/>
              <a:sym typeface="Twentieth Century"/>
            </a:endParaRPr>
          </a:p>
          <a:p>
            <a:pPr indent="-317500" lvl="1" marL="914400" rtl="0" algn="l">
              <a:lnSpc>
                <a:spcPct val="200000"/>
              </a:lnSpc>
              <a:spcBef>
                <a:spcPts val="0"/>
              </a:spcBef>
              <a:spcAft>
                <a:spcPts val="0"/>
              </a:spcAft>
              <a:buSzPts val="1400"/>
              <a:buFont typeface="Twentieth Century"/>
              <a:buChar char="○"/>
            </a:pPr>
            <a:r>
              <a:rPr lang="en" sz="1400">
                <a:solidFill>
                  <a:schemeClr val="dk1"/>
                </a:solidFill>
                <a:latin typeface="Twentieth Century"/>
                <a:ea typeface="Twentieth Century"/>
                <a:cs typeface="Twentieth Century"/>
                <a:sym typeface="Twentieth Century"/>
              </a:rPr>
              <a:t>Try clicking the play/run button in the upper right corner of VSCode to run the script</a:t>
            </a:r>
            <a:endParaRPr b="1" sz="1400">
              <a:solidFill>
                <a:schemeClr val="dk1"/>
              </a:solidFill>
              <a:latin typeface="Twentieth Century"/>
              <a:ea typeface="Twentieth Century"/>
              <a:cs typeface="Twentieth Century"/>
              <a:sym typeface="Twentieth Century"/>
            </a:endParaRPr>
          </a:p>
          <a:p>
            <a:pPr indent="-317500" lvl="0" marL="457200" rtl="0" algn="l">
              <a:lnSpc>
                <a:spcPct val="200000"/>
              </a:lnSpc>
              <a:spcBef>
                <a:spcPts val="0"/>
              </a:spcBef>
              <a:spcAft>
                <a:spcPts val="0"/>
              </a:spcAft>
              <a:buSzPts val="1400"/>
              <a:buFont typeface="Twentieth Century"/>
              <a:buChar char="●"/>
            </a:pPr>
            <a:r>
              <a:rPr b="1" lang="en" sz="1400">
                <a:solidFill>
                  <a:schemeClr val="dk1"/>
                </a:solidFill>
                <a:latin typeface="Twentieth Century"/>
                <a:ea typeface="Twentieth Century"/>
                <a:cs typeface="Twentieth Century"/>
                <a:sym typeface="Twentieth Century"/>
              </a:rPr>
              <a:t>Git </a:t>
            </a:r>
            <a:r>
              <a:rPr lang="en" sz="1400">
                <a:solidFill>
                  <a:schemeClr val="dk1"/>
                </a:solidFill>
                <a:latin typeface="Twentieth Century"/>
                <a:ea typeface="Twentieth Century"/>
                <a:cs typeface="Twentieth Century"/>
                <a:sym typeface="Twentieth Century"/>
              </a:rPr>
              <a:t>(</a:t>
            </a:r>
            <a:r>
              <a:rPr b="1" lang="en" sz="1400" u="sng">
                <a:solidFill>
                  <a:schemeClr val="hlink"/>
                </a:solidFill>
                <a:latin typeface="Twentieth Century"/>
                <a:ea typeface="Twentieth Century"/>
                <a:cs typeface="Twentieth Century"/>
                <a:sym typeface="Twentieth Century"/>
                <a:hlinkClick r:id="rId5"/>
              </a:rPr>
              <a:t>https://git-scm.com/downloads</a:t>
            </a:r>
            <a:r>
              <a:rPr lang="en" sz="1400">
                <a:solidFill>
                  <a:schemeClr val="dk1"/>
                </a:solidFill>
                <a:latin typeface="Twentieth Century"/>
                <a:ea typeface="Twentieth Century"/>
                <a:cs typeface="Twentieth Century"/>
                <a:sym typeface="Twentieth Century"/>
              </a:rPr>
              <a:t>) </a:t>
            </a:r>
            <a:endParaRPr b="1" sz="1400">
              <a:solidFill>
                <a:schemeClr val="dk1"/>
              </a:solidFill>
              <a:latin typeface="Twentieth Century"/>
              <a:ea typeface="Twentieth Century"/>
              <a:cs typeface="Twentieth Century"/>
              <a:sym typeface="Twentieth Century"/>
            </a:endParaRPr>
          </a:p>
          <a:p>
            <a:pPr indent="-317500" lvl="0" marL="457200" rtl="0" algn="l">
              <a:lnSpc>
                <a:spcPct val="200000"/>
              </a:lnSpc>
              <a:spcBef>
                <a:spcPts val="0"/>
              </a:spcBef>
              <a:spcAft>
                <a:spcPts val="0"/>
              </a:spcAft>
              <a:buSzPts val="1400"/>
              <a:buFont typeface="Twentieth Century"/>
              <a:buChar char="●"/>
            </a:pPr>
            <a:r>
              <a:rPr b="1" lang="en" sz="1400">
                <a:solidFill>
                  <a:schemeClr val="dk1"/>
                </a:solidFill>
                <a:latin typeface="Twentieth Century"/>
                <a:ea typeface="Twentieth Century"/>
                <a:cs typeface="Twentieth Century"/>
                <a:sym typeface="Twentieth Century"/>
              </a:rPr>
              <a:t>Github Desktop (</a:t>
            </a:r>
            <a:r>
              <a:rPr b="1" lang="en" sz="1400" u="sng">
                <a:solidFill>
                  <a:srgbClr val="1155CC"/>
                </a:solidFill>
                <a:latin typeface="Twentieth Century"/>
                <a:ea typeface="Twentieth Century"/>
                <a:cs typeface="Twentieth Century"/>
                <a:sym typeface="Twentieth Century"/>
                <a:hlinkClick r:id="rId6">
                  <a:extLst>
                    <a:ext uri="{A12FA001-AC4F-418D-AE19-62706E023703}">
                      <ahyp:hlinkClr val="tx"/>
                    </a:ext>
                  </a:extLst>
                </a:hlinkClick>
              </a:rPr>
              <a:t>https://desktop.github.com/download/</a:t>
            </a:r>
            <a:r>
              <a:rPr b="1" lang="en" sz="1400">
                <a:solidFill>
                  <a:schemeClr val="dk1"/>
                </a:solidFill>
                <a:latin typeface="Twentieth Century"/>
                <a:ea typeface="Twentieth Century"/>
                <a:cs typeface="Twentieth Century"/>
                <a:sym typeface="Twentieth Century"/>
              </a:rPr>
              <a:t>) </a:t>
            </a:r>
            <a:endParaRPr sz="1400">
              <a:solidFill>
                <a:schemeClr val="dk1"/>
              </a:solidFill>
              <a:latin typeface="Twentieth Century"/>
              <a:ea typeface="Twentieth Century"/>
              <a:cs typeface="Twentieth Century"/>
              <a:sym typeface="Twentieth Century"/>
            </a:endParaRPr>
          </a:p>
        </p:txBody>
      </p:sp>
      <p:sp>
        <p:nvSpPr>
          <p:cNvPr id="352" name="Google Shape;352;p24"/>
          <p:cNvSpPr txBox="1"/>
          <p:nvPr/>
        </p:nvSpPr>
        <p:spPr>
          <a:xfrm>
            <a:off x="6323675" y="4383200"/>
            <a:ext cx="2625000" cy="547500"/>
          </a:xfrm>
          <a:prstGeom prst="rect">
            <a:avLst/>
          </a:prstGeom>
          <a:solidFill>
            <a:srgbClr val="CC0000"/>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lt1"/>
                </a:solidFill>
                <a:latin typeface="Calibri"/>
                <a:ea typeface="Calibri"/>
                <a:cs typeface="Calibri"/>
                <a:sym typeface="Calibri"/>
              </a:rPr>
              <a:t>See next slide for troubleshooting common issues</a:t>
            </a:r>
            <a:endParaRPr b="1" i="0" sz="1400" u="none" cap="none" strike="noStrike">
              <a:solidFill>
                <a:schemeClr val="lt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56" name="Shape 356"/>
        <p:cNvGrpSpPr/>
        <p:nvPr/>
      </p:nvGrpSpPr>
      <p:grpSpPr>
        <a:xfrm>
          <a:off x="0" y="0"/>
          <a:ext cx="0" cy="0"/>
          <a:chOff x="0" y="0"/>
          <a:chExt cx="0" cy="0"/>
        </a:xfrm>
      </p:grpSpPr>
      <p:sp>
        <p:nvSpPr>
          <p:cNvPr id="357" name="Google Shape;357;p25"/>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196"/>
              </a:srgbClr>
            </a:outerShdw>
          </a:effectLst>
        </p:spPr>
        <p:txBody>
          <a:bodyPr anchorCtr="0" anchor="ctr" bIns="34275" lIns="68575" spcFirstLastPara="1" rIns="68575" wrap="square" tIns="34275">
            <a:norm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Software Installation Common Issues</a:t>
            </a:r>
            <a:endParaRPr b="1" sz="2500">
              <a:solidFill>
                <a:schemeClr val="lt1"/>
              </a:solidFill>
              <a:latin typeface="Twentieth Century"/>
              <a:ea typeface="Twentieth Century"/>
              <a:cs typeface="Twentieth Century"/>
              <a:sym typeface="Twentieth Century"/>
            </a:endParaRPr>
          </a:p>
        </p:txBody>
      </p:sp>
      <p:sp>
        <p:nvSpPr>
          <p:cNvPr id="358" name="Google Shape;358;p25"/>
          <p:cNvSpPr txBox="1"/>
          <p:nvPr>
            <p:ph idx="1" type="body"/>
          </p:nvPr>
        </p:nvSpPr>
        <p:spPr>
          <a:xfrm>
            <a:off x="134400" y="948725"/>
            <a:ext cx="8866200" cy="36072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t" bIns="137150" lIns="137150" spcFirstLastPara="1" rIns="137150" wrap="square" tIns="228600">
            <a:normAutofit/>
          </a:bodyPr>
          <a:lstStyle/>
          <a:p>
            <a:pPr indent="-330200" lvl="0" marL="457200" rtl="0" algn="l">
              <a:lnSpc>
                <a:spcPct val="115000"/>
              </a:lnSpc>
              <a:spcBef>
                <a:spcPts val="0"/>
              </a:spcBef>
              <a:spcAft>
                <a:spcPts val="0"/>
              </a:spcAft>
              <a:buSzPts val="1600"/>
              <a:buFont typeface="Twentieth Century"/>
              <a:buChar char="●"/>
            </a:pPr>
            <a:r>
              <a:rPr b="1" lang="en" sz="1600">
                <a:solidFill>
                  <a:schemeClr val="dk1"/>
                </a:solidFill>
                <a:latin typeface="Twentieth Century"/>
                <a:ea typeface="Twentieth Century"/>
                <a:cs typeface="Twentieth Century"/>
                <a:sym typeface="Twentieth Century"/>
              </a:rPr>
              <a:t>Mac</a:t>
            </a:r>
            <a:endParaRPr b="1" sz="1600">
              <a:solidFill>
                <a:schemeClr val="dk1"/>
              </a:solidFill>
              <a:latin typeface="Twentieth Century"/>
              <a:ea typeface="Twentieth Century"/>
              <a:cs typeface="Twentieth Century"/>
              <a:sym typeface="Twentieth Century"/>
            </a:endParaRPr>
          </a:p>
          <a:p>
            <a:pPr indent="-298450" lvl="1" marL="571500" rtl="0" algn="l">
              <a:lnSpc>
                <a:spcPct val="150000"/>
              </a:lnSpc>
              <a:spcBef>
                <a:spcPts val="0"/>
              </a:spcBef>
              <a:spcAft>
                <a:spcPts val="0"/>
              </a:spcAft>
              <a:buSzPts val="1100"/>
              <a:buFont typeface="Twentieth Century"/>
              <a:buChar char="○"/>
            </a:pPr>
            <a:r>
              <a:rPr b="1" lang="en" sz="1100">
                <a:solidFill>
                  <a:schemeClr val="dk1"/>
                </a:solidFill>
                <a:latin typeface="Twentieth Century"/>
                <a:ea typeface="Twentieth Century"/>
                <a:cs typeface="Twentieth Century"/>
                <a:sym typeface="Twentieth Century"/>
              </a:rPr>
              <a:t>ISSUE</a:t>
            </a:r>
            <a:r>
              <a:rPr lang="en" sz="1100">
                <a:solidFill>
                  <a:schemeClr val="dk1"/>
                </a:solidFill>
                <a:latin typeface="Twentieth Century"/>
                <a:ea typeface="Twentieth Century"/>
                <a:cs typeface="Twentieth Century"/>
                <a:sym typeface="Twentieth Century"/>
              </a:rPr>
              <a:t>: you cannot run a Python script in VS Code</a:t>
            </a:r>
            <a:endParaRPr sz="1100">
              <a:solidFill>
                <a:schemeClr val="dk1"/>
              </a:solidFill>
              <a:latin typeface="Twentieth Century"/>
              <a:ea typeface="Twentieth Century"/>
              <a:cs typeface="Twentieth Century"/>
              <a:sym typeface="Twentieth Century"/>
            </a:endParaRPr>
          </a:p>
          <a:p>
            <a:pPr indent="-298450" lvl="1" marL="571500" rtl="0" algn="l">
              <a:lnSpc>
                <a:spcPct val="150000"/>
              </a:lnSpc>
              <a:spcBef>
                <a:spcPts val="0"/>
              </a:spcBef>
              <a:spcAft>
                <a:spcPts val="0"/>
              </a:spcAft>
              <a:buSzPts val="1100"/>
              <a:buFont typeface="Twentieth Century"/>
              <a:buChar char="○"/>
            </a:pPr>
            <a:r>
              <a:rPr b="1" lang="en" sz="1100">
                <a:solidFill>
                  <a:schemeClr val="dk1"/>
                </a:solidFill>
                <a:latin typeface="Twentieth Century"/>
                <a:ea typeface="Twentieth Century"/>
                <a:cs typeface="Twentieth Century"/>
                <a:sym typeface="Twentieth Century"/>
              </a:rPr>
              <a:t>CAUSE</a:t>
            </a:r>
            <a:r>
              <a:rPr lang="en" sz="1100">
                <a:solidFill>
                  <a:schemeClr val="dk1"/>
                </a:solidFill>
                <a:latin typeface="Twentieth Century"/>
                <a:ea typeface="Twentieth Century"/>
                <a:cs typeface="Twentieth Century"/>
                <a:sym typeface="Twentieth Century"/>
              </a:rPr>
              <a:t>: the </a:t>
            </a:r>
            <a:r>
              <a:rPr i="1" lang="en" sz="1100">
                <a:solidFill>
                  <a:schemeClr val="dk1"/>
                </a:solidFill>
                <a:latin typeface="Twentieth Century"/>
                <a:ea typeface="Twentieth Century"/>
                <a:cs typeface="Twentieth Century"/>
                <a:sym typeface="Twentieth Century"/>
              </a:rPr>
              <a:t>Python default interpreter path </a:t>
            </a:r>
            <a:r>
              <a:rPr lang="en" sz="1100">
                <a:solidFill>
                  <a:schemeClr val="dk1"/>
                </a:solidFill>
                <a:latin typeface="Twentieth Century"/>
                <a:ea typeface="Twentieth Century"/>
                <a:cs typeface="Twentieth Century"/>
                <a:sym typeface="Twentieth Century"/>
              </a:rPr>
              <a:t>is not set correctly</a:t>
            </a:r>
            <a:endParaRPr sz="1100">
              <a:solidFill>
                <a:schemeClr val="dk1"/>
              </a:solidFill>
              <a:latin typeface="Twentieth Century"/>
              <a:ea typeface="Twentieth Century"/>
              <a:cs typeface="Twentieth Century"/>
              <a:sym typeface="Twentieth Century"/>
            </a:endParaRPr>
          </a:p>
          <a:p>
            <a:pPr indent="-298450" lvl="1" marL="571500" rtl="0" algn="l">
              <a:lnSpc>
                <a:spcPct val="150000"/>
              </a:lnSpc>
              <a:spcBef>
                <a:spcPts val="0"/>
              </a:spcBef>
              <a:spcAft>
                <a:spcPts val="0"/>
              </a:spcAft>
              <a:buSzPts val="1100"/>
              <a:buFont typeface="Twentieth Century"/>
              <a:buChar char="○"/>
            </a:pPr>
            <a:r>
              <a:rPr b="1" lang="en" sz="1100">
                <a:solidFill>
                  <a:schemeClr val="dk1"/>
                </a:solidFill>
                <a:latin typeface="Twentieth Century"/>
                <a:ea typeface="Twentieth Century"/>
                <a:cs typeface="Twentieth Century"/>
                <a:sym typeface="Twentieth Century"/>
              </a:rPr>
              <a:t>SOLUTION</a:t>
            </a:r>
            <a:r>
              <a:rPr lang="en" sz="1100">
                <a:solidFill>
                  <a:schemeClr val="dk1"/>
                </a:solidFill>
                <a:latin typeface="Twentieth Century"/>
                <a:ea typeface="Twentieth Century"/>
                <a:cs typeface="Twentieth Century"/>
                <a:sym typeface="Twentieth Century"/>
              </a:rPr>
              <a:t>: In VSCode go to </a:t>
            </a:r>
            <a:r>
              <a:rPr i="1" lang="en" sz="1100">
                <a:solidFill>
                  <a:schemeClr val="dk1"/>
                </a:solidFill>
                <a:latin typeface="Twentieth Century"/>
                <a:ea typeface="Twentieth Century"/>
                <a:cs typeface="Twentieth Century"/>
                <a:sym typeface="Twentieth Century"/>
              </a:rPr>
              <a:t>File &gt; Preferences &gt; Settings and search for the Python default interpreter path </a:t>
            </a:r>
            <a:r>
              <a:rPr lang="en" sz="1100">
                <a:solidFill>
                  <a:schemeClr val="dk1"/>
                </a:solidFill>
                <a:latin typeface="Twentieth Century"/>
                <a:ea typeface="Twentieth Century"/>
                <a:cs typeface="Twentieth Century"/>
                <a:sym typeface="Twentieth Century"/>
              </a:rPr>
              <a:t>setting - when you find it, update the the value to the correct Python interpreter path. If you don’t know the path to the interpreter, open your Terminal, type python3, import sys, and the run sys.executable</a:t>
            </a:r>
            <a:endParaRPr sz="1100">
              <a:solidFill>
                <a:schemeClr val="dk1"/>
              </a:solidFill>
              <a:latin typeface="Twentieth Century"/>
              <a:ea typeface="Twentieth Century"/>
              <a:cs typeface="Twentieth Century"/>
              <a:sym typeface="Twentieth Century"/>
            </a:endParaRPr>
          </a:p>
          <a:p>
            <a:pPr indent="0" lvl="0" marL="914400" rtl="0" algn="l">
              <a:lnSpc>
                <a:spcPct val="150000"/>
              </a:lnSpc>
              <a:spcBef>
                <a:spcPts val="1200"/>
              </a:spcBef>
              <a:spcAft>
                <a:spcPts val="0"/>
              </a:spcAft>
              <a:buSzPts val="1400"/>
              <a:buNone/>
            </a:pPr>
            <a:r>
              <a:t/>
            </a:r>
            <a:endParaRPr sz="100">
              <a:solidFill>
                <a:schemeClr val="dk1"/>
              </a:solidFill>
              <a:latin typeface="Twentieth Century"/>
              <a:ea typeface="Twentieth Century"/>
              <a:cs typeface="Twentieth Century"/>
              <a:sym typeface="Twentieth Century"/>
            </a:endParaRPr>
          </a:p>
          <a:p>
            <a:pPr indent="-330200" lvl="0" marL="457200" rtl="0" algn="l">
              <a:lnSpc>
                <a:spcPct val="150000"/>
              </a:lnSpc>
              <a:spcBef>
                <a:spcPts val="1200"/>
              </a:spcBef>
              <a:spcAft>
                <a:spcPts val="0"/>
              </a:spcAft>
              <a:buSzPts val="1600"/>
              <a:buFont typeface="Twentieth Century"/>
              <a:buChar char="●"/>
            </a:pPr>
            <a:r>
              <a:rPr b="1" lang="en" sz="1600">
                <a:solidFill>
                  <a:schemeClr val="dk1"/>
                </a:solidFill>
                <a:latin typeface="Twentieth Century"/>
                <a:ea typeface="Twentieth Century"/>
                <a:cs typeface="Twentieth Century"/>
                <a:sym typeface="Twentieth Century"/>
              </a:rPr>
              <a:t>PC</a:t>
            </a:r>
            <a:endParaRPr b="1" sz="1600">
              <a:solidFill>
                <a:schemeClr val="dk1"/>
              </a:solidFill>
              <a:latin typeface="Twentieth Century"/>
              <a:ea typeface="Twentieth Century"/>
              <a:cs typeface="Twentieth Century"/>
              <a:sym typeface="Twentieth Century"/>
            </a:endParaRPr>
          </a:p>
          <a:p>
            <a:pPr indent="-298450" lvl="1" marL="457200" rtl="0" algn="l">
              <a:lnSpc>
                <a:spcPct val="150000"/>
              </a:lnSpc>
              <a:spcBef>
                <a:spcPts val="0"/>
              </a:spcBef>
              <a:spcAft>
                <a:spcPts val="0"/>
              </a:spcAft>
              <a:buSzPts val="1100"/>
              <a:buFont typeface="Twentieth Century"/>
              <a:buChar char="○"/>
            </a:pPr>
            <a:r>
              <a:rPr b="1" lang="en" sz="1100">
                <a:solidFill>
                  <a:schemeClr val="dk1"/>
                </a:solidFill>
                <a:latin typeface="Twentieth Century"/>
                <a:ea typeface="Twentieth Century"/>
                <a:cs typeface="Twentieth Century"/>
                <a:sym typeface="Twentieth Century"/>
              </a:rPr>
              <a:t>ISSUE: </a:t>
            </a:r>
            <a:r>
              <a:rPr lang="en" sz="1100">
                <a:solidFill>
                  <a:schemeClr val="dk1"/>
                </a:solidFill>
                <a:latin typeface="Twentieth Century"/>
                <a:ea typeface="Twentieth Century"/>
                <a:cs typeface="Twentieth Century"/>
                <a:sym typeface="Twentieth Century"/>
              </a:rPr>
              <a:t>trying to </a:t>
            </a:r>
            <a:r>
              <a:rPr i="1" lang="en" sz="1100">
                <a:solidFill>
                  <a:schemeClr val="dk1"/>
                </a:solidFill>
                <a:latin typeface="Twentieth Century"/>
                <a:ea typeface="Twentieth Century"/>
                <a:cs typeface="Twentieth Century"/>
                <a:sym typeface="Twentieth Century"/>
              </a:rPr>
              <a:t>run python </a:t>
            </a:r>
            <a:r>
              <a:rPr lang="en" sz="1100">
                <a:solidFill>
                  <a:schemeClr val="dk1"/>
                </a:solidFill>
                <a:latin typeface="Twentieth Century"/>
                <a:ea typeface="Twentieth Century"/>
                <a:cs typeface="Twentieth Century"/>
                <a:sym typeface="Twentieth Century"/>
              </a:rPr>
              <a:t>in the command prompt opens the Windows Store</a:t>
            </a:r>
            <a:endParaRPr sz="1100">
              <a:solidFill>
                <a:schemeClr val="dk1"/>
              </a:solidFill>
              <a:latin typeface="Twentieth Century"/>
              <a:ea typeface="Twentieth Century"/>
              <a:cs typeface="Twentieth Century"/>
              <a:sym typeface="Twentieth Century"/>
            </a:endParaRPr>
          </a:p>
          <a:p>
            <a:pPr indent="-298450" lvl="1" marL="457200" rtl="0" algn="l">
              <a:lnSpc>
                <a:spcPct val="150000"/>
              </a:lnSpc>
              <a:spcBef>
                <a:spcPts val="0"/>
              </a:spcBef>
              <a:spcAft>
                <a:spcPts val="0"/>
              </a:spcAft>
              <a:buSzPts val="1100"/>
              <a:buFont typeface="Twentieth Century"/>
              <a:buChar char="○"/>
            </a:pPr>
            <a:r>
              <a:rPr b="1" lang="en" sz="1100">
                <a:solidFill>
                  <a:schemeClr val="dk1"/>
                </a:solidFill>
                <a:latin typeface="Twentieth Century"/>
                <a:ea typeface="Twentieth Century"/>
                <a:cs typeface="Twentieth Century"/>
                <a:sym typeface="Twentieth Century"/>
              </a:rPr>
              <a:t>CAUSE: </a:t>
            </a:r>
            <a:r>
              <a:rPr lang="en" sz="1100">
                <a:solidFill>
                  <a:schemeClr val="dk1"/>
                </a:solidFill>
                <a:latin typeface="Twentieth Century"/>
                <a:ea typeface="Twentieth Century"/>
                <a:cs typeface="Twentieth Century"/>
                <a:sym typeface="Twentieth Century"/>
              </a:rPr>
              <a:t>the directory containing your Python interpreter is not correctly listed in your system Environment Variables’ </a:t>
            </a:r>
            <a:r>
              <a:rPr i="1" lang="en" sz="1100">
                <a:solidFill>
                  <a:schemeClr val="dk1"/>
                </a:solidFill>
                <a:latin typeface="Twentieth Century"/>
                <a:ea typeface="Twentieth Century"/>
                <a:cs typeface="Twentieth Century"/>
                <a:sym typeface="Twentieth Century"/>
              </a:rPr>
              <a:t>path </a:t>
            </a:r>
            <a:r>
              <a:rPr lang="en" sz="1100">
                <a:solidFill>
                  <a:schemeClr val="dk1"/>
                </a:solidFill>
                <a:latin typeface="Twentieth Century"/>
                <a:ea typeface="Twentieth Century"/>
                <a:cs typeface="Twentieth Century"/>
                <a:sym typeface="Twentieth Century"/>
              </a:rPr>
              <a:t>listing</a:t>
            </a:r>
            <a:endParaRPr sz="1100">
              <a:solidFill>
                <a:schemeClr val="dk1"/>
              </a:solidFill>
              <a:latin typeface="Twentieth Century"/>
              <a:ea typeface="Twentieth Century"/>
              <a:cs typeface="Twentieth Century"/>
              <a:sym typeface="Twentieth Century"/>
            </a:endParaRPr>
          </a:p>
          <a:p>
            <a:pPr indent="-298450" lvl="1" marL="457200" rtl="0" algn="l">
              <a:lnSpc>
                <a:spcPct val="150000"/>
              </a:lnSpc>
              <a:spcBef>
                <a:spcPts val="0"/>
              </a:spcBef>
              <a:spcAft>
                <a:spcPts val="0"/>
              </a:spcAft>
              <a:buSzPts val="1100"/>
              <a:buFont typeface="Twentieth Century"/>
              <a:buChar char="○"/>
            </a:pPr>
            <a:r>
              <a:rPr b="1" lang="en" sz="1100">
                <a:solidFill>
                  <a:schemeClr val="dk1"/>
                </a:solidFill>
                <a:latin typeface="Twentieth Century"/>
                <a:ea typeface="Twentieth Century"/>
                <a:cs typeface="Twentieth Century"/>
                <a:sym typeface="Twentieth Century"/>
              </a:rPr>
              <a:t>SOLUTION: </a:t>
            </a:r>
            <a:r>
              <a:rPr lang="en" sz="1100">
                <a:solidFill>
                  <a:schemeClr val="dk1"/>
                </a:solidFill>
                <a:latin typeface="Twentieth Century"/>
                <a:ea typeface="Twentieth Century"/>
                <a:cs typeface="Twentieth Century"/>
                <a:sym typeface="Twentieth Century"/>
              </a:rPr>
              <a:t>Re-run the Python installer to modify your installation and make sure that </a:t>
            </a:r>
            <a:r>
              <a:rPr lang="en" sz="1100">
                <a:solidFill>
                  <a:schemeClr val="dk1"/>
                </a:solidFill>
                <a:latin typeface="Twentieth Century"/>
                <a:ea typeface="Twentieth Century"/>
                <a:cs typeface="Twentieth Century"/>
                <a:sym typeface="Twentieth Century"/>
              </a:rPr>
              <a:t>you</a:t>
            </a:r>
            <a:r>
              <a:rPr lang="en" sz="1100">
                <a:solidFill>
                  <a:schemeClr val="dk1"/>
                </a:solidFill>
                <a:latin typeface="Twentieth Century"/>
                <a:ea typeface="Twentieth Century"/>
                <a:cs typeface="Twentieth Century"/>
                <a:sym typeface="Twentieth Century"/>
              </a:rPr>
              <a:t> have checked the box for “Add Python to environment variables”. Once you have done this go back to the Command Prompt and try to run the </a:t>
            </a:r>
            <a:r>
              <a:rPr i="1" lang="en" sz="1100">
                <a:solidFill>
                  <a:schemeClr val="dk1"/>
                </a:solidFill>
                <a:latin typeface="Twentieth Century"/>
                <a:ea typeface="Twentieth Century"/>
                <a:cs typeface="Twentieth Century"/>
                <a:sym typeface="Twentieth Century"/>
              </a:rPr>
              <a:t>python</a:t>
            </a:r>
            <a:r>
              <a:rPr lang="en" sz="1100">
                <a:solidFill>
                  <a:schemeClr val="dk1"/>
                </a:solidFill>
                <a:latin typeface="Twentieth Century"/>
                <a:ea typeface="Twentieth Century"/>
                <a:cs typeface="Twentieth Century"/>
                <a:sym typeface="Twentieth Century"/>
              </a:rPr>
              <a:t> command again</a:t>
            </a:r>
            <a:endParaRPr sz="1100">
              <a:solidFill>
                <a:schemeClr val="dk1"/>
              </a:solidFill>
              <a:latin typeface="Twentieth Century"/>
              <a:ea typeface="Twentieth Century"/>
              <a:cs typeface="Twentieth Century"/>
              <a:sym typeface="Twentieth Century"/>
            </a:endParaRPr>
          </a:p>
        </p:txBody>
      </p:sp>
      <p:sp>
        <p:nvSpPr>
          <p:cNvPr id="359" name="Google Shape;359;p25"/>
          <p:cNvSpPr/>
          <p:nvPr/>
        </p:nvSpPr>
        <p:spPr>
          <a:xfrm>
            <a:off x="140575" y="4618037"/>
            <a:ext cx="8857800" cy="475800"/>
          </a:xfrm>
          <a:prstGeom prst="rect">
            <a:avLst/>
          </a:prstGeom>
          <a:solidFill>
            <a:srgbClr val="CC0000"/>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lang="en">
                <a:solidFill>
                  <a:schemeClr val="lt1"/>
                </a:solidFill>
                <a:latin typeface="Calibri"/>
                <a:ea typeface="Calibri"/>
                <a:cs typeface="Calibri"/>
                <a:sym typeface="Calibri"/>
              </a:rPr>
              <a:t>We can help you resolve installation issues - h</a:t>
            </a:r>
            <a:r>
              <a:rPr b="1" i="0" lang="en" sz="1400" u="none" cap="none" strike="noStrike">
                <a:solidFill>
                  <a:schemeClr val="lt1"/>
                </a:solidFill>
                <a:latin typeface="Calibri"/>
                <a:ea typeface="Calibri"/>
                <a:cs typeface="Calibri"/>
                <a:sym typeface="Calibri"/>
              </a:rPr>
              <a:t>aving everything working by start of Day </a:t>
            </a:r>
            <a:r>
              <a:rPr b="1" lang="en">
                <a:solidFill>
                  <a:schemeClr val="lt1"/>
                </a:solidFill>
                <a:latin typeface="Calibri"/>
                <a:ea typeface="Calibri"/>
                <a:cs typeface="Calibri"/>
                <a:sym typeface="Calibri"/>
              </a:rPr>
              <a:t>3</a:t>
            </a:r>
            <a:r>
              <a:rPr b="1" i="0" lang="en" sz="1400" u="none" cap="none" strike="noStrike">
                <a:solidFill>
                  <a:schemeClr val="lt1"/>
                </a:solidFill>
                <a:latin typeface="Calibri"/>
                <a:ea typeface="Calibri"/>
                <a:cs typeface="Calibri"/>
                <a:sym typeface="Calibri"/>
              </a:rPr>
              <a:t> is important</a:t>
            </a:r>
            <a:endParaRPr b="1" i="0" sz="1400" u="none" cap="none" strike="noStrike">
              <a:solidFill>
                <a:schemeClr val="lt1"/>
              </a:solidFill>
              <a:latin typeface="Calibri"/>
              <a:ea typeface="Calibri"/>
              <a:cs typeface="Calibri"/>
              <a:sym typeface="Calibri"/>
            </a:endParaRPr>
          </a:p>
        </p:txBody>
      </p:sp>
      <p:pic>
        <p:nvPicPr>
          <p:cNvPr id="360" name="Google Shape;360;p25"/>
          <p:cNvPicPr preferRelativeResize="0"/>
          <p:nvPr/>
        </p:nvPicPr>
        <p:blipFill>
          <a:blip r:embed="rId3">
            <a:alphaModFix/>
          </a:blip>
          <a:stretch>
            <a:fillRect/>
          </a:stretch>
        </p:blipFill>
        <p:spPr>
          <a:xfrm>
            <a:off x="6204575" y="2664648"/>
            <a:ext cx="2631975" cy="1006625"/>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