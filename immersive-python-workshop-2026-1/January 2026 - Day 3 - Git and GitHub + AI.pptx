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e4c74daf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e4c74daf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ad3b162337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2ad3b16233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38261a18d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638261a18d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38261a18d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638261a18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38261a18d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638261a18d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38261a18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38261a18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34d4b675d_0_1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f34d4b675d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d3b162337_0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2ad3b162337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d3b162337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2ad3b1623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d3b162337_0_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2ad3b162337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ad8a17cbd6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2ad8a17cb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d8a17cbd6_0_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ad8a17cbd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d3b162337_0_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ad3b162337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da6ca538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ada6ca538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da6ca5381_0_1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2ada6ca5381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ada6ca5381_0_7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25" name="Google Shape;225;g2ada6ca5381_0_7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38261a18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38261a18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38261a18d_0_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38" name="Google Shape;238;g3638261a18d_0_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6f6c36ecb8_0_62: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45" name="Google Shape;245;g36f6c36ecb8_0_62: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f6c36ecb8_0_41: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52" name="Google Shape;252;g36f6c36ecb8_0_41: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6f6c36ecb8_0_5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58" name="Google Shape;258;g36f6c36ecb8_0_5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f6c36ecb8_0_15: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66" name="Google Shape;266;g36f6c36ecb8_0_15: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f6c36ecb8_0_28: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73" name="Google Shape;273;g36f6c36ecb8_0_28: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f6c36ecb8_0_7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79" name="Google Shape;279;g36f6c36ecb8_0_7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f3639c59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f3639c59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 name="Google Shape;13;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 name="Google Shape;14;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5" name="Google Shape;15;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8" name="Google Shape;18;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9" name="Google Shape;19;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0" name="Google Shape;20;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1" name="Google Shape;21;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4" name="Google Shape;24;p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6" name="Google Shape;26;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7" name="Google Shape;27;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0" name="Google Shape;30;p5"/>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31" name="Google Shape;31;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2" name="Google Shape;32;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3" name="Google Shape;33;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6" name="Google Shape;36;p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7" name="Google Shape;37;p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8" name="Google Shape;3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9" name="Google Shape;3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0" name="Google Shape;4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43" name="Google Shape;43;p7"/>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4" name="Google Shape;44;p7"/>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5" name="Google Shape;45;p7"/>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6" name="Google Shape;46;p7"/>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7" name="Google Shape;4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8" name="Google Shape;4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9" name="Google Shape;4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6" name="Google Shape;56;p9"/>
          <p:cNvSpPr txBox="1"/>
          <p:nvPr>
            <p:ph idx="1" type="body"/>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3" name="Google Shape;63;p10"/>
          <p:cNvSpPr/>
          <p:nvPr>
            <p:ph idx="2" type="pic"/>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rtl="0">
              <a:spcBef>
                <a:spcPts val="0"/>
              </a:spcBef>
              <a:spcAft>
                <a:spcPts val="0"/>
              </a:spcAft>
              <a:buSzPts val="3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2" name="Google Shape;82;p13"/>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61950" lvl="0" marL="457200" rtl="0">
              <a:spcBef>
                <a:spcPts val="800"/>
              </a:spcBef>
              <a:spcAft>
                <a:spcPts val="0"/>
              </a:spcAft>
              <a:buSzPts val="2100"/>
              <a:buChar char="•"/>
              <a:defRPr/>
            </a:lvl1pPr>
            <a:lvl2pPr indent="-342900" lvl="1" marL="914400" rtl="0">
              <a:spcBef>
                <a:spcPts val="400"/>
              </a:spcBef>
              <a:spcAft>
                <a:spcPts val="0"/>
              </a:spcAft>
              <a:buSzPts val="1800"/>
              <a:buChar char="•"/>
              <a:defRPr/>
            </a:lvl2pPr>
            <a:lvl3pPr indent="-323850" lvl="2" marL="1371600" rtl="0">
              <a:spcBef>
                <a:spcPts val="400"/>
              </a:spcBef>
              <a:spcAft>
                <a:spcPts val="0"/>
              </a:spcAft>
              <a:buSzPts val="15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83" name="Google Shape;83;p1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4000"/>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git-scm.com/downloads"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14.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 Id="rId9"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2.png"/><Relationship Id="rId7" Type="http://schemas.openxmlformats.org/officeDocument/2006/relationships/image" Target="../media/image15.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github.com" TargetMode="External"/><Relationship Id="rId4" Type="http://schemas.openxmlformats.org/officeDocument/2006/relationships/hyperlink" Target="http://github.austin.utexas.edu/" TargetMode="External"/><Relationship Id="rId5" Type="http://schemas.openxmlformats.org/officeDocument/2006/relationships/image" Target="../media/image1.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features/copilot" TargetMode="External"/><Relationship Id="rId4" Type="http://schemas.openxmlformats.org/officeDocument/2006/relationships/hyperlink" Target="https://code.visualstudio.com/blogs/2024/12/18/free-github-copilot" TargetMode="External"/><Relationship Id="rId5" Type="http://schemas.openxmlformats.org/officeDocument/2006/relationships/hyperlink" Target="https://docs.github.com/en/copilot/managing-copilot/managing-copilot-as-an-individual-subscriber/managing-your-copilot-subscription/getting-free-access-to-copilot-as-a-student-teacher-or-maintainer" TargetMode="External"/><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hoosealicense.com/licenses/" TargetMode="External"/><Relationship Id="rId4" Type="http://schemas.openxmlformats.org/officeDocument/2006/relationships/hyperlink" Target="https://opensource.utexas.edu/best-practices#open-source-software-licenses-pdf" TargetMode="External"/><Relationship Id="rId5" Type="http://schemas.openxmlformats.org/officeDocument/2006/relationships/image" Target="../media/image21.png"/><Relationship Id="rId6" Type="http://schemas.openxmlformats.org/officeDocument/2006/relationships/image" Target="../media/image23.png"/><Relationship Id="rId7"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hyperlink" Target="mailto:anewell@austin.utexas.edu"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mailto:anewell@austin.utexas.edu" TargetMode="External"/><Relationship Id="rId4" Type="http://schemas.openxmlformats.org/officeDocument/2006/relationships/hyperlink" Target="http://www.opensource.utexas.edu/" TargetMode="External"/><Relationship Id="rId5" Type="http://schemas.openxmlformats.org/officeDocument/2006/relationships/hyperlink" Target="https://utlists.utexas.edu/sympa/subscribe/ospo.announce" TargetMode="External"/><Relationship Id="rId6" Type="http://schemas.openxmlformats.org/officeDocument/2006/relationships/image" Target="../media/image22.png"/><Relationship Id="rId7"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security.utexas.edu/iso-policies/cloud-services/decision-matrix#cloud-services" TargetMode="External"/><Relationship Id="rId4" Type="http://schemas.openxmlformats.org/officeDocument/2006/relationships/hyperlink" Target="https://compliance.utexas.edu/prohibited-technology-and-covered-application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taylorandfrancis.com/our-policies/ai-policy/" TargetMode="External"/><Relationship Id="rId4" Type="http://schemas.openxmlformats.org/officeDocument/2006/relationships/image" Target="../media/image3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theregister.com/2025/04/12/ai_code_suggestions_sabotage_supply_chai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s://bit.ly/4sb17h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3  </a:t>
            </a:r>
            <a:r>
              <a:rPr lang="en" sz="3000">
                <a:solidFill>
                  <a:schemeClr val="lt1"/>
                </a:solidFill>
                <a:latin typeface="Twentieth Century"/>
                <a:ea typeface="Twentieth Century"/>
                <a:cs typeface="Twentieth Century"/>
                <a:sym typeface="Twentieth Century"/>
              </a:rPr>
              <a:t>|  Git &amp; GitHub</a:t>
            </a:r>
            <a:endParaRPr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a:t>
            </a:r>
            <a:endParaRPr b="1" sz="3000">
              <a:solidFill>
                <a:schemeClr val="lt1"/>
              </a:solidFill>
              <a:latin typeface="Twentieth Century"/>
              <a:ea typeface="Twentieth Century"/>
              <a:cs typeface="Twentieth Century"/>
              <a:sym typeface="Twentieth Century"/>
            </a:endParaRPr>
          </a:p>
        </p:txBody>
      </p:sp>
      <p:sp>
        <p:nvSpPr>
          <p:cNvPr id="94" name="Google Shape;94;p15"/>
          <p:cNvSpPr txBox="1"/>
          <p:nvPr/>
        </p:nvSpPr>
        <p:spPr>
          <a:xfrm>
            <a:off x="455050" y="1322650"/>
            <a:ext cx="4344300" cy="33153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3"/>
              </a:rPr>
              <a:t>https://git-scm.com/downloads</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Distributed version control system</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Free and open source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Cross platform compatible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latin typeface="Twentieth Century"/>
                <a:ea typeface="Twentieth Century"/>
                <a:cs typeface="Twentieth Century"/>
                <a:sym typeface="Twentieth Century"/>
              </a:rPr>
              <a:t>Run via Terminal or Command Prompt </a:t>
            </a:r>
            <a:endParaRPr sz="1500">
              <a:latin typeface="Twentieth Century"/>
              <a:ea typeface="Twentieth Century"/>
              <a:cs typeface="Twentieth Century"/>
              <a:sym typeface="Twentieth Century"/>
            </a:endParaRPr>
          </a:p>
        </p:txBody>
      </p:sp>
      <p:pic>
        <p:nvPicPr>
          <p:cNvPr id="95" name="Google Shape;95;p15"/>
          <p:cNvPicPr preferRelativeResize="0"/>
          <p:nvPr/>
        </p:nvPicPr>
        <p:blipFill>
          <a:blip r:embed="rId4">
            <a:alphaModFix/>
          </a:blip>
          <a:stretch>
            <a:fillRect/>
          </a:stretch>
        </p:blipFill>
        <p:spPr>
          <a:xfrm>
            <a:off x="5496075" y="993053"/>
            <a:ext cx="3455103" cy="39744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a:t>
            </a:r>
            <a:r>
              <a:rPr b="1" lang="en" sz="3000">
                <a:solidFill>
                  <a:schemeClr val="lt1"/>
                </a:solidFill>
                <a:latin typeface="Twentieth Century"/>
                <a:ea typeface="Twentieth Century"/>
                <a:cs typeface="Twentieth Century"/>
                <a:sym typeface="Twentieth Century"/>
              </a:rPr>
              <a:t> Git</a:t>
            </a:r>
            <a:endParaRPr b="1" sz="3000">
              <a:solidFill>
                <a:schemeClr val="lt1"/>
              </a:solidFill>
              <a:latin typeface="Twentieth Century"/>
              <a:ea typeface="Twentieth Century"/>
              <a:cs typeface="Twentieth Century"/>
              <a:sym typeface="Twentieth Century"/>
            </a:endParaRPr>
          </a:p>
        </p:txBody>
      </p:sp>
      <p:pic>
        <p:nvPicPr>
          <p:cNvPr id="101" name="Google Shape;101;p16"/>
          <p:cNvPicPr preferRelativeResize="0"/>
          <p:nvPr/>
        </p:nvPicPr>
        <p:blipFill rotWithShape="1">
          <a:blip r:embed="rId3">
            <a:alphaModFix/>
          </a:blip>
          <a:srcRect b="10596" l="7220" r="7323" t="11198"/>
          <a:stretch/>
        </p:blipFill>
        <p:spPr>
          <a:xfrm>
            <a:off x="348850" y="1818400"/>
            <a:ext cx="4806625" cy="2850101"/>
          </a:xfrm>
          <a:prstGeom prst="rect">
            <a:avLst/>
          </a:prstGeom>
          <a:noFill/>
          <a:ln>
            <a:noFill/>
          </a:ln>
        </p:spPr>
      </p:pic>
      <p:sp>
        <p:nvSpPr>
          <p:cNvPr id="102" name="Google Shape;102;p16"/>
          <p:cNvSpPr txBox="1"/>
          <p:nvPr/>
        </p:nvSpPr>
        <p:spPr>
          <a:xfrm>
            <a:off x="348850" y="1113300"/>
            <a:ext cx="2701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Command line (CL/CLI)</a:t>
            </a:r>
            <a:endParaRPr sz="21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08" name="Google Shape;108;p17"/>
          <p:cNvSpPr txBox="1"/>
          <p:nvPr/>
        </p:nvSpPr>
        <p:spPr>
          <a:xfrm>
            <a:off x="348850" y="1113300"/>
            <a:ext cx="27240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Web interface</a:t>
            </a:r>
            <a:endParaRPr sz="2100">
              <a:solidFill>
                <a:schemeClr val="dk1"/>
              </a:solidFill>
              <a:latin typeface="Twentieth Century"/>
              <a:ea typeface="Twentieth Century"/>
              <a:cs typeface="Twentieth Century"/>
              <a:sym typeface="Twentieth Century"/>
            </a:endParaRPr>
          </a:p>
        </p:txBody>
      </p:sp>
      <p:pic>
        <p:nvPicPr>
          <p:cNvPr id="109" name="Google Shape;109;p17"/>
          <p:cNvPicPr preferRelativeResize="0"/>
          <p:nvPr/>
        </p:nvPicPr>
        <p:blipFill>
          <a:blip r:embed="rId3">
            <a:alphaModFix/>
          </a:blip>
          <a:stretch>
            <a:fillRect/>
          </a:stretch>
        </p:blipFill>
        <p:spPr>
          <a:xfrm>
            <a:off x="348850" y="1788700"/>
            <a:ext cx="4982850" cy="317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15" name="Google Shape;115;p18"/>
          <p:cNvSpPr txBox="1"/>
          <p:nvPr/>
        </p:nvSpPr>
        <p:spPr>
          <a:xfrm>
            <a:off x="348850" y="1113300"/>
            <a:ext cx="3436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Graphical user interface (GUI)</a:t>
            </a:r>
            <a:endParaRPr sz="2100">
              <a:solidFill>
                <a:schemeClr val="dk1"/>
              </a:solidFill>
              <a:latin typeface="Twentieth Century"/>
              <a:ea typeface="Twentieth Century"/>
              <a:cs typeface="Twentieth Century"/>
              <a:sym typeface="Twentieth Century"/>
            </a:endParaRPr>
          </a:p>
        </p:txBody>
      </p:sp>
      <p:pic>
        <p:nvPicPr>
          <p:cNvPr id="116" name="Google Shape;116;p18"/>
          <p:cNvPicPr preferRelativeResize="0"/>
          <p:nvPr/>
        </p:nvPicPr>
        <p:blipFill>
          <a:blip r:embed="rId3">
            <a:alphaModFix/>
          </a:blip>
          <a:stretch>
            <a:fillRect/>
          </a:stretch>
        </p:blipFill>
        <p:spPr>
          <a:xfrm>
            <a:off x="348851" y="1773600"/>
            <a:ext cx="4628550" cy="3154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p:nvPr/>
        </p:nvSpPr>
        <p:spPr>
          <a:xfrm>
            <a:off x="6833425" y="1242525"/>
            <a:ext cx="2255100" cy="38193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2" name="Google Shape;122;p19"/>
          <p:cNvSpPr/>
          <p:nvPr/>
        </p:nvSpPr>
        <p:spPr>
          <a:xfrm>
            <a:off x="5319250" y="1242525"/>
            <a:ext cx="1431900" cy="7695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 name="Google Shape;123;p19"/>
          <p:cNvSpPr/>
          <p:nvPr/>
        </p:nvSpPr>
        <p:spPr>
          <a:xfrm>
            <a:off x="52650" y="1242525"/>
            <a:ext cx="3131400" cy="769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124" name="Google Shape;124;p19"/>
          <p:cNvGrpSpPr/>
          <p:nvPr/>
        </p:nvGrpSpPr>
        <p:grpSpPr>
          <a:xfrm>
            <a:off x="2695525" y="4408150"/>
            <a:ext cx="1432110" cy="653588"/>
            <a:chOff x="3252009" y="4012235"/>
            <a:chExt cx="1767600" cy="806700"/>
          </a:xfrm>
        </p:grpSpPr>
        <p:sp>
          <p:nvSpPr>
            <p:cNvPr id="125" name="Google Shape;125;p19"/>
            <p:cNvSpPr/>
            <p:nvPr/>
          </p:nvSpPr>
          <p:spPr>
            <a:xfrm>
              <a:off x="3252009" y="4012235"/>
              <a:ext cx="1767600" cy="806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6" name="Google Shape;126;p19"/>
            <p:cNvPicPr preferRelativeResize="0"/>
            <p:nvPr/>
          </p:nvPicPr>
          <p:blipFill>
            <a:blip r:embed="rId3">
              <a:alphaModFix/>
            </a:blip>
            <a:stretch>
              <a:fillRect/>
            </a:stretch>
          </p:blipFill>
          <p:spPr>
            <a:xfrm>
              <a:off x="3381254" y="4101508"/>
              <a:ext cx="1435924" cy="600175"/>
            </a:xfrm>
            <a:prstGeom prst="rect">
              <a:avLst/>
            </a:prstGeom>
            <a:noFill/>
            <a:ln>
              <a:noFill/>
            </a:ln>
          </p:spPr>
        </p:pic>
      </p:grpSp>
      <p:grpSp>
        <p:nvGrpSpPr>
          <p:cNvPr id="127" name="Google Shape;127;p19"/>
          <p:cNvGrpSpPr/>
          <p:nvPr/>
        </p:nvGrpSpPr>
        <p:grpSpPr>
          <a:xfrm>
            <a:off x="130974" y="2710638"/>
            <a:ext cx="1432000" cy="908100"/>
            <a:chOff x="-66801" y="2592650"/>
            <a:chExt cx="1432000" cy="908100"/>
          </a:xfrm>
        </p:grpSpPr>
        <p:sp>
          <p:nvSpPr>
            <p:cNvPr id="128" name="Google Shape;128;p19"/>
            <p:cNvSpPr/>
            <p:nvPr/>
          </p:nvSpPr>
          <p:spPr>
            <a:xfrm>
              <a:off x="104598" y="2592650"/>
              <a:ext cx="1127400" cy="908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9" name="Google Shape;129;p19"/>
            <p:cNvPicPr preferRelativeResize="0"/>
            <p:nvPr/>
          </p:nvPicPr>
          <p:blipFill>
            <a:blip r:embed="rId4">
              <a:alphaModFix/>
            </a:blip>
            <a:stretch>
              <a:fillRect/>
            </a:stretch>
          </p:blipFill>
          <p:spPr>
            <a:xfrm>
              <a:off x="-66801" y="2643925"/>
              <a:ext cx="1432000" cy="805500"/>
            </a:xfrm>
            <a:prstGeom prst="rect">
              <a:avLst/>
            </a:prstGeom>
            <a:noFill/>
            <a:ln>
              <a:noFill/>
            </a:ln>
          </p:spPr>
        </p:pic>
      </p:grpSp>
      <p:grpSp>
        <p:nvGrpSpPr>
          <p:cNvPr id="130" name="Google Shape;130;p19"/>
          <p:cNvGrpSpPr/>
          <p:nvPr/>
        </p:nvGrpSpPr>
        <p:grpSpPr>
          <a:xfrm>
            <a:off x="1493877" y="2710638"/>
            <a:ext cx="1929900" cy="908100"/>
            <a:chOff x="1296102" y="2592650"/>
            <a:chExt cx="1929900" cy="908100"/>
          </a:xfrm>
        </p:grpSpPr>
        <p:sp>
          <p:nvSpPr>
            <p:cNvPr id="131" name="Google Shape;131;p19"/>
            <p:cNvSpPr/>
            <p:nvPr/>
          </p:nvSpPr>
          <p:spPr>
            <a:xfrm>
              <a:off x="1296102" y="2592650"/>
              <a:ext cx="1929900" cy="908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32" name="Google Shape;132;p19"/>
            <p:cNvPicPr preferRelativeResize="0"/>
            <p:nvPr/>
          </p:nvPicPr>
          <p:blipFill>
            <a:blip r:embed="rId5">
              <a:alphaModFix/>
            </a:blip>
            <a:stretch>
              <a:fillRect/>
            </a:stretch>
          </p:blipFill>
          <p:spPr>
            <a:xfrm>
              <a:off x="1403176" y="2815283"/>
              <a:ext cx="1714101" cy="524241"/>
            </a:xfrm>
            <a:prstGeom prst="rect">
              <a:avLst/>
            </a:prstGeom>
            <a:noFill/>
            <a:ln>
              <a:noFill/>
            </a:ln>
          </p:spPr>
        </p:pic>
      </p:grpSp>
      <p:grpSp>
        <p:nvGrpSpPr>
          <p:cNvPr id="133" name="Google Shape;133;p19"/>
          <p:cNvGrpSpPr/>
          <p:nvPr/>
        </p:nvGrpSpPr>
        <p:grpSpPr>
          <a:xfrm>
            <a:off x="3487874" y="2710613"/>
            <a:ext cx="3204300" cy="908100"/>
            <a:chOff x="3290099" y="2592625"/>
            <a:chExt cx="3204300" cy="908100"/>
          </a:xfrm>
        </p:grpSpPr>
        <p:sp>
          <p:nvSpPr>
            <p:cNvPr id="134" name="Google Shape;134;p19"/>
            <p:cNvSpPr/>
            <p:nvPr/>
          </p:nvSpPr>
          <p:spPr>
            <a:xfrm>
              <a:off x="3290099" y="2592625"/>
              <a:ext cx="3204300" cy="9081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35" name="Google Shape;135;p19"/>
            <p:cNvPicPr preferRelativeResize="0"/>
            <p:nvPr/>
          </p:nvPicPr>
          <p:blipFill>
            <a:blip r:embed="rId6">
              <a:alphaModFix/>
            </a:blip>
            <a:stretch>
              <a:fillRect/>
            </a:stretch>
          </p:blipFill>
          <p:spPr>
            <a:xfrm>
              <a:off x="3363724" y="2830688"/>
              <a:ext cx="2988876" cy="432000"/>
            </a:xfrm>
            <a:prstGeom prst="rect">
              <a:avLst/>
            </a:prstGeom>
            <a:noFill/>
            <a:ln>
              <a:noFill/>
            </a:ln>
          </p:spPr>
        </p:pic>
      </p:grpSp>
      <p:sp>
        <p:nvSpPr>
          <p:cNvPr id="136" name="Google Shape;136;p19"/>
          <p:cNvSpPr txBox="1"/>
          <p:nvPr/>
        </p:nvSpPr>
        <p:spPr>
          <a:xfrm>
            <a:off x="6803125" y="2779950"/>
            <a:ext cx="23157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Software development platform</a:t>
            </a:r>
            <a:endParaRPr sz="1900">
              <a:solidFill>
                <a:schemeClr val="dk1"/>
              </a:solidFill>
              <a:latin typeface="Twentieth Century"/>
              <a:ea typeface="Twentieth Century"/>
              <a:cs typeface="Twentieth Century"/>
              <a:sym typeface="Twentieth Century"/>
            </a:endParaRPr>
          </a:p>
        </p:txBody>
      </p:sp>
      <p:sp>
        <p:nvSpPr>
          <p:cNvPr id="137" name="Google Shape;137;p19"/>
          <p:cNvSpPr txBox="1"/>
          <p:nvPr/>
        </p:nvSpPr>
        <p:spPr>
          <a:xfrm>
            <a:off x="6965775" y="4496438"/>
            <a:ext cx="19299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Git framework</a:t>
            </a:r>
            <a:endParaRPr sz="1900">
              <a:solidFill>
                <a:schemeClr val="dk1"/>
              </a:solidFill>
              <a:latin typeface="Twentieth Century"/>
              <a:ea typeface="Twentieth Century"/>
              <a:cs typeface="Twentieth Century"/>
              <a:sym typeface="Twentieth Century"/>
            </a:endParaRPr>
          </a:p>
        </p:txBody>
      </p:sp>
      <p:sp>
        <p:nvSpPr>
          <p:cNvPr id="138" name="Google Shape;138;p19"/>
          <p:cNvSpPr txBox="1"/>
          <p:nvPr/>
        </p:nvSpPr>
        <p:spPr>
          <a:xfrm>
            <a:off x="6845500" y="1166150"/>
            <a:ext cx="23157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Software development products</a:t>
            </a:r>
            <a:endParaRPr sz="1900">
              <a:solidFill>
                <a:schemeClr val="dk1"/>
              </a:solidFill>
              <a:latin typeface="Twentieth Century"/>
              <a:ea typeface="Twentieth Century"/>
              <a:cs typeface="Twentieth Century"/>
              <a:sym typeface="Twentieth Century"/>
            </a:endParaRPr>
          </a:p>
        </p:txBody>
      </p:sp>
      <p:pic>
        <p:nvPicPr>
          <p:cNvPr id="139" name="Google Shape;139;p19"/>
          <p:cNvPicPr preferRelativeResize="0"/>
          <p:nvPr/>
        </p:nvPicPr>
        <p:blipFill>
          <a:blip r:embed="rId7">
            <a:alphaModFix/>
          </a:blip>
          <a:stretch>
            <a:fillRect/>
          </a:stretch>
        </p:blipFill>
        <p:spPr>
          <a:xfrm>
            <a:off x="141950" y="1332050"/>
            <a:ext cx="1133409" cy="566700"/>
          </a:xfrm>
          <a:prstGeom prst="rect">
            <a:avLst/>
          </a:prstGeom>
          <a:noFill/>
          <a:ln>
            <a:noFill/>
          </a:ln>
        </p:spPr>
      </p:pic>
      <p:pic>
        <p:nvPicPr>
          <p:cNvPr id="140" name="Google Shape;140;p19"/>
          <p:cNvPicPr preferRelativeResize="0"/>
          <p:nvPr/>
        </p:nvPicPr>
        <p:blipFill>
          <a:blip r:embed="rId8">
            <a:alphaModFix/>
          </a:blip>
          <a:stretch>
            <a:fillRect/>
          </a:stretch>
        </p:blipFill>
        <p:spPr>
          <a:xfrm>
            <a:off x="1366146" y="1332050"/>
            <a:ext cx="1700114" cy="566700"/>
          </a:xfrm>
          <a:prstGeom prst="rect">
            <a:avLst/>
          </a:prstGeom>
          <a:noFill/>
          <a:ln cap="flat" cmpd="sng" w="9525">
            <a:solidFill>
              <a:schemeClr val="dk1"/>
            </a:solidFill>
            <a:prstDash val="solid"/>
            <a:round/>
            <a:headEnd len="sm" w="sm" type="none"/>
            <a:tailEnd len="sm" w="sm" type="none"/>
          </a:ln>
        </p:spPr>
      </p:pic>
      <p:sp>
        <p:nvSpPr>
          <p:cNvPr id="141" name="Google Shape;141;p19"/>
          <p:cNvSpPr/>
          <p:nvPr/>
        </p:nvSpPr>
        <p:spPr>
          <a:xfrm>
            <a:off x="3295000" y="1242525"/>
            <a:ext cx="1929900" cy="769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2" name="Google Shape;142;p19"/>
          <p:cNvPicPr preferRelativeResize="0"/>
          <p:nvPr/>
        </p:nvPicPr>
        <p:blipFill>
          <a:blip r:embed="rId9">
            <a:alphaModFix/>
          </a:blip>
          <a:stretch>
            <a:fillRect/>
          </a:stretch>
        </p:blipFill>
        <p:spPr>
          <a:xfrm>
            <a:off x="4527823" y="1313600"/>
            <a:ext cx="603601" cy="603601"/>
          </a:xfrm>
          <a:prstGeom prst="rect">
            <a:avLst/>
          </a:prstGeom>
          <a:noFill/>
          <a:ln>
            <a:noFill/>
          </a:ln>
        </p:spPr>
      </p:pic>
      <p:pic>
        <p:nvPicPr>
          <p:cNvPr id="143" name="Google Shape;143;p19"/>
          <p:cNvPicPr preferRelativeResize="0"/>
          <p:nvPr/>
        </p:nvPicPr>
        <p:blipFill rotWithShape="1">
          <a:blip r:embed="rId10">
            <a:alphaModFix/>
          </a:blip>
          <a:srcRect b="0" l="21422" r="20787" t="0"/>
          <a:stretch/>
        </p:blipFill>
        <p:spPr>
          <a:xfrm>
            <a:off x="5381000" y="1332050"/>
            <a:ext cx="694953" cy="603600"/>
          </a:xfrm>
          <a:prstGeom prst="rect">
            <a:avLst/>
          </a:prstGeom>
          <a:noFill/>
          <a:ln>
            <a:noFill/>
          </a:ln>
        </p:spPr>
      </p:pic>
      <p:sp>
        <p:nvSpPr>
          <p:cNvPr id="144" name="Google Shape;144;p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45" name="Google Shape;145;p19"/>
          <p:cNvSpPr/>
          <p:nvPr/>
        </p:nvSpPr>
        <p:spPr>
          <a:xfrm>
            <a:off x="7819375"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6" name="Google Shape;146;p19"/>
          <p:cNvSpPr/>
          <p:nvPr/>
        </p:nvSpPr>
        <p:spPr>
          <a:xfrm>
            <a:off x="7789125" y="2116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7" name="Google Shape;147;p19"/>
          <p:cNvPicPr preferRelativeResize="0"/>
          <p:nvPr/>
        </p:nvPicPr>
        <p:blipFill>
          <a:blip r:embed="rId11">
            <a:alphaModFix/>
          </a:blip>
          <a:stretch>
            <a:fillRect/>
          </a:stretch>
        </p:blipFill>
        <p:spPr>
          <a:xfrm>
            <a:off x="6122243" y="1346477"/>
            <a:ext cx="574748" cy="574748"/>
          </a:xfrm>
          <a:prstGeom prst="rect">
            <a:avLst/>
          </a:prstGeom>
          <a:noFill/>
          <a:ln>
            <a:noFill/>
          </a:ln>
        </p:spPr>
      </p:pic>
      <p:pic>
        <p:nvPicPr>
          <p:cNvPr id="148" name="Google Shape;148;p19"/>
          <p:cNvPicPr preferRelativeResize="0"/>
          <p:nvPr/>
        </p:nvPicPr>
        <p:blipFill>
          <a:blip r:embed="rId12">
            <a:alphaModFix/>
          </a:blip>
          <a:stretch>
            <a:fillRect/>
          </a:stretch>
        </p:blipFill>
        <p:spPr>
          <a:xfrm>
            <a:off x="3332402" y="1409188"/>
            <a:ext cx="1133400" cy="436187"/>
          </a:xfrm>
          <a:prstGeom prst="rect">
            <a:avLst/>
          </a:prstGeom>
          <a:noFill/>
          <a:ln cap="flat" cmpd="sng" w="9525">
            <a:solidFill>
              <a:schemeClr val="dk1"/>
            </a:solidFill>
            <a:prstDash val="solid"/>
            <a:round/>
            <a:headEnd len="sm" w="sm" type="none"/>
            <a:tailEnd len="sm" w="sm" type="none"/>
          </a:ln>
        </p:spPr>
      </p:pic>
      <p:sp>
        <p:nvSpPr>
          <p:cNvPr id="149" name="Google Shape;149;p19"/>
          <p:cNvSpPr/>
          <p:nvPr/>
        </p:nvSpPr>
        <p:spPr>
          <a:xfrm>
            <a:off x="3332400" y="2060875"/>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p19"/>
          <p:cNvSpPr/>
          <p:nvPr/>
        </p:nvSpPr>
        <p:spPr>
          <a:xfrm>
            <a:off x="3332400"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GitHub</a:t>
            </a:r>
            <a:endParaRPr b="1" sz="3000">
              <a:solidFill>
                <a:schemeClr val="lt1"/>
              </a:solidFill>
              <a:latin typeface="Twentieth Century"/>
              <a:ea typeface="Twentieth Century"/>
              <a:cs typeface="Twentieth Century"/>
              <a:sym typeface="Twentieth Century"/>
            </a:endParaRPr>
          </a:p>
        </p:txBody>
      </p:sp>
      <p:sp>
        <p:nvSpPr>
          <p:cNvPr id="156" name="Google Shape;156;p20"/>
          <p:cNvSpPr txBox="1"/>
          <p:nvPr/>
        </p:nvSpPr>
        <p:spPr>
          <a:xfrm>
            <a:off x="227725" y="2089675"/>
            <a:ext cx="8646300" cy="28752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GitHub is a great platform for backing up, versioning, collaborating on, and sharing code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It can be a great tool for researchers who want to make their work transparent and replicable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b="1" lang="en" sz="1500" u="sng">
                <a:solidFill>
                  <a:schemeClr val="hlink"/>
                </a:solidFill>
                <a:latin typeface="Twentieth Century"/>
                <a:ea typeface="Twentieth Century"/>
                <a:cs typeface="Twentieth Century"/>
                <a:sym typeface="Twentieth Century"/>
                <a:hlinkClick r:id="rId3"/>
              </a:rPr>
              <a:t>http://github.com</a:t>
            </a:r>
            <a:r>
              <a:rPr b="1" lang="en" sz="1500">
                <a:latin typeface="Twentieth Century"/>
                <a:ea typeface="Twentieth Century"/>
                <a:cs typeface="Twentieth Century"/>
                <a:sym typeface="Twentieth Century"/>
              </a:rPr>
              <a:t>        </a:t>
            </a:r>
            <a:r>
              <a:rPr b="1" lang="en" sz="1600">
                <a:latin typeface="Twentieth Century"/>
                <a:ea typeface="Twentieth Century"/>
                <a:cs typeface="Twentieth Century"/>
                <a:sym typeface="Twentieth Century"/>
              </a:rPr>
              <a:t>vs. </a:t>
            </a:r>
            <a:r>
              <a:rPr b="1" lang="en" sz="1500">
                <a:latin typeface="Twentieth Century"/>
                <a:ea typeface="Twentieth Century"/>
                <a:cs typeface="Twentieth Century"/>
                <a:sym typeface="Twentieth Century"/>
              </a:rPr>
              <a:t>      </a:t>
            </a:r>
            <a:r>
              <a:rPr b="1" lang="en" sz="1500" u="sng">
                <a:solidFill>
                  <a:schemeClr val="hlink"/>
                </a:solidFill>
                <a:latin typeface="Twentieth Century"/>
                <a:ea typeface="Twentieth Century"/>
                <a:cs typeface="Twentieth Century"/>
                <a:sym typeface="Twentieth Century"/>
                <a:hlinkClick r:id="rId4"/>
              </a:rPr>
              <a:t>http://github.austin.utexas.edu/</a:t>
            </a:r>
            <a:r>
              <a:rPr b="1" lang="en" sz="1500">
                <a:latin typeface="Twentieth Century"/>
                <a:ea typeface="Twentieth Century"/>
                <a:cs typeface="Twentieth Century"/>
                <a:sym typeface="Twentieth Century"/>
              </a:rPr>
              <a:t> </a:t>
            </a:r>
            <a:r>
              <a:rPr i="1" lang="en">
                <a:latin typeface="Twentieth Century"/>
                <a:ea typeface="Twentieth Century"/>
                <a:cs typeface="Twentieth Century"/>
                <a:sym typeface="Twentieth Century"/>
              </a:rPr>
              <a:t>(for faculty &amp; staff)</a:t>
            </a:r>
            <a:endParaRPr i="1">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latin typeface="Twentieth Century"/>
                <a:ea typeface="Twentieth Century"/>
                <a:cs typeface="Twentieth Century"/>
                <a:sym typeface="Twentieth Century"/>
              </a:rPr>
              <a:t>You can use GitHub to release code for your own projects or to contribute to other software projects that have been released as open source</a:t>
            </a:r>
            <a:endParaRPr sz="1500">
              <a:latin typeface="Twentieth Century"/>
              <a:ea typeface="Twentieth Century"/>
              <a:cs typeface="Twentieth Century"/>
              <a:sym typeface="Twentieth Century"/>
            </a:endParaRPr>
          </a:p>
        </p:txBody>
      </p:sp>
      <p:pic>
        <p:nvPicPr>
          <p:cNvPr id="157" name="Google Shape;157;p20"/>
          <p:cNvPicPr preferRelativeResize="0"/>
          <p:nvPr/>
        </p:nvPicPr>
        <p:blipFill>
          <a:blip r:embed="rId5">
            <a:alphaModFix/>
          </a:blip>
          <a:stretch>
            <a:fillRect/>
          </a:stretch>
        </p:blipFill>
        <p:spPr>
          <a:xfrm>
            <a:off x="3101525" y="1092775"/>
            <a:ext cx="2940960" cy="768325"/>
          </a:xfrm>
          <a:prstGeom prst="rect">
            <a:avLst/>
          </a:prstGeom>
          <a:noFill/>
          <a:ln>
            <a:noFill/>
          </a:ln>
        </p:spPr>
      </p:pic>
      <p:pic>
        <p:nvPicPr>
          <p:cNvPr id="158" name="Google Shape;158;p20"/>
          <p:cNvPicPr preferRelativeResize="0"/>
          <p:nvPr/>
        </p:nvPicPr>
        <p:blipFill rotWithShape="1">
          <a:blip r:embed="rId6">
            <a:alphaModFix/>
          </a:blip>
          <a:srcRect b="6611" l="9908" r="7658" t="10955"/>
          <a:stretch/>
        </p:blipFill>
        <p:spPr>
          <a:xfrm>
            <a:off x="7926300" y="1003075"/>
            <a:ext cx="947724" cy="947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700">
                <a:solidFill>
                  <a:schemeClr val="lt1"/>
                </a:solidFill>
                <a:latin typeface="Twentieth Century"/>
                <a:ea typeface="Twentieth Century"/>
                <a:cs typeface="Twentieth Century"/>
                <a:sym typeface="Twentieth Century"/>
              </a:rPr>
              <a:t>Why Push Research Code to GitHub</a:t>
            </a:r>
            <a:endParaRPr b="1" sz="2700">
              <a:solidFill>
                <a:schemeClr val="lt1"/>
              </a:solidFill>
              <a:latin typeface="Twentieth Century"/>
              <a:ea typeface="Twentieth Century"/>
              <a:cs typeface="Twentieth Century"/>
              <a:sym typeface="Twentieth Century"/>
            </a:endParaRPr>
          </a:p>
        </p:txBody>
      </p:sp>
      <p:sp>
        <p:nvSpPr>
          <p:cNvPr id="164" name="Google Shape;164;p21"/>
          <p:cNvSpPr txBox="1"/>
          <p:nvPr/>
        </p:nvSpPr>
        <p:spPr>
          <a:xfrm>
            <a:off x="244350" y="1043175"/>
            <a:ext cx="8646300" cy="3893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Get recognition for your coding work</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Share your work with others so that your code can have a greater impact</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solidFill>
                  <a:schemeClr val="dk1"/>
                </a:solidFill>
                <a:latin typeface="Twentieth Century"/>
                <a:ea typeface="Twentieth Century"/>
                <a:cs typeface="Twentieth Century"/>
                <a:sym typeface="Twentieth Century"/>
              </a:rPr>
              <a:t>Make code backups, versioning, and publishing relatively easy</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Potentially benefit from others finding bugs and submitting pull requests for code improvements</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Help make your research workflows reproducible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solidFill>
                  <a:schemeClr val="dk1"/>
                </a:solidFill>
                <a:latin typeface="Twentieth Century"/>
                <a:ea typeface="Twentieth Century"/>
                <a:cs typeface="Twentieth Century"/>
                <a:sym typeface="Twentieth Century"/>
              </a:rPr>
              <a:t>Enterprise GitHub and private repositories allow for secure and controlled code management</a:t>
            </a:r>
            <a:endParaRPr sz="1500">
              <a:latin typeface="Twentieth Century"/>
              <a:ea typeface="Twentieth Century"/>
              <a:cs typeface="Twentieth Century"/>
              <a:sym typeface="Twentieth Century"/>
            </a:endParaRPr>
          </a:p>
        </p:txBody>
      </p:sp>
      <p:pic>
        <p:nvPicPr>
          <p:cNvPr descr="New GitHub Logo - The GitHub Blog" id="165" name="Google Shape;165;p21"/>
          <p:cNvPicPr preferRelativeResize="0"/>
          <p:nvPr/>
        </p:nvPicPr>
        <p:blipFill rotWithShape="1">
          <a:blip r:embed="rId3">
            <a:alphaModFix/>
          </a:blip>
          <a:srcRect b="0" l="21982" r="20592" t="0"/>
          <a:stretch/>
        </p:blipFill>
        <p:spPr>
          <a:xfrm>
            <a:off x="7157775" y="1101400"/>
            <a:ext cx="1649899" cy="147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Terminology to Know</a:t>
            </a:r>
            <a:endParaRPr b="1" sz="3000">
              <a:solidFill>
                <a:schemeClr val="lt1"/>
              </a:solidFill>
              <a:latin typeface="Twentieth Century"/>
              <a:ea typeface="Twentieth Century"/>
              <a:cs typeface="Twentieth Century"/>
              <a:sym typeface="Twentieth Century"/>
            </a:endParaRPr>
          </a:p>
        </p:txBody>
      </p:sp>
      <p:sp>
        <p:nvSpPr>
          <p:cNvPr id="171" name="Google Shape;171;p22"/>
          <p:cNvSpPr txBox="1"/>
          <p:nvPr/>
        </p:nvSpPr>
        <p:spPr>
          <a:xfrm>
            <a:off x="190450" y="1023975"/>
            <a:ext cx="8802600" cy="39315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30200" lvl="0" marL="457200" rtl="0" algn="l">
              <a:lnSpc>
                <a:spcPct val="150000"/>
              </a:lnSpc>
              <a:spcBef>
                <a:spcPts val="0"/>
              </a:spcBef>
              <a:spcAft>
                <a:spcPts val="0"/>
              </a:spcAft>
              <a:buSzPts val="1600"/>
              <a:buFont typeface="Twentieth Century"/>
              <a:buChar char="➔"/>
            </a:pPr>
            <a:r>
              <a:rPr b="1" lang="en" sz="1600">
                <a:solidFill>
                  <a:schemeClr val="dk1"/>
                </a:solidFill>
                <a:latin typeface="Twentieth Century"/>
                <a:ea typeface="Twentieth Century"/>
                <a:cs typeface="Twentieth Century"/>
                <a:sym typeface="Twentieth Century"/>
              </a:rPr>
              <a:t>Git </a:t>
            </a:r>
            <a:r>
              <a:rPr lang="en" sz="1600">
                <a:solidFill>
                  <a:schemeClr val="dk1"/>
                </a:solidFill>
                <a:latin typeface="Twentieth Century"/>
                <a:ea typeface="Twentieth Century"/>
                <a:cs typeface="Twentieth Century"/>
                <a:sym typeface="Twentieth Century"/>
              </a:rPr>
              <a:t>	</a:t>
            </a:r>
            <a:r>
              <a:rPr lang="en">
                <a:solidFill>
                  <a:schemeClr val="dk1"/>
                </a:solidFill>
                <a:latin typeface="Twentieth Century"/>
                <a:ea typeface="Twentieth Century"/>
                <a:cs typeface="Twentieth Century"/>
                <a:sym typeface="Twentieth Century"/>
              </a:rPr>
              <a:t>		Open source software used to track and manage versions of files containing text</a:t>
            </a:r>
            <a:endParaRPr>
              <a:latin typeface="Twentieth Century"/>
              <a:ea typeface="Twentieth Century"/>
              <a:cs typeface="Twentieth Century"/>
              <a:sym typeface="Twentieth Century"/>
            </a:endParaRPr>
          </a:p>
          <a:p>
            <a:pPr indent="-330200" lvl="0" marL="457200" rtl="0" algn="l">
              <a:lnSpc>
                <a:spcPct val="150000"/>
              </a:lnSpc>
              <a:spcBef>
                <a:spcPts val="1300"/>
              </a:spcBef>
              <a:spcAft>
                <a:spcPts val="0"/>
              </a:spcAft>
              <a:buSzPts val="1600"/>
              <a:buFont typeface="Twentieth Century"/>
              <a:buChar char="➔"/>
            </a:pPr>
            <a:r>
              <a:rPr b="1" lang="en" sz="1600">
                <a:latin typeface="Twentieth Century"/>
                <a:ea typeface="Twentieth Century"/>
                <a:cs typeface="Twentieth Century"/>
                <a:sym typeface="Twentieth Century"/>
              </a:rPr>
              <a:t>Repository	</a:t>
            </a:r>
            <a:r>
              <a:rPr lang="en">
                <a:latin typeface="Twentieth Century"/>
                <a:ea typeface="Twentieth Century"/>
                <a:cs typeface="Twentieth Century"/>
                <a:sym typeface="Twentieth Century"/>
              </a:rPr>
              <a:t>	A container for all of a project’s files, they can be public or private</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Commit</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	An individual change to a set of files in a repository</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Versioning</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Tracking and saving records of changes to files over time</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Pull Request</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	Proposed changes to a files in a repository that can be accepted or rejected</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Font typeface="Twentieth Century"/>
              <a:buChar char="➔"/>
            </a:pPr>
            <a:r>
              <a:rPr b="1" lang="en" sz="1600">
                <a:latin typeface="Twentieth Century"/>
                <a:ea typeface="Twentieth Century"/>
                <a:cs typeface="Twentieth Century"/>
                <a:sym typeface="Twentieth Century"/>
              </a:rPr>
              <a:t>ReadMe file	</a:t>
            </a:r>
            <a:r>
              <a:rPr lang="en">
                <a:latin typeface="Twentieth Century"/>
                <a:ea typeface="Twentieth Century"/>
                <a:cs typeface="Twentieth Century"/>
                <a:sym typeface="Twentieth Century"/>
              </a:rPr>
              <a:t>A file that defines the content on the repo landing page and provides essential project info</a:t>
            </a:r>
            <a:endParaRPr>
              <a:latin typeface="Twentieth Century"/>
              <a:ea typeface="Twentieth Century"/>
              <a:cs typeface="Twentieth Century"/>
              <a:sym typeface="Twentieth Century"/>
            </a:endParaRPr>
          </a:p>
          <a:p>
            <a:pPr indent="-330200" lvl="0" marL="457200" rtl="0" algn="l">
              <a:lnSpc>
                <a:spcPct val="150000"/>
              </a:lnSpc>
              <a:spcBef>
                <a:spcPts val="1300"/>
              </a:spcBef>
              <a:spcAft>
                <a:spcPts val="1300"/>
              </a:spcAft>
              <a:buSzPts val="1600"/>
              <a:buFont typeface="Twentieth Century"/>
              <a:buChar char="➔"/>
            </a:pPr>
            <a:r>
              <a:rPr b="1" lang="en" sz="1600">
                <a:latin typeface="Twentieth Century"/>
                <a:ea typeface="Twentieth Century"/>
                <a:cs typeface="Twentieth Century"/>
                <a:sym typeface="Twentieth Century"/>
              </a:rPr>
              <a:t>Git Ignore file	</a:t>
            </a:r>
            <a:r>
              <a:rPr lang="en">
                <a:latin typeface="Twentieth Century"/>
                <a:ea typeface="Twentieth Century"/>
                <a:cs typeface="Twentieth Century"/>
                <a:sym typeface="Twentieth Century"/>
              </a:rPr>
              <a:t>A file in a git repository that describes files which should </a:t>
            </a:r>
            <a:r>
              <a:rPr b="1" lang="en">
                <a:latin typeface="Twentieth Century"/>
                <a:ea typeface="Twentieth Century"/>
                <a:cs typeface="Twentieth Century"/>
                <a:sym typeface="Twentieth Century"/>
              </a:rPr>
              <a:t>not</a:t>
            </a:r>
            <a:r>
              <a:rPr lang="en">
                <a:latin typeface="Twentieth Century"/>
                <a:ea typeface="Twentieth Century"/>
                <a:cs typeface="Twentieth Century"/>
                <a:sym typeface="Twentieth Century"/>
              </a:rPr>
              <a:t> be shared publicly</a:t>
            </a:r>
            <a:endParaRPr>
              <a:latin typeface="Twentieth Century"/>
              <a:ea typeface="Twentieth Century"/>
              <a:cs typeface="Twentieth Century"/>
              <a:sym typeface="Twentieth Century"/>
            </a:endParaRPr>
          </a:p>
        </p:txBody>
      </p:sp>
      <p:pic>
        <p:nvPicPr>
          <p:cNvPr id="172" name="Google Shape;172;p22"/>
          <p:cNvPicPr preferRelativeResize="0"/>
          <p:nvPr/>
        </p:nvPicPr>
        <p:blipFill>
          <a:blip r:embed="rId3">
            <a:alphaModFix/>
          </a:blip>
          <a:stretch>
            <a:fillRect/>
          </a:stretch>
        </p:blipFill>
        <p:spPr>
          <a:xfrm>
            <a:off x="8198475" y="1295775"/>
            <a:ext cx="683423" cy="285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Getting Started with GitHub</a:t>
            </a:r>
            <a:endParaRPr b="1" sz="3000">
              <a:solidFill>
                <a:schemeClr val="lt1"/>
              </a:solidFill>
              <a:latin typeface="Twentieth Century"/>
              <a:ea typeface="Twentieth Century"/>
              <a:cs typeface="Twentieth Century"/>
              <a:sym typeface="Twentieth Century"/>
            </a:endParaRPr>
          </a:p>
        </p:txBody>
      </p:sp>
      <p:sp>
        <p:nvSpPr>
          <p:cNvPr id="178" name="Google Shape;178;p23"/>
          <p:cNvSpPr txBox="1"/>
          <p:nvPr/>
        </p:nvSpPr>
        <p:spPr>
          <a:xfrm>
            <a:off x="256200" y="979350"/>
            <a:ext cx="6065100" cy="4060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17500" lvl="0" marL="457200" rtl="0" algn="l">
              <a:lnSpc>
                <a:spcPct val="115000"/>
              </a:lnSpc>
              <a:spcBef>
                <a:spcPts val="0"/>
              </a:spcBef>
              <a:spcAft>
                <a:spcPts val="0"/>
              </a:spcAft>
              <a:buSzPts val="1400"/>
              <a:buFont typeface="Twentieth Century"/>
              <a:buAutoNum type="arabicPeriod"/>
            </a:pPr>
            <a:r>
              <a:rPr lang="en">
                <a:solidFill>
                  <a:schemeClr val="dk1"/>
                </a:solidFill>
                <a:latin typeface="Twentieth Century"/>
                <a:ea typeface="Twentieth Century"/>
                <a:cs typeface="Twentieth Century"/>
                <a:sym typeface="Twentieth Century"/>
              </a:rPr>
              <a:t>Create a GitHub account</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SzPts val="1400"/>
              <a:buFont typeface="Twentieth Century"/>
              <a:buAutoNum type="arabicPeriod"/>
            </a:pPr>
            <a:r>
              <a:rPr lang="en">
                <a:solidFill>
                  <a:schemeClr val="dk1"/>
                </a:solidFill>
                <a:latin typeface="Twentieth Century"/>
                <a:ea typeface="Twentieth Century"/>
                <a:cs typeface="Twentieth Century"/>
                <a:sym typeface="Twentieth Century"/>
              </a:rPr>
              <a:t>Download and install GitHub Desktop</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Create a new repository in GitHub</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Connect GitHub Desktop to your personal GitHub and c</a:t>
            </a:r>
            <a:r>
              <a:rPr lang="en">
                <a:solidFill>
                  <a:schemeClr val="dk1"/>
                </a:solidFill>
                <a:latin typeface="Twentieth Century"/>
                <a:ea typeface="Twentieth Century"/>
                <a:cs typeface="Twentieth Century"/>
                <a:sym typeface="Twentieth Century"/>
              </a:rPr>
              <a:t>lone the new repository created in step 3 down to your computer</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Copy your Python script file that you created earlier today and past it into the repository on your computer</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Make an initial commit using GitHub Desktop</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200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Push the code from your local repository to your GitHub account</a:t>
            </a:r>
            <a:endParaRPr>
              <a:solidFill>
                <a:schemeClr val="dk1"/>
              </a:solidFill>
              <a:latin typeface="Twentieth Century"/>
              <a:ea typeface="Twentieth Century"/>
              <a:cs typeface="Twentieth Century"/>
              <a:sym typeface="Twentieth Century"/>
            </a:endParaRPr>
          </a:p>
        </p:txBody>
      </p:sp>
      <p:pic>
        <p:nvPicPr>
          <p:cNvPr id="179" name="Google Shape;179;p23"/>
          <p:cNvPicPr preferRelativeResize="0"/>
          <p:nvPr/>
        </p:nvPicPr>
        <p:blipFill>
          <a:blip r:embed="rId3">
            <a:alphaModFix/>
          </a:blip>
          <a:stretch>
            <a:fillRect/>
          </a:stretch>
        </p:blipFill>
        <p:spPr>
          <a:xfrm>
            <a:off x="6488052" y="2498225"/>
            <a:ext cx="2342774" cy="1640399"/>
          </a:xfrm>
          <a:prstGeom prst="rect">
            <a:avLst/>
          </a:prstGeom>
          <a:noFill/>
          <a:ln>
            <a:noFill/>
          </a:ln>
          <a:effectLst>
            <a:outerShdw blurRad="57150" rotWithShape="0" algn="bl" dir="5400000" dist="19050">
              <a:srgbClr val="000000">
                <a:alpha val="50000"/>
              </a:srgbClr>
            </a:outerShdw>
          </a:effectLst>
        </p:spPr>
      </p:pic>
      <p:pic>
        <p:nvPicPr>
          <p:cNvPr id="180" name="Google Shape;180;p23"/>
          <p:cNvPicPr preferRelativeResize="0"/>
          <p:nvPr/>
        </p:nvPicPr>
        <p:blipFill>
          <a:blip r:embed="rId4">
            <a:alphaModFix/>
          </a:blip>
          <a:stretch>
            <a:fillRect/>
          </a:stretch>
        </p:blipFill>
        <p:spPr>
          <a:xfrm>
            <a:off x="7037625" y="1330474"/>
            <a:ext cx="2054601" cy="1403726"/>
          </a:xfrm>
          <a:prstGeom prst="rect">
            <a:avLst/>
          </a:prstGeom>
          <a:noFill/>
          <a:ln>
            <a:noFill/>
          </a:ln>
          <a:effectLst>
            <a:outerShdw blurRad="57150" rotWithShape="0" algn="bl" dir="5400000" dist="19050">
              <a:srgbClr val="000000">
                <a:alpha val="50000"/>
              </a:srgbClr>
            </a:outerShdw>
          </a:effectLst>
        </p:spPr>
      </p:pic>
      <p:pic>
        <p:nvPicPr>
          <p:cNvPr id="181" name="Google Shape;181;p23"/>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Other GitHub Skills to Practice</a:t>
            </a:r>
            <a:endParaRPr b="1" sz="3000">
              <a:solidFill>
                <a:schemeClr val="lt1"/>
              </a:solidFill>
              <a:latin typeface="Twentieth Century"/>
              <a:ea typeface="Twentieth Century"/>
              <a:cs typeface="Twentieth Century"/>
              <a:sym typeface="Twentieth Century"/>
            </a:endParaRPr>
          </a:p>
        </p:txBody>
      </p:sp>
      <p:sp>
        <p:nvSpPr>
          <p:cNvPr id="187" name="Google Shape;187;p24"/>
          <p:cNvSpPr txBox="1"/>
          <p:nvPr/>
        </p:nvSpPr>
        <p:spPr>
          <a:xfrm>
            <a:off x="541525" y="1510100"/>
            <a:ext cx="4953300" cy="29154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42900" lvl="0" marL="457200" rtl="0" algn="l">
              <a:lnSpc>
                <a:spcPct val="150000"/>
              </a:lnSpc>
              <a:spcBef>
                <a:spcPts val="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Edit .gitignore file</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Fill out README file</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Fork an existing open source repository</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200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Submit a pull request</a:t>
            </a:r>
            <a:endParaRPr sz="1800">
              <a:solidFill>
                <a:schemeClr val="dk1"/>
              </a:solidFill>
              <a:latin typeface="Twentieth Century"/>
              <a:ea typeface="Twentieth Century"/>
              <a:cs typeface="Twentieth Century"/>
              <a:sym typeface="Twentieth Century"/>
            </a:endParaRPr>
          </a:p>
        </p:txBody>
      </p:sp>
      <p:pic>
        <p:nvPicPr>
          <p:cNvPr id="188" name="Google Shape;188;p24"/>
          <p:cNvPicPr preferRelativeResize="0"/>
          <p:nvPr/>
        </p:nvPicPr>
        <p:blipFill>
          <a:blip r:embed="rId3">
            <a:alphaModFix/>
          </a:blip>
          <a:stretch>
            <a:fillRect/>
          </a:stretch>
        </p:blipFill>
        <p:spPr>
          <a:xfrm>
            <a:off x="6488052" y="2498225"/>
            <a:ext cx="2342774" cy="1640399"/>
          </a:xfrm>
          <a:prstGeom prst="rect">
            <a:avLst/>
          </a:prstGeom>
          <a:noFill/>
          <a:ln>
            <a:noFill/>
          </a:ln>
          <a:effectLst>
            <a:outerShdw blurRad="57150" rotWithShape="0" algn="bl" dir="5400000" dist="19050">
              <a:srgbClr val="000000">
                <a:alpha val="50000"/>
              </a:srgbClr>
            </a:outerShdw>
          </a:effectLst>
        </p:spPr>
      </p:pic>
      <p:pic>
        <p:nvPicPr>
          <p:cNvPr id="189" name="Google Shape;189;p24"/>
          <p:cNvPicPr preferRelativeResize="0"/>
          <p:nvPr/>
        </p:nvPicPr>
        <p:blipFill>
          <a:blip r:embed="rId4">
            <a:alphaModFix/>
          </a:blip>
          <a:stretch>
            <a:fillRect/>
          </a:stretch>
        </p:blipFill>
        <p:spPr>
          <a:xfrm>
            <a:off x="7037625" y="1330474"/>
            <a:ext cx="2054601" cy="1403726"/>
          </a:xfrm>
          <a:prstGeom prst="rect">
            <a:avLst/>
          </a:prstGeom>
          <a:noFill/>
          <a:ln>
            <a:noFill/>
          </a:ln>
          <a:effectLst>
            <a:outerShdw blurRad="57150" rotWithShape="0" algn="bl" dir="5400000" dist="19050">
              <a:srgbClr val="000000">
                <a:alpha val="50000"/>
              </a:srgbClr>
            </a:outerShdw>
          </a:effectLst>
        </p:spPr>
      </p:pic>
      <p:pic>
        <p:nvPicPr>
          <p:cNvPr id="190" name="Google Shape;190;p24"/>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Copilot</a:t>
            </a:r>
            <a:endParaRPr b="1" sz="3000">
              <a:solidFill>
                <a:schemeClr val="lt1"/>
              </a:solidFill>
              <a:latin typeface="Twentieth Century"/>
              <a:ea typeface="Twentieth Century"/>
              <a:cs typeface="Twentieth Century"/>
              <a:sym typeface="Twentieth Century"/>
            </a:endParaRPr>
          </a:p>
        </p:txBody>
      </p:sp>
      <p:sp>
        <p:nvSpPr>
          <p:cNvPr id="196" name="Google Shape;196;p25"/>
          <p:cNvSpPr txBox="1"/>
          <p:nvPr/>
        </p:nvSpPr>
        <p:spPr>
          <a:xfrm>
            <a:off x="227725" y="1175800"/>
            <a:ext cx="8639400" cy="37890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30200" lvl="0" marL="457200" rtl="0" algn="l">
              <a:lnSpc>
                <a:spcPct val="200000"/>
              </a:lnSpc>
              <a:spcBef>
                <a:spcPts val="0"/>
              </a:spcBef>
              <a:spcAft>
                <a:spcPts val="0"/>
              </a:spcAft>
              <a:buSzPts val="1600"/>
              <a:buFont typeface="Twentieth Century"/>
              <a:buChar char="➔"/>
            </a:pPr>
            <a:r>
              <a:rPr lang="en" sz="1600" u="sng">
                <a:solidFill>
                  <a:schemeClr val="hlink"/>
                </a:solidFill>
                <a:latin typeface="Twentieth Century"/>
                <a:ea typeface="Twentieth Century"/>
                <a:cs typeface="Twentieth Century"/>
                <a:sym typeface="Twentieth Century"/>
                <a:hlinkClick r:id="rId3"/>
              </a:rPr>
              <a:t>https://github.com/features/copilot</a:t>
            </a:r>
            <a:r>
              <a:rPr lang="en" sz="1600">
                <a:latin typeface="Twentieth Century"/>
                <a:ea typeface="Twentieth Century"/>
                <a:cs typeface="Twentieth Century"/>
                <a:sym typeface="Twentieth Century"/>
              </a:rPr>
              <a:t> </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Recently announced free tier with 50 completions per month (</a:t>
            </a:r>
            <a:r>
              <a:rPr lang="en" sz="1600" u="sng">
                <a:solidFill>
                  <a:schemeClr val="hlink"/>
                </a:solidFill>
                <a:latin typeface="Twentieth Century"/>
                <a:ea typeface="Twentieth Century"/>
                <a:cs typeface="Twentieth Century"/>
                <a:sym typeface="Twentieth Century"/>
                <a:hlinkClick r:id="rId4"/>
              </a:rPr>
              <a:t>link</a:t>
            </a:r>
            <a:r>
              <a:rPr lang="en" sz="1600">
                <a:latin typeface="Twentieth Century"/>
                <a:ea typeface="Twentieth Century"/>
                <a:cs typeface="Twentieth Century"/>
                <a:sym typeface="Twentieth Century"/>
              </a:rPr>
              <a:t>)</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Good for help with adding new code snippets within a project</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Extension in VS Code can be used for free by students, faculty, &amp; open source project maintainers</a:t>
            </a:r>
            <a:endParaRPr sz="1600">
              <a:latin typeface="Twentieth Century"/>
              <a:ea typeface="Twentieth Century"/>
              <a:cs typeface="Twentieth Century"/>
              <a:sym typeface="Twentieth Century"/>
            </a:endParaRPr>
          </a:p>
          <a:p>
            <a:pPr indent="-317500" lvl="1" marL="914400" rtl="0" algn="l">
              <a:lnSpc>
                <a:spcPct val="200000"/>
              </a:lnSpc>
              <a:spcBef>
                <a:spcPts val="1000"/>
              </a:spcBef>
              <a:spcAft>
                <a:spcPts val="1000"/>
              </a:spcAft>
              <a:buSzPts val="1400"/>
              <a:buFont typeface="Twentieth Century"/>
              <a:buChar char="◆"/>
            </a:pPr>
            <a:r>
              <a:rPr lang="en" u="sng">
                <a:solidFill>
                  <a:schemeClr val="hlink"/>
                </a:solidFill>
                <a:latin typeface="Twentieth Century"/>
                <a:ea typeface="Twentieth Century"/>
                <a:cs typeface="Twentieth Century"/>
                <a:sym typeface="Twentieth Century"/>
                <a:hlinkClick r:id="rId5"/>
              </a:rPr>
              <a:t>https://docs.github.com/en/copilot/managing-copilot/managing-copilot-as-an-individual-subscriber/managing-your-copilot-subscription/getting-free-access-to-copilot-as-a-student-teacher-or-maintainer</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pic>
        <p:nvPicPr>
          <p:cNvPr id="197" name="Google Shape;197;p25"/>
          <p:cNvPicPr preferRelativeResize="0"/>
          <p:nvPr/>
        </p:nvPicPr>
        <p:blipFill>
          <a:blip r:embed="rId6">
            <a:alphaModFix/>
          </a:blip>
          <a:stretch>
            <a:fillRect/>
          </a:stretch>
        </p:blipFill>
        <p:spPr>
          <a:xfrm>
            <a:off x="6413875" y="1340775"/>
            <a:ext cx="2301650" cy="15576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Selecting a Software License</a:t>
            </a:r>
            <a:endParaRPr b="1" sz="3000">
              <a:solidFill>
                <a:schemeClr val="lt1"/>
              </a:solidFill>
              <a:latin typeface="Twentieth Century"/>
              <a:ea typeface="Twentieth Century"/>
              <a:cs typeface="Twentieth Century"/>
              <a:sym typeface="Twentieth Century"/>
            </a:endParaRPr>
          </a:p>
        </p:txBody>
      </p:sp>
      <p:sp>
        <p:nvSpPr>
          <p:cNvPr id="203" name="Google Shape;203;p26"/>
          <p:cNvSpPr txBox="1"/>
          <p:nvPr/>
        </p:nvSpPr>
        <p:spPr>
          <a:xfrm>
            <a:off x="227725" y="1023400"/>
            <a:ext cx="8688000" cy="40296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155425">
            <a:noAutofit/>
          </a:bodyPr>
          <a:lstStyle/>
          <a:p>
            <a:pPr indent="-336550" lvl="0" marL="457200" rtl="0" algn="l">
              <a:lnSpc>
                <a:spcPct val="115000"/>
              </a:lnSpc>
              <a:spcBef>
                <a:spcPts val="0"/>
              </a:spcBef>
              <a:spcAft>
                <a:spcPts val="0"/>
              </a:spcAft>
              <a:buSzPts val="1700"/>
              <a:buFont typeface="Twentieth Century"/>
              <a:buChar char="➔"/>
            </a:pPr>
            <a:r>
              <a:rPr lang="en" sz="1700">
                <a:latin typeface="Twentieth Century"/>
                <a:ea typeface="Twentieth Century"/>
                <a:cs typeface="Twentieth Century"/>
                <a:sym typeface="Twentieth Century"/>
              </a:rPr>
              <a:t>If you want others to know how they are permitted to use the code you share on GitHub, you should select a license that clearly defines associated restrictions and obligations</a:t>
            </a:r>
            <a:endParaRPr sz="1700">
              <a:latin typeface="Twentieth Century"/>
              <a:ea typeface="Twentieth Century"/>
              <a:cs typeface="Twentieth Century"/>
              <a:sym typeface="Twentieth Century"/>
            </a:endParaRPr>
          </a:p>
          <a:p>
            <a:pPr indent="-336550" lvl="0" marL="457200" rtl="0" algn="l">
              <a:lnSpc>
                <a:spcPct val="115000"/>
              </a:lnSpc>
              <a:spcBef>
                <a:spcPts val="2400"/>
              </a:spcBef>
              <a:spcAft>
                <a:spcPts val="0"/>
              </a:spcAft>
              <a:buSzPts val="1700"/>
              <a:buFont typeface="Twentieth Century"/>
              <a:buChar char="➔"/>
            </a:pPr>
            <a:r>
              <a:rPr lang="en" sz="1700">
                <a:latin typeface="Twentieth Century"/>
                <a:ea typeface="Twentieth Century"/>
                <a:cs typeface="Twentieth Century"/>
                <a:sym typeface="Twentieth Century"/>
              </a:rPr>
              <a:t>There are many options to choose from, but some like these below are frequently chosen</a:t>
            </a:r>
            <a:endParaRPr sz="1700">
              <a:latin typeface="Twentieth Century"/>
              <a:ea typeface="Twentieth Century"/>
              <a:cs typeface="Twentieth Century"/>
              <a:sym typeface="Twentieth Century"/>
            </a:endParaRPr>
          </a:p>
          <a:p>
            <a:pPr indent="-330200" lvl="1" marL="914400" rtl="0" algn="l">
              <a:lnSpc>
                <a:spcPct val="115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MIT</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BSD 3-Clause</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GPL</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Apache</a:t>
            </a:r>
            <a:endParaRPr b="1" sz="1600">
              <a:latin typeface="Twentieth Century"/>
              <a:ea typeface="Twentieth Century"/>
              <a:cs typeface="Twentieth Century"/>
              <a:sym typeface="Twentieth Century"/>
            </a:endParaRPr>
          </a:p>
          <a:p>
            <a:pPr indent="-330200" lvl="0" marL="457200" rtl="0" algn="l">
              <a:lnSpc>
                <a:spcPct val="100000"/>
              </a:lnSpc>
              <a:spcBef>
                <a:spcPts val="1600"/>
              </a:spcBef>
              <a:spcAft>
                <a:spcPts val="0"/>
              </a:spcAft>
              <a:buSzPts val="1600"/>
              <a:buFont typeface="Twentieth Century"/>
              <a:buChar char="➔"/>
            </a:pPr>
            <a:r>
              <a:rPr lang="en" sz="1600">
                <a:latin typeface="Twentieth Century"/>
                <a:ea typeface="Twentieth Century"/>
                <a:cs typeface="Twentieth Century"/>
                <a:sym typeface="Twentieth Century"/>
              </a:rPr>
              <a:t>Visit </a:t>
            </a:r>
            <a:r>
              <a:rPr lang="en" sz="1600" u="sng">
                <a:solidFill>
                  <a:schemeClr val="hlink"/>
                </a:solidFill>
                <a:latin typeface="Twentieth Century"/>
                <a:ea typeface="Twentieth Century"/>
                <a:cs typeface="Twentieth Century"/>
                <a:sym typeface="Twentieth Century"/>
                <a:hlinkClick r:id="rId3"/>
              </a:rPr>
              <a:t>https://choosealicense.com/licenses/</a:t>
            </a:r>
            <a:r>
              <a:rPr lang="en" sz="1600">
                <a:latin typeface="Twentieth Century"/>
                <a:ea typeface="Twentieth Century"/>
                <a:cs typeface="Twentieth Century"/>
                <a:sym typeface="Twentieth Century"/>
              </a:rPr>
              <a:t> for a detailed list of license options</a:t>
            </a:r>
            <a:endParaRPr sz="1600">
              <a:latin typeface="Twentieth Century"/>
              <a:ea typeface="Twentieth Century"/>
              <a:cs typeface="Twentieth Century"/>
              <a:sym typeface="Twentieth Century"/>
            </a:endParaRPr>
          </a:p>
          <a:p>
            <a:pPr indent="-330200" lvl="0" marL="457200" rtl="0" algn="l">
              <a:lnSpc>
                <a:spcPct val="100000"/>
              </a:lnSpc>
              <a:spcBef>
                <a:spcPts val="1600"/>
              </a:spcBef>
              <a:spcAft>
                <a:spcPts val="1000"/>
              </a:spcAft>
              <a:buSzPts val="1600"/>
              <a:buFont typeface="Twentieth Century"/>
              <a:buChar char="➔"/>
            </a:pPr>
            <a:r>
              <a:rPr lang="en" sz="1600">
                <a:latin typeface="Twentieth Century"/>
                <a:ea typeface="Twentieth Century"/>
                <a:cs typeface="Twentieth Century"/>
                <a:sym typeface="Twentieth Century"/>
              </a:rPr>
              <a:t>The </a:t>
            </a:r>
            <a:r>
              <a:rPr lang="en" sz="1600" u="sng">
                <a:solidFill>
                  <a:schemeClr val="hlink"/>
                </a:solidFill>
                <a:latin typeface="Twentieth Century"/>
                <a:ea typeface="Twentieth Century"/>
                <a:cs typeface="Twentieth Century"/>
                <a:sym typeface="Twentieth Century"/>
                <a:hlinkClick r:id="rId4"/>
              </a:rPr>
              <a:t>open source license best practices document </a:t>
            </a:r>
            <a:r>
              <a:rPr lang="en" sz="1600">
                <a:latin typeface="Twentieth Century"/>
                <a:ea typeface="Twentieth Century"/>
                <a:cs typeface="Twentieth Century"/>
                <a:sym typeface="Twentieth Century"/>
              </a:rPr>
              <a:t>on the OSPO site summarizes key considerations</a:t>
            </a:r>
            <a:endParaRPr sz="1600">
              <a:latin typeface="Twentieth Century"/>
              <a:ea typeface="Twentieth Century"/>
              <a:cs typeface="Twentieth Century"/>
              <a:sym typeface="Twentieth Century"/>
            </a:endParaRPr>
          </a:p>
        </p:txBody>
      </p:sp>
      <p:pic>
        <p:nvPicPr>
          <p:cNvPr id="204" name="Google Shape;204;p26"/>
          <p:cNvPicPr preferRelativeResize="0"/>
          <p:nvPr/>
        </p:nvPicPr>
        <p:blipFill>
          <a:blip r:embed="rId5">
            <a:alphaModFix/>
          </a:blip>
          <a:stretch>
            <a:fillRect/>
          </a:stretch>
        </p:blipFill>
        <p:spPr>
          <a:xfrm>
            <a:off x="4690589" y="2634925"/>
            <a:ext cx="1061200" cy="1036951"/>
          </a:xfrm>
          <a:prstGeom prst="rect">
            <a:avLst/>
          </a:prstGeom>
          <a:noFill/>
          <a:ln>
            <a:noFill/>
          </a:ln>
        </p:spPr>
      </p:pic>
      <p:pic>
        <p:nvPicPr>
          <p:cNvPr id="205" name="Google Shape;205;p26"/>
          <p:cNvPicPr preferRelativeResize="0"/>
          <p:nvPr/>
        </p:nvPicPr>
        <p:blipFill>
          <a:blip r:embed="rId6">
            <a:alphaModFix/>
          </a:blip>
          <a:stretch>
            <a:fillRect/>
          </a:stretch>
        </p:blipFill>
        <p:spPr>
          <a:xfrm>
            <a:off x="5977427" y="2702108"/>
            <a:ext cx="2395203" cy="970700"/>
          </a:xfrm>
          <a:prstGeom prst="rect">
            <a:avLst/>
          </a:prstGeom>
          <a:noFill/>
          <a:ln>
            <a:noFill/>
          </a:ln>
        </p:spPr>
      </p:pic>
      <p:pic>
        <p:nvPicPr>
          <p:cNvPr id="206" name="Google Shape;206;p26"/>
          <p:cNvPicPr preferRelativeResize="0"/>
          <p:nvPr/>
        </p:nvPicPr>
        <p:blipFill>
          <a:blip r:embed="rId7">
            <a:alphaModFix/>
          </a:blip>
          <a:stretch>
            <a:fillRect/>
          </a:stretch>
        </p:blipFill>
        <p:spPr>
          <a:xfrm>
            <a:off x="3351825" y="2630693"/>
            <a:ext cx="1036950" cy="103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UT Open Source Program Office (UT-OSPO)</a:t>
            </a:r>
            <a:endParaRPr b="1" sz="3000">
              <a:solidFill>
                <a:schemeClr val="lt1"/>
              </a:solidFill>
              <a:latin typeface="Twentieth Century"/>
              <a:ea typeface="Twentieth Century"/>
              <a:cs typeface="Twentieth Century"/>
              <a:sym typeface="Twentieth Century"/>
            </a:endParaRPr>
          </a:p>
        </p:txBody>
      </p:sp>
      <p:sp>
        <p:nvSpPr>
          <p:cNvPr id="212" name="Google Shape;212;p27"/>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3" name="Google Shape;213;p27"/>
          <p:cNvPicPr preferRelativeResize="0"/>
          <p:nvPr/>
        </p:nvPicPr>
        <p:blipFill rotWithShape="1">
          <a:blip r:embed="rId3">
            <a:alphaModFix/>
          </a:blip>
          <a:srcRect b="0" l="0" r="0" t="0"/>
          <a:stretch/>
        </p:blipFill>
        <p:spPr>
          <a:xfrm>
            <a:off x="7025738" y="1061675"/>
            <a:ext cx="1737202" cy="1737202"/>
          </a:xfrm>
          <a:prstGeom prst="rect">
            <a:avLst/>
          </a:prstGeom>
          <a:noFill/>
          <a:ln>
            <a:noFill/>
          </a:ln>
          <a:effectLst>
            <a:outerShdw blurRad="57150" rotWithShape="0" algn="bl" dir="5400000" dist="19050">
              <a:srgbClr val="000000">
                <a:alpha val="50000"/>
              </a:srgbClr>
            </a:outerShdw>
          </a:effectLst>
        </p:spPr>
      </p:pic>
      <p:sp>
        <p:nvSpPr>
          <p:cNvPr id="214" name="Google Shape;214;p27"/>
          <p:cNvSpPr txBox="1"/>
          <p:nvPr/>
        </p:nvSpPr>
        <p:spPr>
          <a:xfrm>
            <a:off x="309095" y="1236935"/>
            <a:ext cx="6402600" cy="32580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200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The </a:t>
            </a:r>
            <a:r>
              <a:rPr b="1" lang="en" sz="1600">
                <a:latin typeface="Twentieth Century"/>
                <a:ea typeface="Twentieth Century"/>
                <a:cs typeface="Twentieth Century"/>
                <a:sym typeface="Twentieth Century"/>
              </a:rPr>
              <a:t>UT Open Source Program Office (UT-OSPO)</a:t>
            </a:r>
            <a:r>
              <a:rPr lang="en" sz="1500">
                <a:latin typeface="Twentieth Century"/>
                <a:ea typeface="Twentieth Century"/>
                <a:cs typeface="Twentieth Century"/>
                <a:sym typeface="Twentieth Century"/>
              </a:rPr>
              <a:t> is a great resource for developers of research software</a:t>
            </a:r>
            <a:endParaRPr sz="1500">
              <a:latin typeface="Twentieth Century"/>
              <a:ea typeface="Twentieth Century"/>
              <a:cs typeface="Twentieth Century"/>
              <a:sym typeface="Twentieth Century"/>
            </a:endParaRPr>
          </a:p>
          <a:p>
            <a:pPr indent="-323850" lvl="0" marL="457200" rtl="0" algn="l">
              <a:lnSpc>
                <a:spcPct val="200000"/>
              </a:lnSpc>
              <a:spcBef>
                <a:spcPts val="2000"/>
              </a:spcBef>
              <a:spcAft>
                <a:spcPts val="0"/>
              </a:spcAft>
              <a:buSzPts val="1500"/>
              <a:buFont typeface="Twentieth Century"/>
              <a:buChar char="➔"/>
            </a:pPr>
            <a:r>
              <a:rPr lang="en" sz="1500">
                <a:latin typeface="Twentieth Century"/>
                <a:ea typeface="Twentieth Century"/>
                <a:cs typeface="Twentieth Century"/>
                <a:sym typeface="Twentieth Century"/>
              </a:rPr>
              <a:t>Established in 2023 with funding from the Alfred P. Sloan Foundation (Grant Number </a:t>
            </a:r>
            <a:r>
              <a:rPr lang="en" sz="1500">
                <a:solidFill>
                  <a:schemeClr val="dk1"/>
                </a:solidFill>
                <a:latin typeface="Twentieth Century"/>
                <a:ea typeface="Twentieth Century"/>
                <a:cs typeface="Twentieth Century"/>
                <a:sym typeface="Twentieth Century"/>
              </a:rPr>
              <a:t>G-2023-20944)</a:t>
            </a:r>
            <a:endParaRPr sz="1500">
              <a:solidFill>
                <a:schemeClr val="dk1"/>
              </a:solidFill>
              <a:latin typeface="Twentieth Century"/>
              <a:ea typeface="Twentieth Century"/>
              <a:cs typeface="Twentieth Century"/>
              <a:sym typeface="Twentieth Century"/>
            </a:endParaRPr>
          </a:p>
          <a:p>
            <a:pPr indent="-323850" lvl="0" marL="457200" rtl="0" algn="l">
              <a:lnSpc>
                <a:spcPct val="200000"/>
              </a:lnSpc>
              <a:spcBef>
                <a:spcPts val="2000"/>
              </a:spcBef>
              <a:spcAft>
                <a:spcPts val="2000"/>
              </a:spcAft>
              <a:buSzPts val="1500"/>
              <a:buFont typeface="Twentieth Century"/>
              <a:buChar char="➔"/>
            </a:pPr>
            <a:r>
              <a:rPr lang="en" sz="1500">
                <a:latin typeface="Twentieth Century"/>
                <a:ea typeface="Twentieth Century"/>
                <a:cs typeface="Twentieth Century"/>
                <a:sym typeface="Twentieth Century"/>
              </a:rPr>
              <a:t>Director: Angela Newell, Ph.D. </a:t>
            </a:r>
            <a:r>
              <a:rPr lang="en" sz="1500">
                <a:latin typeface="Twentieth Century"/>
                <a:ea typeface="Twentieth Century"/>
                <a:cs typeface="Twentieth Century"/>
                <a:sym typeface="Twentieth Century"/>
              </a:rPr>
              <a:t>(</a:t>
            </a:r>
            <a:r>
              <a:rPr lang="en" sz="1500" u="sng">
                <a:solidFill>
                  <a:schemeClr val="hlink"/>
                </a:solidFill>
                <a:latin typeface="Twentieth Century"/>
                <a:ea typeface="Twentieth Century"/>
                <a:cs typeface="Twentieth Century"/>
                <a:sym typeface="Twentieth Century"/>
                <a:hlinkClick r:id="rId4"/>
              </a:rPr>
              <a:t>anewell@austin.utexas.edu</a:t>
            </a:r>
            <a:r>
              <a:rPr lang="en" sz="1500">
                <a:solidFill>
                  <a:schemeClr val="dk1"/>
                </a:solidFill>
                <a:latin typeface="Twentieth Century"/>
                <a:ea typeface="Twentieth Century"/>
                <a:cs typeface="Twentieth Century"/>
                <a:sym typeface="Twentieth Century"/>
              </a:rPr>
              <a:t>)</a:t>
            </a:r>
            <a:endParaRPr sz="15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How Can the OSPO Help Researchers?</a:t>
            </a:r>
            <a:endParaRPr b="1" sz="3000">
              <a:solidFill>
                <a:schemeClr val="lt1"/>
              </a:solidFill>
              <a:latin typeface="Twentieth Century"/>
              <a:ea typeface="Twentieth Century"/>
              <a:cs typeface="Twentieth Century"/>
              <a:sym typeface="Twentieth Century"/>
            </a:endParaRPr>
          </a:p>
        </p:txBody>
      </p:sp>
      <p:sp>
        <p:nvSpPr>
          <p:cNvPr id="220" name="Google Shape;220;p28"/>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21" name="Google Shape;221;p28"/>
          <p:cNvPicPr preferRelativeResize="0"/>
          <p:nvPr/>
        </p:nvPicPr>
        <p:blipFill rotWithShape="1">
          <a:blip r:embed="rId3">
            <a:alphaModFix/>
          </a:blip>
          <a:srcRect b="0" l="0" r="0" t="0"/>
          <a:stretch/>
        </p:blipFill>
        <p:spPr>
          <a:xfrm>
            <a:off x="6509950" y="2110013"/>
            <a:ext cx="1737202" cy="1737202"/>
          </a:xfrm>
          <a:prstGeom prst="rect">
            <a:avLst/>
          </a:prstGeom>
          <a:noFill/>
          <a:ln>
            <a:noFill/>
          </a:ln>
          <a:effectLst>
            <a:outerShdw blurRad="57150" rotWithShape="0" algn="bl" dir="5400000" dist="19050">
              <a:srgbClr val="000000">
                <a:alpha val="50000"/>
              </a:srgbClr>
            </a:outerShdw>
          </a:effectLst>
        </p:spPr>
      </p:pic>
      <p:sp>
        <p:nvSpPr>
          <p:cNvPr id="222" name="Google Shape;222;p28"/>
          <p:cNvSpPr txBox="1"/>
          <p:nvPr/>
        </p:nvSpPr>
        <p:spPr>
          <a:xfrm>
            <a:off x="606275" y="1061675"/>
            <a:ext cx="4738800" cy="35439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Training/events</a:t>
            </a:r>
            <a:endParaRPr sz="21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Funding identification</a:t>
            </a:r>
            <a:endParaRPr sz="13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Best practices guides</a:t>
            </a:r>
            <a:endParaRPr sz="21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Consultation services</a:t>
            </a:r>
            <a:endParaRPr sz="700">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idx="1" type="body"/>
          </p:nvPr>
        </p:nvSpPr>
        <p:spPr>
          <a:xfrm>
            <a:off x="195650" y="1146900"/>
            <a:ext cx="8804100" cy="1320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228600" lIns="274300" spcFirstLastPara="1" rIns="274300" wrap="square" tIns="228600">
            <a:noAutofit/>
          </a:bodyPr>
          <a:lstStyle/>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Contact the OSPO at: </a:t>
            </a:r>
            <a:r>
              <a:rPr lang="en" sz="1300" u="sng">
                <a:solidFill>
                  <a:schemeClr val="hlink"/>
                </a:solidFill>
                <a:latin typeface="Twentieth Century"/>
                <a:ea typeface="Twentieth Century"/>
                <a:cs typeface="Twentieth Century"/>
                <a:sym typeface="Twentieth Century"/>
                <a:hlinkClick r:id="rId3"/>
              </a:rPr>
              <a:t>anewell@austin.utexas.edu</a:t>
            </a:r>
            <a:r>
              <a:rPr lang="en" sz="1300">
                <a:latin typeface="Twentieth Century"/>
                <a:ea typeface="Twentieth Century"/>
                <a:cs typeface="Twentieth Century"/>
                <a:sym typeface="Twentieth Century"/>
              </a:rPr>
              <a:t> </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Visit the website: </a:t>
            </a:r>
            <a:r>
              <a:rPr lang="en" sz="1300" u="sng">
                <a:solidFill>
                  <a:schemeClr val="hlink"/>
                </a:solidFill>
                <a:latin typeface="Twentieth Century"/>
                <a:ea typeface="Twentieth Century"/>
                <a:cs typeface="Twentieth Century"/>
                <a:sym typeface="Twentieth Century"/>
                <a:hlinkClick r:id="rId4"/>
              </a:rPr>
              <a:t>www.opensource.utexas.edu</a:t>
            </a:r>
            <a:r>
              <a:rPr lang="en" sz="1300">
                <a:latin typeface="Twentieth Century"/>
                <a:ea typeface="Twentieth Century"/>
                <a:cs typeface="Twentieth Century"/>
                <a:sym typeface="Twentieth Century"/>
              </a:rPr>
              <a:t> (or use QR code below)</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Sign up to receive emails: </a:t>
            </a:r>
            <a:r>
              <a:rPr lang="en" sz="1300" u="sng">
                <a:solidFill>
                  <a:schemeClr val="hlink"/>
                </a:solidFill>
                <a:latin typeface="Twentieth Century"/>
                <a:ea typeface="Twentieth Century"/>
                <a:cs typeface="Twentieth Century"/>
                <a:sym typeface="Twentieth Century"/>
                <a:hlinkClick r:id="rId5"/>
              </a:rPr>
              <a:t>https://utlists.utexas.edu/sympa/subscribe/ospo.announce</a:t>
            </a:r>
            <a:r>
              <a:rPr lang="en" sz="1300">
                <a:latin typeface="Twentieth Century"/>
                <a:ea typeface="Twentieth Century"/>
                <a:cs typeface="Twentieth Century"/>
                <a:sym typeface="Twentieth Century"/>
              </a:rPr>
              <a:t> </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t/>
            </a:r>
            <a:endParaRPr sz="1300">
              <a:latin typeface="Twentieth Century"/>
              <a:ea typeface="Twentieth Century"/>
              <a:cs typeface="Twentieth Century"/>
              <a:sym typeface="Twentieth Century"/>
            </a:endParaRPr>
          </a:p>
        </p:txBody>
      </p:sp>
      <p:pic>
        <p:nvPicPr>
          <p:cNvPr id="228" name="Google Shape;228;p29"/>
          <p:cNvPicPr preferRelativeResize="0"/>
          <p:nvPr/>
        </p:nvPicPr>
        <p:blipFill>
          <a:blip r:embed="rId6">
            <a:alphaModFix/>
          </a:blip>
          <a:stretch>
            <a:fillRect/>
          </a:stretch>
        </p:blipFill>
        <p:spPr>
          <a:xfrm>
            <a:off x="1504210" y="2843400"/>
            <a:ext cx="2057399" cy="2057399"/>
          </a:xfrm>
          <a:prstGeom prst="rect">
            <a:avLst/>
          </a:prstGeom>
          <a:noFill/>
          <a:ln>
            <a:noFill/>
          </a:ln>
          <a:effectLst>
            <a:outerShdw blurRad="57150" rotWithShape="0" algn="bl" dir="5400000" dist="19050">
              <a:srgbClr val="000000">
                <a:alpha val="50000"/>
              </a:srgbClr>
            </a:outerShdw>
          </a:effectLst>
        </p:spPr>
      </p:pic>
      <p:sp>
        <p:nvSpPr>
          <p:cNvPr id="229" name="Google Shape;229;p2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How to Connect</a:t>
            </a:r>
            <a:endParaRPr b="1" sz="3000">
              <a:solidFill>
                <a:schemeClr val="lt1"/>
              </a:solidFill>
              <a:latin typeface="Twentieth Century"/>
              <a:ea typeface="Twentieth Century"/>
              <a:cs typeface="Twentieth Century"/>
              <a:sym typeface="Twentieth Century"/>
            </a:endParaRPr>
          </a:p>
        </p:txBody>
      </p:sp>
      <p:pic>
        <p:nvPicPr>
          <p:cNvPr id="230" name="Google Shape;230;p29"/>
          <p:cNvPicPr preferRelativeResize="0"/>
          <p:nvPr/>
        </p:nvPicPr>
        <p:blipFill>
          <a:blip r:embed="rId7">
            <a:alphaModFix/>
          </a:blip>
          <a:stretch>
            <a:fillRect/>
          </a:stretch>
        </p:blipFill>
        <p:spPr>
          <a:xfrm>
            <a:off x="4034050" y="2853900"/>
            <a:ext cx="3631833" cy="20573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3  </a:t>
            </a:r>
            <a:r>
              <a:rPr lang="en" sz="3000">
                <a:solidFill>
                  <a:schemeClr val="lt1"/>
                </a:solidFill>
                <a:latin typeface="Twentieth Century"/>
                <a:ea typeface="Twentieth Century"/>
                <a:cs typeface="Twentieth Century"/>
                <a:sym typeface="Twentieth Century"/>
              </a:rPr>
              <a:t>|  AI and coding</a:t>
            </a:r>
            <a:endParaRPr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sp>
        <p:nvSpPr>
          <p:cNvPr id="241" name="Google Shape;241;p31"/>
          <p:cNvSpPr txBox="1"/>
          <p:nvPr/>
        </p:nvSpPr>
        <p:spPr>
          <a:xfrm>
            <a:off x="207150" y="1810975"/>
            <a:ext cx="8729700" cy="1684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91425" spcFirstLastPara="1" rIns="91425" wrap="square" tIns="338325">
            <a:noAutofit/>
          </a:bodyPr>
          <a:lstStyle/>
          <a:p>
            <a:pPr indent="0" lvl="0" marL="0" rtl="0" algn="ctr">
              <a:lnSpc>
                <a:spcPct val="115000"/>
              </a:lnSpc>
              <a:spcBef>
                <a:spcPts val="0"/>
              </a:spcBef>
              <a:spcAft>
                <a:spcPts val="0"/>
              </a:spcAft>
              <a:buNone/>
            </a:pPr>
            <a:r>
              <a:rPr lang="en" sz="1700">
                <a:latin typeface="Twentieth Century"/>
                <a:ea typeface="Twentieth Century"/>
                <a:cs typeface="Twentieth Century"/>
                <a:sym typeface="Twentieth Century"/>
              </a:rPr>
              <a:t>Whether using AI for coding is appropriate will depend on your personal and professional circumstances. Like any other tool, AI will be more or less useful in certain situations; can be prohibited or considered unethical in others; and is normalized to varying degrees between working groups and disciplines.</a:t>
            </a:r>
            <a:endParaRPr sz="1700">
              <a:latin typeface="Twentieth Century"/>
              <a:ea typeface="Twentieth Century"/>
              <a:cs typeface="Twentieth Century"/>
              <a:sym typeface="Twentieth Century"/>
            </a:endParaRPr>
          </a:p>
        </p:txBody>
      </p:sp>
      <p:sp>
        <p:nvSpPr>
          <p:cNvPr id="242" name="Google Shape;242;p31"/>
          <p:cNvSpPr txBox="1"/>
          <p:nvPr/>
        </p:nvSpPr>
        <p:spPr>
          <a:xfrm>
            <a:off x="207150" y="4386250"/>
            <a:ext cx="8729700" cy="648000"/>
          </a:xfrm>
          <a:prstGeom prst="rect">
            <a:avLst/>
          </a:prstGeom>
          <a:solidFill>
            <a:srgbClr val="F3F3F3"/>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solidFill>
                  <a:schemeClr val="dk1"/>
                </a:solidFill>
                <a:latin typeface="Twentieth Century"/>
                <a:ea typeface="Twentieth Century"/>
                <a:cs typeface="Twentieth Century"/>
                <a:sym typeface="Twentieth Century"/>
              </a:rPr>
              <a:t>Upcoming workshop on using LLMs for working with research code and data</a:t>
            </a:r>
            <a:endParaRPr b="1">
              <a:solidFill>
                <a:schemeClr val="dk1"/>
              </a:solidFill>
              <a:latin typeface="Twentieth Century"/>
              <a:ea typeface="Twentieth Century"/>
              <a:cs typeface="Twentieth Century"/>
              <a:sym typeface="Twentieth Century"/>
            </a:endParaRPr>
          </a:p>
          <a:p>
            <a:pPr indent="0" lvl="0" marL="0" rtl="0" algn="ctr">
              <a:lnSpc>
                <a:spcPct val="115000"/>
              </a:lnSpc>
              <a:spcBef>
                <a:spcPts val="0"/>
              </a:spcBef>
              <a:spcAft>
                <a:spcPts val="0"/>
              </a:spcAft>
              <a:buNone/>
            </a:pPr>
            <a:r>
              <a:rPr lang="en">
                <a:solidFill>
                  <a:schemeClr val="dk1"/>
                </a:solidFill>
                <a:latin typeface="Twentieth Century"/>
                <a:ea typeface="Twentieth Century"/>
                <a:cs typeface="Twentieth Century"/>
                <a:sym typeface="Twentieth Century"/>
              </a:rPr>
              <a:t>Thursday</a:t>
            </a:r>
            <a:r>
              <a:rPr lang="en">
                <a:solidFill>
                  <a:schemeClr val="dk1"/>
                </a:solidFill>
                <a:latin typeface="Twentieth Century"/>
                <a:ea typeface="Twentieth Century"/>
                <a:cs typeface="Twentieth Century"/>
                <a:sym typeface="Twentieth Century"/>
              </a:rPr>
              <a:t>, March 26, 2026: noon to 1 PM (Zoom)</a:t>
            </a:r>
            <a:endParaRPr sz="1300">
              <a:latin typeface="Twentieth Century"/>
              <a:ea typeface="Twentieth Century"/>
              <a:cs typeface="Twentieth Century"/>
              <a:sym typeface="Twentieth Centur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pic>
        <p:nvPicPr>
          <p:cNvPr id="248" name="Google Shape;248;p32"/>
          <p:cNvPicPr preferRelativeResize="0"/>
          <p:nvPr/>
        </p:nvPicPr>
        <p:blipFill>
          <a:blip r:embed="rId3">
            <a:alphaModFix/>
          </a:blip>
          <a:stretch>
            <a:fillRect/>
          </a:stretch>
        </p:blipFill>
        <p:spPr>
          <a:xfrm>
            <a:off x="152400" y="1016603"/>
            <a:ext cx="4764656" cy="3974497"/>
          </a:xfrm>
          <a:prstGeom prst="rect">
            <a:avLst/>
          </a:prstGeom>
          <a:noFill/>
          <a:ln>
            <a:noFill/>
          </a:ln>
        </p:spPr>
      </p:pic>
      <p:pic>
        <p:nvPicPr>
          <p:cNvPr id="249" name="Google Shape;249;p32"/>
          <p:cNvPicPr preferRelativeResize="0"/>
          <p:nvPr/>
        </p:nvPicPr>
        <p:blipFill>
          <a:blip r:embed="rId4">
            <a:alphaModFix/>
          </a:blip>
          <a:stretch>
            <a:fillRect/>
          </a:stretch>
        </p:blipFill>
        <p:spPr>
          <a:xfrm>
            <a:off x="5187525" y="1016600"/>
            <a:ext cx="2957225" cy="3974500"/>
          </a:xfrm>
          <a:prstGeom prst="rect">
            <a:avLst/>
          </a:prstGeom>
          <a:no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Considerations</a:t>
            </a:r>
            <a:endParaRPr b="1" sz="3000">
              <a:solidFill>
                <a:schemeClr val="lt1"/>
              </a:solidFill>
              <a:latin typeface="Twentieth Century"/>
              <a:ea typeface="Twentieth Century"/>
              <a:cs typeface="Twentieth Century"/>
              <a:sym typeface="Twentieth Century"/>
            </a:endParaRPr>
          </a:p>
        </p:txBody>
      </p:sp>
      <p:sp>
        <p:nvSpPr>
          <p:cNvPr id="255" name="Google Shape;255;p33"/>
          <p:cNvSpPr txBox="1"/>
          <p:nvPr/>
        </p:nvSpPr>
        <p:spPr>
          <a:xfrm>
            <a:off x="202650" y="1061675"/>
            <a:ext cx="8729700" cy="3949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Purpose of project and </a:t>
            </a:r>
            <a:r>
              <a:rPr lang="en" sz="1500">
                <a:latin typeface="Twentieth Century"/>
                <a:ea typeface="Twentieth Century"/>
                <a:cs typeface="Twentieth Century"/>
                <a:sym typeface="Twentieth Century"/>
              </a:rPr>
              <a:t>coding</a:t>
            </a:r>
            <a:r>
              <a:rPr lang="en" sz="1500">
                <a:latin typeface="Twentieth Century"/>
                <a:ea typeface="Twentieth Century"/>
                <a:cs typeface="Twentieth Century"/>
                <a:sym typeface="Twentieth Century"/>
              </a:rPr>
              <a:t> implementation</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Research vs. non-research</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Collaborative vs. solo</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Novel vs. existing codebase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Data simulation vs. data retrieval vs. data analysis vs. data viz (etc.)</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Intended usage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Generating code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Debugging code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Refactoring code</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Intended tool</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Security and legal policies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3"/>
              </a:rPr>
              <a:t>https://security.utexas.edu/iso-policies/cloud-services/decision-matrix#cloud-services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4"/>
              </a:rPr>
              <a:t>https://compliance.utexas.edu/prohibited-technology-and-covered-applications</a:t>
            </a:r>
            <a:r>
              <a:rPr lang="en" sz="1500">
                <a:latin typeface="Twentieth Century"/>
                <a:ea typeface="Twentieth Century"/>
                <a:cs typeface="Twentieth Century"/>
                <a:sym typeface="Twentieth Century"/>
              </a:rPr>
              <a:t>  </a:t>
            </a:r>
            <a:endParaRPr sz="1500">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grpSp>
        <p:nvGrpSpPr>
          <p:cNvPr id="261" name="Google Shape;261;p34"/>
          <p:cNvGrpSpPr/>
          <p:nvPr/>
        </p:nvGrpSpPr>
        <p:grpSpPr>
          <a:xfrm>
            <a:off x="476100" y="1175400"/>
            <a:ext cx="8191800" cy="2680374"/>
            <a:chOff x="283425" y="1192075"/>
            <a:chExt cx="8191800" cy="2680374"/>
          </a:xfrm>
        </p:grpSpPr>
        <p:sp>
          <p:nvSpPr>
            <p:cNvPr id="262" name="Google Shape;262;p34"/>
            <p:cNvSpPr txBox="1"/>
            <p:nvPr/>
          </p:nvSpPr>
          <p:spPr>
            <a:xfrm>
              <a:off x="283425" y="1192075"/>
              <a:ext cx="8191800" cy="19470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Authors should not submit manuscripts where Generative AI tools have been used in ways that replace core researcher and author responsibilities, for example:  </a:t>
              </a:r>
              <a:endParaRPr>
                <a:latin typeface="Twentieth Century"/>
                <a:ea typeface="Twentieth Century"/>
                <a:cs typeface="Twentieth Century"/>
                <a:sym typeface="Twentieth Century"/>
              </a:endParaRPr>
            </a:p>
            <a:p>
              <a:pPr indent="-298450" lvl="0" marL="457200" rtl="0" algn="l">
                <a:lnSpc>
                  <a:spcPct val="115000"/>
                </a:lnSpc>
                <a:spcBef>
                  <a:spcPts val="1200"/>
                </a:spcBef>
                <a:spcAft>
                  <a:spcPts val="0"/>
                </a:spcAft>
                <a:buClr>
                  <a:schemeClr val="dk1"/>
                </a:buClr>
                <a:buSzPts val="1100"/>
                <a:buFont typeface="Twentieth Century"/>
                <a:buChar char="●"/>
              </a:pPr>
              <a:r>
                <a:rPr b="1" lang="en" u="sng">
                  <a:latin typeface="Twentieth Century"/>
                  <a:ea typeface="Twentieth Century"/>
                  <a:cs typeface="Twentieth Century"/>
                  <a:sym typeface="Twentieth Century"/>
                </a:rPr>
                <a:t>text or code generation without rigorous revision</a:t>
              </a:r>
              <a:endParaRPr b="1" u="sng">
                <a:latin typeface="Twentieth Century"/>
                <a:ea typeface="Twentieth Century"/>
                <a:cs typeface="Twentieth Century"/>
                <a:sym typeface="Twentieth Century"/>
              </a:endParaRPr>
            </a:p>
            <a:p>
              <a:pPr indent="-298450" lvl="0" marL="457200" rtl="0" algn="l">
                <a:lnSpc>
                  <a:spcPct val="115000"/>
                </a:lnSpc>
                <a:spcBef>
                  <a:spcPts val="0"/>
                </a:spcBef>
                <a:spcAft>
                  <a:spcPts val="0"/>
                </a:spcAft>
                <a:buClr>
                  <a:schemeClr val="dk1"/>
                </a:buClr>
                <a:buSzPts val="1100"/>
                <a:buFont typeface="Twentieth Century"/>
                <a:buChar char="●"/>
              </a:pPr>
              <a:r>
                <a:rPr lang="en">
                  <a:latin typeface="Twentieth Century"/>
                  <a:ea typeface="Twentieth Century"/>
                  <a:cs typeface="Twentieth Century"/>
                  <a:sym typeface="Twentieth Century"/>
                </a:rPr>
                <a:t>synthetic data generation to substitute missing data without robust methodology  </a:t>
              </a:r>
              <a:endParaRPr>
                <a:latin typeface="Twentieth Century"/>
                <a:ea typeface="Twentieth Century"/>
                <a:cs typeface="Twentieth Century"/>
                <a:sym typeface="Twentieth Century"/>
              </a:endParaRPr>
            </a:p>
            <a:p>
              <a:pPr indent="-298450" lvl="0" marL="457200" rtl="0" algn="l">
                <a:lnSpc>
                  <a:spcPct val="115000"/>
                </a:lnSpc>
                <a:spcBef>
                  <a:spcPts val="0"/>
                </a:spcBef>
                <a:spcAft>
                  <a:spcPts val="0"/>
                </a:spcAft>
                <a:buClr>
                  <a:schemeClr val="dk1"/>
                </a:buClr>
                <a:buSzPts val="1100"/>
                <a:buFont typeface="Twentieth Century"/>
                <a:buChar char="●"/>
              </a:pPr>
              <a:r>
                <a:rPr lang="en">
                  <a:latin typeface="Twentieth Century"/>
                  <a:ea typeface="Twentieth Century"/>
                  <a:cs typeface="Twentieth Century"/>
                  <a:sym typeface="Twentieth Century"/>
                </a:rPr>
                <a:t>generation of any types of content which is inaccurate including abstracts or supplemental materials </a:t>
              </a:r>
              <a:endParaRPr>
                <a:latin typeface="Twentieth Century"/>
                <a:ea typeface="Twentieth Century"/>
                <a:cs typeface="Twentieth Century"/>
                <a:sym typeface="Twentieth Century"/>
              </a:endParaRPr>
            </a:p>
            <a:p>
              <a:pPr indent="0" lvl="0" marL="0" rtl="0" algn="l">
                <a:lnSpc>
                  <a:spcPct val="115000"/>
                </a:lnSpc>
                <a:spcBef>
                  <a:spcPts val="1200"/>
                </a:spcBef>
                <a:spcAft>
                  <a:spcPts val="1200"/>
                </a:spcAft>
                <a:buNone/>
              </a:pPr>
              <a:r>
                <a:rPr lang="en">
                  <a:latin typeface="Twentieth Century"/>
                  <a:ea typeface="Twentieth Century"/>
                  <a:cs typeface="Twentieth Century"/>
                  <a:sym typeface="Twentieth Century"/>
                </a:rPr>
                <a:t>Source: </a:t>
              </a:r>
              <a:r>
                <a:rPr lang="en" u="sng">
                  <a:solidFill>
                    <a:schemeClr val="hlink"/>
                  </a:solidFill>
                  <a:latin typeface="Twentieth Century"/>
                  <a:ea typeface="Twentieth Century"/>
                  <a:cs typeface="Twentieth Century"/>
                  <a:sym typeface="Twentieth Century"/>
                  <a:hlinkClick r:id="rId3"/>
                </a:rPr>
                <a:t>https://taylorandfrancis.com/our-policies/ai-policy/</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pic>
          <p:nvPicPr>
            <p:cNvPr id="263" name="Google Shape;263;p34"/>
            <p:cNvPicPr preferRelativeResize="0"/>
            <p:nvPr/>
          </p:nvPicPr>
          <p:blipFill rotWithShape="1">
            <a:blip r:embed="rId4">
              <a:alphaModFix/>
            </a:blip>
            <a:srcRect b="26477" l="14159" r="13075" t="32106"/>
            <a:stretch/>
          </p:blipFill>
          <p:spPr>
            <a:xfrm>
              <a:off x="5601126" y="2974475"/>
              <a:ext cx="2761050" cy="897974"/>
            </a:xfrm>
            <a:prstGeom prst="rect">
              <a:avLst/>
            </a:prstGeom>
            <a:noFill/>
            <a:ln cap="flat" cmpd="sng" w="9525">
              <a:solidFill>
                <a:schemeClr val="dk1"/>
              </a:solidFill>
              <a:prstDash val="solid"/>
              <a:round/>
              <a:headEnd len="sm" w="sm" type="none"/>
              <a:tailEnd len="sm" w="sm" type="none"/>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pic>
        <p:nvPicPr>
          <p:cNvPr id="269" name="Google Shape;269;p35"/>
          <p:cNvPicPr preferRelativeResize="0"/>
          <p:nvPr/>
        </p:nvPicPr>
        <p:blipFill>
          <a:blip r:embed="rId3">
            <a:alphaModFix/>
          </a:blip>
          <a:stretch>
            <a:fillRect/>
          </a:stretch>
        </p:blipFill>
        <p:spPr>
          <a:xfrm>
            <a:off x="152400" y="1016601"/>
            <a:ext cx="5416949" cy="1707650"/>
          </a:xfrm>
          <a:prstGeom prst="rect">
            <a:avLst/>
          </a:prstGeom>
          <a:noFill/>
          <a:ln>
            <a:noFill/>
          </a:ln>
          <a:effectLst>
            <a:outerShdw blurRad="57150" rotWithShape="0" algn="bl" dir="5400000" dist="19050">
              <a:srgbClr val="000000">
                <a:alpha val="50000"/>
              </a:srgbClr>
            </a:outerShdw>
          </a:effectLst>
        </p:spPr>
      </p:pic>
      <p:sp>
        <p:nvSpPr>
          <p:cNvPr id="270" name="Google Shape;270;p35"/>
          <p:cNvSpPr txBox="1"/>
          <p:nvPr/>
        </p:nvSpPr>
        <p:spPr>
          <a:xfrm>
            <a:off x="5843750" y="1016600"/>
            <a:ext cx="3000000" cy="2739900"/>
          </a:xfrm>
          <a:prstGeom prst="rect">
            <a:avLst/>
          </a:prstGeom>
          <a:solidFill>
            <a:srgbClr val="EFEFEF"/>
          </a:solidFill>
          <a:ln cap="flat" cmpd="sng" w="9525">
            <a:solidFill>
              <a:srgbClr val="7F7F7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Twentieth Century"/>
                <a:ea typeface="Twentieth Century"/>
                <a:cs typeface="Twentieth Century"/>
                <a:sym typeface="Twentieth Century"/>
              </a:rPr>
              <a:t>“</a:t>
            </a:r>
            <a:r>
              <a:rPr i="1" lang="en" sz="1300">
                <a:latin typeface="Twentieth Century"/>
                <a:ea typeface="Twentieth Century"/>
                <a:cs typeface="Twentieth Century"/>
                <a:sym typeface="Twentieth Century"/>
              </a:rPr>
              <a:t>Using 16 popular LLMs for code generation and two unique prompt datasets, we generate 576,000 code samples in two programming languages that we analyze for package hallucinations. Our findings reveal that that the average percentage of hallucinated packages is at least 5.2% for commercial models and 21.7% for open-source models, including a staggering 205,474 unique examples of hallucinated package names, further underscoring the severity and pervasiveness of this threat.</a:t>
            </a:r>
            <a:r>
              <a:rPr lang="en" sz="1300">
                <a:latin typeface="Twentieth Century"/>
                <a:ea typeface="Twentieth Century"/>
                <a:cs typeface="Twentieth Century"/>
                <a:sym typeface="Twentieth Century"/>
              </a:rPr>
              <a:t>”</a:t>
            </a:r>
            <a:endParaRPr sz="1300">
              <a:latin typeface="Twentieth Century"/>
              <a:ea typeface="Twentieth Century"/>
              <a:cs typeface="Twentieth Century"/>
              <a:sym typeface="Twentieth Century"/>
            </a:endParaRPr>
          </a:p>
          <a:p>
            <a:pPr indent="0" lvl="0" marL="0" rtl="0" algn="l">
              <a:spcBef>
                <a:spcPts val="0"/>
              </a:spcBef>
              <a:spcAft>
                <a:spcPts val="0"/>
              </a:spcAft>
              <a:buNone/>
            </a:pPr>
            <a:r>
              <a:rPr lang="en" sz="1000">
                <a:solidFill>
                  <a:schemeClr val="dk1"/>
                </a:solidFill>
                <a:latin typeface="Twentieth Century"/>
                <a:ea typeface="Twentieth Century"/>
                <a:cs typeface="Twentieth Century"/>
                <a:sym typeface="Twentieth Century"/>
              </a:rPr>
              <a:t>(https://doi.org/10.48550/arXiv.2406.10279)</a:t>
            </a:r>
            <a:endParaRPr sz="1300">
              <a:latin typeface="Twentieth Century"/>
              <a:ea typeface="Twentieth Century"/>
              <a:cs typeface="Twentieth Century"/>
              <a:sym typeface="Twentieth Centur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sp>
        <p:nvSpPr>
          <p:cNvPr id="276" name="Google Shape;276;p36"/>
          <p:cNvSpPr txBox="1"/>
          <p:nvPr/>
        </p:nvSpPr>
        <p:spPr>
          <a:xfrm>
            <a:off x="108375" y="1153800"/>
            <a:ext cx="8895600" cy="28446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t>
            </a:r>
            <a:r>
              <a:rPr i="1" lang="en">
                <a:latin typeface="Twentieth Century"/>
                <a:ea typeface="Twentieth Century"/>
                <a:cs typeface="Twentieth Century"/>
                <a:sym typeface="Twentieth Century"/>
              </a:rPr>
              <a:t>The problem is, these code suggestions often include hallucinated package names that sound real but don’t exist. I’ve seen this firsthand. You paste it into your terminal and the install fails – or worse, it doesn’t fail, because someone has slop-squatted that exact package name. When we investigate, we sometimes find realistic looking READMEs, fake GitHub repos, even sketchy blogs that make the package seem authentic.</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t>
            </a:r>
            <a:r>
              <a:rPr i="1" lang="en">
                <a:latin typeface="Twentieth Century"/>
                <a:ea typeface="Twentieth Century"/>
                <a:cs typeface="Twentieth Century"/>
                <a:sym typeface="Twentieth Century"/>
              </a:rPr>
              <a:t>Even worse, when you Google one of these slop-squatted package names, you’ll often get an AI-generated summary from Google itself confidently praising the package, saying it’s useful, stable, well-maintained. But it’s just parroting the package’s own README, no skepticism, no context. To a developer in a rush, it gives a false sense of legitimacy</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-Feross Aboukhadijeh (CEO of Socket)</a:t>
            </a:r>
            <a:endParaRPr>
              <a:latin typeface="Twentieth Century"/>
              <a:ea typeface="Twentieth Century"/>
              <a:cs typeface="Twentieth Century"/>
              <a:sym typeface="Twentieth Century"/>
            </a:endParaRPr>
          </a:p>
          <a:p>
            <a:pPr indent="0" lvl="0" marL="0" rtl="0" algn="l">
              <a:lnSpc>
                <a:spcPct val="115000"/>
              </a:lnSpc>
              <a:spcBef>
                <a:spcPts val="1200"/>
              </a:spcBef>
              <a:spcAft>
                <a:spcPts val="1200"/>
              </a:spcAft>
              <a:buNone/>
            </a:pPr>
            <a:r>
              <a:rPr lang="en">
                <a:latin typeface="Twentieth Century"/>
                <a:ea typeface="Twentieth Century"/>
                <a:cs typeface="Twentieth Century"/>
                <a:sym typeface="Twentieth Century"/>
              </a:rPr>
              <a:t>(</a:t>
            </a:r>
            <a:r>
              <a:rPr lang="en" u="sng">
                <a:solidFill>
                  <a:schemeClr val="hlink"/>
                </a:solidFill>
                <a:latin typeface="Twentieth Century"/>
                <a:ea typeface="Twentieth Century"/>
                <a:cs typeface="Twentieth Century"/>
                <a:sym typeface="Twentieth Century"/>
                <a:hlinkClick r:id="rId3"/>
              </a:rPr>
              <a:t>https://www.theregister.com/2025/04/12/ai_code_suggestions_sabotage_supply_chain/</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Best practices</a:t>
            </a:r>
            <a:endParaRPr b="1" sz="3000">
              <a:solidFill>
                <a:schemeClr val="lt1"/>
              </a:solidFill>
              <a:latin typeface="Twentieth Century"/>
              <a:ea typeface="Twentieth Century"/>
              <a:cs typeface="Twentieth Century"/>
              <a:sym typeface="Twentieth Century"/>
            </a:endParaRPr>
          </a:p>
        </p:txBody>
      </p:sp>
      <p:sp>
        <p:nvSpPr>
          <p:cNvPr id="282" name="Google Shape;282;p37"/>
          <p:cNvSpPr txBox="1"/>
          <p:nvPr/>
        </p:nvSpPr>
        <p:spPr>
          <a:xfrm>
            <a:off x="207150" y="944975"/>
            <a:ext cx="8729700" cy="3698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Before using</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Discuss use of AI with any collaborators, project partners, etc.</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Review institutional policies on the use of AI</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Review publisher policies on the use of AI (if intending to publish a journal article)</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While using</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Assume the LLM is naive but confident</a:t>
            </a:r>
            <a:endParaRPr sz="1500">
              <a:latin typeface="Twentieth Century"/>
              <a:ea typeface="Twentieth Century"/>
              <a:cs typeface="Twentieth Century"/>
              <a:sym typeface="Twentieth Century"/>
            </a:endParaRPr>
          </a:p>
          <a:p>
            <a:pPr indent="-323850" lvl="2" marL="13716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If the LLM suggests something that seems erroneous or inappropriate, it probably is</a:t>
            </a:r>
            <a:endParaRPr sz="1500">
              <a:latin typeface="Twentieth Century"/>
              <a:ea typeface="Twentieth Century"/>
              <a:cs typeface="Twentieth Century"/>
              <a:sym typeface="Twentieth Century"/>
            </a:endParaRPr>
          </a:p>
          <a:p>
            <a:pPr indent="-323850" lvl="2" marL="13716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A confident LLM is not a correct LLM</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Verify all </a:t>
            </a:r>
            <a:r>
              <a:rPr lang="en" sz="1500">
                <a:latin typeface="Twentieth Century"/>
                <a:ea typeface="Twentieth Century"/>
                <a:cs typeface="Twentieth Century"/>
                <a:sym typeface="Twentieth Century"/>
              </a:rPr>
              <a:t>suggested</a:t>
            </a:r>
            <a:r>
              <a:rPr lang="en" sz="1500">
                <a:latin typeface="Twentieth Century"/>
                <a:ea typeface="Twentieth Century"/>
                <a:cs typeface="Twentieth Century"/>
                <a:sym typeface="Twentieth Century"/>
              </a:rPr>
              <a:t> packages and do not let an LLM install packages or write code to do so</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Inspect results to ensure that outputs align with predictions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Incorporate recurring checks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Do not substitute LLM-assisted coding for learning a software language</a:t>
            </a:r>
            <a:endParaRPr sz="1500">
              <a:latin typeface="Twentieth Century"/>
              <a:ea typeface="Twentieth Century"/>
              <a:cs typeface="Twentieth Century"/>
              <a:sym typeface="Twentieth Centur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idx="1" type="body"/>
          </p:nvPr>
        </p:nvSpPr>
        <p:spPr>
          <a:xfrm>
            <a:off x="547050" y="1207200"/>
            <a:ext cx="7887300" cy="1584000"/>
          </a:xfrm>
          <a:prstGeom prst="rect">
            <a:avLst/>
          </a:prstGeom>
          <a:solidFill>
            <a:srgbClr val="FBFBFB"/>
          </a:solidFill>
          <a:ln>
            <a:noFill/>
          </a:ln>
          <a:effectLst>
            <a:outerShdw blurRad="57150" rotWithShape="0" algn="bl" dir="5400000" dist="19050">
              <a:srgbClr val="000000">
                <a:alpha val="50000"/>
              </a:srgbClr>
            </a:outerShdw>
          </a:effectLst>
        </p:spPr>
        <p:txBody>
          <a:bodyPr anchorCtr="0" anchor="t" bIns="34275" lIns="155425" spcFirstLastPara="1" rIns="68575" wrap="square" tIns="182875">
            <a:noAutofit/>
          </a:bodyPr>
          <a:lstStyle/>
          <a:p>
            <a:pPr indent="-520700" lvl="0" marL="628650" rtl="0" algn="l">
              <a:lnSpc>
                <a:spcPct val="150000"/>
              </a:lnSpc>
              <a:spcBef>
                <a:spcPts val="0"/>
              </a:spcBef>
              <a:spcAft>
                <a:spcPts val="0"/>
              </a:spcAft>
              <a:buSzPts val="1900"/>
              <a:buFont typeface="Twentieth Century"/>
              <a:buChar char="➔"/>
            </a:pPr>
            <a:r>
              <a:rPr lang="en" sz="1900">
                <a:solidFill>
                  <a:srgbClr val="000000"/>
                </a:solidFill>
                <a:latin typeface="Twentieth Century"/>
                <a:ea typeface="Twentieth Century"/>
                <a:cs typeface="Twentieth Century"/>
                <a:sym typeface="Twentieth Century"/>
              </a:rPr>
              <a:t>Thank you for attending!</a:t>
            </a:r>
            <a:endParaRPr sz="1900">
              <a:solidFill>
                <a:srgbClr val="000000"/>
              </a:solidFill>
              <a:latin typeface="Twentieth Century"/>
              <a:ea typeface="Twentieth Century"/>
              <a:cs typeface="Twentieth Century"/>
              <a:sym typeface="Twentieth Century"/>
            </a:endParaRPr>
          </a:p>
          <a:p>
            <a:pPr indent="-520700" lvl="0" marL="628650" rtl="0" algn="l">
              <a:lnSpc>
                <a:spcPct val="150000"/>
              </a:lnSpc>
              <a:spcBef>
                <a:spcPts val="0"/>
              </a:spcBef>
              <a:spcAft>
                <a:spcPts val="0"/>
              </a:spcAft>
              <a:buClr>
                <a:srgbClr val="000000"/>
              </a:buClr>
              <a:buSzPts val="1900"/>
              <a:buFont typeface="Twentieth Century"/>
              <a:buChar char="➔"/>
            </a:pPr>
            <a:r>
              <a:rPr lang="en" sz="1900">
                <a:solidFill>
                  <a:srgbClr val="000000"/>
                </a:solidFill>
                <a:latin typeface="Twentieth Century"/>
                <a:ea typeface="Twentieth Century"/>
                <a:cs typeface="Twentieth Century"/>
                <a:sym typeface="Twentieth Century"/>
              </a:rPr>
              <a:t>Any questions?</a:t>
            </a:r>
            <a:endParaRPr sz="1900">
              <a:solidFill>
                <a:srgbClr val="000000"/>
              </a:solidFill>
              <a:latin typeface="Twentieth Century"/>
              <a:ea typeface="Twentieth Century"/>
              <a:cs typeface="Twentieth Century"/>
              <a:sym typeface="Twentieth Century"/>
            </a:endParaRPr>
          </a:p>
          <a:p>
            <a:pPr indent="-520700" lvl="0" marL="628650" rtl="0" algn="l">
              <a:lnSpc>
                <a:spcPct val="150000"/>
              </a:lnSpc>
              <a:spcBef>
                <a:spcPts val="0"/>
              </a:spcBef>
              <a:spcAft>
                <a:spcPts val="0"/>
              </a:spcAft>
              <a:buClr>
                <a:srgbClr val="000000"/>
              </a:buClr>
              <a:buSzPts val="1900"/>
              <a:buFont typeface="Twentieth Century"/>
              <a:buChar char="➔"/>
            </a:pPr>
            <a:r>
              <a:rPr lang="en" sz="1900">
                <a:solidFill>
                  <a:srgbClr val="000000"/>
                </a:solidFill>
                <a:latin typeface="Twentieth Century"/>
                <a:ea typeface="Twentieth Century"/>
                <a:cs typeface="Twentieth Century"/>
                <a:sym typeface="Twentieth Century"/>
              </a:rPr>
              <a:t>Please provide Day 3 feedback: </a:t>
            </a:r>
            <a:r>
              <a:rPr lang="en" sz="1900" u="sng">
                <a:solidFill>
                  <a:schemeClr val="hlink"/>
                </a:solidFill>
                <a:latin typeface="Twentieth Century"/>
                <a:ea typeface="Twentieth Century"/>
                <a:cs typeface="Twentieth Century"/>
                <a:sym typeface="Twentieth Century"/>
                <a:hlinkClick r:id="rId3"/>
              </a:rPr>
              <a:t>https://bit.ly/4sb17hE</a:t>
            </a:r>
            <a:r>
              <a:rPr lang="en" sz="1900">
                <a:latin typeface="Twentieth Century"/>
                <a:ea typeface="Twentieth Century"/>
                <a:cs typeface="Twentieth Century"/>
                <a:sym typeface="Twentieth Century"/>
              </a:rPr>
              <a:t> </a:t>
            </a:r>
            <a:endParaRPr sz="1900">
              <a:solidFill>
                <a:srgbClr val="000000"/>
              </a:solidFill>
              <a:latin typeface="Twentieth Century"/>
              <a:ea typeface="Twentieth Century"/>
              <a:cs typeface="Twentieth Century"/>
              <a:sym typeface="Twentieth Century"/>
            </a:endParaRPr>
          </a:p>
        </p:txBody>
      </p:sp>
      <p:sp>
        <p:nvSpPr>
          <p:cNvPr id="288" name="Google Shape;288;p38"/>
          <p:cNvSpPr txBox="1"/>
          <p:nvPr>
            <p:ph idx="1" type="body"/>
          </p:nvPr>
        </p:nvSpPr>
        <p:spPr>
          <a:xfrm>
            <a:off x="2680600" y="4171300"/>
            <a:ext cx="3505500" cy="762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34275" lIns="155425" spcFirstLastPara="1" rIns="68575" wrap="square" tIns="182875">
            <a:noAutofit/>
          </a:bodyPr>
          <a:lstStyle/>
          <a:p>
            <a:pPr indent="0" lvl="0" marL="177800" rtl="0" algn="l">
              <a:lnSpc>
                <a:spcPct val="150000"/>
              </a:lnSpc>
              <a:spcBef>
                <a:spcPts val="0"/>
              </a:spcBef>
              <a:spcAft>
                <a:spcPts val="0"/>
              </a:spcAft>
              <a:buNone/>
            </a:pPr>
            <a:r>
              <a:rPr b="1" lang="en" sz="1800">
                <a:solidFill>
                  <a:srgbClr val="000000"/>
                </a:solidFill>
                <a:latin typeface="Twentieth Century"/>
                <a:ea typeface="Twentieth Century"/>
                <a:cs typeface="Twentieth Century"/>
                <a:sym typeface="Twentieth Century"/>
              </a:rPr>
              <a:t>We appreciate your feedback!</a:t>
            </a:r>
            <a:endParaRPr b="1" sz="2000">
              <a:solidFill>
                <a:srgbClr val="000000"/>
              </a:solidFill>
              <a:latin typeface="Twentieth Century"/>
              <a:ea typeface="Twentieth Century"/>
              <a:cs typeface="Twentieth Century"/>
              <a:sym typeface="Twentieth Century"/>
            </a:endParaRPr>
          </a:p>
        </p:txBody>
      </p:sp>
      <p:sp>
        <p:nvSpPr>
          <p:cNvPr id="289" name="Google Shape;289;p3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Workshop Wrap-Up</a:t>
            </a:r>
            <a:endParaRPr b="1" sz="3000">
              <a:solidFill>
                <a:schemeClr val="lt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