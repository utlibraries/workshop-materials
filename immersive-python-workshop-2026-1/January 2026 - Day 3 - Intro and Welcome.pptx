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Mukta"/>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DA738B-F5E2-43EE-A3B6-D765A8493B8E}">
  <a:tblStyle styleId="{EFDA738B-F5E2-43EE-A3B6-D765A8493B8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ukta-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Mukta-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b5b31301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b5b31301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b5b313017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b5b313017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b5c20c17b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b5c20c17b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5c20c17b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5c20c17b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5c20c17b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b5c20c17b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5c20c17b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5c20c17b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b5c20c17b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b5c20c17b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5c20c17b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b5c20c17b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5c20c17be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5c20c17b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5c20c17b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b5c20c17b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5c20c17be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b5c20c17b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5b313017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b5b313017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2 1 1 1 1">
  <p:cSld name="TITLE_1_2_1_1_1_1">
    <p:spTree>
      <p:nvGrpSpPr>
        <p:cNvPr id="56" name="Shape 56"/>
        <p:cNvGrpSpPr/>
        <p:nvPr/>
      </p:nvGrpSpPr>
      <p:grpSpPr>
        <a:xfrm>
          <a:off x="0" y="0"/>
          <a:ext cx="0" cy="0"/>
          <a:chOff x="0" y="0"/>
          <a:chExt cx="0" cy="0"/>
        </a:xfrm>
      </p:grpSpPr>
      <p:sp>
        <p:nvSpPr>
          <p:cNvPr id="57" name="Google Shape;57;p14"/>
          <p:cNvSpPr txBox="1"/>
          <p:nvPr>
            <p:ph idx="1" type="body"/>
          </p:nvPr>
        </p:nvSpPr>
        <p:spPr>
          <a:xfrm>
            <a:off x="146400" y="1025606"/>
            <a:ext cx="8845200" cy="3604200"/>
          </a:xfrm>
          <a:prstGeom prst="rect">
            <a:avLst/>
          </a:prstGeom>
          <a:noFill/>
          <a:ln>
            <a:noFill/>
          </a:ln>
        </p:spPr>
        <p:txBody>
          <a:bodyPr anchorCtr="0" anchor="t" bIns="91425" lIns="91425" spcFirstLastPara="1" rIns="91425" wrap="square" tIns="91425">
            <a:normAutofit/>
          </a:bodyPr>
          <a:lstStyle>
            <a:lvl1pPr indent="-342900" lvl="0" marL="457200" marR="0" algn="l">
              <a:lnSpc>
                <a:spcPct val="100000"/>
              </a:lnSpc>
              <a:spcBef>
                <a:spcPts val="640"/>
              </a:spcBef>
              <a:spcAft>
                <a:spcPts val="0"/>
              </a:spcAft>
              <a:buSzPts val="1800"/>
              <a:buChar char="•"/>
              <a:defRPr i="0" u="none" cap="none" strike="noStrike"/>
            </a:lvl1pPr>
            <a:lvl2pPr indent="-317500" lvl="1" marL="914400" marR="0" algn="l">
              <a:lnSpc>
                <a:spcPct val="100000"/>
              </a:lnSpc>
              <a:spcBef>
                <a:spcPts val="560"/>
              </a:spcBef>
              <a:spcAft>
                <a:spcPts val="0"/>
              </a:spcAft>
              <a:buSzPts val="1400"/>
              <a:buChar char="–"/>
              <a:defRPr i="0" u="none" cap="none" strike="noStrike"/>
            </a:lvl2pPr>
            <a:lvl3pPr indent="-317500" lvl="2" marL="1371600" marR="0" algn="l">
              <a:lnSpc>
                <a:spcPct val="100000"/>
              </a:lnSpc>
              <a:spcBef>
                <a:spcPts val="480"/>
              </a:spcBef>
              <a:spcAft>
                <a:spcPts val="0"/>
              </a:spcAft>
              <a:buSzPts val="1400"/>
              <a:buChar char="•"/>
              <a:defRPr i="0" u="none" cap="none" strike="noStrike"/>
            </a:lvl3pPr>
            <a:lvl4pPr indent="-317500" lvl="3" marL="1828800" marR="0" algn="l">
              <a:lnSpc>
                <a:spcPct val="100000"/>
              </a:lnSpc>
              <a:spcBef>
                <a:spcPts val="400"/>
              </a:spcBef>
              <a:spcAft>
                <a:spcPts val="0"/>
              </a:spcAft>
              <a:buSzPts val="1400"/>
              <a:buChar char="–"/>
              <a:defRPr i="0" u="none" cap="none" strike="noStrike"/>
            </a:lvl4pPr>
            <a:lvl5pPr indent="-317500" lvl="4" marL="2286000" marR="0" algn="l">
              <a:lnSpc>
                <a:spcPct val="100000"/>
              </a:lnSpc>
              <a:spcBef>
                <a:spcPts val="400"/>
              </a:spcBef>
              <a:spcAft>
                <a:spcPts val="0"/>
              </a:spcAft>
              <a:buSzPts val="1400"/>
              <a:buChar char="»"/>
              <a:defRPr i="0" u="none" cap="none" strike="noStrike"/>
            </a:lvl5pPr>
            <a:lvl6pPr indent="-317500" lvl="5" marL="2743200" marR="0" algn="l">
              <a:lnSpc>
                <a:spcPct val="100000"/>
              </a:lnSpc>
              <a:spcBef>
                <a:spcPts val="400"/>
              </a:spcBef>
              <a:spcAft>
                <a:spcPts val="0"/>
              </a:spcAft>
              <a:buSzPts val="1400"/>
              <a:buChar char="•"/>
              <a:defRPr i="0" u="none" cap="none" strike="noStrike"/>
            </a:lvl6pPr>
            <a:lvl7pPr indent="-317500" lvl="6" marL="3200400" marR="0" algn="l">
              <a:lnSpc>
                <a:spcPct val="100000"/>
              </a:lnSpc>
              <a:spcBef>
                <a:spcPts val="400"/>
              </a:spcBef>
              <a:spcAft>
                <a:spcPts val="0"/>
              </a:spcAft>
              <a:buSzPts val="1400"/>
              <a:buChar char="•"/>
              <a:defRPr i="0" u="none" cap="none" strike="noStrike"/>
            </a:lvl7pPr>
            <a:lvl8pPr indent="-317500" lvl="7" marL="3657600" marR="0" algn="l">
              <a:lnSpc>
                <a:spcPct val="100000"/>
              </a:lnSpc>
              <a:spcBef>
                <a:spcPts val="400"/>
              </a:spcBef>
              <a:spcAft>
                <a:spcPts val="0"/>
              </a:spcAft>
              <a:buSzPts val="1400"/>
              <a:buChar char="•"/>
              <a:defRPr i="0" u="none" cap="none" strike="noStrike"/>
            </a:lvl8pPr>
            <a:lvl9pPr indent="-317500" lvl="8" marL="4114800" marR="0" algn="l">
              <a:lnSpc>
                <a:spcPct val="100000"/>
              </a:lnSpc>
              <a:spcBef>
                <a:spcPts val="400"/>
              </a:spcBef>
              <a:spcAft>
                <a:spcPts val="0"/>
              </a:spcAft>
              <a:buSzPts val="1400"/>
              <a:buChar char="•"/>
              <a:defRPr i="0" u="none" cap="none" strike="noStrike"/>
            </a:lvl9pPr>
          </a:lstStyle>
          <a:p/>
        </p:txBody>
      </p:sp>
      <p:sp>
        <p:nvSpPr>
          <p:cNvPr id="58" name="Google Shape;58;p14"/>
          <p:cNvSpPr txBox="1"/>
          <p:nvPr>
            <p:ph type="title"/>
          </p:nvPr>
        </p:nvSpPr>
        <p:spPr>
          <a:xfrm>
            <a:off x="146550" y="19144"/>
            <a:ext cx="8845200" cy="6366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17365D"/>
              </a:buClr>
              <a:buSzPts val="4400"/>
              <a:buNone/>
              <a:defRPr i="0" sz="4400" u="none" cap="none" strike="noStrike">
                <a:solidFill>
                  <a:srgbClr val="17365D"/>
                </a:solidFil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59" name="Google Shape;59;p14"/>
          <p:cNvSpPr/>
          <p:nvPr/>
        </p:nvSpPr>
        <p:spPr>
          <a:xfrm>
            <a:off x="0" y="655733"/>
            <a:ext cx="9144000" cy="97800"/>
          </a:xfrm>
          <a:prstGeom prst="rect">
            <a:avLst/>
          </a:prstGeom>
          <a:solidFill>
            <a:srgbClr val="17365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 name="Google Shape;60;p14"/>
          <p:cNvSpPr txBox="1"/>
          <p:nvPr>
            <p:ph idx="12" type="sldNum"/>
          </p:nvPr>
        </p:nvSpPr>
        <p:spPr>
          <a:xfrm>
            <a:off x="9" y="4740476"/>
            <a:ext cx="548700" cy="393600"/>
          </a:xfrm>
          <a:prstGeom prst="rect">
            <a:avLst/>
          </a:prstGeom>
          <a:noFill/>
          <a:ln>
            <a:noFill/>
          </a:ln>
        </p:spPr>
        <p:txBody>
          <a:bodyPr anchorCtr="0" anchor="t" bIns="91425" lIns="91425" spcFirstLastPara="1" rIns="91425" wrap="square" tIns="91425">
            <a:normAutofit fontScale="70000" lnSpcReduction="20000"/>
          </a:bodyPr>
          <a:lstStyle>
            <a:lvl1pPr indent="0" lvl="0"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bit.ly/iwp-winter26-notes" TargetMode="External"/><Relationship Id="rId4" Type="http://schemas.openxmlformats.org/officeDocument/2006/relationships/image" Target="../media/image16.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hyperlink" Target="https://www.python.org/downloads/" TargetMode="Externa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hyperlink" Target="https://code.visualstudio.com/download" TargetMode="External"/><Relationship Id="rId4" Type="http://schemas.openxmlformats.org/officeDocument/2006/relationships/hyperlink" Target="https://docs.google.com/document/d/18HyBz_qLaoQWID-57l6UBQ7IyFXMXjjc-qNO7pajGKM/edit?tab=t.0#heading=h.cfxts1an100o" TargetMode="External"/><Relationship Id="rId5" Type="http://schemas.openxmlformats.org/officeDocument/2006/relationships/image" Target="../media/image18.png"/><Relationship Id="rId6" Type="http://schemas.openxmlformats.org/officeDocument/2006/relationships/image" Target="../media/image1.png"/><Relationship Id="rId7" Type="http://schemas.openxmlformats.org/officeDocument/2006/relationships/image" Target="../media/image11.png"/><Relationship Id="rId8"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hyperlink" Target="https://desktop.github.com/download/" TargetMode="External"/><Relationship Id="rId4" Type="http://schemas.openxmlformats.org/officeDocument/2006/relationships/image" Target="../media/image6.png"/><Relationship Id="rId5"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hyperlink" Target="https://git-scm.com/downloads" TargetMode="External"/><Relationship Id="rId4" Type="http://schemas.openxmlformats.org/officeDocument/2006/relationships/image" Target="../media/image12.png"/><Relationship Id="rId5" Type="http://schemas.openxmlformats.org/officeDocument/2006/relationships/image" Target="../media/image19.pn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9.png"/><Relationship Id="rId6"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hyperlink" Target="https://docs.google.com/document/d/18HyBz_qLaoQWID-57l6UBQ7IyFXMXjjc-qNO7pajGKM/edit?tab=t.0#heading=h.cfxts1an100o" TargetMode="External"/><Relationship Id="rId4" Type="http://schemas.openxmlformats.org/officeDocument/2006/relationships/image" Target="../media/image5.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45F06"/>
        </a:solidFill>
      </p:bgPr>
    </p:bg>
    <p:spTree>
      <p:nvGrpSpPr>
        <p:cNvPr id="64" name="Shape 64"/>
        <p:cNvGrpSpPr/>
        <p:nvPr/>
      </p:nvGrpSpPr>
      <p:grpSpPr>
        <a:xfrm>
          <a:off x="0" y="0"/>
          <a:ext cx="0" cy="0"/>
          <a:chOff x="0" y="0"/>
          <a:chExt cx="0" cy="0"/>
        </a:xfrm>
      </p:grpSpPr>
      <p:sp>
        <p:nvSpPr>
          <p:cNvPr id="65" name="Google Shape;65;p15"/>
          <p:cNvSpPr txBox="1"/>
          <p:nvPr/>
        </p:nvSpPr>
        <p:spPr>
          <a:xfrm>
            <a:off x="2924324" y="4128777"/>
            <a:ext cx="3467700" cy="8328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rgbClr val="595959"/>
                </a:solidFill>
                <a:latin typeface="Twentieth Century"/>
                <a:ea typeface="Twentieth Century"/>
                <a:cs typeface="Twentieth Century"/>
                <a:sym typeface="Twentieth Century"/>
              </a:rPr>
              <a:t>Access shared notes</a:t>
            </a:r>
            <a:endParaRPr sz="2000">
              <a:solidFill>
                <a:srgbClr val="595959"/>
              </a:solidFill>
              <a:latin typeface="Twentieth Century"/>
              <a:ea typeface="Twentieth Century"/>
              <a:cs typeface="Twentieth Century"/>
              <a:sym typeface="Twentieth Century"/>
            </a:endParaRPr>
          </a:p>
          <a:p>
            <a:pPr indent="0" lvl="0" marL="0" rtl="0" algn="ctr">
              <a:spcBef>
                <a:spcPts val="0"/>
              </a:spcBef>
              <a:spcAft>
                <a:spcPts val="0"/>
              </a:spcAft>
              <a:buNone/>
            </a:pPr>
            <a:r>
              <a:rPr lang="en" sz="1800" u="sng">
                <a:solidFill>
                  <a:srgbClr val="0097A7"/>
                </a:solidFill>
                <a:latin typeface="Twentieth Century"/>
                <a:ea typeface="Twentieth Century"/>
                <a:cs typeface="Twentieth Century"/>
                <a:sym typeface="Twentieth Century"/>
                <a:hlinkClick r:id="rId3">
                  <a:extLst>
                    <a:ext uri="{A12FA001-AC4F-418D-AE19-62706E023703}">
                      <ahyp:hlinkClr val="tx"/>
                    </a:ext>
                  </a:extLst>
                </a:hlinkClick>
              </a:rPr>
              <a:t>https://bit.ly/iwp-winter26-notes</a:t>
            </a:r>
            <a:r>
              <a:rPr lang="en" sz="1800">
                <a:solidFill>
                  <a:srgbClr val="595959"/>
                </a:solidFill>
                <a:latin typeface="Twentieth Century"/>
                <a:ea typeface="Twentieth Century"/>
                <a:cs typeface="Twentieth Century"/>
                <a:sym typeface="Twentieth Century"/>
              </a:rPr>
              <a:t> </a:t>
            </a:r>
            <a:endParaRPr sz="1800">
              <a:solidFill>
                <a:srgbClr val="595959"/>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sz="1800">
              <a:solidFill>
                <a:srgbClr val="595959"/>
              </a:solidFill>
            </a:endParaRPr>
          </a:p>
        </p:txBody>
      </p:sp>
      <p:grpSp>
        <p:nvGrpSpPr>
          <p:cNvPr id="66" name="Google Shape;66;p15"/>
          <p:cNvGrpSpPr/>
          <p:nvPr/>
        </p:nvGrpSpPr>
        <p:grpSpPr>
          <a:xfrm>
            <a:off x="151305" y="4116793"/>
            <a:ext cx="2499120" cy="723814"/>
            <a:chOff x="4618653" y="5730341"/>
            <a:chExt cx="3471000" cy="928800"/>
          </a:xfrm>
        </p:grpSpPr>
        <p:sp>
          <p:nvSpPr>
            <p:cNvPr id="67" name="Google Shape;67;p15"/>
            <p:cNvSpPr/>
            <p:nvPr/>
          </p:nvSpPr>
          <p:spPr>
            <a:xfrm>
              <a:off x="4618653" y="5730341"/>
              <a:ext cx="3471000" cy="928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1" i="0" sz="1100" u="none" cap="none" strike="noStrike">
                <a:solidFill>
                  <a:srgbClr val="000000"/>
                </a:solidFill>
                <a:latin typeface="Rockwell"/>
                <a:ea typeface="Rockwell"/>
                <a:cs typeface="Rockwell"/>
                <a:sym typeface="Rockwell"/>
              </a:endParaRPr>
            </a:p>
          </p:txBody>
        </p:sp>
        <p:pic>
          <p:nvPicPr>
            <p:cNvPr id="68" name="Google Shape;68;p15"/>
            <p:cNvPicPr preferRelativeResize="0"/>
            <p:nvPr/>
          </p:nvPicPr>
          <p:blipFill rotWithShape="1">
            <a:blip r:embed="rId4">
              <a:alphaModFix/>
            </a:blip>
            <a:srcRect b="0" l="0" r="0" t="0"/>
            <a:stretch/>
          </p:blipFill>
          <p:spPr>
            <a:xfrm>
              <a:off x="4982989" y="5917562"/>
              <a:ext cx="2910269" cy="610218"/>
            </a:xfrm>
            <a:prstGeom prst="rect">
              <a:avLst/>
            </a:prstGeom>
            <a:noFill/>
            <a:ln>
              <a:noFill/>
            </a:ln>
          </p:spPr>
        </p:pic>
      </p:grpSp>
      <p:sp>
        <p:nvSpPr>
          <p:cNvPr id="69" name="Google Shape;69;p15"/>
          <p:cNvSpPr txBox="1"/>
          <p:nvPr/>
        </p:nvSpPr>
        <p:spPr>
          <a:xfrm>
            <a:off x="6805979" y="4817579"/>
            <a:ext cx="2223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solidFill>
                  <a:srgbClr val="FFFFFF"/>
                </a:solidFill>
                <a:latin typeface="Calibri"/>
                <a:ea typeface="Calibri"/>
                <a:cs typeface="Calibri"/>
                <a:sym typeface="Calibri"/>
              </a:rPr>
              <a:t>Sloan grant number: </a:t>
            </a:r>
            <a:r>
              <a:rPr b="1" lang="en" sz="1000">
                <a:solidFill>
                  <a:srgbClr val="FFFFFF"/>
                </a:solidFill>
                <a:latin typeface="Calibri"/>
                <a:ea typeface="Calibri"/>
                <a:cs typeface="Calibri"/>
                <a:sym typeface="Calibri"/>
              </a:rPr>
              <a:t>G-2023-20944</a:t>
            </a:r>
            <a:endParaRPr b="1" sz="1300">
              <a:solidFill>
                <a:srgbClr val="FFFFFF"/>
              </a:solidFill>
            </a:endParaRPr>
          </a:p>
        </p:txBody>
      </p:sp>
      <p:sp>
        <p:nvSpPr>
          <p:cNvPr id="70" name="Google Shape;70;p15"/>
          <p:cNvSpPr/>
          <p:nvPr/>
        </p:nvSpPr>
        <p:spPr>
          <a:xfrm>
            <a:off x="6699600" y="4137650"/>
            <a:ext cx="2306400" cy="7239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1" i="0" sz="1100" u="none" cap="none" strike="noStrike">
              <a:solidFill>
                <a:srgbClr val="000000"/>
              </a:solidFill>
              <a:latin typeface="Rockwell"/>
              <a:ea typeface="Rockwell"/>
              <a:cs typeface="Rockwell"/>
              <a:sym typeface="Rockwell"/>
            </a:endParaRPr>
          </a:p>
        </p:txBody>
      </p:sp>
      <p:pic>
        <p:nvPicPr>
          <p:cNvPr id="71" name="Google Shape;71;p15"/>
          <p:cNvPicPr preferRelativeResize="0"/>
          <p:nvPr/>
        </p:nvPicPr>
        <p:blipFill>
          <a:blip r:embed="rId5">
            <a:alphaModFix/>
          </a:blip>
          <a:stretch>
            <a:fillRect/>
          </a:stretch>
        </p:blipFill>
        <p:spPr>
          <a:xfrm>
            <a:off x="6761481" y="4164319"/>
            <a:ext cx="717702" cy="682025"/>
          </a:xfrm>
          <a:prstGeom prst="rect">
            <a:avLst/>
          </a:prstGeom>
          <a:noFill/>
          <a:ln>
            <a:noFill/>
          </a:ln>
        </p:spPr>
      </p:pic>
      <p:sp>
        <p:nvSpPr>
          <p:cNvPr id="72" name="Google Shape;72;p15"/>
          <p:cNvSpPr txBox="1"/>
          <p:nvPr/>
        </p:nvSpPr>
        <p:spPr>
          <a:xfrm>
            <a:off x="7477107" y="4092294"/>
            <a:ext cx="14424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Twentieth Century"/>
                <a:ea typeface="Twentieth Century"/>
                <a:cs typeface="Twentieth Century"/>
                <a:sym typeface="Twentieth Century"/>
              </a:rPr>
              <a:t>UT-OSPO</a:t>
            </a:r>
            <a:endParaRPr b="1" sz="2000">
              <a:latin typeface="Twentieth Century"/>
              <a:ea typeface="Twentieth Century"/>
              <a:cs typeface="Twentieth Century"/>
              <a:sym typeface="Twentieth Century"/>
            </a:endParaRPr>
          </a:p>
          <a:p>
            <a:pPr indent="0" lvl="0" marL="0" rtl="0" algn="ctr">
              <a:spcBef>
                <a:spcPts val="0"/>
              </a:spcBef>
              <a:spcAft>
                <a:spcPts val="0"/>
              </a:spcAft>
              <a:buNone/>
            </a:pPr>
            <a:r>
              <a:rPr lang="en" sz="1000">
                <a:latin typeface="Twentieth Century"/>
                <a:ea typeface="Twentieth Century"/>
                <a:cs typeface="Twentieth Century"/>
                <a:sym typeface="Twentieth Century"/>
              </a:rPr>
              <a:t>UT Austin Open Source Program Office</a:t>
            </a:r>
            <a:endParaRPr sz="1000">
              <a:latin typeface="Twentieth Century"/>
              <a:ea typeface="Twentieth Century"/>
              <a:cs typeface="Twentieth Century"/>
              <a:sym typeface="Twentieth Century"/>
            </a:endParaRPr>
          </a:p>
        </p:txBody>
      </p:sp>
      <p:sp>
        <p:nvSpPr>
          <p:cNvPr id="73" name="Google Shape;73;p15"/>
          <p:cNvSpPr txBox="1"/>
          <p:nvPr/>
        </p:nvSpPr>
        <p:spPr>
          <a:xfrm>
            <a:off x="384250" y="744875"/>
            <a:ext cx="8520600" cy="123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00">
                <a:solidFill>
                  <a:srgbClr val="FFFFFF"/>
                </a:solidFill>
                <a:latin typeface="Mukta"/>
                <a:ea typeface="Mukta"/>
                <a:cs typeface="Mukta"/>
                <a:sym typeface="Mukta"/>
              </a:rPr>
              <a:t>Immersive Python Workshop</a:t>
            </a:r>
            <a:endParaRPr b="1" sz="4600">
              <a:solidFill>
                <a:srgbClr val="FFFFFF"/>
              </a:solidFill>
              <a:latin typeface="Mukta"/>
              <a:ea typeface="Mukta"/>
              <a:cs typeface="Mukta"/>
              <a:sym typeface="Mukta"/>
            </a:endParaRPr>
          </a:p>
          <a:p>
            <a:pPr indent="0" lvl="0" marL="0" rtl="0" algn="ctr">
              <a:spcBef>
                <a:spcPts val="0"/>
              </a:spcBef>
              <a:spcAft>
                <a:spcPts val="0"/>
              </a:spcAft>
              <a:buNone/>
            </a:pPr>
            <a:r>
              <a:rPr b="1" lang="en" sz="2600">
                <a:solidFill>
                  <a:srgbClr val="EEEEEE"/>
                </a:solidFill>
                <a:latin typeface="Mukta"/>
                <a:ea typeface="Mukta"/>
                <a:cs typeface="Mukta"/>
                <a:sym typeface="Mukta"/>
              </a:rPr>
              <a:t>January 7-9, 2026</a:t>
            </a:r>
            <a:endParaRPr b="1" sz="4300">
              <a:solidFill>
                <a:srgbClr val="FFFFFF"/>
              </a:solidFill>
              <a:latin typeface="Mukta"/>
              <a:ea typeface="Mukta"/>
              <a:cs typeface="Mukta"/>
              <a:sym typeface="Mukta"/>
            </a:endParaRPr>
          </a:p>
        </p:txBody>
      </p:sp>
      <p:sp>
        <p:nvSpPr>
          <p:cNvPr id="74" name="Google Shape;74;p15"/>
          <p:cNvSpPr txBox="1"/>
          <p:nvPr/>
        </p:nvSpPr>
        <p:spPr>
          <a:xfrm>
            <a:off x="2472000" y="2479000"/>
            <a:ext cx="4352400" cy="1166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3700">
                <a:solidFill>
                  <a:srgbClr val="FFFFFF"/>
                </a:solidFill>
              </a:rPr>
              <a:t>Day 3</a:t>
            </a:r>
            <a:endParaRPr b="1" sz="3700">
              <a:solidFill>
                <a:srgbClr val="FFFFFF"/>
              </a:solidFill>
            </a:endParaRPr>
          </a:p>
          <a:p>
            <a:pPr indent="0" lvl="0" marL="0" rtl="0" algn="ctr">
              <a:spcBef>
                <a:spcPts val="0"/>
              </a:spcBef>
              <a:spcAft>
                <a:spcPts val="0"/>
              </a:spcAft>
              <a:buNone/>
            </a:pPr>
            <a:r>
              <a:rPr lang="en" sz="2500">
                <a:solidFill>
                  <a:srgbClr val="FFFFFF"/>
                </a:solidFill>
              </a:rPr>
              <a:t>1/9/2026</a:t>
            </a:r>
            <a:endParaRPr sz="25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Day 3 Schedule</a:t>
            </a:r>
            <a:endParaRPr b="1" sz="2500">
              <a:solidFill>
                <a:schemeClr val="lt1"/>
              </a:solidFill>
              <a:latin typeface="Twentieth Century"/>
              <a:ea typeface="Twentieth Century"/>
              <a:cs typeface="Twentieth Century"/>
              <a:sym typeface="Twentieth Century"/>
            </a:endParaRPr>
          </a:p>
        </p:txBody>
      </p:sp>
      <p:graphicFrame>
        <p:nvGraphicFramePr>
          <p:cNvPr id="80" name="Google Shape;80;p16"/>
          <p:cNvGraphicFramePr/>
          <p:nvPr/>
        </p:nvGraphicFramePr>
        <p:xfrm>
          <a:off x="329950" y="1343950"/>
          <a:ext cx="3000000" cy="3000000"/>
        </p:xfrm>
        <a:graphic>
          <a:graphicData uri="http://schemas.openxmlformats.org/drawingml/2006/table">
            <a:tbl>
              <a:tblPr>
                <a:noFill/>
                <a:tableStyleId>{EFDA738B-F5E2-43EE-A3B6-D765A8493B8E}</a:tableStyleId>
              </a:tblPr>
              <a:tblGrid>
                <a:gridCol w="1266400"/>
                <a:gridCol w="7225150"/>
              </a:tblGrid>
              <a:tr h="100000">
                <a:tc>
                  <a:txBody>
                    <a:bodyPr/>
                    <a:lstStyle/>
                    <a:p>
                      <a:pPr indent="0" lvl="0" marL="0" rtl="0" algn="l">
                        <a:spcBef>
                          <a:spcPts val="0"/>
                        </a:spcBef>
                        <a:spcAft>
                          <a:spcPts val="0"/>
                        </a:spcAft>
                        <a:buNone/>
                      </a:pPr>
                      <a:r>
                        <a:rPr b="1" lang="en" sz="1500">
                          <a:solidFill>
                            <a:schemeClr val="lt1"/>
                          </a:solidFill>
                          <a:latin typeface="Twentieth Century"/>
                          <a:ea typeface="Twentieth Century"/>
                          <a:cs typeface="Twentieth Century"/>
                          <a:sym typeface="Twentieth Century"/>
                        </a:rPr>
                        <a:t>12:30 PM</a:t>
                      </a:r>
                      <a:endParaRPr b="1" sz="1500">
                        <a:solidFill>
                          <a:schemeClr val="lt1"/>
                        </a:solidFill>
                        <a:latin typeface="Twentieth Century"/>
                        <a:ea typeface="Twentieth Century"/>
                        <a:cs typeface="Twentieth Century"/>
                        <a:sym typeface="Twentieth Century"/>
                      </a:endParaRPr>
                    </a:p>
                  </a:txBody>
                  <a:tcPr marT="91425" marB="91425" marR="91425" marL="91425">
                    <a:solidFill>
                      <a:srgbClr val="45818E"/>
                    </a:solidFill>
                  </a:tcPr>
                </a:tc>
                <a:tc>
                  <a:txBody>
                    <a:bodyPr/>
                    <a:lstStyle/>
                    <a:p>
                      <a:pPr indent="0" lvl="0" marL="0" rtl="0" algn="l">
                        <a:spcBef>
                          <a:spcPts val="0"/>
                        </a:spcBef>
                        <a:spcAft>
                          <a:spcPts val="0"/>
                        </a:spcAft>
                        <a:buNone/>
                      </a:pPr>
                      <a:r>
                        <a:rPr b="1" lang="en" sz="1500">
                          <a:solidFill>
                            <a:schemeClr val="lt1"/>
                          </a:solidFill>
                          <a:latin typeface="Twentieth Century"/>
                          <a:ea typeface="Twentieth Century"/>
                          <a:cs typeface="Twentieth Century"/>
                          <a:sym typeface="Twentieth Century"/>
                        </a:rPr>
                        <a:t>Welcome</a:t>
                      </a:r>
                      <a:endParaRPr b="1" sz="1500">
                        <a:solidFill>
                          <a:schemeClr val="lt1"/>
                        </a:solidFill>
                        <a:latin typeface="Twentieth Century"/>
                        <a:ea typeface="Twentieth Century"/>
                        <a:cs typeface="Twentieth Century"/>
                        <a:sym typeface="Twentieth Century"/>
                      </a:endParaRPr>
                    </a:p>
                  </a:txBody>
                  <a:tcPr marT="91425" marB="91425" marR="91425" marL="91425">
                    <a:solidFill>
                      <a:srgbClr val="45818E"/>
                    </a:solidFill>
                  </a:tcPr>
                </a:tc>
              </a:tr>
              <a:tr h="381000">
                <a:tc>
                  <a:txBody>
                    <a:bodyPr/>
                    <a:lstStyle/>
                    <a:p>
                      <a:pPr indent="0" lvl="0" marL="0" rtl="0" algn="l">
                        <a:spcBef>
                          <a:spcPts val="0"/>
                        </a:spcBef>
                        <a:spcAft>
                          <a:spcPts val="0"/>
                        </a:spcAft>
                        <a:buNone/>
                      </a:pPr>
                      <a:r>
                        <a:rPr b="1" lang="en" sz="1500">
                          <a:solidFill>
                            <a:schemeClr val="lt1"/>
                          </a:solidFill>
                          <a:latin typeface="Twentieth Century"/>
                          <a:ea typeface="Twentieth Century"/>
                          <a:cs typeface="Twentieth Century"/>
                          <a:sym typeface="Twentieth Century"/>
                        </a:rPr>
                        <a:t>12:40 PM</a:t>
                      </a:r>
                      <a:endParaRPr b="1" sz="1500">
                        <a:solidFill>
                          <a:schemeClr val="lt1"/>
                        </a:solidFill>
                        <a:latin typeface="Twentieth Century"/>
                        <a:ea typeface="Twentieth Century"/>
                        <a:cs typeface="Twentieth Century"/>
                        <a:sym typeface="Twentieth Century"/>
                      </a:endParaRPr>
                    </a:p>
                  </a:txBody>
                  <a:tcPr marT="91425" marB="91425" marR="91425" marL="91425">
                    <a:solidFill>
                      <a:srgbClr val="45818E"/>
                    </a:solidFill>
                  </a:tcPr>
                </a:tc>
                <a:tc>
                  <a:txBody>
                    <a:bodyPr/>
                    <a:lstStyle/>
                    <a:p>
                      <a:pPr indent="0" lvl="0" marL="0" rtl="0" algn="l">
                        <a:lnSpc>
                          <a:spcPct val="150000"/>
                        </a:lnSpc>
                        <a:spcBef>
                          <a:spcPts val="0"/>
                        </a:spcBef>
                        <a:spcAft>
                          <a:spcPts val="0"/>
                        </a:spcAft>
                        <a:buNone/>
                      </a:pPr>
                      <a:r>
                        <a:rPr b="1" lang="en" sz="1500">
                          <a:solidFill>
                            <a:schemeClr val="lt1"/>
                          </a:solidFill>
                          <a:latin typeface="Twentieth Century"/>
                          <a:ea typeface="Twentieth Century"/>
                          <a:cs typeface="Twentieth Century"/>
                          <a:sym typeface="Twentieth Century"/>
                        </a:rPr>
                        <a:t>Divide into instruction tracks breakout rooms</a:t>
                      </a:r>
                      <a:endParaRPr b="1" sz="1500">
                        <a:solidFill>
                          <a:schemeClr val="lt1"/>
                        </a:solidFill>
                        <a:latin typeface="Twentieth Century"/>
                        <a:ea typeface="Twentieth Century"/>
                        <a:cs typeface="Twentieth Century"/>
                        <a:sym typeface="Twentieth Century"/>
                      </a:endParaRPr>
                    </a:p>
                    <a:p>
                      <a:pPr indent="-323850" lvl="0" marL="628650" rtl="0" algn="l">
                        <a:lnSpc>
                          <a:spcPct val="150000"/>
                        </a:lnSpc>
                        <a:spcBef>
                          <a:spcPts val="0"/>
                        </a:spcBef>
                        <a:spcAft>
                          <a:spcPts val="0"/>
                        </a:spcAft>
                        <a:buClr>
                          <a:schemeClr val="lt1"/>
                        </a:buClr>
                        <a:buSzPts val="1500"/>
                        <a:buFont typeface="Twentieth Century"/>
                        <a:buChar char="➔"/>
                      </a:pPr>
                      <a:r>
                        <a:rPr lang="en" sz="1500">
                          <a:solidFill>
                            <a:schemeClr val="lt1"/>
                          </a:solidFill>
                          <a:latin typeface="Twentieth Century"/>
                          <a:ea typeface="Twentieth Century"/>
                          <a:cs typeface="Twentieth Century"/>
                          <a:sym typeface="Twentieth Century"/>
                        </a:rPr>
                        <a:t>Geospatial</a:t>
                      </a:r>
                      <a:endParaRPr sz="1500">
                        <a:solidFill>
                          <a:schemeClr val="lt1"/>
                        </a:solidFill>
                        <a:latin typeface="Twentieth Century"/>
                        <a:ea typeface="Twentieth Century"/>
                        <a:cs typeface="Twentieth Century"/>
                        <a:sym typeface="Twentieth Century"/>
                      </a:endParaRPr>
                    </a:p>
                    <a:p>
                      <a:pPr indent="-323850" lvl="0" marL="628650" rtl="0" algn="l">
                        <a:lnSpc>
                          <a:spcPct val="150000"/>
                        </a:lnSpc>
                        <a:spcBef>
                          <a:spcPts val="0"/>
                        </a:spcBef>
                        <a:spcAft>
                          <a:spcPts val="0"/>
                        </a:spcAft>
                        <a:buClr>
                          <a:schemeClr val="lt1"/>
                        </a:buClr>
                        <a:buSzPts val="1500"/>
                        <a:buFont typeface="Twentieth Century"/>
                        <a:buChar char="➔"/>
                      </a:pPr>
                      <a:r>
                        <a:rPr lang="en" sz="1500">
                          <a:solidFill>
                            <a:schemeClr val="lt1"/>
                          </a:solidFill>
                          <a:latin typeface="Twentieth Century"/>
                          <a:ea typeface="Twentieth Century"/>
                          <a:cs typeface="Twentieth Century"/>
                          <a:sym typeface="Twentieth Century"/>
                        </a:rPr>
                        <a:t>Sentiment Analysis</a:t>
                      </a:r>
                      <a:endParaRPr sz="1500">
                        <a:solidFill>
                          <a:schemeClr val="lt1"/>
                        </a:solidFill>
                        <a:latin typeface="Twentieth Century"/>
                        <a:ea typeface="Twentieth Century"/>
                        <a:cs typeface="Twentieth Century"/>
                        <a:sym typeface="Twentieth Century"/>
                      </a:endParaRPr>
                    </a:p>
                    <a:p>
                      <a:pPr indent="-323850" lvl="0" marL="628650" rtl="0" algn="l">
                        <a:lnSpc>
                          <a:spcPct val="150000"/>
                        </a:lnSpc>
                        <a:spcBef>
                          <a:spcPts val="0"/>
                        </a:spcBef>
                        <a:spcAft>
                          <a:spcPts val="0"/>
                        </a:spcAft>
                        <a:buClr>
                          <a:schemeClr val="lt1"/>
                        </a:buClr>
                        <a:buSzPts val="1500"/>
                        <a:buFont typeface="Twentieth Century"/>
                        <a:buChar char="➔"/>
                      </a:pPr>
                      <a:r>
                        <a:rPr lang="en" sz="1500">
                          <a:solidFill>
                            <a:schemeClr val="lt1"/>
                          </a:solidFill>
                          <a:latin typeface="Twentieth Century"/>
                          <a:ea typeface="Twentieth Century"/>
                          <a:cs typeface="Twentieth Century"/>
                          <a:sym typeface="Twentieth Century"/>
                        </a:rPr>
                        <a:t>Data Visualization</a:t>
                      </a:r>
                      <a:endParaRPr sz="1500">
                        <a:solidFill>
                          <a:schemeClr val="lt1"/>
                        </a:solidFill>
                        <a:latin typeface="Twentieth Century"/>
                        <a:ea typeface="Twentieth Century"/>
                        <a:cs typeface="Twentieth Century"/>
                        <a:sym typeface="Twentieth Century"/>
                      </a:endParaRPr>
                    </a:p>
                  </a:txBody>
                  <a:tcPr marT="91425" marB="91425" marR="91425" marL="91425">
                    <a:solidFill>
                      <a:srgbClr val="45818E"/>
                    </a:solidFill>
                  </a:tcPr>
                </a:tc>
              </a:tr>
              <a:tr h="248675">
                <a:tc>
                  <a:txBody>
                    <a:bodyPr/>
                    <a:lstStyle/>
                    <a:p>
                      <a:pPr indent="0" lvl="0" marL="0" rtl="0" algn="l">
                        <a:spcBef>
                          <a:spcPts val="0"/>
                        </a:spcBef>
                        <a:spcAft>
                          <a:spcPts val="0"/>
                        </a:spcAft>
                        <a:buNone/>
                      </a:pPr>
                      <a:r>
                        <a:rPr b="1" lang="en" sz="1500">
                          <a:solidFill>
                            <a:schemeClr val="lt1"/>
                          </a:solidFill>
                          <a:latin typeface="Twentieth Century"/>
                          <a:ea typeface="Twentieth Century"/>
                          <a:cs typeface="Twentieth Century"/>
                          <a:sym typeface="Twentieth Century"/>
                        </a:rPr>
                        <a:t>1:30 PM</a:t>
                      </a:r>
                      <a:endParaRPr b="1" sz="1500">
                        <a:solidFill>
                          <a:schemeClr val="lt1"/>
                        </a:solidFill>
                        <a:latin typeface="Twentieth Century"/>
                        <a:ea typeface="Twentieth Century"/>
                        <a:cs typeface="Twentieth Century"/>
                        <a:sym typeface="Twentieth Century"/>
                      </a:endParaRPr>
                    </a:p>
                  </a:txBody>
                  <a:tcPr marT="45700" marB="45700" marR="91425" marL="91425">
                    <a:solidFill>
                      <a:srgbClr val="9E9E9E"/>
                    </a:solidFill>
                  </a:tcPr>
                </a:tc>
                <a:tc>
                  <a:txBody>
                    <a:bodyPr/>
                    <a:lstStyle/>
                    <a:p>
                      <a:pPr indent="0" lvl="0" marL="0" rtl="0" algn="l">
                        <a:spcBef>
                          <a:spcPts val="0"/>
                        </a:spcBef>
                        <a:spcAft>
                          <a:spcPts val="0"/>
                        </a:spcAft>
                        <a:buNone/>
                      </a:pPr>
                      <a:r>
                        <a:rPr lang="en" sz="1500">
                          <a:solidFill>
                            <a:schemeClr val="lt1"/>
                          </a:solidFill>
                          <a:latin typeface="Twentieth Century"/>
                          <a:ea typeface="Twentieth Century"/>
                          <a:cs typeface="Twentieth Century"/>
                          <a:sym typeface="Twentieth Century"/>
                        </a:rPr>
                        <a:t>Break</a:t>
                      </a:r>
                      <a:endParaRPr sz="1500">
                        <a:solidFill>
                          <a:schemeClr val="lt1"/>
                        </a:solidFill>
                        <a:latin typeface="Twentieth Century"/>
                        <a:ea typeface="Twentieth Century"/>
                        <a:cs typeface="Twentieth Century"/>
                        <a:sym typeface="Twentieth Century"/>
                      </a:endParaRPr>
                    </a:p>
                  </a:txBody>
                  <a:tcPr marT="45700" marB="45700" marR="91425" marL="91425">
                    <a:solidFill>
                      <a:srgbClr val="9E9E9E"/>
                    </a:solidFill>
                  </a:tcPr>
                </a:tc>
              </a:tr>
              <a:tr h="381000">
                <a:tc>
                  <a:txBody>
                    <a:bodyPr/>
                    <a:lstStyle/>
                    <a:p>
                      <a:pPr indent="0" lvl="0" marL="0" rtl="0" algn="l">
                        <a:spcBef>
                          <a:spcPts val="0"/>
                        </a:spcBef>
                        <a:spcAft>
                          <a:spcPts val="0"/>
                        </a:spcAft>
                        <a:buNone/>
                      </a:pPr>
                      <a:r>
                        <a:rPr b="1" lang="en" sz="1500">
                          <a:solidFill>
                            <a:schemeClr val="lt1"/>
                          </a:solidFill>
                          <a:latin typeface="Twentieth Century"/>
                          <a:ea typeface="Twentieth Century"/>
                          <a:cs typeface="Twentieth Century"/>
                          <a:sym typeface="Twentieth Century"/>
                        </a:rPr>
                        <a:t>1:40 PM</a:t>
                      </a:r>
                      <a:endParaRPr b="1" sz="1500">
                        <a:solidFill>
                          <a:schemeClr val="lt1"/>
                        </a:solidFill>
                        <a:latin typeface="Twentieth Century"/>
                        <a:ea typeface="Twentieth Century"/>
                        <a:cs typeface="Twentieth Century"/>
                        <a:sym typeface="Twentieth Century"/>
                      </a:endParaRPr>
                    </a:p>
                  </a:txBody>
                  <a:tcPr marT="91425" marB="91425" marR="91425" marL="91425">
                    <a:lnB cap="flat" cmpd="sng" w="9525">
                      <a:solidFill>
                        <a:srgbClr val="9E9E9E"/>
                      </a:solidFill>
                      <a:prstDash val="solid"/>
                      <a:round/>
                      <a:headEnd len="sm" w="sm" type="none"/>
                      <a:tailEnd len="sm" w="sm" type="none"/>
                    </a:lnB>
                    <a:solidFill>
                      <a:srgbClr val="45818E"/>
                    </a:solidFill>
                  </a:tcPr>
                </a:tc>
                <a:tc>
                  <a:txBody>
                    <a:bodyPr/>
                    <a:lstStyle/>
                    <a:p>
                      <a:pPr indent="0" lvl="0" marL="0" rtl="0" algn="l">
                        <a:spcBef>
                          <a:spcPts val="0"/>
                        </a:spcBef>
                        <a:spcAft>
                          <a:spcPts val="0"/>
                        </a:spcAft>
                        <a:buNone/>
                      </a:pPr>
                      <a:r>
                        <a:rPr b="1" lang="en" sz="1500">
                          <a:solidFill>
                            <a:schemeClr val="lt1"/>
                          </a:solidFill>
                          <a:latin typeface="Twentieth Century"/>
                          <a:ea typeface="Twentieth Century"/>
                          <a:cs typeface="Twentieth Century"/>
                          <a:sym typeface="Twentieth Century"/>
                        </a:rPr>
                        <a:t>Continue work in separate tracks</a:t>
                      </a:r>
                      <a:endParaRPr b="1" sz="1500">
                        <a:solidFill>
                          <a:schemeClr val="lt1"/>
                        </a:solidFill>
                        <a:latin typeface="Twentieth Century"/>
                        <a:ea typeface="Twentieth Century"/>
                        <a:cs typeface="Twentieth Century"/>
                        <a:sym typeface="Twentieth Century"/>
                      </a:endParaRPr>
                    </a:p>
                  </a:txBody>
                  <a:tcPr marT="91425" marB="91425" marR="91425" marL="91425">
                    <a:lnB cap="flat" cmpd="sng" w="9525">
                      <a:solidFill>
                        <a:srgbClr val="9E9E9E"/>
                      </a:solidFill>
                      <a:prstDash val="solid"/>
                      <a:round/>
                      <a:headEnd len="sm" w="sm" type="none"/>
                      <a:tailEnd len="sm" w="sm" type="none"/>
                    </a:lnB>
                    <a:solidFill>
                      <a:srgbClr val="45818E"/>
                    </a:solidFill>
                  </a:tcPr>
                </a:tc>
              </a:tr>
              <a:tr h="294825">
                <a:tc>
                  <a:txBody>
                    <a:bodyPr/>
                    <a:lstStyle/>
                    <a:p>
                      <a:pPr indent="0" lvl="0" marL="0" rtl="0" algn="l">
                        <a:spcBef>
                          <a:spcPts val="0"/>
                        </a:spcBef>
                        <a:spcAft>
                          <a:spcPts val="0"/>
                        </a:spcAft>
                        <a:buNone/>
                      </a:pPr>
                      <a:r>
                        <a:rPr b="1" lang="en" sz="1500">
                          <a:solidFill>
                            <a:schemeClr val="lt1"/>
                          </a:solidFill>
                          <a:latin typeface="Twentieth Century"/>
                          <a:ea typeface="Twentieth Century"/>
                          <a:cs typeface="Twentieth Century"/>
                          <a:sym typeface="Twentieth Century"/>
                        </a:rPr>
                        <a:t>2:30 PM</a:t>
                      </a:r>
                      <a:endParaRPr b="1" sz="1500">
                        <a:solidFill>
                          <a:schemeClr val="lt1"/>
                        </a:solidFill>
                        <a:latin typeface="Twentieth Century"/>
                        <a:ea typeface="Twentieth Century"/>
                        <a:cs typeface="Twentieth Century"/>
                        <a:sym typeface="Twentieth Century"/>
                      </a:endParaRPr>
                    </a:p>
                  </a:txBody>
                  <a:tcPr marT="45700" marB="3657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lang="en" sz="1500">
                          <a:solidFill>
                            <a:schemeClr val="lt1"/>
                          </a:solidFill>
                          <a:latin typeface="Twentieth Century"/>
                          <a:ea typeface="Twentieth Century"/>
                          <a:cs typeface="Twentieth Century"/>
                          <a:sym typeface="Twentieth Century"/>
                        </a:rPr>
                        <a:t>Break</a:t>
                      </a:r>
                      <a:endParaRPr b="1" sz="1500">
                        <a:solidFill>
                          <a:schemeClr val="lt1"/>
                        </a:solidFill>
                        <a:latin typeface="Twentieth Century"/>
                        <a:ea typeface="Twentieth Century"/>
                        <a:cs typeface="Twentieth Century"/>
                        <a:sym typeface="Twentieth Century"/>
                      </a:endParaRPr>
                    </a:p>
                  </a:txBody>
                  <a:tcPr marT="45700" marB="3657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rPr b="1" lang="en" sz="1500">
                          <a:solidFill>
                            <a:schemeClr val="lt1"/>
                          </a:solidFill>
                          <a:latin typeface="Twentieth Century"/>
                          <a:ea typeface="Twentieth Century"/>
                          <a:cs typeface="Twentieth Century"/>
                          <a:sym typeface="Twentieth Century"/>
                        </a:rPr>
                        <a:t>2:40 PM</a:t>
                      </a:r>
                      <a:endParaRPr b="1" sz="1500">
                        <a:solidFill>
                          <a:schemeClr val="lt1"/>
                        </a:solidFill>
                        <a:latin typeface="Twentieth Century"/>
                        <a:ea typeface="Twentieth Century"/>
                        <a:cs typeface="Twentieth Century"/>
                        <a:sym typeface="Twentieth Century"/>
                      </a:endParaRPr>
                    </a:p>
                  </a:txBody>
                  <a:tcPr marT="91425" marB="91425" marR="91425" marL="91425">
                    <a:lnT cap="flat" cmpd="sng" w="9525">
                      <a:solidFill>
                        <a:srgbClr val="9E9E9E"/>
                      </a:solidFill>
                      <a:prstDash val="solid"/>
                      <a:round/>
                      <a:headEnd len="sm" w="sm" type="none"/>
                      <a:tailEnd len="sm" w="sm" type="none"/>
                    </a:lnT>
                    <a:solidFill>
                      <a:srgbClr val="45818E"/>
                    </a:solidFill>
                  </a:tcPr>
                </a:tc>
                <a:tc>
                  <a:txBody>
                    <a:bodyPr/>
                    <a:lstStyle/>
                    <a:p>
                      <a:pPr indent="0" lvl="0" marL="0" rtl="0" algn="l">
                        <a:spcBef>
                          <a:spcPts val="0"/>
                        </a:spcBef>
                        <a:spcAft>
                          <a:spcPts val="0"/>
                        </a:spcAft>
                        <a:buNone/>
                      </a:pPr>
                      <a:r>
                        <a:rPr b="1" lang="en" sz="1500">
                          <a:solidFill>
                            <a:schemeClr val="lt1"/>
                          </a:solidFill>
                          <a:latin typeface="Twentieth Century"/>
                          <a:ea typeface="Twentieth Century"/>
                          <a:cs typeface="Twentieth Century"/>
                          <a:sym typeface="Twentieth Century"/>
                        </a:rPr>
                        <a:t>Instruction: GitHub and AI</a:t>
                      </a:r>
                      <a:endParaRPr b="1" sz="1500">
                        <a:solidFill>
                          <a:schemeClr val="lt1"/>
                        </a:solidFill>
                        <a:latin typeface="Twentieth Century"/>
                        <a:ea typeface="Twentieth Century"/>
                        <a:cs typeface="Twentieth Century"/>
                        <a:sym typeface="Twentieth Century"/>
                      </a:endParaRPr>
                    </a:p>
                  </a:txBody>
                  <a:tcPr marT="91425" marB="91425" marR="91425" marL="91425">
                    <a:lnT cap="flat" cmpd="sng" w="9525">
                      <a:solidFill>
                        <a:srgbClr val="9E9E9E"/>
                      </a:solidFill>
                      <a:prstDash val="solid"/>
                      <a:round/>
                      <a:headEnd len="sm" w="sm" type="none"/>
                      <a:tailEnd len="sm" w="sm" type="none"/>
                    </a:lnT>
                    <a:solidFill>
                      <a:srgbClr val="45818E"/>
                    </a:solidFill>
                  </a:tcPr>
                </a:tc>
              </a:tr>
              <a:tr h="381000">
                <a:tc>
                  <a:txBody>
                    <a:bodyPr/>
                    <a:lstStyle/>
                    <a:p>
                      <a:pPr indent="0" lvl="0" marL="0" rtl="0" algn="l">
                        <a:spcBef>
                          <a:spcPts val="0"/>
                        </a:spcBef>
                        <a:spcAft>
                          <a:spcPts val="0"/>
                        </a:spcAft>
                        <a:buNone/>
                      </a:pPr>
                      <a:r>
                        <a:rPr b="1" lang="en" sz="1500">
                          <a:solidFill>
                            <a:schemeClr val="lt1"/>
                          </a:solidFill>
                          <a:latin typeface="Twentieth Century"/>
                          <a:ea typeface="Twentieth Century"/>
                          <a:cs typeface="Twentieth Century"/>
                          <a:sym typeface="Twentieth Century"/>
                        </a:rPr>
                        <a:t>3:55 PM</a:t>
                      </a:r>
                      <a:endParaRPr b="1" sz="1500">
                        <a:solidFill>
                          <a:schemeClr val="lt1"/>
                        </a:solidFill>
                        <a:latin typeface="Twentieth Century"/>
                        <a:ea typeface="Twentieth Century"/>
                        <a:cs typeface="Twentieth Century"/>
                        <a:sym typeface="Twentieth Century"/>
                      </a:endParaRPr>
                    </a:p>
                  </a:txBody>
                  <a:tcPr marT="91425" marB="91425" marR="91425" marL="91425">
                    <a:solidFill>
                      <a:srgbClr val="45818E"/>
                    </a:solidFill>
                  </a:tcPr>
                </a:tc>
                <a:tc>
                  <a:txBody>
                    <a:bodyPr/>
                    <a:lstStyle/>
                    <a:p>
                      <a:pPr indent="0" lvl="0" marL="0" rtl="0" algn="l">
                        <a:spcBef>
                          <a:spcPts val="0"/>
                        </a:spcBef>
                        <a:spcAft>
                          <a:spcPts val="0"/>
                        </a:spcAft>
                        <a:buNone/>
                      </a:pPr>
                      <a:r>
                        <a:rPr b="1" lang="en" sz="1500">
                          <a:solidFill>
                            <a:schemeClr val="lt1"/>
                          </a:solidFill>
                          <a:latin typeface="Twentieth Century"/>
                          <a:ea typeface="Twentieth Century"/>
                          <a:cs typeface="Twentieth Century"/>
                          <a:sym typeface="Twentieth Century"/>
                        </a:rPr>
                        <a:t>Complete Day 3 Assessment and Wrap Up</a:t>
                      </a:r>
                      <a:endParaRPr b="1" sz="1500">
                        <a:solidFill>
                          <a:schemeClr val="lt1"/>
                        </a:solidFill>
                        <a:latin typeface="Twentieth Century"/>
                        <a:ea typeface="Twentieth Century"/>
                        <a:cs typeface="Twentieth Century"/>
                        <a:sym typeface="Twentieth Century"/>
                      </a:endParaRPr>
                    </a:p>
                  </a:txBody>
                  <a:tcPr marT="91425" marB="91425" marR="91425" marL="91425">
                    <a:solidFill>
                      <a:srgbClr val="45818E"/>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90906" y="22418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Final Check of Installed Software</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Python Software Installation Support</a:t>
            </a:r>
            <a:endParaRPr b="1" sz="2500">
              <a:solidFill>
                <a:schemeClr val="lt1"/>
              </a:solidFill>
              <a:latin typeface="Twentieth Century"/>
              <a:ea typeface="Twentieth Century"/>
              <a:cs typeface="Twentieth Century"/>
              <a:sym typeface="Twentieth Century"/>
            </a:endParaRPr>
          </a:p>
        </p:txBody>
      </p:sp>
      <p:sp>
        <p:nvSpPr>
          <p:cNvPr id="91" name="Google Shape;91;p18"/>
          <p:cNvSpPr txBox="1"/>
          <p:nvPr>
            <p:ph idx="1" type="body"/>
          </p:nvPr>
        </p:nvSpPr>
        <p:spPr>
          <a:xfrm>
            <a:off x="138900" y="1416425"/>
            <a:ext cx="8824800" cy="25206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228600">
            <a:normAutofit/>
          </a:bodyPr>
          <a:lstStyle/>
          <a:p>
            <a:pPr indent="-304800" lvl="0" marL="457200" rtl="0" algn="l">
              <a:lnSpc>
                <a:spcPct val="200000"/>
              </a:lnSpc>
              <a:spcBef>
                <a:spcPts val="0"/>
              </a:spcBef>
              <a:spcAft>
                <a:spcPts val="0"/>
              </a:spcAft>
              <a:buSzPts val="1200"/>
              <a:buFont typeface="Twentieth Century"/>
              <a:buChar char="●"/>
            </a:pPr>
            <a:r>
              <a:rPr b="1" lang="en" sz="1200">
                <a:latin typeface="Twentieth Century"/>
                <a:ea typeface="Twentieth Century"/>
                <a:cs typeface="Twentieth Century"/>
                <a:sym typeface="Twentieth Century"/>
              </a:rPr>
              <a:t>Mac users</a:t>
            </a:r>
            <a:endParaRPr b="1" sz="1200">
              <a:latin typeface="Twentieth Century"/>
              <a:ea typeface="Twentieth Century"/>
              <a:cs typeface="Twentieth Century"/>
              <a:sym typeface="Twentieth Century"/>
            </a:endParaRPr>
          </a:p>
          <a:p>
            <a:pPr indent="-304800" lvl="1" marL="914400" rtl="0" algn="l">
              <a:lnSpc>
                <a:spcPct val="200000"/>
              </a:lnSpc>
              <a:spcBef>
                <a:spcPts val="0"/>
              </a:spcBef>
              <a:spcAft>
                <a:spcPts val="0"/>
              </a:spcAft>
              <a:buSzPts val="1200"/>
              <a:buFont typeface="Twentieth Century"/>
              <a:buChar char="○"/>
            </a:pPr>
            <a:r>
              <a:rPr lang="en" sz="1200">
                <a:latin typeface="Twentieth Century"/>
                <a:ea typeface="Twentieth Century"/>
                <a:cs typeface="Twentieth Century"/>
                <a:sym typeface="Twentieth Century"/>
              </a:rPr>
              <a:t>All Macs with a recent version of MacOS already have Python 3 installed and you do not need to install a separate version of Python</a:t>
            </a:r>
            <a:endParaRPr sz="1200">
              <a:latin typeface="Twentieth Century"/>
              <a:ea typeface="Twentieth Century"/>
              <a:cs typeface="Twentieth Century"/>
              <a:sym typeface="Twentieth Century"/>
            </a:endParaRPr>
          </a:p>
          <a:p>
            <a:pPr indent="-304800" lvl="0" marL="457200" rtl="0" algn="l">
              <a:lnSpc>
                <a:spcPct val="200000"/>
              </a:lnSpc>
              <a:spcBef>
                <a:spcPts val="0"/>
              </a:spcBef>
              <a:spcAft>
                <a:spcPts val="0"/>
              </a:spcAft>
              <a:buSzPts val="1200"/>
              <a:buFont typeface="Twentieth Century"/>
              <a:buChar char="●"/>
            </a:pPr>
            <a:r>
              <a:rPr b="1" lang="en" sz="1200">
                <a:latin typeface="Twentieth Century"/>
                <a:ea typeface="Twentieth Century"/>
                <a:cs typeface="Twentieth Century"/>
                <a:sym typeface="Twentieth Century"/>
              </a:rPr>
              <a:t>Windows users</a:t>
            </a:r>
            <a:endParaRPr b="1" sz="1200">
              <a:latin typeface="Twentieth Century"/>
              <a:ea typeface="Twentieth Century"/>
              <a:cs typeface="Twentieth Century"/>
              <a:sym typeface="Twentieth Century"/>
            </a:endParaRPr>
          </a:p>
          <a:p>
            <a:pPr indent="-304800" lvl="1" marL="914400" rtl="0" algn="l">
              <a:lnSpc>
                <a:spcPct val="200000"/>
              </a:lnSpc>
              <a:spcBef>
                <a:spcPts val="0"/>
              </a:spcBef>
              <a:spcAft>
                <a:spcPts val="0"/>
              </a:spcAft>
              <a:buSzPts val="1200"/>
              <a:buFont typeface="Twentieth Century"/>
              <a:buChar char="○"/>
            </a:pPr>
            <a:r>
              <a:rPr lang="en" sz="1200">
                <a:latin typeface="Twentieth Century"/>
                <a:ea typeface="Twentieth Century"/>
                <a:cs typeface="Twentieth Century"/>
                <a:sym typeface="Twentieth Century"/>
              </a:rPr>
              <a:t>If you do not already have Python installed on your computer, visit </a:t>
            </a:r>
            <a:r>
              <a:rPr lang="en" sz="1200" u="sng">
                <a:solidFill>
                  <a:srgbClr val="1155CC"/>
                </a:solidFill>
                <a:latin typeface="Twentieth Century"/>
                <a:ea typeface="Twentieth Century"/>
                <a:cs typeface="Twentieth Century"/>
                <a:sym typeface="Twentieth Century"/>
                <a:hlinkClick r:id="rId3">
                  <a:extLst>
                    <a:ext uri="{A12FA001-AC4F-418D-AE19-62706E023703}">
                      <ahyp:hlinkClr val="tx"/>
                    </a:ext>
                  </a:extLst>
                </a:hlinkClick>
              </a:rPr>
              <a:t>https://www.python.org/downloads/</a:t>
            </a:r>
            <a:r>
              <a:rPr lang="en" sz="1200">
                <a:latin typeface="Twentieth Century"/>
                <a:ea typeface="Twentieth Century"/>
                <a:cs typeface="Twentieth Century"/>
                <a:sym typeface="Twentieth Century"/>
              </a:rPr>
              <a:t> to install the latest version of Python 3</a:t>
            </a:r>
            <a:endParaRPr sz="1200">
              <a:latin typeface="Twentieth Century"/>
              <a:ea typeface="Twentieth Century"/>
              <a:cs typeface="Twentieth Century"/>
              <a:sym typeface="Twentieth Century"/>
            </a:endParaRPr>
          </a:p>
        </p:txBody>
      </p:sp>
      <p:pic>
        <p:nvPicPr>
          <p:cNvPr id="92" name="Google Shape;92;p18"/>
          <p:cNvPicPr preferRelativeResize="0"/>
          <p:nvPr/>
        </p:nvPicPr>
        <p:blipFill rotWithShape="1">
          <a:blip r:embed="rId4">
            <a:alphaModFix/>
          </a:blip>
          <a:srcRect b="0" l="0" r="0" t="0"/>
          <a:stretch/>
        </p:blipFill>
        <p:spPr>
          <a:xfrm>
            <a:off x="8118050" y="1061750"/>
            <a:ext cx="755100" cy="7550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Python Package Software Installation Support</a:t>
            </a:r>
            <a:endParaRPr b="1" sz="2500">
              <a:solidFill>
                <a:schemeClr val="lt1"/>
              </a:solidFill>
              <a:latin typeface="Twentieth Century"/>
              <a:ea typeface="Twentieth Century"/>
              <a:cs typeface="Twentieth Century"/>
              <a:sym typeface="Twentieth Century"/>
            </a:endParaRPr>
          </a:p>
        </p:txBody>
      </p:sp>
      <p:sp>
        <p:nvSpPr>
          <p:cNvPr id="98" name="Google Shape;98;p19"/>
          <p:cNvSpPr txBox="1"/>
          <p:nvPr>
            <p:ph idx="1" type="body"/>
          </p:nvPr>
        </p:nvSpPr>
        <p:spPr>
          <a:xfrm>
            <a:off x="138900" y="942500"/>
            <a:ext cx="8824800" cy="19308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228600">
            <a:normAutofit/>
          </a:bodyPr>
          <a:lstStyle/>
          <a:p>
            <a:pPr indent="-304800" lvl="0" marL="457200" rtl="0" algn="l">
              <a:lnSpc>
                <a:spcPct val="200000"/>
              </a:lnSpc>
              <a:spcBef>
                <a:spcPts val="0"/>
              </a:spcBef>
              <a:spcAft>
                <a:spcPts val="0"/>
              </a:spcAft>
              <a:buSzPts val="1200"/>
              <a:buFont typeface="Twentieth Century"/>
              <a:buChar char="●"/>
            </a:pPr>
            <a:r>
              <a:rPr lang="en" sz="1200">
                <a:latin typeface="Twentieth Century"/>
                <a:ea typeface="Twentieth Century"/>
                <a:cs typeface="Twentieth Century"/>
                <a:sym typeface="Twentieth Century"/>
              </a:rPr>
              <a:t>Make sure you can install new Python packages using the Terminal (MacOS) or Command Prompt (Windows) using the following example prompts:</a:t>
            </a:r>
            <a:endParaRPr sz="1200">
              <a:latin typeface="Twentieth Century"/>
              <a:ea typeface="Twentieth Century"/>
              <a:cs typeface="Twentieth Century"/>
              <a:sym typeface="Twentieth Century"/>
            </a:endParaRPr>
          </a:p>
          <a:p>
            <a:pPr indent="-304800" lvl="1" marL="914400" rtl="0" algn="l">
              <a:lnSpc>
                <a:spcPct val="200000"/>
              </a:lnSpc>
              <a:spcBef>
                <a:spcPts val="0"/>
              </a:spcBef>
              <a:spcAft>
                <a:spcPts val="0"/>
              </a:spcAft>
              <a:buSzPts val="1200"/>
              <a:buFont typeface="Twentieth Century"/>
              <a:buChar char="○"/>
            </a:pPr>
            <a:r>
              <a:rPr lang="en" sz="1200">
                <a:latin typeface="Twentieth Century"/>
                <a:ea typeface="Twentieth Century"/>
                <a:cs typeface="Twentieth Century"/>
                <a:sym typeface="Twentieth Century"/>
              </a:rPr>
              <a:t>The command on a Windows PC for installing the </a:t>
            </a:r>
            <a:r>
              <a:rPr i="1" lang="en" sz="1200">
                <a:latin typeface="Twentieth Century"/>
                <a:ea typeface="Twentieth Century"/>
                <a:cs typeface="Twentieth Century"/>
                <a:sym typeface="Twentieth Century"/>
              </a:rPr>
              <a:t>pandas </a:t>
            </a:r>
            <a:r>
              <a:rPr lang="en" sz="1200">
                <a:latin typeface="Twentieth Century"/>
                <a:ea typeface="Twentieth Century"/>
                <a:cs typeface="Twentieth Century"/>
                <a:sym typeface="Twentieth Century"/>
              </a:rPr>
              <a:t>package should be:     </a:t>
            </a:r>
            <a:r>
              <a:rPr b="1" lang="en" sz="1200">
                <a:latin typeface="Twentieth Century"/>
                <a:ea typeface="Twentieth Century"/>
                <a:cs typeface="Twentieth Century"/>
                <a:sym typeface="Twentieth Century"/>
              </a:rPr>
              <a:t>python -m pip install pandas</a:t>
            </a:r>
            <a:endParaRPr b="1" sz="1200">
              <a:latin typeface="Twentieth Century"/>
              <a:ea typeface="Twentieth Century"/>
              <a:cs typeface="Twentieth Century"/>
              <a:sym typeface="Twentieth Century"/>
            </a:endParaRPr>
          </a:p>
          <a:p>
            <a:pPr indent="-304800" lvl="1" marL="914400" rtl="0" algn="l">
              <a:lnSpc>
                <a:spcPct val="200000"/>
              </a:lnSpc>
              <a:spcBef>
                <a:spcPts val="0"/>
              </a:spcBef>
              <a:spcAft>
                <a:spcPts val="0"/>
              </a:spcAft>
              <a:buSzPts val="1200"/>
              <a:buFont typeface="Twentieth Century"/>
              <a:buChar char="○"/>
            </a:pPr>
            <a:r>
              <a:rPr lang="en" sz="1200">
                <a:latin typeface="Twentieth Century"/>
                <a:ea typeface="Twentieth Century"/>
                <a:cs typeface="Twentieth Century"/>
                <a:sym typeface="Twentieth Century"/>
              </a:rPr>
              <a:t>The command on a Mac for installing the </a:t>
            </a:r>
            <a:r>
              <a:rPr i="1" lang="en" sz="1200">
                <a:latin typeface="Twentieth Century"/>
                <a:ea typeface="Twentieth Century"/>
                <a:cs typeface="Twentieth Century"/>
                <a:sym typeface="Twentieth Century"/>
              </a:rPr>
              <a:t>pandas </a:t>
            </a:r>
            <a:r>
              <a:rPr lang="en" sz="1200">
                <a:latin typeface="Twentieth Century"/>
                <a:ea typeface="Twentieth Century"/>
                <a:cs typeface="Twentieth Century"/>
                <a:sym typeface="Twentieth Century"/>
              </a:rPr>
              <a:t>package should be:     </a:t>
            </a:r>
            <a:r>
              <a:rPr b="1" lang="en" sz="1200">
                <a:latin typeface="Twentieth Century"/>
                <a:ea typeface="Twentieth Century"/>
                <a:cs typeface="Twentieth Century"/>
                <a:sym typeface="Twentieth Century"/>
              </a:rPr>
              <a:t>python3 -m pip install pandas</a:t>
            </a:r>
            <a:endParaRPr b="1" sz="1200">
              <a:latin typeface="Twentieth Century"/>
              <a:ea typeface="Twentieth Century"/>
              <a:cs typeface="Twentieth Century"/>
              <a:sym typeface="Twentieth Century"/>
            </a:endParaRPr>
          </a:p>
        </p:txBody>
      </p:sp>
      <p:pic>
        <p:nvPicPr>
          <p:cNvPr id="99" name="Google Shape;99;p19"/>
          <p:cNvPicPr preferRelativeResize="0"/>
          <p:nvPr/>
        </p:nvPicPr>
        <p:blipFill>
          <a:blip r:embed="rId3">
            <a:alphaModFix/>
          </a:blip>
          <a:stretch>
            <a:fillRect/>
          </a:stretch>
        </p:blipFill>
        <p:spPr>
          <a:xfrm>
            <a:off x="152400" y="3025700"/>
            <a:ext cx="4594932" cy="1965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VSCode Software Installation Support</a:t>
            </a:r>
            <a:endParaRPr b="1" sz="2500">
              <a:solidFill>
                <a:schemeClr val="lt1"/>
              </a:solidFill>
              <a:latin typeface="Twentieth Century"/>
              <a:ea typeface="Twentieth Century"/>
              <a:cs typeface="Twentieth Century"/>
              <a:sym typeface="Twentieth Century"/>
            </a:endParaRPr>
          </a:p>
        </p:txBody>
      </p:sp>
      <p:sp>
        <p:nvSpPr>
          <p:cNvPr id="105" name="Google Shape;105;p20"/>
          <p:cNvSpPr txBox="1"/>
          <p:nvPr>
            <p:ph idx="1" type="body"/>
          </p:nvPr>
        </p:nvSpPr>
        <p:spPr>
          <a:xfrm>
            <a:off x="138900" y="942500"/>
            <a:ext cx="8866200" cy="4104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228600">
            <a:normAutofit/>
          </a:bodyPr>
          <a:lstStyle/>
          <a:p>
            <a:pPr indent="-304800" lvl="0" marL="457200" rtl="0" algn="l">
              <a:lnSpc>
                <a:spcPct val="150000"/>
              </a:lnSpc>
              <a:spcBef>
                <a:spcPts val="0"/>
              </a:spcBef>
              <a:spcAft>
                <a:spcPts val="0"/>
              </a:spcAft>
              <a:buSzPts val="1200"/>
              <a:buFont typeface="Twentieth Century"/>
              <a:buChar char="●"/>
            </a:pPr>
            <a:r>
              <a:rPr b="1" lang="en" sz="1200">
                <a:latin typeface="Twentieth Century"/>
                <a:ea typeface="Twentieth Century"/>
                <a:cs typeface="Twentieth Century"/>
                <a:sym typeface="Twentieth Century"/>
              </a:rPr>
              <a:t>Visit </a:t>
            </a:r>
            <a:r>
              <a:rPr b="1" lang="en" sz="1200" u="sng">
                <a:solidFill>
                  <a:srgbClr val="1155CC"/>
                </a:solidFill>
                <a:latin typeface="Twentieth Century"/>
                <a:ea typeface="Twentieth Century"/>
                <a:cs typeface="Twentieth Century"/>
                <a:sym typeface="Twentieth Century"/>
                <a:hlinkClick r:id="rId3">
                  <a:extLst>
                    <a:ext uri="{A12FA001-AC4F-418D-AE19-62706E023703}">
                      <ahyp:hlinkClr val="tx"/>
                    </a:ext>
                  </a:extLst>
                </a:hlinkClick>
              </a:rPr>
              <a:t>https://code.visualstudio.com/download</a:t>
            </a:r>
            <a:r>
              <a:rPr b="1" lang="en" sz="1200">
                <a:latin typeface="Twentieth Century"/>
                <a:ea typeface="Twentieth Century"/>
                <a:cs typeface="Twentieth Century"/>
                <a:sym typeface="Twentieth Century"/>
              </a:rPr>
              <a:t> to download the VSCode installer for your system</a:t>
            </a:r>
            <a:endParaRPr b="1" sz="1200">
              <a:latin typeface="Twentieth Century"/>
              <a:ea typeface="Twentieth Century"/>
              <a:cs typeface="Twentieth Century"/>
              <a:sym typeface="Twentieth Century"/>
            </a:endParaRPr>
          </a:p>
          <a:p>
            <a:pPr indent="0" lvl="0" marL="457200" rtl="0" algn="l">
              <a:lnSpc>
                <a:spcPct val="150000"/>
              </a:lnSpc>
              <a:spcBef>
                <a:spcPts val="900"/>
              </a:spcBef>
              <a:spcAft>
                <a:spcPts val="0"/>
              </a:spcAft>
              <a:buNone/>
            </a:pPr>
            <a:r>
              <a:t/>
            </a:r>
            <a:endParaRPr sz="1200">
              <a:latin typeface="Twentieth Century"/>
              <a:ea typeface="Twentieth Century"/>
              <a:cs typeface="Twentieth Century"/>
              <a:sym typeface="Twentieth Century"/>
            </a:endParaRPr>
          </a:p>
          <a:p>
            <a:pPr indent="0" lvl="0" marL="457200" rtl="0" algn="l">
              <a:lnSpc>
                <a:spcPct val="150000"/>
              </a:lnSpc>
              <a:spcBef>
                <a:spcPts val="900"/>
              </a:spcBef>
              <a:spcAft>
                <a:spcPts val="0"/>
              </a:spcAft>
              <a:buNone/>
            </a:pPr>
            <a:r>
              <a:t/>
            </a:r>
            <a:endParaRPr sz="1200">
              <a:latin typeface="Twentieth Century"/>
              <a:ea typeface="Twentieth Century"/>
              <a:cs typeface="Twentieth Century"/>
              <a:sym typeface="Twentieth Century"/>
            </a:endParaRPr>
          </a:p>
          <a:p>
            <a:pPr indent="0" lvl="0" marL="457200" rtl="0" algn="l">
              <a:lnSpc>
                <a:spcPct val="150000"/>
              </a:lnSpc>
              <a:spcBef>
                <a:spcPts val="900"/>
              </a:spcBef>
              <a:spcAft>
                <a:spcPts val="0"/>
              </a:spcAft>
              <a:buNone/>
            </a:pPr>
            <a:r>
              <a:t/>
            </a:r>
            <a:endParaRPr sz="1200">
              <a:latin typeface="Twentieth Century"/>
              <a:ea typeface="Twentieth Century"/>
              <a:cs typeface="Twentieth Century"/>
              <a:sym typeface="Twentieth Century"/>
            </a:endParaRPr>
          </a:p>
          <a:p>
            <a:pPr indent="-304800" lvl="0" marL="457200" rtl="0" algn="l">
              <a:lnSpc>
                <a:spcPct val="150000"/>
              </a:lnSpc>
              <a:spcBef>
                <a:spcPts val="900"/>
              </a:spcBef>
              <a:spcAft>
                <a:spcPts val="0"/>
              </a:spcAft>
              <a:buSzPts val="1200"/>
              <a:buFont typeface="Twentieth Century"/>
              <a:buChar char="●"/>
            </a:pPr>
            <a:r>
              <a:rPr lang="en" sz="1200">
                <a:latin typeface="Twentieth Century"/>
                <a:ea typeface="Twentieth Century"/>
                <a:cs typeface="Twentieth Century"/>
                <a:sym typeface="Twentieth Century"/>
              </a:rPr>
              <a:t>Once the installation is complete, open VSCode on your computer to make sure it has been successfully set up</a:t>
            </a:r>
            <a:endParaRPr sz="1200">
              <a:latin typeface="Twentieth Century"/>
              <a:ea typeface="Twentieth Century"/>
              <a:cs typeface="Twentieth Century"/>
              <a:sym typeface="Twentieth Century"/>
            </a:endParaRPr>
          </a:p>
          <a:p>
            <a:pPr indent="-304800" lvl="0" marL="457200" rtl="0" algn="l">
              <a:lnSpc>
                <a:spcPct val="150000"/>
              </a:lnSpc>
              <a:spcBef>
                <a:spcPts val="900"/>
              </a:spcBef>
              <a:spcAft>
                <a:spcPts val="0"/>
              </a:spcAft>
              <a:buSzPts val="1200"/>
              <a:buFont typeface="Twentieth Century"/>
              <a:buChar char="●"/>
            </a:pPr>
            <a:r>
              <a:rPr lang="en" sz="1200">
                <a:latin typeface="Twentieth Century"/>
                <a:ea typeface="Twentieth Century"/>
                <a:cs typeface="Twentieth Century"/>
                <a:sym typeface="Twentieth Century"/>
              </a:rPr>
              <a:t>Create a new file with the extension .py (to designate the file as a Python script)</a:t>
            </a:r>
            <a:endParaRPr sz="1200">
              <a:latin typeface="Twentieth Century"/>
              <a:ea typeface="Twentieth Century"/>
              <a:cs typeface="Twentieth Century"/>
              <a:sym typeface="Twentieth Century"/>
            </a:endParaRPr>
          </a:p>
          <a:p>
            <a:pPr indent="-304800" lvl="1" marL="914400" rtl="0" algn="l">
              <a:lnSpc>
                <a:spcPct val="150000"/>
              </a:lnSpc>
              <a:spcBef>
                <a:spcPts val="900"/>
              </a:spcBef>
              <a:spcAft>
                <a:spcPts val="0"/>
              </a:spcAft>
              <a:buSzPts val="1200"/>
              <a:buFont typeface="Twentieth Century"/>
              <a:buChar char="○"/>
            </a:pPr>
            <a:r>
              <a:rPr lang="en" sz="1200">
                <a:latin typeface="Twentieth Century"/>
                <a:ea typeface="Twentieth Century"/>
                <a:cs typeface="Twentieth Century"/>
                <a:sym typeface="Twentieth Century"/>
              </a:rPr>
              <a:t>This should trigger the download of the Python extension if you do not have it in VSCode already</a:t>
            </a:r>
            <a:endParaRPr sz="1200">
              <a:latin typeface="Twentieth Century"/>
              <a:ea typeface="Twentieth Century"/>
              <a:cs typeface="Twentieth Century"/>
              <a:sym typeface="Twentieth Century"/>
            </a:endParaRPr>
          </a:p>
          <a:p>
            <a:pPr indent="-304800" lvl="0" marL="457200" rtl="0" algn="l">
              <a:lnSpc>
                <a:spcPct val="150000"/>
              </a:lnSpc>
              <a:spcBef>
                <a:spcPts val="900"/>
              </a:spcBef>
              <a:spcAft>
                <a:spcPts val="0"/>
              </a:spcAft>
              <a:buSzPts val="1200"/>
              <a:buFont typeface="Twentieth Century"/>
              <a:buChar char="●"/>
            </a:pPr>
            <a:r>
              <a:rPr lang="en" sz="1200">
                <a:latin typeface="Twentieth Century"/>
                <a:ea typeface="Twentieth Century"/>
                <a:cs typeface="Twentieth Century"/>
                <a:sym typeface="Twentieth Century"/>
              </a:rPr>
              <a:t>Try clicking the play/run button in the upper right corner of VSCode to run the script</a:t>
            </a:r>
            <a:endParaRPr sz="1200">
              <a:latin typeface="Twentieth Century"/>
              <a:ea typeface="Twentieth Century"/>
              <a:cs typeface="Twentieth Century"/>
              <a:sym typeface="Twentieth Century"/>
            </a:endParaRPr>
          </a:p>
          <a:p>
            <a:pPr indent="-304800" lvl="0" marL="457200" rtl="0" algn="l">
              <a:lnSpc>
                <a:spcPct val="150000"/>
              </a:lnSpc>
              <a:spcBef>
                <a:spcPts val="900"/>
              </a:spcBef>
              <a:spcAft>
                <a:spcPts val="900"/>
              </a:spcAft>
              <a:buSzPts val="1200"/>
              <a:buFont typeface="Twentieth Century"/>
              <a:buChar char="●"/>
            </a:pPr>
            <a:r>
              <a:rPr lang="en" sz="1200">
                <a:latin typeface="Twentieth Century"/>
                <a:ea typeface="Twentieth Century"/>
                <a:cs typeface="Twentieth Century"/>
                <a:sym typeface="Twentieth Century"/>
              </a:rPr>
              <a:t>For additional detail about the process for running Python scripts in VSCode, visit the </a:t>
            </a:r>
            <a:r>
              <a:rPr lang="en" sz="1200" u="sng">
                <a:solidFill>
                  <a:schemeClr val="hlink"/>
                </a:solidFill>
                <a:latin typeface="Twentieth Century"/>
                <a:ea typeface="Twentieth Century"/>
                <a:cs typeface="Twentieth Century"/>
                <a:sym typeface="Twentieth Century"/>
                <a:hlinkClick r:id="rId4"/>
              </a:rPr>
              <a:t>Google Doc</a:t>
            </a:r>
            <a:r>
              <a:rPr lang="en" sz="1200">
                <a:latin typeface="Twentieth Century"/>
                <a:ea typeface="Twentieth Century"/>
                <a:cs typeface="Twentieth Century"/>
                <a:sym typeface="Twentieth Century"/>
              </a:rPr>
              <a:t> which describes how to verify your Python installation is correctly configured</a:t>
            </a:r>
            <a:endParaRPr sz="1200">
              <a:latin typeface="Twentieth Century"/>
              <a:ea typeface="Twentieth Century"/>
              <a:cs typeface="Twentieth Century"/>
              <a:sym typeface="Twentieth Century"/>
            </a:endParaRPr>
          </a:p>
        </p:txBody>
      </p:sp>
      <p:pic>
        <p:nvPicPr>
          <p:cNvPr id="106" name="Google Shape;106;p20"/>
          <p:cNvPicPr preferRelativeResize="0"/>
          <p:nvPr/>
        </p:nvPicPr>
        <p:blipFill>
          <a:blip r:embed="rId5">
            <a:alphaModFix/>
          </a:blip>
          <a:stretch>
            <a:fillRect/>
          </a:stretch>
        </p:blipFill>
        <p:spPr>
          <a:xfrm>
            <a:off x="8054800" y="1117000"/>
            <a:ext cx="858701" cy="858701"/>
          </a:xfrm>
          <a:prstGeom prst="rect">
            <a:avLst/>
          </a:prstGeom>
          <a:noFill/>
          <a:ln>
            <a:noFill/>
          </a:ln>
        </p:spPr>
      </p:pic>
      <p:pic>
        <p:nvPicPr>
          <p:cNvPr id="107" name="Google Shape;107;p20"/>
          <p:cNvPicPr preferRelativeResize="0"/>
          <p:nvPr/>
        </p:nvPicPr>
        <p:blipFill>
          <a:blip r:embed="rId6">
            <a:alphaModFix/>
          </a:blip>
          <a:stretch>
            <a:fillRect/>
          </a:stretch>
        </p:blipFill>
        <p:spPr>
          <a:xfrm>
            <a:off x="2998975" y="1408350"/>
            <a:ext cx="1960226" cy="1051826"/>
          </a:xfrm>
          <a:prstGeom prst="rect">
            <a:avLst/>
          </a:prstGeom>
          <a:noFill/>
          <a:ln>
            <a:noFill/>
          </a:ln>
        </p:spPr>
      </p:pic>
      <p:pic>
        <p:nvPicPr>
          <p:cNvPr id="108" name="Google Shape;108;p20"/>
          <p:cNvPicPr preferRelativeResize="0"/>
          <p:nvPr/>
        </p:nvPicPr>
        <p:blipFill>
          <a:blip r:embed="rId7">
            <a:alphaModFix/>
          </a:blip>
          <a:stretch>
            <a:fillRect/>
          </a:stretch>
        </p:blipFill>
        <p:spPr>
          <a:xfrm>
            <a:off x="7341975" y="2965475"/>
            <a:ext cx="1571524" cy="421550"/>
          </a:xfrm>
          <a:prstGeom prst="rect">
            <a:avLst/>
          </a:prstGeom>
          <a:noFill/>
          <a:ln>
            <a:noFill/>
          </a:ln>
        </p:spPr>
      </p:pic>
      <p:pic>
        <p:nvPicPr>
          <p:cNvPr id="109" name="Google Shape;109;p20"/>
          <p:cNvPicPr preferRelativeResize="0"/>
          <p:nvPr/>
        </p:nvPicPr>
        <p:blipFill>
          <a:blip r:embed="rId8">
            <a:alphaModFix/>
          </a:blip>
          <a:stretch>
            <a:fillRect/>
          </a:stretch>
        </p:blipFill>
        <p:spPr>
          <a:xfrm>
            <a:off x="6085721" y="3828319"/>
            <a:ext cx="2332699" cy="345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GitHub Desktop Software Installation Support</a:t>
            </a:r>
            <a:endParaRPr b="1" sz="2500">
              <a:solidFill>
                <a:schemeClr val="lt1"/>
              </a:solidFill>
              <a:latin typeface="Twentieth Century"/>
              <a:ea typeface="Twentieth Century"/>
              <a:cs typeface="Twentieth Century"/>
              <a:sym typeface="Twentieth Century"/>
            </a:endParaRPr>
          </a:p>
        </p:txBody>
      </p:sp>
      <p:sp>
        <p:nvSpPr>
          <p:cNvPr id="115" name="Google Shape;115;p21"/>
          <p:cNvSpPr txBox="1"/>
          <p:nvPr>
            <p:ph idx="1" type="body"/>
          </p:nvPr>
        </p:nvSpPr>
        <p:spPr>
          <a:xfrm>
            <a:off x="138900" y="942500"/>
            <a:ext cx="8866200" cy="4104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228600">
            <a:normAutofit/>
          </a:bodyPr>
          <a:lstStyle/>
          <a:p>
            <a:pPr indent="-304800" lvl="0" marL="457200" rtl="0" algn="l">
              <a:lnSpc>
                <a:spcPct val="200000"/>
              </a:lnSpc>
              <a:spcBef>
                <a:spcPts val="0"/>
              </a:spcBef>
              <a:spcAft>
                <a:spcPts val="0"/>
              </a:spcAft>
              <a:buSzPts val="1200"/>
              <a:buFont typeface="Twentieth Century"/>
              <a:buChar char="●"/>
            </a:pPr>
            <a:r>
              <a:rPr b="1" lang="en" sz="1200">
                <a:latin typeface="Twentieth Century"/>
                <a:ea typeface="Twentieth Century"/>
                <a:cs typeface="Twentieth Century"/>
                <a:sym typeface="Twentieth Century"/>
              </a:rPr>
              <a:t>The installation process for GitHub Desktop on Macs and Windows PCs is similar - just visit </a:t>
            </a:r>
            <a:r>
              <a:rPr b="1" lang="en" sz="1200" u="sng">
                <a:solidFill>
                  <a:srgbClr val="1155CC"/>
                </a:solidFill>
                <a:latin typeface="Twentieth Century"/>
                <a:ea typeface="Twentieth Century"/>
                <a:cs typeface="Twentieth Century"/>
                <a:sym typeface="Twentieth Century"/>
                <a:hlinkClick r:id="rId3">
                  <a:extLst>
                    <a:ext uri="{A12FA001-AC4F-418D-AE19-62706E023703}">
                      <ahyp:hlinkClr val="tx"/>
                    </a:ext>
                  </a:extLst>
                </a:hlinkClick>
              </a:rPr>
              <a:t>https://desktop.github.com/download/</a:t>
            </a:r>
            <a:r>
              <a:rPr lang="en" sz="1200">
                <a:latin typeface="Twentieth Century"/>
                <a:ea typeface="Twentieth Century"/>
                <a:cs typeface="Twentieth Century"/>
                <a:sym typeface="Twentieth Century"/>
              </a:rPr>
              <a:t> to download the installer and load the software on your computer</a:t>
            </a:r>
            <a:endParaRPr sz="1200">
              <a:latin typeface="Twentieth Century"/>
              <a:ea typeface="Twentieth Century"/>
              <a:cs typeface="Twentieth Century"/>
              <a:sym typeface="Twentieth Century"/>
            </a:endParaRPr>
          </a:p>
          <a:p>
            <a:pPr indent="-304800" lvl="0" marL="457200" rtl="0" algn="l">
              <a:lnSpc>
                <a:spcPct val="200000"/>
              </a:lnSpc>
              <a:spcBef>
                <a:spcPts val="0"/>
              </a:spcBef>
              <a:spcAft>
                <a:spcPts val="0"/>
              </a:spcAft>
              <a:buSzPts val="1200"/>
              <a:buFont typeface="Twentieth Century"/>
              <a:buChar char="●"/>
            </a:pPr>
            <a:r>
              <a:rPr lang="en" sz="1200">
                <a:latin typeface="Twentieth Century"/>
                <a:ea typeface="Twentieth Century"/>
                <a:cs typeface="Twentieth Century"/>
                <a:sym typeface="Twentieth Century"/>
              </a:rPr>
              <a:t>Once GitHub Desktop is installed, make sure you can open it successfully</a:t>
            </a:r>
            <a:endParaRPr sz="1200">
              <a:latin typeface="Twentieth Century"/>
              <a:ea typeface="Twentieth Century"/>
              <a:cs typeface="Twentieth Century"/>
              <a:sym typeface="Twentieth Century"/>
            </a:endParaRPr>
          </a:p>
          <a:p>
            <a:pPr indent="-304800" lvl="0" marL="457200" rtl="0" algn="l">
              <a:lnSpc>
                <a:spcPct val="200000"/>
              </a:lnSpc>
              <a:spcBef>
                <a:spcPts val="0"/>
              </a:spcBef>
              <a:spcAft>
                <a:spcPts val="0"/>
              </a:spcAft>
              <a:buSzPts val="1200"/>
              <a:buFont typeface="Twentieth Century"/>
              <a:buChar char="●"/>
            </a:pPr>
            <a:r>
              <a:rPr lang="en" sz="1200">
                <a:latin typeface="Twentieth Century"/>
                <a:ea typeface="Twentieth Century"/>
                <a:cs typeface="Twentieth Century"/>
                <a:sym typeface="Twentieth Century"/>
              </a:rPr>
              <a:t>With GitHub Desktop open, log in to your GitHub.com account</a:t>
            </a:r>
            <a:endParaRPr sz="1200">
              <a:latin typeface="Twentieth Century"/>
              <a:ea typeface="Twentieth Century"/>
              <a:cs typeface="Twentieth Century"/>
              <a:sym typeface="Twentieth Century"/>
            </a:endParaRPr>
          </a:p>
          <a:p>
            <a:pPr indent="-304800" lvl="1" marL="914400" rtl="0" algn="l">
              <a:lnSpc>
                <a:spcPct val="200000"/>
              </a:lnSpc>
              <a:spcBef>
                <a:spcPts val="0"/>
              </a:spcBef>
              <a:spcAft>
                <a:spcPts val="0"/>
              </a:spcAft>
              <a:buSzPts val="1200"/>
              <a:buFont typeface="Twentieth Century"/>
              <a:buChar char="○"/>
            </a:pPr>
            <a:r>
              <a:rPr lang="en" sz="1200">
                <a:latin typeface="Twentieth Century"/>
                <a:ea typeface="Twentieth Century"/>
                <a:cs typeface="Twentieth Century"/>
                <a:sym typeface="Twentieth Century"/>
              </a:rPr>
              <a:t>If you do not already have a GitHub account, it would be good to set one up before the Immersive Python Workshop.</a:t>
            </a:r>
            <a:endParaRPr sz="1200">
              <a:latin typeface="Twentieth Century"/>
              <a:ea typeface="Twentieth Century"/>
              <a:cs typeface="Twentieth Century"/>
              <a:sym typeface="Twentieth Century"/>
            </a:endParaRPr>
          </a:p>
        </p:txBody>
      </p:sp>
      <p:pic>
        <p:nvPicPr>
          <p:cNvPr id="116" name="Google Shape;116;p21"/>
          <p:cNvPicPr preferRelativeResize="0"/>
          <p:nvPr/>
        </p:nvPicPr>
        <p:blipFill>
          <a:blip r:embed="rId4">
            <a:alphaModFix/>
          </a:blip>
          <a:stretch>
            <a:fillRect/>
          </a:stretch>
        </p:blipFill>
        <p:spPr>
          <a:xfrm>
            <a:off x="7570050" y="1032225"/>
            <a:ext cx="1276974" cy="1276974"/>
          </a:xfrm>
          <a:prstGeom prst="rect">
            <a:avLst/>
          </a:prstGeom>
          <a:noFill/>
          <a:ln>
            <a:noFill/>
          </a:ln>
        </p:spPr>
      </p:pic>
      <p:pic>
        <p:nvPicPr>
          <p:cNvPr id="117" name="Google Shape;117;p21"/>
          <p:cNvPicPr preferRelativeResize="0"/>
          <p:nvPr/>
        </p:nvPicPr>
        <p:blipFill>
          <a:blip r:embed="rId5">
            <a:alphaModFix/>
          </a:blip>
          <a:stretch>
            <a:fillRect/>
          </a:stretch>
        </p:blipFill>
        <p:spPr>
          <a:xfrm>
            <a:off x="2391626" y="3099474"/>
            <a:ext cx="2684873" cy="184162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Git Software Installation Support</a:t>
            </a:r>
            <a:endParaRPr b="1" sz="2500">
              <a:solidFill>
                <a:schemeClr val="lt1"/>
              </a:solidFill>
              <a:latin typeface="Twentieth Century"/>
              <a:ea typeface="Twentieth Century"/>
              <a:cs typeface="Twentieth Century"/>
              <a:sym typeface="Twentieth Century"/>
            </a:endParaRPr>
          </a:p>
        </p:txBody>
      </p:sp>
      <p:sp>
        <p:nvSpPr>
          <p:cNvPr id="123" name="Google Shape;123;p22"/>
          <p:cNvSpPr txBox="1"/>
          <p:nvPr>
            <p:ph idx="1" type="body"/>
          </p:nvPr>
        </p:nvSpPr>
        <p:spPr>
          <a:xfrm>
            <a:off x="138900" y="942500"/>
            <a:ext cx="8866200" cy="4104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228600">
            <a:normAutofit fontScale="77500" lnSpcReduction="10000"/>
          </a:bodyPr>
          <a:lstStyle/>
          <a:p>
            <a:pPr indent="-292576" lvl="1" marL="457200" rtl="0" algn="l">
              <a:lnSpc>
                <a:spcPct val="200000"/>
              </a:lnSpc>
              <a:spcBef>
                <a:spcPts val="0"/>
              </a:spcBef>
              <a:spcAft>
                <a:spcPts val="0"/>
              </a:spcAft>
              <a:buSzPct val="100000"/>
              <a:buFont typeface="Twentieth Century"/>
              <a:buChar char="○"/>
            </a:pPr>
            <a:r>
              <a:rPr lang="en" sz="1300">
                <a:latin typeface="Twentieth Century"/>
                <a:ea typeface="Twentieth Century"/>
                <a:cs typeface="Twentieth Century"/>
                <a:sym typeface="Twentieth Century"/>
              </a:rPr>
              <a:t>For </a:t>
            </a:r>
            <a:r>
              <a:rPr b="1" lang="en" sz="1300">
                <a:latin typeface="Twentieth Century"/>
                <a:ea typeface="Twentieth Century"/>
                <a:cs typeface="Twentieth Century"/>
                <a:sym typeface="Twentieth Century"/>
              </a:rPr>
              <a:t>Windows </a:t>
            </a:r>
            <a:r>
              <a:rPr lang="en" sz="1300">
                <a:latin typeface="Twentieth Century"/>
                <a:ea typeface="Twentieth Century"/>
                <a:cs typeface="Twentieth Century"/>
                <a:sym typeface="Twentieth Century"/>
              </a:rPr>
              <a:t>users, download the Git installer from: </a:t>
            </a:r>
            <a:r>
              <a:rPr lang="en" sz="1300" u="sng">
                <a:solidFill>
                  <a:schemeClr val="hlink"/>
                </a:solidFill>
                <a:latin typeface="Twentieth Century"/>
                <a:ea typeface="Twentieth Century"/>
                <a:cs typeface="Twentieth Century"/>
                <a:sym typeface="Twentieth Century"/>
                <a:hlinkClick r:id="rId3"/>
              </a:rPr>
              <a:t>https://git-scm.com/downloads</a:t>
            </a:r>
            <a:endParaRPr b="1" sz="1300">
              <a:latin typeface="Twentieth Century"/>
              <a:ea typeface="Twentieth Century"/>
              <a:cs typeface="Twentieth Century"/>
              <a:sym typeface="Twentieth Century"/>
            </a:endParaRPr>
          </a:p>
          <a:p>
            <a:pPr indent="-292576" lvl="1" marL="457200" rtl="0" algn="l">
              <a:lnSpc>
                <a:spcPct val="200000"/>
              </a:lnSpc>
              <a:spcBef>
                <a:spcPts val="0"/>
              </a:spcBef>
              <a:spcAft>
                <a:spcPts val="0"/>
              </a:spcAft>
              <a:buSzPct val="100000"/>
              <a:buFont typeface="Twentieth Century"/>
              <a:buChar char="○"/>
            </a:pPr>
            <a:r>
              <a:rPr lang="en" sz="1300">
                <a:latin typeface="Twentieth Century"/>
                <a:ea typeface="Twentieth Century"/>
                <a:cs typeface="Twentieth Century"/>
                <a:sym typeface="Twentieth Century"/>
              </a:rPr>
              <a:t>For </a:t>
            </a:r>
            <a:r>
              <a:rPr b="1" lang="en" sz="1300">
                <a:latin typeface="Twentieth Century"/>
                <a:ea typeface="Twentieth Century"/>
                <a:cs typeface="Twentieth Century"/>
                <a:sym typeface="Twentieth Century"/>
              </a:rPr>
              <a:t>Mac </a:t>
            </a:r>
            <a:r>
              <a:rPr lang="en" sz="1300">
                <a:latin typeface="Twentieth Century"/>
                <a:ea typeface="Twentieth Century"/>
                <a:cs typeface="Twentieth Century"/>
                <a:sym typeface="Twentieth Century"/>
              </a:rPr>
              <a:t>users, open the Terminal on your computer and try running the </a:t>
            </a:r>
            <a:r>
              <a:rPr i="1" lang="en" sz="1300">
                <a:latin typeface="Twentieth Century"/>
                <a:ea typeface="Twentieth Century"/>
                <a:cs typeface="Twentieth Century"/>
                <a:sym typeface="Twentieth Century"/>
              </a:rPr>
              <a:t>git </a:t>
            </a:r>
            <a:r>
              <a:rPr lang="en" sz="1300">
                <a:latin typeface="Twentieth Century"/>
                <a:ea typeface="Twentieth Century"/>
                <a:cs typeface="Twentieth Century"/>
                <a:sym typeface="Twentieth Century"/>
              </a:rPr>
              <a:t>command</a:t>
            </a:r>
            <a:endParaRPr sz="1300">
              <a:latin typeface="Twentieth Century"/>
              <a:ea typeface="Twentieth Century"/>
              <a:cs typeface="Twentieth Century"/>
              <a:sym typeface="Twentieth Century"/>
            </a:endParaRPr>
          </a:p>
          <a:p>
            <a:pPr indent="-292576" lvl="2" marL="914400" rtl="0" algn="l">
              <a:lnSpc>
                <a:spcPct val="200000"/>
              </a:lnSpc>
              <a:spcBef>
                <a:spcPts val="0"/>
              </a:spcBef>
              <a:spcAft>
                <a:spcPts val="0"/>
              </a:spcAft>
              <a:buSzPct val="100000"/>
              <a:buFont typeface="Twentieth Century"/>
              <a:buChar char="■"/>
            </a:pPr>
            <a:r>
              <a:rPr lang="en" sz="1300">
                <a:latin typeface="Twentieth Century"/>
                <a:ea typeface="Twentieth Century"/>
                <a:cs typeface="Twentieth Century"/>
                <a:sym typeface="Twentieth Century"/>
              </a:rPr>
              <a:t>If you see a message that looks like the one below, you already have git installed and ready to use in the Terminal</a:t>
            </a:r>
            <a:endParaRPr sz="1300">
              <a:latin typeface="Twentieth Century"/>
              <a:ea typeface="Twentieth Century"/>
              <a:cs typeface="Twentieth Century"/>
              <a:sym typeface="Twentieth Century"/>
            </a:endParaRPr>
          </a:p>
          <a:p>
            <a:pPr indent="0" lvl="0" marL="1371600" rtl="0" algn="l">
              <a:lnSpc>
                <a:spcPct val="200000"/>
              </a:lnSpc>
              <a:spcBef>
                <a:spcPts val="1200"/>
              </a:spcBef>
              <a:spcAft>
                <a:spcPts val="0"/>
              </a:spcAft>
              <a:buNone/>
            </a:pPr>
            <a:r>
              <a:t/>
            </a:r>
            <a:endParaRPr sz="1300">
              <a:latin typeface="Twentieth Century"/>
              <a:ea typeface="Twentieth Century"/>
              <a:cs typeface="Twentieth Century"/>
              <a:sym typeface="Twentieth Century"/>
            </a:endParaRPr>
          </a:p>
          <a:p>
            <a:pPr indent="0" lvl="0" marL="1371600" rtl="0" algn="l">
              <a:lnSpc>
                <a:spcPct val="200000"/>
              </a:lnSpc>
              <a:spcBef>
                <a:spcPts val="1200"/>
              </a:spcBef>
              <a:spcAft>
                <a:spcPts val="0"/>
              </a:spcAft>
              <a:buNone/>
            </a:pPr>
            <a:r>
              <a:t/>
            </a:r>
            <a:endParaRPr sz="1300">
              <a:latin typeface="Twentieth Century"/>
              <a:ea typeface="Twentieth Century"/>
              <a:cs typeface="Twentieth Century"/>
              <a:sym typeface="Twentieth Century"/>
            </a:endParaRPr>
          </a:p>
          <a:p>
            <a:pPr indent="0" lvl="0" marL="0" rtl="0" algn="l">
              <a:lnSpc>
                <a:spcPct val="200000"/>
              </a:lnSpc>
              <a:spcBef>
                <a:spcPts val="1200"/>
              </a:spcBef>
              <a:spcAft>
                <a:spcPts val="0"/>
              </a:spcAft>
              <a:buNone/>
            </a:pPr>
            <a:r>
              <a:t/>
            </a:r>
            <a:endParaRPr sz="1300">
              <a:latin typeface="Twentieth Century"/>
              <a:ea typeface="Twentieth Century"/>
              <a:cs typeface="Twentieth Century"/>
              <a:sym typeface="Twentieth Century"/>
            </a:endParaRPr>
          </a:p>
          <a:p>
            <a:pPr indent="-292576" lvl="2" marL="914400" rtl="0" algn="l">
              <a:lnSpc>
                <a:spcPct val="200000"/>
              </a:lnSpc>
              <a:spcBef>
                <a:spcPts val="1200"/>
              </a:spcBef>
              <a:spcAft>
                <a:spcPts val="0"/>
              </a:spcAft>
              <a:buSzPct val="100000"/>
              <a:buFont typeface="Twentieth Century"/>
              <a:buChar char="■"/>
            </a:pPr>
            <a:r>
              <a:rPr lang="en" sz="1300">
                <a:latin typeface="Twentieth Century"/>
                <a:ea typeface="Twentieth Century"/>
                <a:cs typeface="Twentieth Century"/>
                <a:sym typeface="Twentieth Century"/>
              </a:rPr>
              <a:t> If you see a message that looks like this one below in the Terminal and see the popup message below, you need to install git so it is accessible from your Terminal. You can do this by clicking “Install” in the popup window.</a:t>
            </a:r>
            <a:endParaRPr sz="1300">
              <a:latin typeface="Twentieth Century"/>
              <a:ea typeface="Twentieth Century"/>
              <a:cs typeface="Twentieth Century"/>
              <a:sym typeface="Twentieth Century"/>
            </a:endParaRPr>
          </a:p>
          <a:p>
            <a:pPr indent="0" lvl="0" marL="1371600" rtl="0" algn="l">
              <a:lnSpc>
                <a:spcPct val="200000"/>
              </a:lnSpc>
              <a:spcBef>
                <a:spcPts val="1200"/>
              </a:spcBef>
              <a:spcAft>
                <a:spcPts val="0"/>
              </a:spcAft>
              <a:buNone/>
            </a:pPr>
            <a:r>
              <a:t/>
            </a:r>
            <a:endParaRPr sz="1300">
              <a:latin typeface="Twentieth Century"/>
              <a:ea typeface="Twentieth Century"/>
              <a:cs typeface="Twentieth Century"/>
              <a:sym typeface="Twentieth Century"/>
            </a:endParaRPr>
          </a:p>
          <a:p>
            <a:pPr indent="0" lvl="0" marL="0" rtl="0" algn="l">
              <a:lnSpc>
                <a:spcPct val="200000"/>
              </a:lnSpc>
              <a:spcBef>
                <a:spcPts val="1200"/>
              </a:spcBef>
              <a:spcAft>
                <a:spcPts val="1200"/>
              </a:spcAft>
              <a:buNone/>
            </a:pPr>
            <a:r>
              <a:t/>
            </a:r>
            <a:endParaRPr sz="1500">
              <a:latin typeface="Twentieth Century"/>
              <a:ea typeface="Twentieth Century"/>
              <a:cs typeface="Twentieth Century"/>
              <a:sym typeface="Twentieth Century"/>
            </a:endParaRPr>
          </a:p>
        </p:txBody>
      </p:sp>
      <p:pic>
        <p:nvPicPr>
          <p:cNvPr id="124" name="Google Shape;124;p22"/>
          <p:cNvPicPr preferRelativeResize="0"/>
          <p:nvPr/>
        </p:nvPicPr>
        <p:blipFill>
          <a:blip r:embed="rId4">
            <a:alphaModFix/>
          </a:blip>
          <a:stretch>
            <a:fillRect/>
          </a:stretch>
        </p:blipFill>
        <p:spPr>
          <a:xfrm>
            <a:off x="1248200" y="4424099"/>
            <a:ext cx="4129875" cy="443350"/>
          </a:xfrm>
          <a:prstGeom prst="rect">
            <a:avLst/>
          </a:prstGeom>
          <a:noFill/>
          <a:ln>
            <a:noFill/>
          </a:ln>
        </p:spPr>
      </p:pic>
      <p:pic>
        <p:nvPicPr>
          <p:cNvPr id="125" name="Google Shape;125;p22"/>
          <p:cNvPicPr preferRelativeResize="0"/>
          <p:nvPr/>
        </p:nvPicPr>
        <p:blipFill>
          <a:blip r:embed="rId5">
            <a:alphaModFix/>
          </a:blip>
          <a:stretch>
            <a:fillRect/>
          </a:stretch>
        </p:blipFill>
        <p:spPr>
          <a:xfrm>
            <a:off x="3007350" y="2251800"/>
            <a:ext cx="2312050" cy="1087349"/>
          </a:xfrm>
          <a:prstGeom prst="rect">
            <a:avLst/>
          </a:prstGeom>
          <a:noFill/>
          <a:ln>
            <a:noFill/>
          </a:ln>
        </p:spPr>
      </p:pic>
      <p:pic>
        <p:nvPicPr>
          <p:cNvPr id="126" name="Google Shape;126;p22"/>
          <p:cNvPicPr preferRelativeResize="0"/>
          <p:nvPr/>
        </p:nvPicPr>
        <p:blipFill>
          <a:blip r:embed="rId6">
            <a:alphaModFix/>
          </a:blip>
          <a:stretch>
            <a:fillRect/>
          </a:stretch>
        </p:blipFill>
        <p:spPr>
          <a:xfrm>
            <a:off x="5822050" y="4307723"/>
            <a:ext cx="1499001" cy="676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Common Software Installation Issues on Macs</a:t>
            </a:r>
            <a:endParaRPr b="1" sz="2500">
              <a:solidFill>
                <a:schemeClr val="lt1"/>
              </a:solidFill>
              <a:latin typeface="Twentieth Century"/>
              <a:ea typeface="Twentieth Century"/>
              <a:cs typeface="Twentieth Century"/>
              <a:sym typeface="Twentieth Century"/>
            </a:endParaRPr>
          </a:p>
        </p:txBody>
      </p:sp>
      <p:sp>
        <p:nvSpPr>
          <p:cNvPr id="132" name="Google Shape;132;p23"/>
          <p:cNvSpPr txBox="1"/>
          <p:nvPr>
            <p:ph idx="1" type="body"/>
          </p:nvPr>
        </p:nvSpPr>
        <p:spPr>
          <a:xfrm>
            <a:off x="134400" y="1024925"/>
            <a:ext cx="8866200" cy="39594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228600">
            <a:normAutofit/>
          </a:bodyPr>
          <a:lstStyle/>
          <a:p>
            <a:pPr indent="-304800" lvl="0" marL="457200" rtl="0" algn="l">
              <a:lnSpc>
                <a:spcPct val="150000"/>
              </a:lnSpc>
              <a:spcBef>
                <a:spcPts val="0"/>
              </a:spcBef>
              <a:spcAft>
                <a:spcPts val="0"/>
              </a:spcAft>
              <a:buSzPts val="1200"/>
              <a:buFont typeface="Twentieth Century"/>
              <a:buChar char="●"/>
            </a:pPr>
            <a:r>
              <a:rPr b="1" lang="en" sz="1200">
                <a:latin typeface="Twentieth Century"/>
                <a:ea typeface="Twentieth Century"/>
                <a:cs typeface="Twentieth Century"/>
                <a:sym typeface="Twentieth Century"/>
              </a:rPr>
              <a:t>ISSUE</a:t>
            </a:r>
            <a:r>
              <a:rPr lang="en" sz="1200">
                <a:latin typeface="Twentieth Century"/>
                <a:ea typeface="Twentieth Century"/>
                <a:cs typeface="Twentieth Century"/>
                <a:sym typeface="Twentieth Century"/>
              </a:rPr>
              <a:t>: you cannot run a Python script in VS Code</a:t>
            </a:r>
            <a:endParaRPr sz="1200">
              <a:latin typeface="Twentieth Century"/>
              <a:ea typeface="Twentieth Century"/>
              <a:cs typeface="Twentieth Century"/>
              <a:sym typeface="Twentieth Century"/>
            </a:endParaRPr>
          </a:p>
          <a:p>
            <a:pPr indent="-304800" lvl="0" marL="457200" rtl="0" algn="l">
              <a:lnSpc>
                <a:spcPct val="150000"/>
              </a:lnSpc>
              <a:spcBef>
                <a:spcPts val="1000"/>
              </a:spcBef>
              <a:spcAft>
                <a:spcPts val="0"/>
              </a:spcAft>
              <a:buSzPts val="1200"/>
              <a:buFont typeface="Twentieth Century"/>
              <a:buChar char="●"/>
            </a:pPr>
            <a:r>
              <a:rPr b="1" lang="en" sz="1200">
                <a:latin typeface="Twentieth Century"/>
                <a:ea typeface="Twentieth Century"/>
                <a:cs typeface="Twentieth Century"/>
                <a:sym typeface="Twentieth Century"/>
              </a:rPr>
              <a:t>CAUSE</a:t>
            </a:r>
            <a:r>
              <a:rPr lang="en" sz="1200">
                <a:latin typeface="Twentieth Century"/>
                <a:ea typeface="Twentieth Century"/>
                <a:cs typeface="Twentieth Century"/>
                <a:sym typeface="Twentieth Century"/>
              </a:rPr>
              <a:t>: the </a:t>
            </a:r>
            <a:r>
              <a:rPr i="1" lang="en" sz="1200">
                <a:latin typeface="Twentieth Century"/>
                <a:ea typeface="Twentieth Century"/>
                <a:cs typeface="Twentieth Century"/>
                <a:sym typeface="Twentieth Century"/>
              </a:rPr>
              <a:t>Python default interpreter path </a:t>
            </a:r>
            <a:r>
              <a:rPr lang="en" sz="1200">
                <a:latin typeface="Twentieth Century"/>
                <a:ea typeface="Twentieth Century"/>
                <a:cs typeface="Twentieth Century"/>
                <a:sym typeface="Twentieth Century"/>
              </a:rPr>
              <a:t>is not set correctly</a:t>
            </a:r>
            <a:endParaRPr sz="1200">
              <a:latin typeface="Twentieth Century"/>
              <a:ea typeface="Twentieth Century"/>
              <a:cs typeface="Twentieth Century"/>
              <a:sym typeface="Twentieth Century"/>
            </a:endParaRPr>
          </a:p>
          <a:p>
            <a:pPr indent="-304800" lvl="0" marL="457200" rtl="0" algn="l">
              <a:lnSpc>
                <a:spcPct val="150000"/>
              </a:lnSpc>
              <a:spcBef>
                <a:spcPts val="1000"/>
              </a:spcBef>
              <a:spcAft>
                <a:spcPts val="0"/>
              </a:spcAft>
              <a:buSzPts val="1200"/>
              <a:buFont typeface="Twentieth Century"/>
              <a:buChar char="●"/>
            </a:pPr>
            <a:r>
              <a:rPr b="1" lang="en" sz="1200">
                <a:latin typeface="Twentieth Century"/>
                <a:ea typeface="Twentieth Century"/>
                <a:cs typeface="Twentieth Century"/>
                <a:sym typeface="Twentieth Century"/>
              </a:rPr>
              <a:t>SOLUTION</a:t>
            </a:r>
            <a:r>
              <a:rPr lang="en" sz="1200">
                <a:latin typeface="Twentieth Century"/>
                <a:ea typeface="Twentieth Century"/>
                <a:cs typeface="Twentieth Century"/>
                <a:sym typeface="Twentieth Century"/>
              </a:rPr>
              <a:t>: In VSCode go to </a:t>
            </a:r>
            <a:r>
              <a:rPr i="1" lang="en" sz="1200">
                <a:latin typeface="Twentieth Century"/>
                <a:ea typeface="Twentieth Century"/>
                <a:cs typeface="Twentieth Century"/>
                <a:sym typeface="Twentieth Century"/>
              </a:rPr>
              <a:t>File &gt; Preferences &gt; Settings and search for the Python default interpreter path </a:t>
            </a:r>
            <a:r>
              <a:rPr lang="en" sz="1200">
                <a:latin typeface="Twentieth Century"/>
                <a:ea typeface="Twentieth Century"/>
                <a:cs typeface="Twentieth Century"/>
                <a:sym typeface="Twentieth Century"/>
              </a:rPr>
              <a:t>setting - when you find it, update the the value to the correct Python interpreter path which should be </a:t>
            </a:r>
            <a:r>
              <a:rPr i="1" lang="en" sz="1200">
                <a:latin typeface="Twentieth Century"/>
                <a:ea typeface="Twentieth Century"/>
                <a:cs typeface="Twentieth Century"/>
                <a:sym typeface="Twentieth Century"/>
              </a:rPr>
              <a:t>usr/bin/python3</a:t>
            </a:r>
            <a:endParaRPr i="1" sz="1200">
              <a:latin typeface="Twentieth Century"/>
              <a:ea typeface="Twentieth Century"/>
              <a:cs typeface="Twentieth Century"/>
              <a:sym typeface="Twentieth Century"/>
            </a:endParaRPr>
          </a:p>
          <a:p>
            <a:pPr indent="0" lvl="0" marL="0" rtl="0" algn="l">
              <a:lnSpc>
                <a:spcPct val="150000"/>
              </a:lnSpc>
              <a:spcBef>
                <a:spcPts val="1000"/>
              </a:spcBef>
              <a:spcAft>
                <a:spcPts val="1000"/>
              </a:spcAft>
              <a:buNone/>
            </a:pPr>
            <a:r>
              <a:t/>
            </a:r>
            <a:endParaRPr b="1" sz="1300">
              <a:latin typeface="Twentieth Century"/>
              <a:ea typeface="Twentieth Century"/>
              <a:cs typeface="Twentieth Century"/>
              <a:sym typeface="Twentieth Century"/>
            </a:endParaRPr>
          </a:p>
        </p:txBody>
      </p:sp>
      <p:pic>
        <p:nvPicPr>
          <p:cNvPr id="133" name="Google Shape;133;p23"/>
          <p:cNvPicPr preferRelativeResize="0"/>
          <p:nvPr/>
        </p:nvPicPr>
        <p:blipFill>
          <a:blip r:embed="rId3">
            <a:alphaModFix/>
          </a:blip>
          <a:stretch>
            <a:fillRect/>
          </a:stretch>
        </p:blipFill>
        <p:spPr>
          <a:xfrm>
            <a:off x="1608350" y="3046274"/>
            <a:ext cx="4744599" cy="1083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Common Software Installation Issues on Windows PCs</a:t>
            </a:r>
            <a:endParaRPr b="1" sz="2500">
              <a:solidFill>
                <a:schemeClr val="lt1"/>
              </a:solidFill>
              <a:latin typeface="Twentieth Century"/>
              <a:ea typeface="Twentieth Century"/>
              <a:cs typeface="Twentieth Century"/>
              <a:sym typeface="Twentieth Century"/>
            </a:endParaRPr>
          </a:p>
        </p:txBody>
      </p:sp>
      <p:sp>
        <p:nvSpPr>
          <p:cNvPr id="139" name="Google Shape;139;p24"/>
          <p:cNvSpPr txBox="1"/>
          <p:nvPr>
            <p:ph idx="1" type="body"/>
          </p:nvPr>
        </p:nvSpPr>
        <p:spPr>
          <a:xfrm>
            <a:off x="134400" y="1024925"/>
            <a:ext cx="8866200" cy="39594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228600">
            <a:normAutofit/>
          </a:bodyPr>
          <a:lstStyle/>
          <a:p>
            <a:pPr indent="-304800" lvl="0" marL="457200" rtl="0" algn="l">
              <a:lnSpc>
                <a:spcPct val="150000"/>
              </a:lnSpc>
              <a:spcBef>
                <a:spcPts val="0"/>
              </a:spcBef>
              <a:spcAft>
                <a:spcPts val="0"/>
              </a:spcAft>
              <a:buSzPts val="1200"/>
              <a:buFont typeface="Twentieth Century"/>
              <a:buChar char="●"/>
            </a:pPr>
            <a:r>
              <a:rPr b="1" lang="en" sz="1200">
                <a:latin typeface="Twentieth Century"/>
                <a:ea typeface="Twentieth Century"/>
                <a:cs typeface="Twentieth Century"/>
                <a:sym typeface="Twentieth Century"/>
              </a:rPr>
              <a:t>ISSUE: </a:t>
            </a:r>
            <a:r>
              <a:rPr lang="en" sz="1200">
                <a:latin typeface="Twentieth Century"/>
                <a:ea typeface="Twentieth Century"/>
                <a:cs typeface="Twentieth Century"/>
                <a:sym typeface="Twentieth Century"/>
              </a:rPr>
              <a:t>trying to </a:t>
            </a:r>
            <a:r>
              <a:rPr i="1" lang="en" sz="1200">
                <a:latin typeface="Twentieth Century"/>
                <a:ea typeface="Twentieth Century"/>
                <a:cs typeface="Twentieth Century"/>
                <a:sym typeface="Twentieth Century"/>
              </a:rPr>
              <a:t>python </a:t>
            </a:r>
            <a:r>
              <a:rPr lang="en" sz="1200">
                <a:latin typeface="Twentieth Century"/>
                <a:ea typeface="Twentieth Century"/>
                <a:cs typeface="Twentieth Century"/>
                <a:sym typeface="Twentieth Century"/>
              </a:rPr>
              <a:t>in the command prompt opens the Windows Store</a:t>
            </a:r>
            <a:endParaRPr sz="1200">
              <a:latin typeface="Twentieth Century"/>
              <a:ea typeface="Twentieth Century"/>
              <a:cs typeface="Twentieth Century"/>
              <a:sym typeface="Twentieth Century"/>
            </a:endParaRPr>
          </a:p>
          <a:p>
            <a:pPr indent="-304800" lvl="0" marL="457200" rtl="0" algn="l">
              <a:lnSpc>
                <a:spcPct val="150000"/>
              </a:lnSpc>
              <a:spcBef>
                <a:spcPts val="1000"/>
              </a:spcBef>
              <a:spcAft>
                <a:spcPts val="0"/>
              </a:spcAft>
              <a:buSzPts val="1200"/>
              <a:buFont typeface="Twentieth Century"/>
              <a:buChar char="●"/>
            </a:pPr>
            <a:r>
              <a:rPr b="1" lang="en" sz="1200">
                <a:latin typeface="Twentieth Century"/>
                <a:ea typeface="Twentieth Century"/>
                <a:cs typeface="Twentieth Century"/>
                <a:sym typeface="Twentieth Century"/>
              </a:rPr>
              <a:t>CAUSE: </a:t>
            </a:r>
            <a:r>
              <a:rPr lang="en" sz="1200">
                <a:latin typeface="Twentieth Century"/>
                <a:ea typeface="Twentieth Century"/>
                <a:cs typeface="Twentieth Century"/>
                <a:sym typeface="Twentieth Century"/>
              </a:rPr>
              <a:t>the directory containing your Python interpreter is not correctly listed in your system Environment Variables’ </a:t>
            </a:r>
            <a:r>
              <a:rPr i="1" lang="en" sz="1200">
                <a:latin typeface="Twentieth Century"/>
                <a:ea typeface="Twentieth Century"/>
                <a:cs typeface="Twentieth Century"/>
                <a:sym typeface="Twentieth Century"/>
              </a:rPr>
              <a:t>path </a:t>
            </a:r>
            <a:r>
              <a:rPr lang="en" sz="1200">
                <a:latin typeface="Twentieth Century"/>
                <a:ea typeface="Twentieth Century"/>
                <a:cs typeface="Twentieth Century"/>
                <a:sym typeface="Twentieth Century"/>
              </a:rPr>
              <a:t>listing</a:t>
            </a:r>
            <a:endParaRPr sz="1200">
              <a:latin typeface="Twentieth Century"/>
              <a:ea typeface="Twentieth Century"/>
              <a:cs typeface="Twentieth Century"/>
              <a:sym typeface="Twentieth Century"/>
            </a:endParaRPr>
          </a:p>
          <a:p>
            <a:pPr indent="-304800" lvl="0" marL="457200" rtl="0" algn="l">
              <a:lnSpc>
                <a:spcPct val="150000"/>
              </a:lnSpc>
              <a:spcBef>
                <a:spcPts val="1000"/>
              </a:spcBef>
              <a:spcAft>
                <a:spcPts val="1000"/>
              </a:spcAft>
              <a:buSzPts val="1200"/>
              <a:buFont typeface="Twentieth Century"/>
              <a:buChar char="●"/>
            </a:pPr>
            <a:r>
              <a:rPr b="1" lang="en" sz="1200">
                <a:latin typeface="Twentieth Century"/>
                <a:ea typeface="Twentieth Century"/>
                <a:cs typeface="Twentieth Century"/>
                <a:sym typeface="Twentieth Century"/>
              </a:rPr>
              <a:t>SOLUTION: </a:t>
            </a:r>
            <a:r>
              <a:rPr lang="en" sz="1200">
                <a:latin typeface="Twentieth Century"/>
                <a:ea typeface="Twentieth Century"/>
                <a:cs typeface="Twentieth Century"/>
                <a:sym typeface="Twentieth Century"/>
              </a:rPr>
              <a:t>Go to Installed Apps in your Window Settings, click on Python, click Modify, click Next, then make sure the checkbox for “Add Python to environment variables” is selected and click Install. Now re-open the Command Prompt and type </a:t>
            </a:r>
            <a:r>
              <a:rPr i="1" lang="en" sz="1200">
                <a:latin typeface="Twentieth Century"/>
                <a:ea typeface="Twentieth Century"/>
                <a:cs typeface="Twentieth Century"/>
                <a:sym typeface="Twentieth Century"/>
              </a:rPr>
              <a:t>python </a:t>
            </a:r>
            <a:r>
              <a:rPr lang="en" sz="1200">
                <a:latin typeface="Twentieth Century"/>
                <a:ea typeface="Twentieth Century"/>
                <a:cs typeface="Twentieth Century"/>
                <a:sym typeface="Twentieth Century"/>
              </a:rPr>
              <a:t>to verify you can run Python using the command line.</a:t>
            </a:r>
            <a:endParaRPr sz="2000"/>
          </a:p>
        </p:txBody>
      </p:sp>
      <p:pic>
        <p:nvPicPr>
          <p:cNvPr id="140" name="Google Shape;140;p24"/>
          <p:cNvPicPr preferRelativeResize="0"/>
          <p:nvPr/>
        </p:nvPicPr>
        <p:blipFill>
          <a:blip r:embed="rId3">
            <a:alphaModFix/>
          </a:blip>
          <a:stretch>
            <a:fillRect/>
          </a:stretch>
        </p:blipFill>
        <p:spPr>
          <a:xfrm>
            <a:off x="5739050" y="2849685"/>
            <a:ext cx="3135449" cy="1910850"/>
          </a:xfrm>
          <a:prstGeom prst="rect">
            <a:avLst/>
          </a:prstGeom>
          <a:noFill/>
          <a:ln>
            <a:noFill/>
          </a:ln>
          <a:effectLst>
            <a:outerShdw blurRad="57150" rotWithShape="0" algn="bl" dir="5400000" dist="19050">
              <a:srgbClr val="000000">
                <a:alpha val="50000"/>
              </a:srgbClr>
            </a:outerShdw>
          </a:effectLst>
        </p:spPr>
      </p:pic>
      <p:pic>
        <p:nvPicPr>
          <p:cNvPr id="141" name="Google Shape;141;p24"/>
          <p:cNvPicPr preferRelativeResize="0"/>
          <p:nvPr/>
        </p:nvPicPr>
        <p:blipFill>
          <a:blip r:embed="rId4">
            <a:alphaModFix/>
          </a:blip>
          <a:stretch>
            <a:fillRect/>
          </a:stretch>
        </p:blipFill>
        <p:spPr>
          <a:xfrm>
            <a:off x="282175" y="3069698"/>
            <a:ext cx="2241050" cy="639024"/>
          </a:xfrm>
          <a:prstGeom prst="rect">
            <a:avLst/>
          </a:prstGeom>
          <a:noFill/>
          <a:ln>
            <a:noFill/>
          </a:ln>
          <a:effectLst>
            <a:outerShdw blurRad="57150" rotWithShape="0" algn="bl" dir="5400000" dist="19050">
              <a:srgbClr val="000000">
                <a:alpha val="50000"/>
              </a:srgbClr>
            </a:outerShdw>
          </a:effectLst>
        </p:spPr>
      </p:pic>
      <p:pic>
        <p:nvPicPr>
          <p:cNvPr id="142" name="Google Shape;142;p24"/>
          <p:cNvPicPr preferRelativeResize="0"/>
          <p:nvPr/>
        </p:nvPicPr>
        <p:blipFill>
          <a:blip r:embed="rId5">
            <a:alphaModFix/>
          </a:blip>
          <a:stretch>
            <a:fillRect/>
          </a:stretch>
        </p:blipFill>
        <p:spPr>
          <a:xfrm>
            <a:off x="2350827" y="3352699"/>
            <a:ext cx="1566426" cy="964426"/>
          </a:xfrm>
          <a:prstGeom prst="rect">
            <a:avLst/>
          </a:prstGeom>
          <a:noFill/>
          <a:ln>
            <a:noFill/>
          </a:ln>
          <a:effectLst>
            <a:outerShdw blurRad="57150" rotWithShape="0" algn="bl" dir="5400000" dist="19050">
              <a:srgbClr val="000000">
                <a:alpha val="50000"/>
              </a:srgbClr>
            </a:outerShdw>
          </a:effectLst>
        </p:spPr>
      </p:pic>
      <p:pic>
        <p:nvPicPr>
          <p:cNvPr id="143" name="Google Shape;143;p24"/>
          <p:cNvPicPr preferRelativeResize="0"/>
          <p:nvPr/>
        </p:nvPicPr>
        <p:blipFill>
          <a:blip r:embed="rId6">
            <a:alphaModFix/>
          </a:blip>
          <a:stretch>
            <a:fillRect/>
          </a:stretch>
        </p:blipFill>
        <p:spPr>
          <a:xfrm>
            <a:off x="3523452" y="3705874"/>
            <a:ext cx="1763387" cy="1082150"/>
          </a:xfrm>
          <a:prstGeom prst="rect">
            <a:avLst/>
          </a:prstGeom>
          <a:noFill/>
          <a:ln>
            <a:noFill/>
          </a:ln>
          <a:effectLst>
            <a:outerShdw blurRad="57150" rotWithShape="0" algn="bl" dir="5400000" dist="19050">
              <a:srgbClr val="000000">
                <a:alpha val="50000"/>
              </a:srgbClr>
            </a:outerShdw>
          </a:effectLst>
        </p:spPr>
      </p:pic>
      <p:sp>
        <p:nvSpPr>
          <p:cNvPr id="144" name="Google Shape;144;p24"/>
          <p:cNvSpPr txBox="1"/>
          <p:nvPr/>
        </p:nvSpPr>
        <p:spPr>
          <a:xfrm>
            <a:off x="205025" y="3662848"/>
            <a:ext cx="357000" cy="4155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1"/>
                </a:solidFill>
                <a:latin typeface="Calibri"/>
                <a:ea typeface="Calibri"/>
                <a:cs typeface="Calibri"/>
                <a:sym typeface="Calibri"/>
              </a:rPr>
              <a:t>1</a:t>
            </a:r>
            <a:endParaRPr b="1" sz="1500">
              <a:solidFill>
                <a:schemeClr val="dk1"/>
              </a:solidFill>
              <a:latin typeface="Calibri"/>
              <a:ea typeface="Calibri"/>
              <a:cs typeface="Calibri"/>
              <a:sym typeface="Calibri"/>
            </a:endParaRPr>
          </a:p>
        </p:txBody>
      </p:sp>
      <p:sp>
        <p:nvSpPr>
          <p:cNvPr id="145" name="Google Shape;145;p24"/>
          <p:cNvSpPr txBox="1"/>
          <p:nvPr/>
        </p:nvSpPr>
        <p:spPr>
          <a:xfrm>
            <a:off x="2204702" y="4089949"/>
            <a:ext cx="357000" cy="4155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1"/>
                </a:solidFill>
                <a:latin typeface="Calibri"/>
                <a:ea typeface="Calibri"/>
                <a:cs typeface="Calibri"/>
                <a:sym typeface="Calibri"/>
              </a:rPr>
              <a:t>2</a:t>
            </a:r>
            <a:endParaRPr b="1" sz="1500">
              <a:solidFill>
                <a:schemeClr val="dk1"/>
              </a:solidFill>
              <a:latin typeface="Calibri"/>
              <a:ea typeface="Calibri"/>
              <a:cs typeface="Calibri"/>
              <a:sym typeface="Calibri"/>
            </a:endParaRPr>
          </a:p>
        </p:txBody>
      </p:sp>
      <p:sp>
        <p:nvSpPr>
          <p:cNvPr id="146" name="Google Shape;146;p24"/>
          <p:cNvSpPr txBox="1"/>
          <p:nvPr/>
        </p:nvSpPr>
        <p:spPr>
          <a:xfrm>
            <a:off x="3345977" y="4409309"/>
            <a:ext cx="357000" cy="4155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1"/>
                </a:solidFill>
                <a:latin typeface="Calibri"/>
                <a:ea typeface="Calibri"/>
                <a:cs typeface="Calibri"/>
                <a:sym typeface="Calibri"/>
              </a:rPr>
              <a:t>3</a:t>
            </a:r>
            <a:endParaRPr b="1" sz="1500">
              <a:solidFill>
                <a:schemeClr val="dk1"/>
              </a:solidFill>
              <a:latin typeface="Calibri"/>
              <a:ea typeface="Calibri"/>
              <a:cs typeface="Calibri"/>
              <a:sym typeface="Calibri"/>
            </a:endParaRPr>
          </a:p>
        </p:txBody>
      </p:sp>
      <p:sp>
        <p:nvSpPr>
          <p:cNvPr id="147" name="Google Shape;147;p24"/>
          <p:cNvSpPr txBox="1"/>
          <p:nvPr/>
        </p:nvSpPr>
        <p:spPr>
          <a:xfrm>
            <a:off x="5579100" y="4429075"/>
            <a:ext cx="357000" cy="4155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1"/>
                </a:solidFill>
                <a:latin typeface="Calibri"/>
                <a:ea typeface="Calibri"/>
                <a:cs typeface="Calibri"/>
                <a:sym typeface="Calibri"/>
              </a:rPr>
              <a:t>4</a:t>
            </a:r>
            <a:endParaRPr b="1" sz="15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Verifying Everything is Installed and Configured Correctly</a:t>
            </a:r>
            <a:endParaRPr b="1" sz="2500">
              <a:solidFill>
                <a:schemeClr val="lt1"/>
              </a:solidFill>
              <a:latin typeface="Twentieth Century"/>
              <a:ea typeface="Twentieth Century"/>
              <a:cs typeface="Twentieth Century"/>
              <a:sym typeface="Twentieth Century"/>
            </a:endParaRPr>
          </a:p>
        </p:txBody>
      </p:sp>
      <p:sp>
        <p:nvSpPr>
          <p:cNvPr id="153" name="Google Shape;153;p25"/>
          <p:cNvSpPr txBox="1"/>
          <p:nvPr>
            <p:ph idx="1" type="body"/>
          </p:nvPr>
        </p:nvSpPr>
        <p:spPr>
          <a:xfrm>
            <a:off x="134400" y="1024925"/>
            <a:ext cx="8866200" cy="36666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228600">
            <a:normAutofit/>
          </a:bodyPr>
          <a:lstStyle/>
          <a:p>
            <a:pPr indent="-292100" lvl="0" marL="457200" rtl="0" algn="l">
              <a:lnSpc>
                <a:spcPct val="150000"/>
              </a:lnSpc>
              <a:spcBef>
                <a:spcPts val="0"/>
              </a:spcBef>
              <a:spcAft>
                <a:spcPts val="1000"/>
              </a:spcAft>
              <a:buSzPts val="1000"/>
              <a:buFont typeface="Twentieth Century"/>
              <a:buChar char="●"/>
            </a:pPr>
            <a:r>
              <a:rPr lang="en"/>
              <a:t>Review the instructions in this </a:t>
            </a:r>
            <a:r>
              <a:rPr lang="en" u="sng">
                <a:solidFill>
                  <a:schemeClr val="hlink"/>
                </a:solidFill>
                <a:hlinkClick r:id="rId3"/>
              </a:rPr>
              <a:t>Google Doc</a:t>
            </a:r>
            <a:r>
              <a:rPr lang="en"/>
              <a:t> which describe how to run a pre-prepared Python script that will check your computer to verify that all software required for the work is installed and configured correctly</a:t>
            </a:r>
            <a:endParaRPr/>
          </a:p>
        </p:txBody>
      </p:sp>
      <p:pic>
        <p:nvPicPr>
          <p:cNvPr id="154" name="Google Shape;154;p25"/>
          <p:cNvPicPr preferRelativeResize="0"/>
          <p:nvPr/>
        </p:nvPicPr>
        <p:blipFill>
          <a:blip r:embed="rId4">
            <a:alphaModFix/>
          </a:blip>
          <a:stretch>
            <a:fillRect/>
          </a:stretch>
        </p:blipFill>
        <p:spPr>
          <a:xfrm>
            <a:off x="3333680" y="2742675"/>
            <a:ext cx="1299124" cy="1678050"/>
          </a:xfrm>
          <a:prstGeom prst="rect">
            <a:avLst/>
          </a:prstGeom>
          <a:noFill/>
          <a:ln>
            <a:noFill/>
          </a:ln>
          <a:effectLst>
            <a:outerShdw blurRad="57150" rotWithShape="0" algn="bl" dir="5400000" dist="19050">
              <a:srgbClr val="000000">
                <a:alpha val="50000"/>
              </a:srgbClr>
            </a:outerShdw>
          </a:effectLst>
        </p:spPr>
      </p:pic>
      <p:pic>
        <p:nvPicPr>
          <p:cNvPr id="155" name="Google Shape;155;p25"/>
          <p:cNvPicPr preferRelativeResize="0"/>
          <p:nvPr/>
        </p:nvPicPr>
        <p:blipFill>
          <a:blip r:embed="rId5">
            <a:alphaModFix/>
          </a:blip>
          <a:stretch>
            <a:fillRect/>
          </a:stretch>
        </p:blipFill>
        <p:spPr>
          <a:xfrm>
            <a:off x="4810649" y="2742675"/>
            <a:ext cx="1299125" cy="167241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234400" y="490400"/>
            <a:ext cx="2704500" cy="4066500"/>
          </a:xfrm>
          <a:prstGeom prst="rect">
            <a:avLst/>
          </a:prstGeom>
          <a:solidFill>
            <a:srgbClr val="B45F06"/>
          </a:solidFill>
          <a:ln>
            <a:noFill/>
          </a:ln>
          <a:effectLst>
            <a:outerShdw blurRad="57150" rotWithShape="0" algn="bl" dir="5400000" dist="19050">
              <a:srgbClr val="000000">
                <a:alpha val="50000"/>
              </a:srgbClr>
            </a:outerShdw>
          </a:effectLst>
        </p:spPr>
        <p:txBody>
          <a:bodyPr anchorCtr="0" anchor="ctr" bIns="91425" lIns="182875" spcFirstLastPara="1" rIns="91425" wrap="square" tIns="91425">
            <a:noAutofit/>
          </a:bodyPr>
          <a:lstStyle/>
          <a:p>
            <a:pPr indent="0" lvl="0" marL="0" rtl="0" algn="ctr">
              <a:lnSpc>
                <a:spcPct val="100000"/>
              </a:lnSpc>
              <a:spcBef>
                <a:spcPts val="0"/>
              </a:spcBef>
              <a:spcAft>
                <a:spcPts val="0"/>
              </a:spcAft>
              <a:buSzPts val="3600"/>
              <a:buNone/>
            </a:pPr>
            <a:r>
              <a:rPr b="1" lang="en" sz="3400">
                <a:solidFill>
                  <a:schemeClr val="lt1"/>
                </a:solidFill>
                <a:latin typeface="Twentieth Century"/>
                <a:ea typeface="Twentieth Century"/>
                <a:cs typeface="Twentieth Century"/>
                <a:sym typeface="Twentieth Century"/>
              </a:rPr>
              <a:t>Track 1</a:t>
            </a:r>
            <a:endParaRPr b="1" sz="3400">
              <a:solidFill>
                <a:schemeClr val="lt1"/>
              </a:solidFill>
              <a:latin typeface="Twentieth Century"/>
              <a:ea typeface="Twentieth Century"/>
              <a:cs typeface="Twentieth Century"/>
              <a:sym typeface="Twentieth Century"/>
            </a:endParaRPr>
          </a:p>
          <a:p>
            <a:pPr indent="0" lvl="0" marL="0" rtl="0" algn="ctr">
              <a:lnSpc>
                <a:spcPct val="100000"/>
              </a:lnSpc>
              <a:spcBef>
                <a:spcPts val="0"/>
              </a:spcBef>
              <a:spcAft>
                <a:spcPts val="0"/>
              </a:spcAft>
              <a:buSzPts val="3600"/>
              <a:buNone/>
            </a:pPr>
            <a:r>
              <a:t/>
            </a:r>
            <a:endParaRPr b="1" sz="14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b="1" lang="en" sz="2300">
                <a:solidFill>
                  <a:schemeClr val="lt1"/>
                </a:solidFill>
                <a:latin typeface="Twentieth Century"/>
                <a:ea typeface="Twentieth Century"/>
                <a:cs typeface="Twentieth Century"/>
                <a:sym typeface="Twentieth Century"/>
              </a:rPr>
              <a:t>Topic: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lang="en" sz="2300">
                <a:solidFill>
                  <a:schemeClr val="lt1"/>
                </a:solidFill>
                <a:latin typeface="Twentieth Century"/>
                <a:ea typeface="Twentieth Century"/>
                <a:cs typeface="Twentieth Century"/>
                <a:sym typeface="Twentieth Century"/>
              </a:rPr>
              <a:t>Data Visualization</a:t>
            </a:r>
            <a:endParaRPr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b="1" lang="en" sz="2300">
                <a:solidFill>
                  <a:schemeClr val="lt1"/>
                </a:solidFill>
                <a:latin typeface="Twentieth Century"/>
                <a:ea typeface="Twentieth Century"/>
                <a:cs typeface="Twentieth Century"/>
                <a:sym typeface="Twentieth Century"/>
              </a:rPr>
              <a:t>Instructor:</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lang="en" sz="2300">
                <a:solidFill>
                  <a:schemeClr val="lt1"/>
                </a:solidFill>
                <a:latin typeface="Twentieth Century"/>
                <a:ea typeface="Twentieth Century"/>
                <a:cs typeface="Twentieth Century"/>
                <a:sym typeface="Twentieth Century"/>
              </a:rPr>
              <a:t>Michael Shensky</a:t>
            </a:r>
            <a:endParaRPr sz="2300">
              <a:solidFill>
                <a:schemeClr val="lt1"/>
              </a:solidFill>
              <a:latin typeface="Twentieth Century"/>
              <a:ea typeface="Twentieth Century"/>
              <a:cs typeface="Twentieth Century"/>
              <a:sym typeface="Twentieth Century"/>
            </a:endParaRPr>
          </a:p>
          <a:p>
            <a:pPr indent="457200" lvl="0" marL="457200" rtl="0" algn="l">
              <a:lnSpc>
                <a:spcPct val="100000"/>
              </a:lnSpc>
              <a:spcBef>
                <a:spcPts val="0"/>
              </a:spcBef>
              <a:spcAft>
                <a:spcPts val="0"/>
              </a:spcAft>
              <a:buSzPts val="3600"/>
              <a:buNone/>
            </a:pPr>
            <a:r>
              <a:t/>
            </a:r>
            <a:endParaRPr b="1" sz="2500">
              <a:solidFill>
                <a:schemeClr val="lt1"/>
              </a:solidFill>
              <a:latin typeface="Twentieth Century"/>
              <a:ea typeface="Twentieth Century"/>
              <a:cs typeface="Twentieth Century"/>
              <a:sym typeface="Twentieth Century"/>
            </a:endParaRPr>
          </a:p>
        </p:txBody>
      </p:sp>
      <p:sp>
        <p:nvSpPr>
          <p:cNvPr id="161" name="Google Shape;161;p26"/>
          <p:cNvSpPr txBox="1"/>
          <p:nvPr>
            <p:ph type="title"/>
          </p:nvPr>
        </p:nvSpPr>
        <p:spPr>
          <a:xfrm>
            <a:off x="3213930" y="490400"/>
            <a:ext cx="2704500" cy="4066500"/>
          </a:xfrm>
          <a:prstGeom prst="rect">
            <a:avLst/>
          </a:prstGeom>
          <a:solidFill>
            <a:srgbClr val="B45F06"/>
          </a:solidFill>
          <a:ln>
            <a:noFill/>
          </a:ln>
          <a:effectLst>
            <a:outerShdw blurRad="57150" rotWithShape="0" algn="bl" dir="5400000" dist="19050">
              <a:srgbClr val="000000">
                <a:alpha val="50000"/>
              </a:srgbClr>
            </a:outerShdw>
          </a:effectLst>
        </p:spPr>
        <p:txBody>
          <a:bodyPr anchorCtr="0" anchor="ctr" bIns="91425" lIns="182875" spcFirstLastPara="1" rIns="91425" wrap="square" tIns="91425">
            <a:noAutofit/>
          </a:bodyPr>
          <a:lstStyle/>
          <a:p>
            <a:pPr indent="0" lvl="0" marL="0" rtl="0" algn="ctr">
              <a:lnSpc>
                <a:spcPct val="100000"/>
              </a:lnSpc>
              <a:spcBef>
                <a:spcPts val="0"/>
              </a:spcBef>
              <a:spcAft>
                <a:spcPts val="0"/>
              </a:spcAft>
              <a:buSzPts val="3600"/>
              <a:buNone/>
            </a:pPr>
            <a:r>
              <a:rPr b="1" lang="en" sz="3400">
                <a:solidFill>
                  <a:schemeClr val="lt1"/>
                </a:solidFill>
                <a:latin typeface="Twentieth Century"/>
                <a:ea typeface="Twentieth Century"/>
                <a:cs typeface="Twentieth Century"/>
                <a:sym typeface="Twentieth Century"/>
              </a:rPr>
              <a:t>Track 2</a:t>
            </a:r>
            <a:endParaRPr b="1" sz="3400">
              <a:solidFill>
                <a:schemeClr val="lt1"/>
              </a:solidFill>
              <a:latin typeface="Twentieth Century"/>
              <a:ea typeface="Twentieth Century"/>
              <a:cs typeface="Twentieth Century"/>
              <a:sym typeface="Twentieth Century"/>
            </a:endParaRPr>
          </a:p>
          <a:p>
            <a:pPr indent="0" lvl="0" marL="0" rtl="0" algn="ctr">
              <a:lnSpc>
                <a:spcPct val="100000"/>
              </a:lnSpc>
              <a:spcBef>
                <a:spcPts val="0"/>
              </a:spcBef>
              <a:spcAft>
                <a:spcPts val="0"/>
              </a:spcAft>
              <a:buSzPts val="3600"/>
              <a:buNone/>
            </a:pPr>
            <a:r>
              <a:t/>
            </a:r>
            <a:endParaRPr b="1" sz="14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b="1" lang="en" sz="2300">
                <a:solidFill>
                  <a:schemeClr val="lt1"/>
                </a:solidFill>
                <a:latin typeface="Twentieth Century"/>
                <a:ea typeface="Twentieth Century"/>
                <a:cs typeface="Twentieth Century"/>
                <a:sym typeface="Twentieth Century"/>
              </a:rPr>
              <a:t>Topic: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lang="en" sz="2300">
                <a:solidFill>
                  <a:schemeClr val="lt1"/>
                </a:solidFill>
                <a:latin typeface="Twentieth Century"/>
                <a:ea typeface="Twentieth Century"/>
                <a:cs typeface="Twentieth Century"/>
                <a:sym typeface="Twentieth Century"/>
              </a:rPr>
              <a:t>Sentiment Analysis</a:t>
            </a:r>
            <a:endParaRPr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Clr>
                <a:schemeClr val="dk1"/>
              </a:buClr>
              <a:buSzPts val="3600"/>
              <a:buFont typeface="Arial"/>
              <a:buNone/>
            </a:pPr>
            <a:r>
              <a:rPr b="1" lang="en" sz="2300">
                <a:solidFill>
                  <a:schemeClr val="lt1"/>
                </a:solidFill>
                <a:latin typeface="Twentieth Century"/>
                <a:ea typeface="Twentieth Century"/>
                <a:cs typeface="Twentieth Century"/>
                <a:sym typeface="Twentieth Century"/>
              </a:rPr>
              <a:t>Instructor:</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Clr>
                <a:schemeClr val="dk1"/>
              </a:buClr>
              <a:buSzPts val="3600"/>
              <a:buFont typeface="Arial"/>
              <a:buNone/>
            </a:pPr>
            <a:r>
              <a:rPr lang="en" sz="2300">
                <a:solidFill>
                  <a:schemeClr val="lt1"/>
                </a:solidFill>
                <a:latin typeface="Twentieth Century"/>
                <a:ea typeface="Twentieth Century"/>
                <a:cs typeface="Twentieth Century"/>
                <a:sym typeface="Twentieth Century"/>
              </a:rPr>
              <a:t>Ian Goodale</a:t>
            </a:r>
            <a:endParaRPr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Clr>
                <a:schemeClr val="dk1"/>
              </a:buClr>
              <a:buSzPts val="3600"/>
              <a:buFont typeface="Arial"/>
              <a:buNone/>
            </a:pPr>
            <a:r>
              <a:t/>
            </a:r>
            <a:endParaRPr sz="2300">
              <a:solidFill>
                <a:schemeClr val="lt1"/>
              </a:solidFill>
              <a:latin typeface="Twentieth Century"/>
              <a:ea typeface="Twentieth Century"/>
              <a:cs typeface="Twentieth Century"/>
              <a:sym typeface="Twentieth Century"/>
            </a:endParaRPr>
          </a:p>
          <a:p>
            <a:pPr indent="457200" lvl="0" marL="457200" rtl="0" algn="l">
              <a:lnSpc>
                <a:spcPct val="100000"/>
              </a:lnSpc>
              <a:spcBef>
                <a:spcPts val="0"/>
              </a:spcBef>
              <a:spcAft>
                <a:spcPts val="0"/>
              </a:spcAft>
              <a:buSzPts val="3600"/>
              <a:buNone/>
            </a:pPr>
            <a:r>
              <a:t/>
            </a:r>
            <a:endParaRPr b="1" sz="2500">
              <a:solidFill>
                <a:schemeClr val="lt1"/>
              </a:solidFill>
              <a:latin typeface="Twentieth Century"/>
              <a:ea typeface="Twentieth Century"/>
              <a:cs typeface="Twentieth Century"/>
              <a:sym typeface="Twentieth Century"/>
            </a:endParaRPr>
          </a:p>
        </p:txBody>
      </p:sp>
      <p:sp>
        <p:nvSpPr>
          <p:cNvPr id="162" name="Google Shape;162;p26"/>
          <p:cNvSpPr txBox="1"/>
          <p:nvPr>
            <p:ph type="title"/>
          </p:nvPr>
        </p:nvSpPr>
        <p:spPr>
          <a:xfrm>
            <a:off x="6205099" y="490400"/>
            <a:ext cx="2704500" cy="4066500"/>
          </a:xfrm>
          <a:prstGeom prst="rect">
            <a:avLst/>
          </a:prstGeom>
          <a:solidFill>
            <a:srgbClr val="B45F06"/>
          </a:solidFill>
          <a:ln>
            <a:noFill/>
          </a:ln>
          <a:effectLst>
            <a:outerShdw blurRad="57150" rotWithShape="0" algn="bl" dir="5400000" dist="19050">
              <a:srgbClr val="000000">
                <a:alpha val="50000"/>
              </a:srgbClr>
            </a:outerShdw>
          </a:effectLst>
        </p:spPr>
        <p:txBody>
          <a:bodyPr anchorCtr="0" anchor="ctr" bIns="91425" lIns="182875" spcFirstLastPara="1" rIns="91425" wrap="square" tIns="91425">
            <a:noAutofit/>
          </a:bodyPr>
          <a:lstStyle/>
          <a:p>
            <a:pPr indent="0" lvl="0" marL="0" rtl="0" algn="ctr">
              <a:lnSpc>
                <a:spcPct val="100000"/>
              </a:lnSpc>
              <a:spcBef>
                <a:spcPts val="0"/>
              </a:spcBef>
              <a:spcAft>
                <a:spcPts val="0"/>
              </a:spcAft>
              <a:buSzPts val="3600"/>
              <a:buNone/>
            </a:pPr>
            <a:r>
              <a:rPr b="1" lang="en" sz="3400">
                <a:solidFill>
                  <a:schemeClr val="lt1"/>
                </a:solidFill>
                <a:latin typeface="Twentieth Century"/>
                <a:ea typeface="Twentieth Century"/>
                <a:cs typeface="Twentieth Century"/>
                <a:sym typeface="Twentieth Century"/>
              </a:rPr>
              <a:t>Track 3</a:t>
            </a:r>
            <a:endParaRPr b="1" sz="3400">
              <a:solidFill>
                <a:schemeClr val="lt1"/>
              </a:solidFill>
              <a:latin typeface="Twentieth Century"/>
              <a:ea typeface="Twentieth Century"/>
              <a:cs typeface="Twentieth Century"/>
              <a:sym typeface="Twentieth Century"/>
            </a:endParaRPr>
          </a:p>
          <a:p>
            <a:pPr indent="0" lvl="0" marL="0" rtl="0" algn="ctr">
              <a:lnSpc>
                <a:spcPct val="100000"/>
              </a:lnSpc>
              <a:spcBef>
                <a:spcPts val="0"/>
              </a:spcBef>
              <a:spcAft>
                <a:spcPts val="0"/>
              </a:spcAft>
              <a:buSzPts val="3600"/>
              <a:buNone/>
            </a:pPr>
            <a:r>
              <a:t/>
            </a:r>
            <a:endParaRPr b="1" sz="14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b="1" lang="en" sz="2300">
                <a:solidFill>
                  <a:schemeClr val="lt1"/>
                </a:solidFill>
                <a:latin typeface="Twentieth Century"/>
                <a:ea typeface="Twentieth Century"/>
                <a:cs typeface="Twentieth Century"/>
                <a:sym typeface="Twentieth Century"/>
              </a:rPr>
              <a:t>Topic: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rPr lang="en" sz="2300">
                <a:solidFill>
                  <a:schemeClr val="lt1"/>
                </a:solidFill>
                <a:latin typeface="Twentieth Century"/>
                <a:ea typeface="Twentieth Century"/>
                <a:cs typeface="Twentieth Century"/>
                <a:sym typeface="Twentieth Century"/>
              </a:rPr>
              <a:t>Geospatial Data</a:t>
            </a:r>
            <a:endParaRPr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SzPts val="3600"/>
              <a:buNone/>
            </a:pPr>
            <a:r>
              <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Clr>
                <a:schemeClr val="dk1"/>
              </a:buClr>
              <a:buSzPts val="3600"/>
              <a:buFont typeface="Arial"/>
              <a:buNone/>
            </a:pPr>
            <a:r>
              <a:rPr b="1" lang="en" sz="2300">
                <a:solidFill>
                  <a:schemeClr val="lt1"/>
                </a:solidFill>
                <a:latin typeface="Twentieth Century"/>
                <a:ea typeface="Twentieth Century"/>
                <a:cs typeface="Twentieth Century"/>
                <a:sym typeface="Twentieth Century"/>
              </a:rPr>
              <a:t>Instructor:</a:t>
            </a:r>
            <a:endParaRPr b="1" sz="2300">
              <a:solidFill>
                <a:schemeClr val="lt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Clr>
                <a:schemeClr val="dk1"/>
              </a:buClr>
              <a:buSzPts val="3600"/>
              <a:buFont typeface="Arial"/>
              <a:buNone/>
            </a:pPr>
            <a:r>
              <a:rPr lang="en" sz="2300">
                <a:solidFill>
                  <a:schemeClr val="lt1"/>
                </a:solidFill>
                <a:latin typeface="Twentieth Century"/>
                <a:ea typeface="Twentieth Century"/>
                <a:cs typeface="Twentieth Century"/>
                <a:sym typeface="Twentieth Century"/>
              </a:rPr>
              <a:t>Alex Marden</a:t>
            </a:r>
            <a:endParaRPr sz="2300">
              <a:solidFill>
                <a:schemeClr val="lt1"/>
              </a:solidFill>
              <a:latin typeface="Twentieth Century"/>
              <a:ea typeface="Twentieth Century"/>
              <a:cs typeface="Twentieth Century"/>
              <a:sym typeface="Twentieth Century"/>
            </a:endParaRPr>
          </a:p>
          <a:p>
            <a:pPr indent="457200" lvl="0" marL="457200" rtl="0" algn="l">
              <a:lnSpc>
                <a:spcPct val="100000"/>
              </a:lnSpc>
              <a:spcBef>
                <a:spcPts val="0"/>
              </a:spcBef>
              <a:spcAft>
                <a:spcPts val="0"/>
              </a:spcAft>
              <a:buSzPts val="3600"/>
              <a:buNone/>
            </a:pPr>
            <a:r>
              <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