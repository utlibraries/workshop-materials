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48" y="4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07" name="Google Shape;10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17" name="Google Shape;11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5</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748c26e7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g3748c26e7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29" name="Google Shape;129;g3748c26e76b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6</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783839107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g3783839107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38" name="Google Shape;138;g3783839107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7</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50" name="Google Shape;150;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b4da4a795c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g3b4da4a795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b4da4a795c_0_8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g3b4da4a795c_0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75" name="Google Shape;175;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11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b782bc628b_0_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3b782bc628b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87" name="Google Shape;187;g3b782bc628b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12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b782bc628b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3b782bc628b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95" name="Google Shape;195;g3b782bc628b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13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b782bc628b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g3b782bc628b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06" name="Google Shape;206;g3b782bc628b_0_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14</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 name="Google Shape;13;p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4" name="Google Shape;14;p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5" name="Google Shape;15;p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 name="Google Shape;19;p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 name="Google Shape;20;p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4" name="Google Shape;24;p4"/>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25" name="Google Shape;25;p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6" name="Google Shape;26;p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7" name="Google Shape;27;p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0" name="Google Shape;30;p5"/>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31" name="Google Shape;31;p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2" name="Google Shape;32;p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 name="Google Shape;33;p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6" name="Google Shape;36;p6"/>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7" name="Google Shape;37;p6"/>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8" name="Google Shape;38;p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9" name="Google Shape;39;p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0" name="Google Shape;40;p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7"/>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4" name="Google Shape;44;p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5" name="Google Shape;45;p7"/>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6" name="Google Shape;46;p7"/>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7" name="Google Shape;47;p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8" name="Google Shape;48;p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9" name="Google Shape;49;p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2" name="Google Shape;52;p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3" name="Google Shape;53;p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9"/>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Google Shape;57;p9"/>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Google Shape;58;p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3" name="Google Shape;63;p10"/>
          <p:cNvSpPr>
            <a:spLocks noGrp="1"/>
          </p:cNvSpPr>
          <p:nvPr>
            <p:ph type="pic" idx="2"/>
          </p:nvPr>
        </p:nvSpPr>
        <p:spPr>
          <a:xfrm>
            <a:off x="3887391" y="740569"/>
            <a:ext cx="4629150" cy="3655219"/>
          </a:xfrm>
          <a:prstGeom prst="rect">
            <a:avLst/>
          </a:prstGeom>
          <a:noFill/>
          <a:ln>
            <a:noFill/>
          </a:ln>
        </p:spPr>
      </p:sp>
      <p:sp>
        <p:nvSpPr>
          <p:cNvPr id="64" name="Google Shape;64;p10"/>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Google Shape;65;p1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6" name="Google Shape;66;p1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1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0" name="Google Shape;70;p11"/>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Google Shape;71;p1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2" name="Google Shape;72;p1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3" name="Google Shape;73;p1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5350073" y="1467446"/>
            <a:ext cx="4358879" cy="1971675"/>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12"/>
          <p:cNvSpPr txBox="1">
            <a:spLocks noGrp="1"/>
          </p:cNvSpPr>
          <p:nvPr>
            <p:ph type="body" idx="1"/>
          </p:nvPr>
        </p:nvSpPr>
        <p:spPr>
          <a:xfrm rot="5400000">
            <a:off x="1349573" y="-447079"/>
            <a:ext cx="4358879" cy="5800725"/>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1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9" name="Google Shape;79;p1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mt="44000"/>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plotly.com/python/" TargetMode="External"/><Relationship Id="rId5" Type="http://schemas.openxmlformats.org/officeDocument/2006/relationships/hyperlink" Target="https://altair-viz.github.io/user_guide/data.html" TargetMode="External"/><Relationship Id="rId4" Type="http://schemas.openxmlformats.org/officeDocument/2006/relationships/hyperlink" Target="https://matplotlib.org/3.3.2/tutorials/index.htm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hyperlink" Target="https://networkx.org/documentation/stable/auto_examples/" TargetMode="External"/><Relationship Id="rId7" Type="http://schemas.openxmlformats.org/officeDocument/2006/relationships/hyperlink" Target="https://altair-viz.github.io/gallery/"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seaborn.pydata.org/examples/" TargetMode="External"/><Relationship Id="rId5" Type="http://schemas.openxmlformats.org/officeDocument/2006/relationships/hyperlink" Target="https://matplotlib.org/stable/gallery/" TargetMode="External"/><Relationship Id="rId10" Type="http://schemas.openxmlformats.org/officeDocument/2006/relationships/image" Target="../media/image25.png"/><Relationship Id="rId4" Type="http://schemas.openxmlformats.org/officeDocument/2006/relationships/hyperlink" Target="https://plotly.com/python/" TargetMode="External"/><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dataverse.tdl.org/file.xhtml?fileId=62725&amp;datasetVersionId=1894"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hyperlink" Target="https://github.com/IBM/telco-customer-churn-on-icp4d/tree/master" TargetMode="External"/><Relationship Id="rId4" Type="http://schemas.openxmlformats.org/officeDocument/2006/relationships/hyperlink" Target="https://gis-pdx.opendata.arcgis.com/datasets/PDX::parks-tree-inventory/about"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565125" y="613900"/>
            <a:ext cx="7952700" cy="1879200"/>
          </a:xfrm>
          <a:prstGeom prst="rect">
            <a:avLst/>
          </a:prstGeom>
          <a:solidFill>
            <a:srgbClr val="B45F06"/>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 sz="4100" b="1">
                <a:solidFill>
                  <a:schemeClr val="lt1"/>
                </a:solidFill>
              </a:rPr>
              <a:t>Immersive Python Workshop</a:t>
            </a:r>
            <a:endParaRPr sz="4100" b="1">
              <a:solidFill>
                <a:schemeClr val="lt1"/>
              </a:solidFill>
            </a:endParaRPr>
          </a:p>
          <a:p>
            <a:pPr marL="0" lvl="0" indent="0" algn="ctr" rtl="0">
              <a:lnSpc>
                <a:spcPct val="100000"/>
              </a:lnSpc>
              <a:spcBef>
                <a:spcPts val="0"/>
              </a:spcBef>
              <a:spcAft>
                <a:spcPts val="0"/>
              </a:spcAft>
              <a:buSzPts val="3600"/>
              <a:buNone/>
            </a:pPr>
            <a:r>
              <a:rPr lang="en" sz="4100" b="1">
                <a:solidFill>
                  <a:schemeClr val="lt1"/>
                </a:solidFill>
              </a:rPr>
              <a:t>Day 3</a:t>
            </a:r>
            <a:endParaRPr sz="3000">
              <a:solidFill>
                <a:schemeClr val="lt1"/>
              </a:solidFill>
            </a:endParaRPr>
          </a:p>
        </p:txBody>
      </p:sp>
      <p:sp>
        <p:nvSpPr>
          <p:cNvPr id="85" name="Google Shape;85;p13"/>
          <p:cNvSpPr txBox="1"/>
          <p:nvPr/>
        </p:nvSpPr>
        <p:spPr>
          <a:xfrm>
            <a:off x="1630200" y="2653375"/>
            <a:ext cx="5844600" cy="939000"/>
          </a:xfrm>
          <a:prstGeom prst="rect">
            <a:avLst/>
          </a:prstGeom>
          <a:solidFill>
            <a:srgbClr val="434343"/>
          </a:solidFill>
          <a:ln>
            <a:noFill/>
          </a:ln>
        </p:spPr>
        <p:txBody>
          <a:bodyPr spcFirstLastPara="1" wrap="square" lIns="91425" tIns="91425" rIns="91425" bIns="91425" anchor="t" anchorCtr="0">
            <a:spAutoFit/>
          </a:bodyPr>
          <a:lstStyle/>
          <a:p>
            <a:pPr marL="0" marR="0" lvl="0" indent="457200" algn="ctr" rtl="0">
              <a:lnSpc>
                <a:spcPct val="100000"/>
              </a:lnSpc>
              <a:spcBef>
                <a:spcPts val="0"/>
              </a:spcBef>
              <a:spcAft>
                <a:spcPts val="0"/>
              </a:spcAft>
              <a:buClr>
                <a:srgbClr val="000000"/>
              </a:buClr>
              <a:buSzPts val="3000"/>
              <a:buFont typeface="Arial"/>
              <a:buNone/>
            </a:pPr>
            <a:r>
              <a:rPr lang="en" sz="3000" b="1" i="0" u="none" strike="noStrike" cap="none">
                <a:solidFill>
                  <a:srgbClr val="FFFFFF"/>
                </a:solidFill>
                <a:latin typeface="Twentieth Century"/>
                <a:ea typeface="Twentieth Century"/>
                <a:cs typeface="Twentieth Century"/>
                <a:sym typeface="Twentieth Century"/>
              </a:rPr>
              <a:t>Data Visualization</a:t>
            </a:r>
            <a:endParaRPr sz="3000" b="1" i="0" u="none" strike="noStrike" cap="none">
              <a:solidFill>
                <a:srgbClr val="FFFFFF"/>
              </a:solidFill>
              <a:latin typeface="Twentieth Century"/>
              <a:ea typeface="Twentieth Century"/>
              <a:cs typeface="Twentieth Century"/>
              <a:sym typeface="Twentieth Century"/>
            </a:endParaRPr>
          </a:p>
          <a:p>
            <a:pPr marL="0" marR="0" lvl="0" indent="457200" algn="ctr" rtl="0">
              <a:lnSpc>
                <a:spcPct val="100000"/>
              </a:lnSpc>
              <a:spcBef>
                <a:spcPts val="0"/>
              </a:spcBef>
              <a:spcAft>
                <a:spcPts val="0"/>
              </a:spcAft>
              <a:buClr>
                <a:srgbClr val="000000"/>
              </a:buClr>
              <a:buSzPts val="1900"/>
              <a:buFont typeface="Arial"/>
              <a:buNone/>
            </a:pPr>
            <a:r>
              <a:rPr lang="en" sz="1900">
                <a:solidFill>
                  <a:srgbClr val="FFFFFF"/>
                </a:solidFill>
                <a:latin typeface="Twentieth Century"/>
                <a:ea typeface="Twentieth Century"/>
                <a:cs typeface="Twentieth Century"/>
                <a:sym typeface="Twentieth Century"/>
              </a:rPr>
              <a:t>1</a:t>
            </a:r>
            <a:r>
              <a:rPr lang="en" sz="1900" b="0" i="0" u="none" strike="noStrike" cap="none">
                <a:solidFill>
                  <a:srgbClr val="FFFFFF"/>
                </a:solidFill>
                <a:latin typeface="Twentieth Century"/>
                <a:ea typeface="Twentieth Century"/>
                <a:cs typeface="Twentieth Century"/>
                <a:sym typeface="Twentieth Century"/>
              </a:rPr>
              <a:t>/</a:t>
            </a:r>
            <a:r>
              <a:rPr lang="en" sz="1900">
                <a:solidFill>
                  <a:srgbClr val="FFFFFF"/>
                </a:solidFill>
                <a:latin typeface="Twentieth Century"/>
                <a:ea typeface="Twentieth Century"/>
                <a:cs typeface="Twentieth Century"/>
                <a:sym typeface="Twentieth Century"/>
              </a:rPr>
              <a:t>9</a:t>
            </a:r>
            <a:r>
              <a:rPr lang="en" sz="1900" b="0" i="0" u="none" strike="noStrike" cap="none">
                <a:solidFill>
                  <a:srgbClr val="FFFFFF"/>
                </a:solidFill>
                <a:latin typeface="Twentieth Century"/>
                <a:ea typeface="Twentieth Century"/>
                <a:cs typeface="Twentieth Century"/>
                <a:sym typeface="Twentieth Century"/>
              </a:rPr>
              <a:t>/202</a:t>
            </a:r>
            <a:r>
              <a:rPr lang="en" sz="1900">
                <a:solidFill>
                  <a:srgbClr val="FFFFFF"/>
                </a:solidFill>
                <a:latin typeface="Twentieth Century"/>
                <a:ea typeface="Twentieth Century"/>
                <a:cs typeface="Twentieth Century"/>
                <a:sym typeface="Twentieth Century"/>
              </a:rPr>
              <a:t>6</a:t>
            </a:r>
            <a:endParaRPr sz="1900" b="0" i="0" u="none" strike="noStrike" cap="none">
              <a:solidFill>
                <a:srgbClr val="FFFFFF"/>
              </a:solidFill>
              <a:latin typeface="Twentieth Century"/>
              <a:ea typeface="Twentieth Century"/>
              <a:cs typeface="Twentieth Century"/>
              <a:sym typeface="Twentieth Centur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390906" y="260603"/>
            <a:ext cx="9916800" cy="603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3000" b="1">
                <a:latin typeface="Twentieth Century"/>
                <a:ea typeface="Twentieth Century"/>
                <a:cs typeface="Twentieth Century"/>
                <a:sym typeface="Twentieth Century"/>
              </a:rPr>
              <a:t>Overall Goals of this Data Visualization Session</a:t>
            </a:r>
            <a:endParaRPr sz="3000" b="1">
              <a:latin typeface="Twentieth Century"/>
              <a:ea typeface="Twentieth Century"/>
              <a:cs typeface="Twentieth Century"/>
              <a:sym typeface="Twentieth Century"/>
            </a:endParaRPr>
          </a:p>
        </p:txBody>
      </p:sp>
      <p:sp>
        <p:nvSpPr>
          <p:cNvPr id="91" name="Google Shape;91;p14"/>
          <p:cNvSpPr txBox="1"/>
          <p:nvPr/>
        </p:nvSpPr>
        <p:spPr>
          <a:xfrm>
            <a:off x="1107486" y="1168606"/>
            <a:ext cx="6434100" cy="3599337"/>
          </a:xfrm>
          <a:prstGeom prst="rect">
            <a:avLst/>
          </a:prstGeom>
          <a:solidFill>
            <a:srgbClr val="FFFFFF"/>
          </a:solidFill>
          <a:ln w="9525" cap="flat" cmpd="sng">
            <a:solidFill>
              <a:srgbClr val="7F7F7F"/>
            </a:solidFill>
            <a:prstDash val="solid"/>
            <a:round/>
            <a:headEnd type="none" w="sm" len="sm"/>
            <a:tailEnd type="none" w="sm" len="sm"/>
          </a:ln>
          <a:effectLst>
            <a:outerShdw blurRad="101600" dist="50800" dir="2700000" algn="tl" rotWithShape="0">
              <a:srgbClr val="000000">
                <a:alpha val="66274"/>
              </a:srgbClr>
            </a:outerShdw>
          </a:effectLst>
        </p:spPr>
        <p:txBody>
          <a:bodyPr spcFirstLastPara="1" wrap="square" lIns="205725" tIns="246875" rIns="68575" bIns="34275" anchor="t" anchorCtr="0">
            <a:noAutofit/>
          </a:bodyPr>
          <a:lstStyle/>
          <a:p>
            <a:pPr marL="457200" marR="0" lvl="0" indent="-311150" algn="l" rtl="0">
              <a:lnSpc>
                <a:spcPct val="200000"/>
              </a:lnSpc>
              <a:spcBef>
                <a:spcPts val="1800"/>
              </a:spcBef>
              <a:spcAft>
                <a:spcPts val="0"/>
              </a:spcAft>
              <a:buClr>
                <a:schemeClr val="dk1"/>
              </a:buClr>
              <a:buSzPts val="1300"/>
              <a:buFont typeface="Twentieth Century"/>
              <a:buChar char="➔"/>
            </a:pPr>
            <a:r>
              <a:rPr lang="en" sz="1600" b="1" i="0" u="none" strike="noStrike" cap="none" dirty="0">
                <a:solidFill>
                  <a:schemeClr val="dk1"/>
                </a:solidFill>
                <a:latin typeface="Twentieth Century"/>
                <a:ea typeface="Twentieth Century"/>
                <a:cs typeface="Twentieth Century"/>
                <a:sym typeface="Twentieth Century"/>
              </a:rPr>
              <a:t>See examples of what’s possible</a:t>
            </a:r>
            <a:endParaRPr sz="1600" b="1" i="0" u="none" strike="noStrike" cap="none" dirty="0">
              <a:solidFill>
                <a:schemeClr val="dk1"/>
              </a:solidFill>
              <a:latin typeface="Twentieth Century"/>
              <a:ea typeface="Twentieth Century"/>
              <a:cs typeface="Twentieth Century"/>
              <a:sym typeface="Twentieth Century"/>
            </a:endParaRPr>
          </a:p>
          <a:p>
            <a:pPr marL="457200" marR="0" lvl="0" indent="-330200" algn="l" rtl="0">
              <a:lnSpc>
                <a:spcPct val="200000"/>
              </a:lnSpc>
              <a:spcBef>
                <a:spcPts val="1800"/>
              </a:spcBef>
              <a:spcAft>
                <a:spcPts val="0"/>
              </a:spcAft>
              <a:buClr>
                <a:schemeClr val="dk1"/>
              </a:buClr>
              <a:buSzPts val="1600"/>
              <a:buFont typeface="Twentieth Century"/>
              <a:buChar char="➔"/>
            </a:pPr>
            <a:r>
              <a:rPr lang="en" sz="1600" b="1" i="0" u="none" strike="noStrike" cap="none" dirty="0">
                <a:solidFill>
                  <a:schemeClr val="dk1"/>
                </a:solidFill>
                <a:latin typeface="Twentieth Century"/>
                <a:ea typeface="Twentieth Century"/>
                <a:cs typeface="Twentieth Century"/>
                <a:sym typeface="Twentieth Century"/>
              </a:rPr>
              <a:t>Learn benefits of scripting data visualization tasks</a:t>
            </a:r>
            <a:endParaRPr sz="1600" b="1" i="0" u="none" strike="noStrike" cap="none" dirty="0">
              <a:solidFill>
                <a:schemeClr val="dk1"/>
              </a:solidFill>
              <a:latin typeface="Twentieth Century"/>
              <a:ea typeface="Twentieth Century"/>
              <a:cs typeface="Twentieth Century"/>
              <a:sym typeface="Twentieth Century"/>
            </a:endParaRPr>
          </a:p>
          <a:p>
            <a:pPr marL="457200" marR="0" lvl="0" indent="-330200" algn="l" rtl="0">
              <a:lnSpc>
                <a:spcPct val="200000"/>
              </a:lnSpc>
              <a:spcBef>
                <a:spcPts val="1800"/>
              </a:spcBef>
              <a:spcAft>
                <a:spcPts val="0"/>
              </a:spcAft>
              <a:buClr>
                <a:schemeClr val="dk1"/>
              </a:buClr>
              <a:buSzPts val="1600"/>
              <a:buFont typeface="Twentieth Century"/>
              <a:buChar char="➔"/>
            </a:pPr>
            <a:r>
              <a:rPr lang="en" sz="1600" b="1" i="0" u="none" strike="noStrike" cap="none" dirty="0">
                <a:solidFill>
                  <a:schemeClr val="dk1"/>
                </a:solidFill>
                <a:latin typeface="Twentieth Century"/>
                <a:ea typeface="Twentieth Century"/>
                <a:cs typeface="Twentieth Century"/>
                <a:sym typeface="Twentieth Century"/>
              </a:rPr>
              <a:t>Learn how to read documentation about using Python packages</a:t>
            </a:r>
            <a:endParaRPr sz="1600" b="1" i="0" u="none" strike="noStrike" cap="none" dirty="0">
              <a:solidFill>
                <a:schemeClr val="dk1"/>
              </a:solidFill>
              <a:latin typeface="Twentieth Century"/>
              <a:ea typeface="Twentieth Century"/>
              <a:cs typeface="Twentieth Century"/>
              <a:sym typeface="Twentieth Century"/>
            </a:endParaRPr>
          </a:p>
          <a:p>
            <a:pPr marL="457200" marR="0" lvl="0" indent="-330200" algn="l" rtl="0">
              <a:lnSpc>
                <a:spcPct val="200000"/>
              </a:lnSpc>
              <a:spcBef>
                <a:spcPts val="1800"/>
              </a:spcBef>
              <a:spcAft>
                <a:spcPts val="0"/>
              </a:spcAft>
              <a:buClr>
                <a:schemeClr val="dk1"/>
              </a:buClr>
              <a:buSzPts val="1600"/>
              <a:buFont typeface="Twentieth Century"/>
              <a:buChar char="➔"/>
            </a:pPr>
            <a:r>
              <a:rPr lang="en" sz="1600" b="1" i="0" u="none" strike="noStrike" cap="none" dirty="0">
                <a:solidFill>
                  <a:schemeClr val="dk1"/>
                </a:solidFill>
                <a:latin typeface="Twentieth Century"/>
                <a:ea typeface="Twentieth Century"/>
                <a:cs typeface="Twentieth Century"/>
                <a:sym typeface="Twentieth Century"/>
              </a:rPr>
              <a:t>Get familiar with the process of developing Python scripts locally</a:t>
            </a:r>
            <a:endParaRPr sz="1700" b="1" i="0" u="none" strike="noStrike" cap="none" dirty="0">
              <a:solidFill>
                <a:srgbClr val="000000"/>
              </a:solidFill>
              <a:latin typeface="Twentieth Century"/>
              <a:ea typeface="Twentieth Century"/>
              <a:cs typeface="Twentieth Century"/>
              <a:sym typeface="Twentieth Century"/>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390906" y="260603"/>
            <a:ext cx="9916800" cy="603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3000" b="1">
                <a:latin typeface="Twentieth Century"/>
                <a:ea typeface="Twentieth Century"/>
                <a:cs typeface="Twentieth Century"/>
                <a:sym typeface="Twentieth Century"/>
              </a:rPr>
              <a:t>What is Data Visualization?</a:t>
            </a:r>
            <a:endParaRPr sz="3000" b="1">
              <a:latin typeface="Twentieth Century"/>
              <a:ea typeface="Twentieth Century"/>
              <a:cs typeface="Twentieth Century"/>
              <a:sym typeface="Twentieth Century"/>
            </a:endParaRPr>
          </a:p>
        </p:txBody>
      </p:sp>
      <p:sp>
        <p:nvSpPr>
          <p:cNvPr id="97" name="Google Shape;97;p15"/>
          <p:cNvSpPr txBox="1"/>
          <p:nvPr/>
        </p:nvSpPr>
        <p:spPr>
          <a:xfrm>
            <a:off x="120900" y="1111375"/>
            <a:ext cx="6558000" cy="3806700"/>
          </a:xfrm>
          <a:prstGeom prst="rect">
            <a:avLst/>
          </a:prstGeom>
          <a:solidFill>
            <a:srgbClr val="FFFFFF"/>
          </a:solidFill>
          <a:ln w="9525" cap="flat" cmpd="sng">
            <a:solidFill>
              <a:srgbClr val="7F7F7F"/>
            </a:solidFill>
            <a:prstDash val="solid"/>
            <a:round/>
            <a:headEnd type="none" w="sm" len="sm"/>
            <a:tailEnd type="none" w="sm" len="sm"/>
          </a:ln>
          <a:effectLst>
            <a:outerShdw blurRad="101600" dist="50800" dir="2700000" algn="tl" rotWithShape="0">
              <a:srgbClr val="000000">
                <a:alpha val="66274"/>
              </a:srgbClr>
            </a:outerShdw>
          </a:effectLst>
        </p:spPr>
        <p:txBody>
          <a:bodyPr spcFirstLastPara="1" wrap="square" lIns="205725" tIns="0" rIns="68575" bIns="34275" anchor="t" anchorCtr="0">
            <a:noAutofit/>
          </a:bodyPr>
          <a:lstStyle/>
          <a:p>
            <a:pPr marL="457200" marR="0" lvl="0" indent="-298450" algn="l" rtl="0">
              <a:lnSpc>
                <a:spcPct val="250000"/>
              </a:lnSpc>
              <a:spcBef>
                <a:spcPts val="1800"/>
              </a:spcBef>
              <a:spcAft>
                <a:spcPts val="0"/>
              </a:spcAft>
              <a:buClr>
                <a:schemeClr val="dk1"/>
              </a:buClr>
              <a:buSzPts val="1100"/>
              <a:buFont typeface="Twentieth Century"/>
              <a:buChar char="➔"/>
            </a:pPr>
            <a:r>
              <a:rPr lang="en" sz="1100" b="1" i="0" u="none" strike="noStrike" cap="none" dirty="0">
                <a:solidFill>
                  <a:schemeClr val="dk1"/>
                </a:solidFill>
                <a:latin typeface="Twentieth Century"/>
                <a:ea typeface="Twentieth Century"/>
                <a:cs typeface="Twentieth Century"/>
                <a:sym typeface="Twentieth Century"/>
              </a:rPr>
              <a:t> </a:t>
            </a:r>
            <a:r>
              <a:rPr lang="en" sz="1400" b="1" i="0" u="none" strike="noStrike" cap="none" dirty="0">
                <a:solidFill>
                  <a:schemeClr val="dk1"/>
                </a:solidFill>
                <a:latin typeface="Twentieth Century"/>
                <a:ea typeface="Twentieth Century"/>
                <a:cs typeface="Twentieth Century"/>
                <a:sym typeface="Twentieth Century"/>
              </a:rPr>
              <a:t>Graphically representing data to facilitate communication of information</a:t>
            </a:r>
            <a:endParaRPr sz="1400" b="1" i="0" u="none" strike="noStrike" cap="none" dirty="0">
              <a:solidFill>
                <a:schemeClr val="dk1"/>
              </a:solidFill>
              <a:latin typeface="Twentieth Century"/>
              <a:ea typeface="Twentieth Century"/>
              <a:cs typeface="Twentieth Century"/>
              <a:sym typeface="Twentieth Century"/>
            </a:endParaRPr>
          </a:p>
          <a:p>
            <a:pPr marL="457200" marR="0" lvl="0" indent="-298450" algn="l" rtl="0">
              <a:lnSpc>
                <a:spcPct val="250000"/>
              </a:lnSpc>
              <a:spcBef>
                <a:spcPts val="0"/>
              </a:spcBef>
              <a:spcAft>
                <a:spcPts val="0"/>
              </a:spcAft>
              <a:buClr>
                <a:schemeClr val="dk1"/>
              </a:buClr>
              <a:buSzPts val="1100"/>
              <a:buFont typeface="Twentieth Century"/>
              <a:buChar char="➔"/>
            </a:pPr>
            <a:r>
              <a:rPr lang="en" sz="1100" b="1" i="0" u="none" strike="noStrike" cap="none" dirty="0">
                <a:solidFill>
                  <a:schemeClr val="dk1"/>
                </a:solidFill>
                <a:latin typeface="Twentieth Century"/>
                <a:ea typeface="Twentieth Century"/>
                <a:cs typeface="Twentieth Century"/>
                <a:sym typeface="Twentieth Century"/>
              </a:rPr>
              <a:t> </a:t>
            </a:r>
            <a:r>
              <a:rPr lang="en" sz="1400" b="1" i="0" u="none" strike="noStrike" cap="none" dirty="0">
                <a:solidFill>
                  <a:schemeClr val="dk1"/>
                </a:solidFill>
                <a:latin typeface="Twentieth Century"/>
                <a:ea typeface="Twentieth Century"/>
                <a:cs typeface="Twentieth Century"/>
                <a:sym typeface="Twentieth Century"/>
              </a:rPr>
              <a:t>Visualizations often take the form of charts, graphs, maps, and diagrams</a:t>
            </a:r>
            <a:endParaRPr sz="1400" b="1" i="0" u="none" strike="noStrike" cap="none" dirty="0">
              <a:solidFill>
                <a:schemeClr val="dk1"/>
              </a:solidFill>
              <a:latin typeface="Twentieth Century"/>
              <a:ea typeface="Twentieth Century"/>
              <a:cs typeface="Twentieth Century"/>
              <a:sym typeface="Twentieth Century"/>
            </a:endParaRPr>
          </a:p>
          <a:p>
            <a:pPr marL="457200" marR="0" lvl="0" indent="-298450" algn="l" rtl="0">
              <a:lnSpc>
                <a:spcPct val="250000"/>
              </a:lnSpc>
              <a:spcBef>
                <a:spcPts val="0"/>
              </a:spcBef>
              <a:spcAft>
                <a:spcPts val="0"/>
              </a:spcAft>
              <a:buClr>
                <a:schemeClr val="dk1"/>
              </a:buClr>
              <a:buSzPts val="1100"/>
              <a:buFont typeface="Twentieth Century"/>
              <a:buChar char="➔"/>
            </a:pPr>
            <a:r>
              <a:rPr lang="en" sz="1100" b="1" i="0" u="none" strike="noStrike" cap="none" dirty="0">
                <a:solidFill>
                  <a:schemeClr val="dk1"/>
                </a:solidFill>
                <a:latin typeface="Twentieth Century"/>
                <a:ea typeface="Twentieth Century"/>
                <a:cs typeface="Twentieth Century"/>
                <a:sym typeface="Twentieth Century"/>
              </a:rPr>
              <a:t> </a:t>
            </a:r>
            <a:r>
              <a:rPr lang="en" sz="1400" b="1" i="0" u="none" strike="noStrike" cap="none" dirty="0">
                <a:solidFill>
                  <a:schemeClr val="dk1"/>
                </a:solidFill>
                <a:latin typeface="Twentieth Century"/>
                <a:ea typeface="Twentieth Century"/>
                <a:cs typeface="Twentieth Century"/>
                <a:sym typeface="Twentieth Century"/>
              </a:rPr>
              <a:t>Effective data visualization is both an art and science</a:t>
            </a:r>
            <a:endParaRPr sz="1400" b="1" i="0" u="none" strike="noStrike" cap="none" dirty="0">
              <a:solidFill>
                <a:schemeClr val="dk1"/>
              </a:solidFill>
              <a:latin typeface="Twentieth Century"/>
              <a:ea typeface="Twentieth Century"/>
              <a:cs typeface="Twentieth Century"/>
              <a:sym typeface="Twentieth Century"/>
            </a:endParaRPr>
          </a:p>
          <a:p>
            <a:pPr marL="457200" marR="0" lvl="0" indent="-298450" algn="l" rtl="0">
              <a:lnSpc>
                <a:spcPct val="200000"/>
              </a:lnSpc>
              <a:spcBef>
                <a:spcPts val="0"/>
              </a:spcBef>
              <a:spcAft>
                <a:spcPts val="0"/>
              </a:spcAft>
              <a:buClr>
                <a:schemeClr val="dk1"/>
              </a:buClr>
              <a:buSzPts val="1100"/>
              <a:buFont typeface="Twentieth Century"/>
              <a:buChar char="➔"/>
            </a:pPr>
            <a:r>
              <a:rPr lang="en" sz="1100" b="1" i="0" u="none" strike="noStrike" cap="none" dirty="0">
                <a:solidFill>
                  <a:schemeClr val="dk1"/>
                </a:solidFill>
                <a:latin typeface="Twentieth Century"/>
                <a:ea typeface="Twentieth Century"/>
                <a:cs typeface="Twentieth Century"/>
                <a:sym typeface="Twentieth Century"/>
              </a:rPr>
              <a:t> </a:t>
            </a:r>
            <a:r>
              <a:rPr lang="en" sz="1400" b="1" i="0" u="none" strike="noStrike" cap="none" dirty="0">
                <a:solidFill>
                  <a:schemeClr val="dk1"/>
                </a:solidFill>
                <a:latin typeface="Twentieth Century"/>
                <a:ea typeface="Twentieth Century"/>
                <a:cs typeface="Twentieth Century"/>
                <a:sym typeface="Twentieth Century"/>
              </a:rPr>
              <a:t>Can be difficult and time consuming when:</a:t>
            </a:r>
            <a:endParaRPr sz="1400" b="1" i="0" u="none" strike="noStrike" cap="none" dirty="0">
              <a:solidFill>
                <a:schemeClr val="dk1"/>
              </a:solidFill>
              <a:latin typeface="Twentieth Century"/>
              <a:ea typeface="Twentieth Century"/>
              <a:cs typeface="Twentieth Century"/>
              <a:sym typeface="Twentieth Century"/>
            </a:endParaRPr>
          </a:p>
          <a:p>
            <a:pPr marL="914400" marR="0" lvl="1" indent="-304800" algn="l" rtl="0">
              <a:lnSpc>
                <a:spcPct val="200000"/>
              </a:lnSpc>
              <a:spcBef>
                <a:spcPts val="0"/>
              </a:spcBef>
              <a:spcAft>
                <a:spcPts val="0"/>
              </a:spcAft>
              <a:buClr>
                <a:schemeClr val="dk1"/>
              </a:buClr>
              <a:buSzPts val="1200"/>
              <a:buFont typeface="Twentieth Century"/>
              <a:buChar char="◆"/>
            </a:pPr>
            <a:r>
              <a:rPr lang="en" sz="1200" b="0" i="0" u="none" strike="noStrike" cap="none" dirty="0">
                <a:solidFill>
                  <a:schemeClr val="dk1"/>
                </a:solidFill>
                <a:latin typeface="Twentieth Century"/>
                <a:ea typeface="Twentieth Century"/>
                <a:cs typeface="Twentieth Century"/>
                <a:sym typeface="Twentieth Century"/>
              </a:rPr>
              <a:t>Datasets are large and complicated</a:t>
            </a:r>
            <a:endParaRPr sz="1200" b="0" i="0" u="none" strike="noStrike" cap="none" dirty="0">
              <a:solidFill>
                <a:schemeClr val="dk1"/>
              </a:solidFill>
              <a:latin typeface="Twentieth Century"/>
              <a:ea typeface="Twentieth Century"/>
              <a:cs typeface="Twentieth Century"/>
              <a:sym typeface="Twentieth Century"/>
            </a:endParaRPr>
          </a:p>
          <a:p>
            <a:pPr marL="914400" marR="0" lvl="1" indent="-304800" algn="l" rtl="0">
              <a:lnSpc>
                <a:spcPct val="200000"/>
              </a:lnSpc>
              <a:spcBef>
                <a:spcPts val="0"/>
              </a:spcBef>
              <a:spcAft>
                <a:spcPts val="0"/>
              </a:spcAft>
              <a:buClr>
                <a:schemeClr val="dk1"/>
              </a:buClr>
              <a:buSzPts val="1200"/>
              <a:buFont typeface="Twentieth Century"/>
              <a:buChar char="◆"/>
            </a:pPr>
            <a:r>
              <a:rPr lang="en" sz="1200" b="0" i="0" u="none" strike="noStrike" cap="none" dirty="0">
                <a:solidFill>
                  <a:schemeClr val="dk1"/>
                </a:solidFill>
                <a:latin typeface="Twentieth Century"/>
                <a:ea typeface="Twentieth Century"/>
                <a:cs typeface="Twentieth Century"/>
                <a:sym typeface="Twentieth Century"/>
              </a:rPr>
              <a:t>Datasets are updated frequently</a:t>
            </a:r>
            <a:endParaRPr sz="1200" b="0" i="0" u="none" strike="noStrike" cap="none" dirty="0">
              <a:solidFill>
                <a:schemeClr val="dk1"/>
              </a:solidFill>
              <a:latin typeface="Twentieth Century"/>
              <a:ea typeface="Twentieth Century"/>
              <a:cs typeface="Twentieth Century"/>
              <a:sym typeface="Twentieth Century"/>
            </a:endParaRPr>
          </a:p>
          <a:p>
            <a:pPr marL="914400" marR="0" lvl="1" indent="-304800" algn="l" rtl="0">
              <a:lnSpc>
                <a:spcPct val="200000"/>
              </a:lnSpc>
              <a:spcBef>
                <a:spcPts val="0"/>
              </a:spcBef>
              <a:spcAft>
                <a:spcPts val="0"/>
              </a:spcAft>
              <a:buClr>
                <a:schemeClr val="dk1"/>
              </a:buClr>
              <a:buSzPts val="1200"/>
              <a:buFont typeface="Twentieth Century"/>
              <a:buChar char="◆"/>
            </a:pPr>
            <a:r>
              <a:rPr lang="en" sz="1200" b="0" i="0" u="none" strike="noStrike" cap="none" dirty="0">
                <a:solidFill>
                  <a:schemeClr val="dk1"/>
                </a:solidFill>
                <a:latin typeface="Twentieth Century"/>
                <a:ea typeface="Twentieth Century"/>
                <a:cs typeface="Twentieth Century"/>
                <a:sym typeface="Twentieth Century"/>
              </a:rPr>
              <a:t>Large numbers of visualizations need to be created</a:t>
            </a:r>
            <a:endParaRPr sz="1200" b="0" i="0" u="none" strike="noStrike" cap="none" dirty="0">
              <a:solidFill>
                <a:schemeClr val="dk1"/>
              </a:solidFill>
              <a:latin typeface="Twentieth Century"/>
              <a:ea typeface="Twentieth Century"/>
              <a:cs typeface="Twentieth Century"/>
              <a:sym typeface="Twentieth Century"/>
            </a:endParaRPr>
          </a:p>
          <a:p>
            <a:pPr marL="914400" marR="0" lvl="1" indent="-304800" algn="l" rtl="0">
              <a:lnSpc>
                <a:spcPct val="200000"/>
              </a:lnSpc>
              <a:spcBef>
                <a:spcPts val="0"/>
              </a:spcBef>
              <a:spcAft>
                <a:spcPts val="0"/>
              </a:spcAft>
              <a:buClr>
                <a:schemeClr val="dk1"/>
              </a:buClr>
              <a:buSzPts val="1200"/>
              <a:buFont typeface="Twentieth Century"/>
              <a:buChar char="◆"/>
            </a:pPr>
            <a:r>
              <a:rPr lang="en" sz="1200" b="0" i="0" u="none" strike="noStrike" cap="none" dirty="0">
                <a:solidFill>
                  <a:schemeClr val="dk1"/>
                </a:solidFill>
                <a:latin typeface="Twentieth Century"/>
                <a:ea typeface="Twentieth Century"/>
                <a:cs typeface="Twentieth Century"/>
                <a:sym typeface="Twentieth Century"/>
              </a:rPr>
              <a:t>Multiple styles of a visualization product are required for different audiences</a:t>
            </a:r>
            <a:endParaRPr sz="1200" b="0" i="0" u="none" strike="noStrike" cap="none" dirty="0">
              <a:solidFill>
                <a:schemeClr val="dk1"/>
              </a:solidFill>
              <a:latin typeface="Twentieth Century"/>
              <a:ea typeface="Twentieth Century"/>
              <a:cs typeface="Twentieth Century"/>
              <a:sym typeface="Twentieth Century"/>
            </a:endParaRPr>
          </a:p>
          <a:p>
            <a:pPr marL="457200" marR="0" lvl="0" indent="0" algn="l" rtl="0">
              <a:lnSpc>
                <a:spcPct val="150000"/>
              </a:lnSpc>
              <a:spcBef>
                <a:spcPts val="1800"/>
              </a:spcBef>
              <a:spcAft>
                <a:spcPts val="0"/>
              </a:spcAft>
              <a:buClr>
                <a:srgbClr val="000000"/>
              </a:buClr>
              <a:buSzPts val="1400"/>
              <a:buFont typeface="Arial"/>
              <a:buNone/>
            </a:pPr>
            <a:endParaRPr sz="1400" b="1" i="0" u="none" strike="noStrike" cap="none" dirty="0">
              <a:solidFill>
                <a:srgbClr val="000000"/>
              </a:solidFill>
              <a:latin typeface="Twentieth Century"/>
              <a:ea typeface="Twentieth Century"/>
              <a:cs typeface="Twentieth Century"/>
              <a:sym typeface="Twentieth Century"/>
            </a:endParaRPr>
          </a:p>
          <a:p>
            <a:pPr marL="457200" marR="0" lvl="0" indent="0" algn="l" rtl="0">
              <a:lnSpc>
                <a:spcPct val="180000"/>
              </a:lnSpc>
              <a:spcBef>
                <a:spcPts val="1800"/>
              </a:spcBef>
              <a:spcAft>
                <a:spcPts val="0"/>
              </a:spcAft>
              <a:buClr>
                <a:srgbClr val="000000"/>
              </a:buClr>
              <a:buSzPts val="1500"/>
              <a:buFont typeface="Arial"/>
              <a:buNone/>
            </a:pPr>
            <a:endParaRPr sz="1500" b="1" i="0" u="none" strike="noStrike" cap="none" dirty="0">
              <a:solidFill>
                <a:srgbClr val="000000"/>
              </a:solidFill>
              <a:latin typeface="Twentieth Century"/>
              <a:ea typeface="Twentieth Century"/>
              <a:cs typeface="Twentieth Century"/>
              <a:sym typeface="Twentieth Century"/>
            </a:endParaRPr>
          </a:p>
          <a:p>
            <a:pPr marL="241300" marR="0" lvl="0" indent="-177800" algn="l" rtl="0">
              <a:lnSpc>
                <a:spcPct val="150000"/>
              </a:lnSpc>
              <a:spcBef>
                <a:spcPts val="500"/>
              </a:spcBef>
              <a:spcAft>
                <a:spcPts val="0"/>
              </a:spcAft>
              <a:buClr>
                <a:srgbClr val="00A4E0"/>
              </a:buClr>
              <a:buSzPts val="900"/>
              <a:buFont typeface="Noto Sans Symbols"/>
              <a:buNone/>
            </a:pPr>
            <a:endParaRPr sz="1500" b="1" i="0" u="none" strike="noStrike" cap="none" dirty="0">
              <a:solidFill>
                <a:srgbClr val="000000"/>
              </a:solidFill>
              <a:latin typeface="Twentieth Century"/>
              <a:ea typeface="Twentieth Century"/>
              <a:cs typeface="Twentieth Century"/>
              <a:sym typeface="Twentieth Century"/>
            </a:endParaRPr>
          </a:p>
        </p:txBody>
      </p:sp>
      <p:pic>
        <p:nvPicPr>
          <p:cNvPr id="98" name="Google Shape;98;p15"/>
          <p:cNvPicPr preferRelativeResize="0"/>
          <p:nvPr/>
        </p:nvPicPr>
        <p:blipFill rotWithShape="1">
          <a:blip r:embed="rId3">
            <a:alphaModFix/>
          </a:blip>
          <a:srcRect l="6158" t="13838" r="3147" b="6120"/>
          <a:stretch/>
        </p:blipFill>
        <p:spPr>
          <a:xfrm>
            <a:off x="7499850" y="1696163"/>
            <a:ext cx="1546950" cy="1337650"/>
          </a:xfrm>
          <a:prstGeom prst="rect">
            <a:avLst/>
          </a:prstGeom>
          <a:noFill/>
          <a:ln>
            <a:noFill/>
          </a:ln>
          <a:effectLst>
            <a:outerShdw blurRad="57150" dist="19050" dir="5400000" algn="bl" rotWithShape="0">
              <a:srgbClr val="000000">
                <a:alpha val="49411"/>
              </a:srgbClr>
            </a:outerShdw>
          </a:effectLst>
        </p:spPr>
      </p:pic>
      <p:pic>
        <p:nvPicPr>
          <p:cNvPr id="99" name="Google Shape;99;p15"/>
          <p:cNvPicPr preferRelativeResize="0"/>
          <p:nvPr/>
        </p:nvPicPr>
        <p:blipFill rotWithShape="1">
          <a:blip r:embed="rId4">
            <a:alphaModFix/>
          </a:blip>
          <a:srcRect/>
          <a:stretch/>
        </p:blipFill>
        <p:spPr>
          <a:xfrm>
            <a:off x="7353557" y="3992601"/>
            <a:ext cx="1488050" cy="998500"/>
          </a:xfrm>
          <a:prstGeom prst="rect">
            <a:avLst/>
          </a:prstGeom>
          <a:noFill/>
          <a:ln>
            <a:noFill/>
          </a:ln>
          <a:effectLst>
            <a:outerShdw blurRad="57150" dist="19050" dir="5400000" algn="bl" rotWithShape="0">
              <a:srgbClr val="000000">
                <a:alpha val="49411"/>
              </a:srgbClr>
            </a:outerShdw>
          </a:effectLst>
        </p:spPr>
      </p:pic>
      <p:pic>
        <p:nvPicPr>
          <p:cNvPr id="100" name="Google Shape;100;p15"/>
          <p:cNvPicPr preferRelativeResize="0"/>
          <p:nvPr/>
        </p:nvPicPr>
        <p:blipFill rotWithShape="1">
          <a:blip r:embed="rId5">
            <a:alphaModFix/>
          </a:blip>
          <a:srcRect/>
          <a:stretch/>
        </p:blipFill>
        <p:spPr>
          <a:xfrm>
            <a:off x="7410100" y="2515975"/>
            <a:ext cx="1145550" cy="1476625"/>
          </a:xfrm>
          <a:prstGeom prst="rect">
            <a:avLst/>
          </a:prstGeom>
          <a:noFill/>
          <a:ln>
            <a:noFill/>
          </a:ln>
          <a:effectLst>
            <a:outerShdw blurRad="57150" dist="19050" dir="5400000" algn="bl" rotWithShape="0">
              <a:srgbClr val="000000">
                <a:alpha val="49411"/>
              </a:srgbClr>
            </a:outerShdw>
          </a:effectLst>
        </p:spPr>
      </p:pic>
      <p:pic>
        <p:nvPicPr>
          <p:cNvPr id="101" name="Google Shape;101;p15"/>
          <p:cNvPicPr preferRelativeResize="0"/>
          <p:nvPr/>
        </p:nvPicPr>
        <p:blipFill rotWithShape="1">
          <a:blip r:embed="rId6">
            <a:alphaModFix/>
          </a:blip>
          <a:srcRect/>
          <a:stretch/>
        </p:blipFill>
        <p:spPr>
          <a:xfrm>
            <a:off x="6987863" y="2200814"/>
            <a:ext cx="1145549" cy="741864"/>
          </a:xfrm>
          <a:prstGeom prst="rect">
            <a:avLst/>
          </a:prstGeom>
          <a:noFill/>
          <a:ln>
            <a:noFill/>
          </a:ln>
          <a:effectLst>
            <a:outerShdw blurRad="57150" dist="19050" dir="5400000" algn="bl" rotWithShape="0">
              <a:srgbClr val="000000">
                <a:alpha val="49411"/>
              </a:srgbClr>
            </a:outerShdw>
          </a:effectLst>
        </p:spPr>
      </p:pic>
      <p:pic>
        <p:nvPicPr>
          <p:cNvPr id="102" name="Google Shape;102;p15"/>
          <p:cNvPicPr preferRelativeResize="0"/>
          <p:nvPr/>
        </p:nvPicPr>
        <p:blipFill rotWithShape="1">
          <a:blip r:embed="rId7">
            <a:alphaModFix/>
          </a:blip>
          <a:srcRect/>
          <a:stretch/>
        </p:blipFill>
        <p:spPr>
          <a:xfrm>
            <a:off x="6934346" y="3546350"/>
            <a:ext cx="1252576" cy="844126"/>
          </a:xfrm>
          <a:prstGeom prst="rect">
            <a:avLst/>
          </a:prstGeom>
          <a:noFill/>
          <a:ln>
            <a:noFill/>
          </a:ln>
          <a:effectLst>
            <a:outerShdw blurRad="57150" dist="19050" dir="5400000" algn="bl" rotWithShape="0">
              <a:srgbClr val="000000">
                <a:alpha val="49411"/>
              </a:srgbClr>
            </a:outerShdw>
          </a:effectLst>
        </p:spPr>
      </p:pic>
      <p:pic>
        <p:nvPicPr>
          <p:cNvPr id="103" name="Google Shape;103;p15"/>
          <p:cNvPicPr preferRelativeResize="0"/>
          <p:nvPr/>
        </p:nvPicPr>
        <p:blipFill rotWithShape="1">
          <a:blip r:embed="rId8">
            <a:alphaModFix/>
          </a:blip>
          <a:srcRect/>
          <a:stretch/>
        </p:blipFill>
        <p:spPr>
          <a:xfrm>
            <a:off x="6856594" y="958395"/>
            <a:ext cx="2042004" cy="8441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390906" y="260603"/>
            <a:ext cx="9916669" cy="603504"/>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3000" b="1">
                <a:latin typeface="Twentieth Century"/>
                <a:ea typeface="Twentieth Century"/>
                <a:cs typeface="Twentieth Century"/>
                <a:sym typeface="Twentieth Century"/>
              </a:rPr>
              <a:t>Python Data Visualization Resources</a:t>
            </a:r>
            <a:endParaRPr sz="1100">
              <a:latin typeface="Twentieth Century"/>
              <a:ea typeface="Twentieth Century"/>
              <a:cs typeface="Twentieth Century"/>
              <a:sym typeface="Twentieth Century"/>
            </a:endParaRPr>
          </a:p>
        </p:txBody>
      </p:sp>
      <p:pic>
        <p:nvPicPr>
          <p:cNvPr id="110" name="Google Shape;110;p16"/>
          <p:cNvPicPr preferRelativeResize="0"/>
          <p:nvPr/>
        </p:nvPicPr>
        <p:blipFill rotWithShape="1">
          <a:blip r:embed="rId3">
            <a:alphaModFix/>
          </a:blip>
          <a:srcRect/>
          <a:stretch/>
        </p:blipFill>
        <p:spPr>
          <a:xfrm>
            <a:off x="245724" y="1064650"/>
            <a:ext cx="1898427" cy="1024274"/>
          </a:xfrm>
          <a:prstGeom prst="rect">
            <a:avLst/>
          </a:prstGeom>
          <a:noFill/>
          <a:ln>
            <a:noFill/>
          </a:ln>
          <a:effectLst>
            <a:outerShdw blurRad="57150" dist="19050" dir="5400000" algn="bl" rotWithShape="0">
              <a:srgbClr val="000000">
                <a:alpha val="49411"/>
              </a:srgbClr>
            </a:outerShdw>
          </a:effectLst>
        </p:spPr>
      </p:pic>
      <p:sp>
        <p:nvSpPr>
          <p:cNvPr id="111" name="Google Shape;111;p16"/>
          <p:cNvSpPr txBox="1">
            <a:spLocks noGrp="1"/>
          </p:cNvSpPr>
          <p:nvPr>
            <p:ph type="body" idx="1"/>
          </p:nvPr>
        </p:nvSpPr>
        <p:spPr>
          <a:xfrm>
            <a:off x="2471925" y="2315875"/>
            <a:ext cx="6428100" cy="232845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68575" tIns="68575" rIns="68575" bIns="68575" anchor="t" anchorCtr="0">
            <a:noAutofit/>
          </a:bodyPr>
          <a:lstStyle/>
          <a:p>
            <a:pPr marL="285750" lvl="0" indent="-165100" algn="l" rtl="0">
              <a:lnSpc>
                <a:spcPct val="200000"/>
              </a:lnSpc>
              <a:spcBef>
                <a:spcPts val="1000"/>
              </a:spcBef>
              <a:spcAft>
                <a:spcPts val="0"/>
              </a:spcAft>
              <a:buSzPts val="800"/>
              <a:buFont typeface="Noto Sans Symbols"/>
              <a:buChar char="➔"/>
            </a:pPr>
            <a:r>
              <a:rPr lang="en" sz="1500" b="1" dirty="0">
                <a:latin typeface="Twentieth Century"/>
                <a:ea typeface="Twentieth Century"/>
                <a:cs typeface="Twentieth Century"/>
                <a:sym typeface="Twentieth Century"/>
              </a:rPr>
              <a:t>Matplotlib Documentation</a:t>
            </a:r>
            <a:r>
              <a:rPr lang="en" sz="1600" b="1" dirty="0">
                <a:latin typeface="Twentieth Century"/>
                <a:ea typeface="Twentieth Century"/>
                <a:cs typeface="Twentieth Century"/>
                <a:sym typeface="Twentieth Century"/>
              </a:rPr>
              <a:t>  </a:t>
            </a:r>
            <a:r>
              <a:rPr lang="en" sz="1300" dirty="0">
                <a:latin typeface="Twentieth Century"/>
                <a:ea typeface="Twentieth Century"/>
                <a:cs typeface="Twentieth Century"/>
                <a:sym typeface="Twentieth Century"/>
              </a:rPr>
              <a:t>(</a:t>
            </a:r>
            <a:r>
              <a:rPr lang="en" sz="1300" u="sng" dirty="0">
                <a:solidFill>
                  <a:schemeClr val="hlink"/>
                </a:solidFill>
                <a:latin typeface="Twentieth Century"/>
                <a:ea typeface="Twentieth Century"/>
                <a:cs typeface="Twentieth Century"/>
                <a:sym typeface="Twentieth Century"/>
                <a:hlinkClick r:id="rId4"/>
              </a:rPr>
              <a:t>https://matplotlib.org/3.3.2/tutorials/index.html</a:t>
            </a:r>
            <a:r>
              <a:rPr lang="en" sz="1300" dirty="0">
                <a:latin typeface="Twentieth Century"/>
                <a:ea typeface="Twentieth Century"/>
                <a:cs typeface="Twentieth Century"/>
                <a:sym typeface="Twentieth Century"/>
              </a:rPr>
              <a:t>) </a:t>
            </a:r>
            <a:endParaRPr sz="1300" dirty="0">
              <a:latin typeface="Twentieth Century"/>
              <a:ea typeface="Twentieth Century"/>
              <a:cs typeface="Twentieth Century"/>
              <a:sym typeface="Twentieth Century"/>
            </a:endParaRPr>
          </a:p>
          <a:p>
            <a:pPr marL="285750" lvl="0" indent="-165100" algn="l" rtl="0">
              <a:lnSpc>
                <a:spcPct val="200000"/>
              </a:lnSpc>
              <a:spcBef>
                <a:spcPts val="1000"/>
              </a:spcBef>
              <a:spcAft>
                <a:spcPts val="0"/>
              </a:spcAft>
              <a:buSzPts val="800"/>
              <a:buFont typeface="Noto Sans Symbols"/>
              <a:buChar char="➔"/>
            </a:pPr>
            <a:r>
              <a:rPr lang="en" sz="1500" b="1" dirty="0">
                <a:latin typeface="Twentieth Century"/>
                <a:ea typeface="Twentieth Century"/>
                <a:cs typeface="Twentieth Century"/>
                <a:sym typeface="Twentieth Century"/>
              </a:rPr>
              <a:t>Altair Documentation </a:t>
            </a:r>
            <a:r>
              <a:rPr lang="en" sz="1300" dirty="0">
                <a:latin typeface="Twentieth Century"/>
                <a:ea typeface="Twentieth Century"/>
                <a:cs typeface="Twentieth Century"/>
                <a:sym typeface="Twentieth Century"/>
              </a:rPr>
              <a:t>(</a:t>
            </a:r>
            <a:r>
              <a:rPr lang="en" sz="1300" u="sng" dirty="0">
                <a:solidFill>
                  <a:schemeClr val="hlink"/>
                </a:solidFill>
                <a:latin typeface="Twentieth Century"/>
                <a:ea typeface="Twentieth Century"/>
                <a:cs typeface="Twentieth Century"/>
                <a:sym typeface="Twentieth Century"/>
                <a:hlinkClick r:id="rId5"/>
              </a:rPr>
              <a:t>https://altair-viz.github.io/user_guide/data.html</a:t>
            </a:r>
            <a:r>
              <a:rPr lang="en" sz="1300" dirty="0">
                <a:latin typeface="Twentieth Century"/>
                <a:ea typeface="Twentieth Century"/>
                <a:cs typeface="Twentieth Century"/>
                <a:sym typeface="Twentieth Century"/>
              </a:rPr>
              <a:t>) </a:t>
            </a:r>
            <a:endParaRPr sz="1300" dirty="0">
              <a:latin typeface="Twentieth Century"/>
              <a:ea typeface="Twentieth Century"/>
              <a:cs typeface="Twentieth Century"/>
              <a:sym typeface="Twentieth Century"/>
            </a:endParaRPr>
          </a:p>
          <a:p>
            <a:pPr marL="285750" lvl="0" indent="-165100" algn="l" rtl="0">
              <a:lnSpc>
                <a:spcPct val="200000"/>
              </a:lnSpc>
              <a:spcBef>
                <a:spcPts val="1000"/>
              </a:spcBef>
              <a:spcAft>
                <a:spcPts val="0"/>
              </a:spcAft>
              <a:buSzPts val="800"/>
              <a:buFont typeface="Noto Sans Symbols"/>
              <a:buChar char="➔"/>
            </a:pPr>
            <a:r>
              <a:rPr lang="en" sz="1500" b="1" dirty="0">
                <a:latin typeface="Twentieth Century"/>
                <a:ea typeface="Twentieth Century"/>
                <a:cs typeface="Twentieth Century"/>
                <a:sym typeface="Twentieth Century"/>
              </a:rPr>
              <a:t>Plotly Documentation</a:t>
            </a:r>
            <a:r>
              <a:rPr lang="en" sz="1600" b="1" dirty="0">
                <a:latin typeface="Twentieth Century"/>
                <a:ea typeface="Twentieth Century"/>
                <a:cs typeface="Twentieth Century"/>
                <a:sym typeface="Twentieth Century"/>
              </a:rPr>
              <a:t>  </a:t>
            </a:r>
            <a:r>
              <a:rPr lang="en" sz="1300" dirty="0">
                <a:latin typeface="Twentieth Century"/>
                <a:ea typeface="Twentieth Century"/>
                <a:cs typeface="Twentieth Century"/>
                <a:sym typeface="Twentieth Century"/>
              </a:rPr>
              <a:t>(</a:t>
            </a:r>
            <a:r>
              <a:rPr lang="en" sz="1300" u="sng" dirty="0">
                <a:solidFill>
                  <a:schemeClr val="hlink"/>
                </a:solidFill>
                <a:latin typeface="Twentieth Century"/>
                <a:ea typeface="Twentieth Century"/>
                <a:cs typeface="Twentieth Century"/>
                <a:sym typeface="Twentieth Century"/>
                <a:hlinkClick r:id="rId6"/>
              </a:rPr>
              <a:t>https://plotly.com/python/</a:t>
            </a:r>
            <a:r>
              <a:rPr lang="en" sz="1300" dirty="0">
                <a:latin typeface="Twentieth Century"/>
                <a:ea typeface="Twentieth Century"/>
                <a:cs typeface="Twentieth Century"/>
                <a:sym typeface="Twentieth Century"/>
              </a:rPr>
              <a:t>)</a:t>
            </a:r>
            <a:endParaRPr sz="1200" dirty="0">
              <a:latin typeface="Twentieth Century"/>
              <a:ea typeface="Twentieth Century"/>
              <a:cs typeface="Twentieth Century"/>
              <a:sym typeface="Twentieth Century"/>
            </a:endParaRPr>
          </a:p>
        </p:txBody>
      </p:sp>
      <p:pic>
        <p:nvPicPr>
          <p:cNvPr id="112" name="Google Shape;112;p16"/>
          <p:cNvPicPr preferRelativeResize="0"/>
          <p:nvPr/>
        </p:nvPicPr>
        <p:blipFill rotWithShape="1">
          <a:blip r:embed="rId7">
            <a:alphaModFix/>
          </a:blip>
          <a:srcRect/>
          <a:stretch/>
        </p:blipFill>
        <p:spPr>
          <a:xfrm>
            <a:off x="245727" y="2208675"/>
            <a:ext cx="1898423" cy="1384685"/>
          </a:xfrm>
          <a:prstGeom prst="rect">
            <a:avLst/>
          </a:prstGeom>
          <a:noFill/>
          <a:ln>
            <a:noFill/>
          </a:ln>
          <a:effectLst>
            <a:outerShdw blurRad="57150" dist="19050" dir="5400000" algn="bl" rotWithShape="0">
              <a:srgbClr val="000000">
                <a:alpha val="49411"/>
              </a:srgbClr>
            </a:outerShdw>
          </a:effectLst>
        </p:spPr>
      </p:pic>
      <p:pic>
        <p:nvPicPr>
          <p:cNvPr id="113" name="Google Shape;113;p16"/>
          <p:cNvPicPr preferRelativeResize="0"/>
          <p:nvPr/>
        </p:nvPicPr>
        <p:blipFill rotWithShape="1">
          <a:blip r:embed="rId8">
            <a:alphaModFix/>
          </a:blip>
          <a:srcRect/>
          <a:stretch/>
        </p:blipFill>
        <p:spPr>
          <a:xfrm>
            <a:off x="245725" y="3776200"/>
            <a:ext cx="1898424" cy="1170391"/>
          </a:xfrm>
          <a:prstGeom prst="rect">
            <a:avLst/>
          </a:prstGeom>
          <a:noFill/>
          <a:ln>
            <a:noFill/>
          </a:ln>
          <a:effectLst>
            <a:outerShdw blurRad="57150" dist="19050" dir="5400000" algn="bl" rotWithShape="0">
              <a:srgbClr val="000000">
                <a:alpha val="49411"/>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7"/>
          <p:cNvSpPr txBox="1">
            <a:spLocks noGrp="1"/>
          </p:cNvSpPr>
          <p:nvPr>
            <p:ph type="body" idx="1"/>
          </p:nvPr>
        </p:nvSpPr>
        <p:spPr>
          <a:xfrm>
            <a:off x="259000" y="1049700"/>
            <a:ext cx="3572100" cy="38745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68575" tIns="68575" rIns="68575" bIns="68575" anchor="t" anchorCtr="0">
            <a:noAutofit/>
          </a:bodyPr>
          <a:lstStyle/>
          <a:p>
            <a:pPr marL="177800" lvl="0" indent="0" algn="l" rtl="0">
              <a:lnSpc>
                <a:spcPct val="150000"/>
              </a:lnSpc>
              <a:spcBef>
                <a:spcPts val="1000"/>
              </a:spcBef>
              <a:spcAft>
                <a:spcPts val="0"/>
              </a:spcAft>
              <a:buSzPts val="1400"/>
              <a:buNone/>
            </a:pPr>
            <a:r>
              <a:rPr lang="en" sz="1500" b="1">
                <a:latin typeface="Twentieth Century"/>
                <a:ea typeface="Twentieth Century"/>
                <a:cs typeface="Twentieth Century"/>
                <a:sym typeface="Twentieth Century"/>
              </a:rPr>
              <a:t>Factors to Consider</a:t>
            </a:r>
            <a:endParaRPr sz="1500" b="1">
              <a:latin typeface="Twentieth Century"/>
              <a:ea typeface="Twentieth Century"/>
              <a:cs typeface="Twentieth Century"/>
              <a:sym typeface="Twentieth Century"/>
            </a:endParaRPr>
          </a:p>
          <a:p>
            <a:pPr marL="520700" lvl="1" indent="-177800" algn="l" rtl="0">
              <a:lnSpc>
                <a:spcPct val="150000"/>
              </a:lnSpc>
              <a:spcBef>
                <a:spcPts val="1000"/>
              </a:spcBef>
              <a:spcAft>
                <a:spcPts val="0"/>
              </a:spcAft>
              <a:buSzPts val="1400"/>
              <a:buFont typeface="Twentieth Century"/>
              <a:buChar char="◆"/>
            </a:pPr>
            <a:r>
              <a:rPr lang="en" sz="1400">
                <a:latin typeface="Twentieth Century"/>
                <a:ea typeface="Twentieth Century"/>
                <a:cs typeface="Twentieth Century"/>
                <a:sym typeface="Twentieth Century"/>
              </a:rPr>
              <a:t>Static vs. Interactive visualizations</a:t>
            </a:r>
            <a:endParaRPr sz="1400">
              <a:latin typeface="Twentieth Century"/>
              <a:ea typeface="Twentieth Century"/>
              <a:cs typeface="Twentieth Century"/>
              <a:sym typeface="Twentieth Century"/>
            </a:endParaRPr>
          </a:p>
          <a:p>
            <a:pPr marL="520700" lvl="1" indent="-184150" algn="l" rtl="0">
              <a:lnSpc>
                <a:spcPct val="150000"/>
              </a:lnSpc>
              <a:spcBef>
                <a:spcPts val="1000"/>
              </a:spcBef>
              <a:spcAft>
                <a:spcPts val="0"/>
              </a:spcAft>
              <a:buSzPts val="1500"/>
              <a:buFont typeface="Twentieth Century"/>
              <a:buChar char="◆"/>
            </a:pPr>
            <a:r>
              <a:rPr lang="en" sz="1500">
                <a:latin typeface="Twentieth Century"/>
                <a:ea typeface="Twentieth Century"/>
                <a:cs typeface="Twentieth Century"/>
                <a:sym typeface="Twentieth Century"/>
              </a:rPr>
              <a:t>Support for niche visualization types (e.g. maps, networks)</a:t>
            </a:r>
            <a:endParaRPr sz="1500">
              <a:latin typeface="Twentieth Century"/>
              <a:ea typeface="Twentieth Century"/>
              <a:cs typeface="Twentieth Century"/>
              <a:sym typeface="Twentieth Century"/>
            </a:endParaRPr>
          </a:p>
          <a:p>
            <a:pPr marL="520700" lvl="1" indent="-184150" algn="l" rtl="0">
              <a:lnSpc>
                <a:spcPct val="150000"/>
              </a:lnSpc>
              <a:spcBef>
                <a:spcPts val="1000"/>
              </a:spcBef>
              <a:spcAft>
                <a:spcPts val="0"/>
              </a:spcAft>
              <a:buSzPts val="1500"/>
              <a:buFont typeface="Twentieth Century"/>
              <a:buChar char="◆"/>
            </a:pPr>
            <a:r>
              <a:rPr lang="en" sz="1500">
                <a:latin typeface="Twentieth Century"/>
                <a:ea typeface="Twentieth Century"/>
                <a:cs typeface="Twentieth Century"/>
                <a:sym typeface="Twentieth Century"/>
              </a:rPr>
              <a:t>API complexity</a:t>
            </a:r>
            <a:endParaRPr sz="1500">
              <a:latin typeface="Twentieth Century"/>
              <a:ea typeface="Twentieth Century"/>
              <a:cs typeface="Twentieth Century"/>
              <a:sym typeface="Twentieth Century"/>
            </a:endParaRPr>
          </a:p>
          <a:p>
            <a:pPr marL="520700" lvl="1" indent="-184150" algn="l" rtl="0">
              <a:lnSpc>
                <a:spcPct val="150000"/>
              </a:lnSpc>
              <a:spcBef>
                <a:spcPts val="1000"/>
              </a:spcBef>
              <a:spcAft>
                <a:spcPts val="0"/>
              </a:spcAft>
              <a:buSzPts val="1500"/>
              <a:buFont typeface="Twentieth Century"/>
              <a:buChar char="◆"/>
            </a:pPr>
            <a:r>
              <a:rPr lang="en" sz="1500">
                <a:latin typeface="Twentieth Century"/>
                <a:ea typeface="Twentieth Century"/>
                <a:cs typeface="Twentieth Century"/>
                <a:sym typeface="Twentieth Century"/>
              </a:rPr>
              <a:t>API level of control</a:t>
            </a:r>
            <a:endParaRPr sz="1500">
              <a:latin typeface="Twentieth Century"/>
              <a:ea typeface="Twentieth Century"/>
              <a:cs typeface="Twentieth Century"/>
              <a:sym typeface="Twentieth Century"/>
            </a:endParaRPr>
          </a:p>
          <a:p>
            <a:pPr marL="520700" lvl="1" indent="-184150" algn="l" rtl="0">
              <a:lnSpc>
                <a:spcPct val="150000"/>
              </a:lnSpc>
              <a:spcBef>
                <a:spcPts val="1000"/>
              </a:spcBef>
              <a:spcAft>
                <a:spcPts val="0"/>
              </a:spcAft>
              <a:buSzPts val="1500"/>
              <a:buFont typeface="Twentieth Century"/>
              <a:buChar char="◆"/>
            </a:pPr>
            <a:r>
              <a:rPr lang="en" sz="1500">
                <a:latin typeface="Twentieth Century"/>
                <a:ea typeface="Twentieth Century"/>
                <a:cs typeface="Twentieth Century"/>
                <a:sym typeface="Twentieth Century"/>
              </a:rPr>
              <a:t>Popularity</a:t>
            </a:r>
            <a:endParaRPr sz="1500">
              <a:latin typeface="Twentieth Century"/>
              <a:ea typeface="Twentieth Century"/>
              <a:cs typeface="Twentieth Century"/>
              <a:sym typeface="Twentieth Century"/>
            </a:endParaRPr>
          </a:p>
          <a:p>
            <a:pPr marL="520700" lvl="1" indent="-184150" algn="l" rtl="0">
              <a:lnSpc>
                <a:spcPct val="150000"/>
              </a:lnSpc>
              <a:spcBef>
                <a:spcPts val="1000"/>
              </a:spcBef>
              <a:spcAft>
                <a:spcPts val="0"/>
              </a:spcAft>
              <a:buSzPts val="1500"/>
              <a:buFont typeface="Twentieth Century"/>
              <a:buChar char="◆"/>
            </a:pPr>
            <a:r>
              <a:rPr lang="en" sz="1500">
                <a:latin typeface="Twentieth Century"/>
                <a:ea typeface="Twentieth Century"/>
                <a:cs typeface="Twentieth Century"/>
                <a:sym typeface="Twentieth Century"/>
              </a:rPr>
              <a:t>API documentation</a:t>
            </a:r>
            <a:endParaRPr sz="1500">
              <a:latin typeface="Twentieth Century"/>
              <a:ea typeface="Twentieth Century"/>
              <a:cs typeface="Twentieth Century"/>
              <a:sym typeface="Twentieth Century"/>
            </a:endParaRPr>
          </a:p>
          <a:p>
            <a:pPr marL="520700" lvl="1" indent="-127000" algn="l" rtl="0">
              <a:lnSpc>
                <a:spcPct val="190000"/>
              </a:lnSpc>
              <a:spcBef>
                <a:spcPts val="0"/>
              </a:spcBef>
              <a:spcAft>
                <a:spcPts val="0"/>
              </a:spcAft>
              <a:buClr>
                <a:schemeClr val="dk1"/>
              </a:buClr>
              <a:buSzPts val="800"/>
              <a:buFont typeface="Noto Sans Symbols"/>
              <a:buNone/>
            </a:pPr>
            <a:endParaRPr sz="1500">
              <a:latin typeface="Twentieth Century"/>
              <a:ea typeface="Twentieth Century"/>
              <a:cs typeface="Twentieth Century"/>
              <a:sym typeface="Twentieth Century"/>
            </a:endParaRPr>
          </a:p>
          <a:p>
            <a:pPr marL="177800" lvl="0" indent="-127000" algn="l" rtl="0">
              <a:lnSpc>
                <a:spcPct val="150000"/>
              </a:lnSpc>
              <a:spcBef>
                <a:spcPts val="0"/>
              </a:spcBef>
              <a:spcAft>
                <a:spcPts val="0"/>
              </a:spcAft>
              <a:buClr>
                <a:schemeClr val="dk1"/>
              </a:buClr>
              <a:buSzPts val="800"/>
              <a:buFont typeface="Noto Sans Symbols"/>
              <a:buNone/>
            </a:pPr>
            <a:endParaRPr sz="1500">
              <a:latin typeface="Twentieth Century"/>
              <a:ea typeface="Twentieth Century"/>
              <a:cs typeface="Twentieth Century"/>
              <a:sym typeface="Twentieth Century"/>
            </a:endParaRPr>
          </a:p>
        </p:txBody>
      </p:sp>
      <p:sp>
        <p:nvSpPr>
          <p:cNvPr id="120" name="Google Shape;120;p17"/>
          <p:cNvSpPr txBox="1">
            <a:spLocks noGrp="1"/>
          </p:cNvSpPr>
          <p:nvPr>
            <p:ph type="title"/>
          </p:nvPr>
        </p:nvSpPr>
        <p:spPr>
          <a:xfrm>
            <a:off x="-390906" y="260603"/>
            <a:ext cx="9916669" cy="603504"/>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3000" b="1">
                <a:latin typeface="Twentieth Century"/>
                <a:ea typeface="Twentieth Century"/>
                <a:cs typeface="Twentieth Century"/>
                <a:sym typeface="Twentieth Century"/>
              </a:rPr>
              <a:t>Choosing a Data Visualization Library</a:t>
            </a:r>
            <a:endParaRPr sz="1100">
              <a:latin typeface="Twentieth Century"/>
              <a:ea typeface="Twentieth Century"/>
              <a:cs typeface="Twentieth Century"/>
              <a:sym typeface="Twentieth Century"/>
            </a:endParaRPr>
          </a:p>
        </p:txBody>
      </p:sp>
      <p:pic>
        <p:nvPicPr>
          <p:cNvPr id="121" name="Google Shape;121;p17"/>
          <p:cNvPicPr preferRelativeResize="0"/>
          <p:nvPr/>
        </p:nvPicPr>
        <p:blipFill rotWithShape="1">
          <a:blip r:embed="rId3">
            <a:alphaModFix/>
          </a:blip>
          <a:srcRect/>
          <a:stretch/>
        </p:blipFill>
        <p:spPr>
          <a:xfrm>
            <a:off x="5631618" y="1956054"/>
            <a:ext cx="3277533" cy="655500"/>
          </a:xfrm>
          <a:prstGeom prst="rect">
            <a:avLst/>
          </a:prstGeom>
          <a:noFill/>
          <a:ln>
            <a:noFill/>
          </a:ln>
        </p:spPr>
      </p:pic>
      <p:pic>
        <p:nvPicPr>
          <p:cNvPr id="122" name="Google Shape;122;p17"/>
          <p:cNvPicPr preferRelativeResize="0"/>
          <p:nvPr/>
        </p:nvPicPr>
        <p:blipFill rotWithShape="1">
          <a:blip r:embed="rId4">
            <a:alphaModFix/>
          </a:blip>
          <a:srcRect/>
          <a:stretch/>
        </p:blipFill>
        <p:spPr>
          <a:xfrm>
            <a:off x="4302600" y="1643375"/>
            <a:ext cx="1029900" cy="1029900"/>
          </a:xfrm>
          <a:prstGeom prst="rect">
            <a:avLst/>
          </a:prstGeom>
          <a:noFill/>
          <a:ln>
            <a:noFill/>
          </a:ln>
        </p:spPr>
      </p:pic>
      <p:pic>
        <p:nvPicPr>
          <p:cNvPr id="123" name="Google Shape;123;p17"/>
          <p:cNvPicPr preferRelativeResize="0"/>
          <p:nvPr/>
        </p:nvPicPr>
        <p:blipFill rotWithShape="1">
          <a:blip r:embed="rId5">
            <a:alphaModFix/>
          </a:blip>
          <a:srcRect/>
          <a:stretch/>
        </p:blipFill>
        <p:spPr>
          <a:xfrm>
            <a:off x="6648575" y="2710950"/>
            <a:ext cx="1483200" cy="1483200"/>
          </a:xfrm>
          <a:prstGeom prst="rect">
            <a:avLst/>
          </a:prstGeom>
          <a:noFill/>
          <a:ln>
            <a:noFill/>
          </a:ln>
        </p:spPr>
      </p:pic>
      <p:pic>
        <p:nvPicPr>
          <p:cNvPr id="124" name="Google Shape;124;p17"/>
          <p:cNvPicPr preferRelativeResize="0"/>
          <p:nvPr/>
        </p:nvPicPr>
        <p:blipFill rotWithShape="1">
          <a:blip r:embed="rId6">
            <a:alphaModFix/>
          </a:blip>
          <a:srcRect/>
          <a:stretch/>
        </p:blipFill>
        <p:spPr>
          <a:xfrm>
            <a:off x="4143378" y="3979928"/>
            <a:ext cx="2396399" cy="534300"/>
          </a:xfrm>
          <a:prstGeom prst="rect">
            <a:avLst/>
          </a:prstGeom>
          <a:noFill/>
          <a:ln>
            <a:noFill/>
          </a:ln>
        </p:spPr>
      </p:pic>
      <p:pic>
        <p:nvPicPr>
          <p:cNvPr id="125" name="Google Shape;125;p17"/>
          <p:cNvPicPr preferRelativeResize="0"/>
          <p:nvPr/>
        </p:nvPicPr>
        <p:blipFill rotWithShape="1">
          <a:blip r:embed="rId7">
            <a:alphaModFix/>
          </a:blip>
          <a:srcRect/>
          <a:stretch/>
        </p:blipFill>
        <p:spPr>
          <a:xfrm>
            <a:off x="5363125" y="2611550"/>
            <a:ext cx="1254825" cy="1254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8"/>
          <p:cNvSpPr txBox="1">
            <a:spLocks noGrp="1"/>
          </p:cNvSpPr>
          <p:nvPr>
            <p:ph type="body" idx="1"/>
          </p:nvPr>
        </p:nvSpPr>
        <p:spPr>
          <a:xfrm>
            <a:off x="472925" y="2184425"/>
            <a:ext cx="3572100" cy="17010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68575" tIns="68575" rIns="68575" bIns="68575" anchor="t" anchorCtr="0">
            <a:noAutofit/>
          </a:bodyPr>
          <a:lstStyle/>
          <a:p>
            <a:pPr marL="177800" lvl="0" indent="0" algn="l" rtl="0">
              <a:lnSpc>
                <a:spcPct val="150000"/>
              </a:lnSpc>
              <a:spcBef>
                <a:spcPts val="1000"/>
              </a:spcBef>
              <a:spcAft>
                <a:spcPts val="0"/>
              </a:spcAft>
              <a:buSzPts val="1400"/>
              <a:buNone/>
            </a:pPr>
            <a:r>
              <a:rPr lang="en" sz="1500" b="1">
                <a:latin typeface="Twentieth Century"/>
                <a:ea typeface="Twentieth Century"/>
                <a:cs typeface="Twentieth Century"/>
                <a:sym typeface="Twentieth Century"/>
              </a:rPr>
              <a:t>Commonly used packages</a:t>
            </a:r>
            <a:endParaRPr sz="1500" b="1">
              <a:latin typeface="Twentieth Century"/>
              <a:ea typeface="Twentieth Century"/>
              <a:cs typeface="Twentieth Century"/>
              <a:sym typeface="Twentieth Century"/>
            </a:endParaRPr>
          </a:p>
          <a:p>
            <a:pPr marL="520700" lvl="1" indent="-184150" algn="l" rtl="0">
              <a:lnSpc>
                <a:spcPct val="150000"/>
              </a:lnSpc>
              <a:spcBef>
                <a:spcPts val="1000"/>
              </a:spcBef>
              <a:spcAft>
                <a:spcPts val="0"/>
              </a:spcAft>
              <a:buSzPts val="1500"/>
              <a:buFont typeface="Twentieth Century"/>
              <a:buChar char="◆"/>
            </a:pPr>
            <a:r>
              <a:rPr lang="en" sz="1400">
                <a:latin typeface="Twentieth Century"/>
                <a:ea typeface="Twentieth Century"/>
                <a:cs typeface="Twentieth Century"/>
                <a:sym typeface="Twentieth Century"/>
              </a:rPr>
              <a:t>Pandas</a:t>
            </a:r>
            <a:endParaRPr sz="1400">
              <a:latin typeface="Twentieth Century"/>
              <a:ea typeface="Twentieth Century"/>
              <a:cs typeface="Twentieth Century"/>
              <a:sym typeface="Twentieth Century"/>
            </a:endParaRPr>
          </a:p>
          <a:p>
            <a:pPr marL="520700" lvl="1" indent="-177800" algn="l" rtl="0">
              <a:lnSpc>
                <a:spcPct val="150000"/>
              </a:lnSpc>
              <a:spcBef>
                <a:spcPts val="1000"/>
              </a:spcBef>
              <a:spcAft>
                <a:spcPts val="0"/>
              </a:spcAft>
              <a:buSzPts val="1400"/>
              <a:buFont typeface="Twentieth Century"/>
              <a:buChar char="◆"/>
            </a:pPr>
            <a:r>
              <a:rPr lang="en" sz="1400">
                <a:latin typeface="Twentieth Century"/>
                <a:ea typeface="Twentieth Century"/>
                <a:cs typeface="Twentieth Century"/>
                <a:sym typeface="Twentieth Century"/>
              </a:rPr>
              <a:t>Polars</a:t>
            </a:r>
            <a:endParaRPr sz="1400">
              <a:latin typeface="Twentieth Century"/>
              <a:ea typeface="Twentieth Century"/>
              <a:cs typeface="Twentieth Century"/>
              <a:sym typeface="Twentieth Century"/>
            </a:endParaRPr>
          </a:p>
          <a:p>
            <a:pPr marL="520700" lvl="1" indent="-127000" algn="l" rtl="0">
              <a:lnSpc>
                <a:spcPct val="190000"/>
              </a:lnSpc>
              <a:spcBef>
                <a:spcPts val="0"/>
              </a:spcBef>
              <a:spcAft>
                <a:spcPts val="0"/>
              </a:spcAft>
              <a:buClr>
                <a:schemeClr val="dk1"/>
              </a:buClr>
              <a:buSzPts val="800"/>
              <a:buFont typeface="Noto Sans Symbols"/>
              <a:buNone/>
            </a:pPr>
            <a:endParaRPr sz="1500">
              <a:latin typeface="Twentieth Century"/>
              <a:ea typeface="Twentieth Century"/>
              <a:cs typeface="Twentieth Century"/>
              <a:sym typeface="Twentieth Century"/>
            </a:endParaRPr>
          </a:p>
          <a:p>
            <a:pPr marL="177800" lvl="0" indent="-127000" algn="l" rtl="0">
              <a:lnSpc>
                <a:spcPct val="150000"/>
              </a:lnSpc>
              <a:spcBef>
                <a:spcPts val="0"/>
              </a:spcBef>
              <a:spcAft>
                <a:spcPts val="0"/>
              </a:spcAft>
              <a:buClr>
                <a:schemeClr val="dk1"/>
              </a:buClr>
              <a:buSzPts val="800"/>
              <a:buFont typeface="Noto Sans Symbols"/>
              <a:buNone/>
            </a:pPr>
            <a:endParaRPr sz="1500">
              <a:latin typeface="Twentieth Century"/>
              <a:ea typeface="Twentieth Century"/>
              <a:cs typeface="Twentieth Century"/>
              <a:sym typeface="Twentieth Century"/>
            </a:endParaRPr>
          </a:p>
        </p:txBody>
      </p:sp>
      <p:sp>
        <p:nvSpPr>
          <p:cNvPr id="132" name="Google Shape;132;p18"/>
          <p:cNvSpPr txBox="1">
            <a:spLocks noGrp="1"/>
          </p:cNvSpPr>
          <p:nvPr>
            <p:ph type="title"/>
          </p:nvPr>
        </p:nvSpPr>
        <p:spPr>
          <a:xfrm>
            <a:off x="-390906" y="260603"/>
            <a:ext cx="9916800" cy="603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3000" b="1">
                <a:latin typeface="Twentieth Century"/>
                <a:ea typeface="Twentieth Century"/>
                <a:cs typeface="Twentieth Century"/>
                <a:sym typeface="Twentieth Century"/>
              </a:rPr>
              <a:t>Packages for Tabular Data and Data Visualization</a:t>
            </a:r>
            <a:endParaRPr sz="1100">
              <a:latin typeface="Twentieth Century"/>
              <a:ea typeface="Twentieth Century"/>
              <a:cs typeface="Twentieth Century"/>
              <a:sym typeface="Twentieth Century"/>
            </a:endParaRPr>
          </a:p>
        </p:txBody>
      </p:sp>
      <p:pic>
        <p:nvPicPr>
          <p:cNvPr id="133" name="Google Shape;133;p18"/>
          <p:cNvPicPr preferRelativeResize="0"/>
          <p:nvPr/>
        </p:nvPicPr>
        <p:blipFill rotWithShape="1">
          <a:blip r:embed="rId3">
            <a:alphaModFix/>
          </a:blip>
          <a:srcRect/>
          <a:stretch/>
        </p:blipFill>
        <p:spPr>
          <a:xfrm>
            <a:off x="4608075" y="1613626"/>
            <a:ext cx="2531026" cy="1024275"/>
          </a:xfrm>
          <a:prstGeom prst="rect">
            <a:avLst/>
          </a:prstGeom>
          <a:noFill/>
          <a:ln>
            <a:noFill/>
          </a:ln>
        </p:spPr>
      </p:pic>
      <p:pic>
        <p:nvPicPr>
          <p:cNvPr id="134" name="Google Shape;134;p18"/>
          <p:cNvPicPr preferRelativeResize="0"/>
          <p:nvPr/>
        </p:nvPicPr>
        <p:blipFill rotWithShape="1">
          <a:blip r:embed="rId4">
            <a:alphaModFix/>
          </a:blip>
          <a:srcRect/>
          <a:stretch/>
        </p:blipFill>
        <p:spPr>
          <a:xfrm>
            <a:off x="4502816" y="3201750"/>
            <a:ext cx="2741550" cy="1386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19"/>
          <p:cNvPicPr preferRelativeResize="0"/>
          <p:nvPr/>
        </p:nvPicPr>
        <p:blipFill>
          <a:blip r:embed="rId3">
            <a:alphaModFix/>
          </a:blip>
          <a:stretch>
            <a:fillRect/>
          </a:stretch>
        </p:blipFill>
        <p:spPr>
          <a:xfrm>
            <a:off x="4315825" y="1394261"/>
            <a:ext cx="3173924" cy="1652049"/>
          </a:xfrm>
          <a:prstGeom prst="rect">
            <a:avLst/>
          </a:prstGeom>
          <a:noFill/>
          <a:ln>
            <a:noFill/>
          </a:ln>
        </p:spPr>
      </p:pic>
      <p:pic>
        <p:nvPicPr>
          <p:cNvPr id="141" name="Google Shape;141;p19"/>
          <p:cNvPicPr preferRelativeResize="0"/>
          <p:nvPr/>
        </p:nvPicPr>
        <p:blipFill>
          <a:blip r:embed="rId4">
            <a:alphaModFix/>
          </a:blip>
          <a:stretch>
            <a:fillRect/>
          </a:stretch>
        </p:blipFill>
        <p:spPr>
          <a:xfrm>
            <a:off x="6081027" y="3576367"/>
            <a:ext cx="2653798" cy="1416326"/>
          </a:xfrm>
          <a:prstGeom prst="rect">
            <a:avLst/>
          </a:prstGeom>
          <a:noFill/>
          <a:ln>
            <a:noFill/>
          </a:ln>
        </p:spPr>
      </p:pic>
      <p:sp>
        <p:nvSpPr>
          <p:cNvPr id="142" name="Google Shape;142;p19"/>
          <p:cNvSpPr txBox="1">
            <a:spLocks noGrp="1"/>
          </p:cNvSpPr>
          <p:nvPr>
            <p:ph type="body" idx="1"/>
          </p:nvPr>
        </p:nvSpPr>
        <p:spPr>
          <a:xfrm>
            <a:off x="440775" y="1360975"/>
            <a:ext cx="2974500" cy="20205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68575" tIns="68575" rIns="68575" bIns="68575" anchor="t" anchorCtr="0">
            <a:noAutofit/>
          </a:bodyPr>
          <a:lstStyle/>
          <a:p>
            <a:pPr marL="177800" lvl="0" indent="0" algn="l" rtl="0">
              <a:lnSpc>
                <a:spcPct val="150000"/>
              </a:lnSpc>
              <a:spcBef>
                <a:spcPts val="1000"/>
              </a:spcBef>
              <a:spcAft>
                <a:spcPts val="0"/>
              </a:spcAft>
              <a:buSzPts val="1400"/>
              <a:buNone/>
            </a:pPr>
            <a:r>
              <a:rPr lang="en" sz="1500" b="1">
                <a:latin typeface="Twentieth Century"/>
                <a:ea typeface="Twentieth Century"/>
                <a:cs typeface="Twentieth Century"/>
                <a:sym typeface="Twentieth Century"/>
              </a:rPr>
              <a:t>Software with Python APIs</a:t>
            </a:r>
            <a:endParaRPr sz="1500" b="1">
              <a:latin typeface="Twentieth Century"/>
              <a:ea typeface="Twentieth Century"/>
              <a:cs typeface="Twentieth Century"/>
              <a:sym typeface="Twentieth Century"/>
            </a:endParaRPr>
          </a:p>
          <a:p>
            <a:pPr marL="520700" lvl="1" indent="-184150" algn="l" rtl="0">
              <a:lnSpc>
                <a:spcPct val="150000"/>
              </a:lnSpc>
              <a:spcBef>
                <a:spcPts val="1000"/>
              </a:spcBef>
              <a:spcAft>
                <a:spcPts val="0"/>
              </a:spcAft>
              <a:buSzPts val="1500"/>
              <a:buFont typeface="Twentieth Century"/>
              <a:buChar char="◆"/>
            </a:pPr>
            <a:r>
              <a:rPr lang="en" sz="1400">
                <a:latin typeface="Twentieth Century"/>
                <a:ea typeface="Twentieth Century"/>
                <a:cs typeface="Twentieth Century"/>
                <a:sym typeface="Twentieth Century"/>
              </a:rPr>
              <a:t>Blender</a:t>
            </a:r>
            <a:endParaRPr sz="1400">
              <a:latin typeface="Twentieth Century"/>
              <a:ea typeface="Twentieth Century"/>
              <a:cs typeface="Twentieth Century"/>
              <a:sym typeface="Twentieth Century"/>
            </a:endParaRPr>
          </a:p>
          <a:p>
            <a:pPr marL="520700" lvl="1" indent="-177800" algn="l" rtl="0">
              <a:lnSpc>
                <a:spcPct val="150000"/>
              </a:lnSpc>
              <a:spcBef>
                <a:spcPts val="1000"/>
              </a:spcBef>
              <a:spcAft>
                <a:spcPts val="0"/>
              </a:spcAft>
              <a:buSzPts val="1400"/>
              <a:buFont typeface="Twentieth Century"/>
              <a:buChar char="◆"/>
            </a:pPr>
            <a:r>
              <a:rPr lang="en" sz="1400">
                <a:latin typeface="Twentieth Century"/>
                <a:ea typeface="Twentieth Century"/>
                <a:cs typeface="Twentieth Century"/>
                <a:sym typeface="Twentieth Century"/>
              </a:rPr>
              <a:t>ArcGIS Pro</a:t>
            </a:r>
            <a:endParaRPr sz="1400">
              <a:latin typeface="Twentieth Century"/>
              <a:ea typeface="Twentieth Century"/>
              <a:cs typeface="Twentieth Century"/>
              <a:sym typeface="Twentieth Century"/>
            </a:endParaRPr>
          </a:p>
          <a:p>
            <a:pPr marL="520700" lvl="1" indent="-177800" algn="l" rtl="0">
              <a:lnSpc>
                <a:spcPct val="150000"/>
              </a:lnSpc>
              <a:spcBef>
                <a:spcPts val="1000"/>
              </a:spcBef>
              <a:spcAft>
                <a:spcPts val="0"/>
              </a:spcAft>
              <a:buSzPts val="1400"/>
              <a:buFont typeface="Twentieth Century"/>
              <a:buChar char="◆"/>
            </a:pPr>
            <a:r>
              <a:rPr lang="en" sz="1400">
                <a:latin typeface="Twentieth Century"/>
                <a:ea typeface="Twentieth Century"/>
                <a:cs typeface="Twentieth Century"/>
                <a:sym typeface="Twentieth Century"/>
              </a:rPr>
              <a:t>QGIS</a:t>
            </a:r>
            <a:endParaRPr sz="1400">
              <a:latin typeface="Twentieth Century"/>
              <a:ea typeface="Twentieth Century"/>
              <a:cs typeface="Twentieth Century"/>
              <a:sym typeface="Twentieth Century"/>
            </a:endParaRPr>
          </a:p>
          <a:p>
            <a:pPr marL="914400" lvl="0" indent="0" algn="l" rtl="0">
              <a:lnSpc>
                <a:spcPct val="150000"/>
              </a:lnSpc>
              <a:spcBef>
                <a:spcPts val="1000"/>
              </a:spcBef>
              <a:spcAft>
                <a:spcPts val="0"/>
              </a:spcAft>
              <a:buSzPts val="1400"/>
              <a:buNone/>
            </a:pPr>
            <a:endParaRPr sz="1400">
              <a:latin typeface="Twentieth Century"/>
              <a:ea typeface="Twentieth Century"/>
              <a:cs typeface="Twentieth Century"/>
              <a:sym typeface="Twentieth Century"/>
            </a:endParaRPr>
          </a:p>
          <a:p>
            <a:pPr marL="520700" lvl="1" indent="-127000" algn="l" rtl="0">
              <a:lnSpc>
                <a:spcPct val="190000"/>
              </a:lnSpc>
              <a:spcBef>
                <a:spcPts val="0"/>
              </a:spcBef>
              <a:spcAft>
                <a:spcPts val="0"/>
              </a:spcAft>
              <a:buClr>
                <a:schemeClr val="dk1"/>
              </a:buClr>
              <a:buSzPts val="800"/>
              <a:buFont typeface="Noto Sans Symbols"/>
              <a:buNone/>
            </a:pPr>
            <a:endParaRPr sz="1500">
              <a:latin typeface="Twentieth Century"/>
              <a:ea typeface="Twentieth Century"/>
              <a:cs typeface="Twentieth Century"/>
              <a:sym typeface="Twentieth Century"/>
            </a:endParaRPr>
          </a:p>
          <a:p>
            <a:pPr marL="177800" lvl="0" indent="-127000" algn="l" rtl="0">
              <a:lnSpc>
                <a:spcPct val="150000"/>
              </a:lnSpc>
              <a:spcBef>
                <a:spcPts val="0"/>
              </a:spcBef>
              <a:spcAft>
                <a:spcPts val="0"/>
              </a:spcAft>
              <a:buClr>
                <a:schemeClr val="dk1"/>
              </a:buClr>
              <a:buSzPts val="800"/>
              <a:buFont typeface="Noto Sans Symbols"/>
              <a:buNone/>
            </a:pPr>
            <a:endParaRPr sz="1500">
              <a:latin typeface="Twentieth Century"/>
              <a:ea typeface="Twentieth Century"/>
              <a:cs typeface="Twentieth Century"/>
              <a:sym typeface="Twentieth Century"/>
            </a:endParaRPr>
          </a:p>
        </p:txBody>
      </p:sp>
      <p:sp>
        <p:nvSpPr>
          <p:cNvPr id="143" name="Google Shape;143;p19"/>
          <p:cNvSpPr txBox="1">
            <a:spLocks noGrp="1"/>
          </p:cNvSpPr>
          <p:nvPr>
            <p:ph type="title"/>
          </p:nvPr>
        </p:nvSpPr>
        <p:spPr>
          <a:xfrm>
            <a:off x="-390906" y="260603"/>
            <a:ext cx="9916800" cy="603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2500" b="1">
                <a:latin typeface="Twentieth Century"/>
                <a:ea typeface="Twentieth Century"/>
                <a:cs typeface="Twentieth Century"/>
                <a:sym typeface="Twentieth Century"/>
              </a:rPr>
              <a:t>Python for Automating Processes in Data Vis Desktop Software</a:t>
            </a:r>
            <a:endParaRPr sz="600">
              <a:latin typeface="Twentieth Century"/>
              <a:ea typeface="Twentieth Century"/>
              <a:cs typeface="Twentieth Century"/>
              <a:sym typeface="Twentieth Century"/>
            </a:endParaRPr>
          </a:p>
        </p:txBody>
      </p:sp>
      <p:pic>
        <p:nvPicPr>
          <p:cNvPr id="144" name="Google Shape;144;p19"/>
          <p:cNvPicPr preferRelativeResize="0"/>
          <p:nvPr/>
        </p:nvPicPr>
        <p:blipFill rotWithShape="1">
          <a:blip r:embed="rId5">
            <a:alphaModFix/>
          </a:blip>
          <a:srcRect/>
          <a:stretch/>
        </p:blipFill>
        <p:spPr>
          <a:xfrm>
            <a:off x="7765850" y="3129500"/>
            <a:ext cx="1170557" cy="957925"/>
          </a:xfrm>
          <a:prstGeom prst="rect">
            <a:avLst/>
          </a:prstGeom>
          <a:noFill/>
          <a:ln>
            <a:noFill/>
          </a:ln>
        </p:spPr>
      </p:pic>
      <p:pic>
        <p:nvPicPr>
          <p:cNvPr id="145" name="Google Shape;145;p19"/>
          <p:cNvPicPr preferRelativeResize="0"/>
          <p:nvPr/>
        </p:nvPicPr>
        <p:blipFill rotWithShape="1">
          <a:blip r:embed="rId6">
            <a:alphaModFix/>
          </a:blip>
          <a:srcRect l="15557" t="16427" r="13726" b="13490"/>
          <a:stretch/>
        </p:blipFill>
        <p:spPr>
          <a:xfrm>
            <a:off x="4002250" y="2384566"/>
            <a:ext cx="1097329" cy="996919"/>
          </a:xfrm>
          <a:prstGeom prst="rect">
            <a:avLst/>
          </a:prstGeom>
          <a:noFill/>
          <a:ln>
            <a:noFill/>
          </a:ln>
        </p:spPr>
      </p:pic>
      <p:pic>
        <p:nvPicPr>
          <p:cNvPr id="146" name="Google Shape;146;p19"/>
          <p:cNvPicPr preferRelativeResize="0"/>
          <p:nvPr/>
        </p:nvPicPr>
        <p:blipFill rotWithShape="1">
          <a:blip r:embed="rId7">
            <a:alphaModFix/>
          </a:blip>
          <a:srcRect/>
          <a:stretch/>
        </p:blipFill>
        <p:spPr>
          <a:xfrm>
            <a:off x="8075826" y="1056100"/>
            <a:ext cx="860575" cy="860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0"/>
          <p:cNvSpPr txBox="1">
            <a:spLocks noGrp="1"/>
          </p:cNvSpPr>
          <p:nvPr>
            <p:ph type="body" idx="1"/>
          </p:nvPr>
        </p:nvSpPr>
        <p:spPr>
          <a:xfrm>
            <a:off x="106599" y="1964100"/>
            <a:ext cx="5973903" cy="29673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0" tIns="0" rIns="64000" bIns="246875" anchor="t" anchorCtr="0">
            <a:noAutofit/>
          </a:bodyPr>
          <a:lstStyle/>
          <a:p>
            <a:pPr marL="520700" lvl="1" indent="-184150" algn="l" rtl="0">
              <a:lnSpc>
                <a:spcPct val="200000"/>
              </a:lnSpc>
              <a:spcBef>
                <a:spcPts val="1000"/>
              </a:spcBef>
              <a:spcAft>
                <a:spcPts val="0"/>
              </a:spcAft>
              <a:buSzPts val="1500"/>
              <a:buFont typeface="Twentieth Century"/>
              <a:buChar char="◆"/>
              <a:tabLst>
                <a:tab pos="1714500" algn="l"/>
              </a:tabLst>
            </a:pPr>
            <a:r>
              <a:rPr lang="en" sz="1500" b="1" dirty="0">
                <a:latin typeface="Twentieth Century"/>
                <a:ea typeface="Twentieth Century"/>
                <a:cs typeface="Twentieth Century"/>
                <a:sym typeface="Twentieth Century"/>
              </a:rPr>
              <a:t>NetworkX 		</a:t>
            </a:r>
            <a:r>
              <a:rPr lang="en" sz="1200" u="sng" dirty="0">
                <a:solidFill>
                  <a:schemeClr val="hlink"/>
                </a:solidFill>
                <a:latin typeface="Twentieth Century"/>
                <a:ea typeface="Twentieth Century"/>
                <a:cs typeface="Twentieth Century"/>
                <a:sym typeface="Twentieth Century"/>
                <a:hlinkClick r:id="rId3"/>
              </a:rPr>
              <a:t>https://networkx.org/documentation/stable/auto_examples/</a:t>
            </a:r>
            <a:r>
              <a:rPr lang="en" sz="1200" dirty="0">
                <a:latin typeface="Twentieth Century"/>
                <a:ea typeface="Twentieth Century"/>
                <a:cs typeface="Twentieth Century"/>
                <a:sym typeface="Twentieth Century"/>
              </a:rPr>
              <a:t> </a:t>
            </a:r>
            <a:endParaRPr sz="1200" dirty="0">
              <a:latin typeface="Twentieth Century"/>
              <a:ea typeface="Twentieth Century"/>
              <a:cs typeface="Twentieth Century"/>
              <a:sym typeface="Twentieth Century"/>
            </a:endParaRPr>
          </a:p>
          <a:p>
            <a:pPr marL="520700" lvl="1" indent="-177800" algn="l" rtl="0">
              <a:lnSpc>
                <a:spcPct val="200000"/>
              </a:lnSpc>
              <a:spcBef>
                <a:spcPts val="1000"/>
              </a:spcBef>
              <a:spcAft>
                <a:spcPts val="0"/>
              </a:spcAft>
              <a:buSzPts val="1400"/>
              <a:buFont typeface="Twentieth Century"/>
              <a:buChar char="◆"/>
              <a:tabLst>
                <a:tab pos="1714500" algn="l"/>
              </a:tabLst>
            </a:pPr>
            <a:r>
              <a:rPr lang="en" sz="1400" b="1" dirty="0">
                <a:latin typeface="Twentieth Century"/>
                <a:ea typeface="Twentieth Century"/>
                <a:cs typeface="Twentieth Century"/>
                <a:sym typeface="Twentieth Century"/>
              </a:rPr>
              <a:t>Plotly		</a:t>
            </a:r>
            <a:r>
              <a:rPr lang="en" sz="1200" u="sng" dirty="0">
                <a:solidFill>
                  <a:schemeClr val="hlink"/>
                </a:solidFill>
                <a:latin typeface="Twentieth Century"/>
                <a:ea typeface="Twentieth Century"/>
                <a:cs typeface="Twentieth Century"/>
                <a:sym typeface="Twentieth Century"/>
                <a:hlinkClick r:id="rId4"/>
              </a:rPr>
              <a:t>https://plotly.com/python/</a:t>
            </a:r>
            <a:r>
              <a:rPr lang="en" sz="1200" dirty="0">
                <a:latin typeface="Twentieth Century"/>
                <a:ea typeface="Twentieth Century"/>
                <a:cs typeface="Twentieth Century"/>
                <a:sym typeface="Twentieth Century"/>
              </a:rPr>
              <a:t> </a:t>
            </a:r>
            <a:endParaRPr sz="1200" dirty="0">
              <a:latin typeface="Twentieth Century"/>
              <a:ea typeface="Twentieth Century"/>
              <a:cs typeface="Twentieth Century"/>
              <a:sym typeface="Twentieth Century"/>
            </a:endParaRPr>
          </a:p>
          <a:p>
            <a:pPr marL="520700" lvl="1" indent="-177800" algn="l" rtl="0">
              <a:lnSpc>
                <a:spcPct val="200000"/>
              </a:lnSpc>
              <a:spcBef>
                <a:spcPts val="1000"/>
              </a:spcBef>
              <a:spcAft>
                <a:spcPts val="0"/>
              </a:spcAft>
              <a:buSzPts val="1400"/>
              <a:buFont typeface="Twentieth Century"/>
              <a:buChar char="◆"/>
              <a:tabLst>
                <a:tab pos="1714500" algn="l"/>
              </a:tabLst>
            </a:pPr>
            <a:r>
              <a:rPr lang="en" sz="1400" b="1" dirty="0">
                <a:latin typeface="Twentieth Century"/>
                <a:ea typeface="Twentieth Century"/>
                <a:cs typeface="Twentieth Century"/>
                <a:sym typeface="Twentieth Century"/>
              </a:rPr>
              <a:t>Matplotlib		</a:t>
            </a:r>
            <a:r>
              <a:rPr lang="en" sz="1200" u="sng" dirty="0">
                <a:solidFill>
                  <a:schemeClr val="hlink"/>
                </a:solidFill>
                <a:latin typeface="Twentieth Century"/>
                <a:ea typeface="Twentieth Century"/>
                <a:cs typeface="Twentieth Century"/>
                <a:sym typeface="Twentieth Century"/>
                <a:hlinkClick r:id="rId5"/>
              </a:rPr>
              <a:t>https://matplotlib.org/stable/gallery/</a:t>
            </a:r>
            <a:r>
              <a:rPr lang="en" sz="1200" dirty="0">
                <a:latin typeface="Twentieth Century"/>
                <a:ea typeface="Twentieth Century"/>
                <a:cs typeface="Twentieth Century"/>
                <a:sym typeface="Twentieth Century"/>
              </a:rPr>
              <a:t> </a:t>
            </a:r>
            <a:endParaRPr sz="1200" dirty="0">
              <a:latin typeface="Twentieth Century"/>
              <a:ea typeface="Twentieth Century"/>
              <a:cs typeface="Twentieth Century"/>
              <a:sym typeface="Twentieth Century"/>
            </a:endParaRPr>
          </a:p>
          <a:p>
            <a:pPr marL="520700" lvl="1" indent="-177800" algn="l" rtl="0">
              <a:lnSpc>
                <a:spcPct val="200000"/>
              </a:lnSpc>
              <a:spcBef>
                <a:spcPts val="1000"/>
              </a:spcBef>
              <a:spcAft>
                <a:spcPts val="0"/>
              </a:spcAft>
              <a:buSzPts val="1400"/>
              <a:buFont typeface="Twentieth Century"/>
              <a:buChar char="◆"/>
              <a:tabLst>
                <a:tab pos="1714500" algn="l"/>
              </a:tabLst>
            </a:pPr>
            <a:r>
              <a:rPr lang="en" sz="1400" b="1" dirty="0">
                <a:latin typeface="Twentieth Century"/>
                <a:ea typeface="Twentieth Century"/>
                <a:cs typeface="Twentieth Century"/>
                <a:sym typeface="Twentieth Century"/>
              </a:rPr>
              <a:t>Seaborn</a:t>
            </a:r>
            <a:r>
              <a:rPr lang="en" sz="1200" dirty="0">
                <a:latin typeface="Twentieth Century"/>
                <a:ea typeface="Twentieth Century"/>
                <a:cs typeface="Twentieth Century"/>
                <a:sym typeface="Twentieth Century"/>
              </a:rPr>
              <a:t>		</a:t>
            </a:r>
            <a:r>
              <a:rPr lang="en" sz="1200" u="sng" dirty="0">
                <a:solidFill>
                  <a:schemeClr val="hlink"/>
                </a:solidFill>
                <a:latin typeface="Twentieth Century"/>
                <a:ea typeface="Twentieth Century"/>
                <a:cs typeface="Twentieth Century"/>
                <a:sym typeface="Twentieth Century"/>
                <a:hlinkClick r:id="rId6"/>
              </a:rPr>
              <a:t>https://seaborn.pydata.org/examples/</a:t>
            </a:r>
            <a:endParaRPr sz="1500" dirty="0">
              <a:latin typeface="Twentieth Century"/>
              <a:ea typeface="Twentieth Century"/>
              <a:cs typeface="Twentieth Century"/>
              <a:sym typeface="Twentieth Century"/>
            </a:endParaRPr>
          </a:p>
          <a:p>
            <a:pPr marL="520700" lvl="1" indent="-184150" algn="l" rtl="0">
              <a:lnSpc>
                <a:spcPct val="200000"/>
              </a:lnSpc>
              <a:spcBef>
                <a:spcPts val="1000"/>
              </a:spcBef>
              <a:spcAft>
                <a:spcPts val="0"/>
              </a:spcAft>
              <a:buSzPts val="1500"/>
              <a:buFont typeface="Twentieth Century"/>
              <a:buChar char="◆"/>
              <a:tabLst>
                <a:tab pos="1714500" algn="l"/>
              </a:tabLst>
            </a:pPr>
            <a:r>
              <a:rPr lang="en" sz="1500" b="1" dirty="0">
                <a:latin typeface="Twentieth Century"/>
                <a:ea typeface="Twentieth Century"/>
                <a:cs typeface="Twentieth Century"/>
                <a:sym typeface="Twentieth Century"/>
              </a:rPr>
              <a:t>Altair</a:t>
            </a:r>
            <a:r>
              <a:rPr lang="en" sz="1500" dirty="0">
                <a:latin typeface="Twentieth Century"/>
                <a:ea typeface="Twentieth Century"/>
                <a:cs typeface="Twentieth Century"/>
                <a:sym typeface="Twentieth Century"/>
              </a:rPr>
              <a:t>		</a:t>
            </a:r>
            <a:r>
              <a:rPr lang="en" sz="1200" u="sng" dirty="0">
                <a:solidFill>
                  <a:schemeClr val="hlink"/>
                </a:solidFill>
                <a:latin typeface="Twentieth Century"/>
                <a:ea typeface="Twentieth Century"/>
                <a:cs typeface="Twentieth Century"/>
                <a:sym typeface="Twentieth Century"/>
                <a:hlinkClick r:id="rId7"/>
              </a:rPr>
              <a:t>https://altair-viz.github.io/gallery/</a:t>
            </a:r>
            <a:r>
              <a:rPr lang="en" sz="1200" dirty="0">
                <a:latin typeface="Twentieth Century"/>
                <a:ea typeface="Twentieth Century"/>
                <a:cs typeface="Twentieth Century"/>
                <a:sym typeface="Twentieth Century"/>
              </a:rPr>
              <a:t> </a:t>
            </a:r>
            <a:endParaRPr sz="1300" dirty="0">
              <a:latin typeface="Twentieth Century"/>
              <a:ea typeface="Twentieth Century"/>
              <a:cs typeface="Twentieth Century"/>
              <a:sym typeface="Twentieth Century"/>
            </a:endParaRPr>
          </a:p>
        </p:txBody>
      </p:sp>
      <p:sp>
        <p:nvSpPr>
          <p:cNvPr id="153" name="Google Shape;153;p20"/>
          <p:cNvSpPr txBox="1">
            <a:spLocks noGrp="1"/>
          </p:cNvSpPr>
          <p:nvPr>
            <p:ph type="title"/>
          </p:nvPr>
        </p:nvSpPr>
        <p:spPr>
          <a:xfrm>
            <a:off x="-390906" y="260603"/>
            <a:ext cx="9916800" cy="603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3000" b="1">
                <a:latin typeface="Twentieth Century"/>
                <a:ea typeface="Twentieth Century"/>
                <a:cs typeface="Twentieth Century"/>
                <a:sym typeface="Twentieth Century"/>
              </a:rPr>
              <a:t>Learn What’s Possible and Get Ideas</a:t>
            </a:r>
            <a:endParaRPr sz="1100">
              <a:latin typeface="Twentieth Century"/>
              <a:ea typeface="Twentieth Century"/>
              <a:cs typeface="Twentieth Century"/>
              <a:sym typeface="Twentieth Century"/>
            </a:endParaRPr>
          </a:p>
        </p:txBody>
      </p:sp>
      <p:sp>
        <p:nvSpPr>
          <p:cNvPr id="154" name="Google Shape;154;p20"/>
          <p:cNvSpPr txBox="1"/>
          <p:nvPr/>
        </p:nvSpPr>
        <p:spPr>
          <a:xfrm>
            <a:off x="131200" y="1074666"/>
            <a:ext cx="5906700" cy="682223"/>
          </a:xfrm>
          <a:prstGeom prst="rect">
            <a:avLst/>
          </a:prstGeom>
          <a:solidFill>
            <a:srgbClr val="B45F06"/>
          </a:solidFill>
          <a:ln>
            <a:noFill/>
          </a:ln>
          <a:effectLst>
            <a:outerShdw blurRad="57150" dist="19050" dir="5400000" algn="bl" rotWithShape="0">
              <a:srgbClr val="000000">
                <a:alpha val="49803"/>
              </a:srgbClr>
            </a:outerShdw>
          </a:effectLst>
        </p:spPr>
        <p:txBody>
          <a:bodyPr spcFirstLastPara="1" wrap="square" lIns="91425" tIns="0" rIns="91425" bIns="91425" anchor="t" anchorCtr="0">
            <a:spAutoFit/>
          </a:bodyPr>
          <a:lstStyle/>
          <a:p>
            <a:pPr marL="177800" marR="0" lvl="0" indent="0" algn="l" rtl="0">
              <a:lnSpc>
                <a:spcPct val="150000"/>
              </a:lnSpc>
              <a:spcBef>
                <a:spcPts val="1000"/>
              </a:spcBef>
              <a:spcAft>
                <a:spcPts val="0"/>
              </a:spcAft>
              <a:buClr>
                <a:srgbClr val="000000"/>
              </a:buClr>
              <a:buSzPts val="2000"/>
              <a:buFont typeface="Arial"/>
              <a:buNone/>
            </a:pPr>
            <a:r>
              <a:rPr lang="en" sz="2000" b="1" i="0" u="none" strike="noStrike" cap="none" dirty="0">
                <a:solidFill>
                  <a:schemeClr val="lt1"/>
                </a:solidFill>
                <a:latin typeface="Twentieth Century"/>
                <a:ea typeface="Twentieth Century"/>
                <a:cs typeface="Twentieth Century"/>
                <a:sym typeface="Twentieth Century"/>
              </a:rPr>
              <a:t>Python Data Vis Package Galleries to Visit</a:t>
            </a:r>
            <a:endParaRPr sz="1900" b="0" i="0" u="none" strike="noStrike" cap="none" dirty="0">
              <a:solidFill>
                <a:schemeClr val="lt1"/>
              </a:solidFill>
              <a:latin typeface="Arial"/>
              <a:ea typeface="Arial"/>
              <a:cs typeface="Arial"/>
              <a:sym typeface="Arial"/>
            </a:endParaRPr>
          </a:p>
        </p:txBody>
      </p:sp>
      <p:pic>
        <p:nvPicPr>
          <p:cNvPr id="155" name="Google Shape;155;p20"/>
          <p:cNvPicPr preferRelativeResize="0"/>
          <p:nvPr/>
        </p:nvPicPr>
        <p:blipFill rotWithShape="1">
          <a:blip r:embed="rId8">
            <a:alphaModFix/>
          </a:blip>
          <a:srcRect/>
          <a:stretch/>
        </p:blipFill>
        <p:spPr>
          <a:xfrm>
            <a:off x="6370550" y="1722549"/>
            <a:ext cx="1825869" cy="920958"/>
          </a:xfrm>
          <a:prstGeom prst="rect">
            <a:avLst/>
          </a:prstGeom>
          <a:noFill/>
          <a:ln>
            <a:noFill/>
          </a:ln>
          <a:effectLst>
            <a:outerShdw blurRad="42822" dist="14274" dir="5400000" algn="bl" rotWithShape="0">
              <a:srgbClr val="000000">
                <a:alpha val="49803"/>
              </a:srgbClr>
            </a:outerShdw>
          </a:effectLst>
        </p:spPr>
      </p:pic>
      <p:pic>
        <p:nvPicPr>
          <p:cNvPr id="156" name="Google Shape;156;p20"/>
          <p:cNvPicPr preferRelativeResize="0"/>
          <p:nvPr/>
        </p:nvPicPr>
        <p:blipFill rotWithShape="1">
          <a:blip r:embed="rId9">
            <a:alphaModFix/>
          </a:blip>
          <a:srcRect/>
          <a:stretch/>
        </p:blipFill>
        <p:spPr>
          <a:xfrm>
            <a:off x="7045500" y="3230681"/>
            <a:ext cx="1825869" cy="1109967"/>
          </a:xfrm>
          <a:prstGeom prst="rect">
            <a:avLst/>
          </a:prstGeom>
          <a:noFill/>
          <a:ln>
            <a:noFill/>
          </a:ln>
          <a:effectLst>
            <a:outerShdw blurRad="42822" dist="14274" dir="5400000" algn="bl" rotWithShape="0">
              <a:srgbClr val="000000">
                <a:alpha val="49803"/>
              </a:srgbClr>
            </a:outerShdw>
          </a:effectLst>
        </p:spPr>
      </p:pic>
      <p:pic>
        <p:nvPicPr>
          <p:cNvPr id="157" name="Google Shape;157;p20"/>
          <p:cNvPicPr preferRelativeResize="0"/>
          <p:nvPr/>
        </p:nvPicPr>
        <p:blipFill rotWithShape="1">
          <a:blip r:embed="rId10">
            <a:alphaModFix/>
          </a:blip>
          <a:srcRect/>
          <a:stretch/>
        </p:blipFill>
        <p:spPr>
          <a:xfrm>
            <a:off x="6620504" y="2463961"/>
            <a:ext cx="2048067" cy="1122036"/>
          </a:xfrm>
          <a:prstGeom prst="rect">
            <a:avLst/>
          </a:prstGeom>
          <a:noFill/>
          <a:ln>
            <a:noFill/>
          </a:ln>
          <a:effectLst>
            <a:outerShdw blurRad="42822" dist="14274"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title"/>
          </p:nvPr>
        </p:nvSpPr>
        <p:spPr>
          <a:xfrm>
            <a:off x="-390906" y="260603"/>
            <a:ext cx="9916800" cy="603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3000" b="1">
                <a:latin typeface="Twentieth Century"/>
                <a:ea typeface="Twentieth Century"/>
                <a:cs typeface="Twentieth Century"/>
                <a:sym typeface="Twentieth Century"/>
              </a:rPr>
              <a:t>Good Data Visualization Practices</a:t>
            </a:r>
            <a:endParaRPr sz="3000" b="1">
              <a:latin typeface="Twentieth Century"/>
              <a:ea typeface="Twentieth Century"/>
              <a:cs typeface="Twentieth Century"/>
              <a:sym typeface="Twentieth Century"/>
            </a:endParaRPr>
          </a:p>
        </p:txBody>
      </p:sp>
      <p:sp>
        <p:nvSpPr>
          <p:cNvPr id="163" name="Google Shape;163;p21"/>
          <p:cNvSpPr txBox="1"/>
          <p:nvPr/>
        </p:nvSpPr>
        <p:spPr>
          <a:xfrm>
            <a:off x="304950" y="1221799"/>
            <a:ext cx="3993000" cy="3799651"/>
          </a:xfrm>
          <a:prstGeom prst="rect">
            <a:avLst/>
          </a:prstGeom>
          <a:solidFill>
            <a:srgbClr val="FFFFFF"/>
          </a:solidFill>
          <a:ln w="9525" cap="flat" cmpd="sng">
            <a:solidFill>
              <a:srgbClr val="7F7F7F"/>
            </a:solidFill>
            <a:prstDash val="solid"/>
            <a:round/>
            <a:headEnd type="none" w="sm" len="sm"/>
            <a:tailEnd type="none" w="sm" len="sm"/>
          </a:ln>
          <a:effectLst>
            <a:outerShdw blurRad="101600" dist="50800" dir="2700000" algn="tl" rotWithShape="0">
              <a:srgbClr val="000000">
                <a:alpha val="66670"/>
              </a:srgbClr>
            </a:outerShdw>
          </a:effectLst>
        </p:spPr>
        <p:txBody>
          <a:bodyPr spcFirstLastPara="1" wrap="square" lIns="205725" tIns="0" rIns="68575" bIns="34275" anchor="t" anchorCtr="0">
            <a:noAutofit/>
          </a:bodyPr>
          <a:lstStyle/>
          <a:p>
            <a:pPr marL="457200" lvl="0" indent="-342900" algn="l" rtl="0">
              <a:lnSpc>
                <a:spcPct val="250000"/>
              </a:lnSpc>
              <a:spcBef>
                <a:spcPts val="1800"/>
              </a:spcBef>
              <a:spcAft>
                <a:spcPts val="0"/>
              </a:spcAft>
              <a:buClr>
                <a:schemeClr val="dk1"/>
              </a:buClr>
              <a:buSzPts val="1800"/>
              <a:buFont typeface="Twentieth Century"/>
              <a:buChar char="➔"/>
            </a:pPr>
            <a:r>
              <a:rPr lang="en" sz="1800" b="1">
                <a:solidFill>
                  <a:schemeClr val="dk1"/>
                </a:solidFill>
                <a:latin typeface="Twentieth Century"/>
                <a:ea typeface="Twentieth Century"/>
                <a:cs typeface="Twentieth Century"/>
                <a:sym typeface="Twentieth Century"/>
              </a:rPr>
              <a:t>Design for your audience</a:t>
            </a:r>
            <a:endParaRPr sz="1800" b="1">
              <a:solidFill>
                <a:schemeClr val="dk1"/>
              </a:solidFill>
              <a:latin typeface="Twentieth Century"/>
              <a:ea typeface="Twentieth Century"/>
              <a:cs typeface="Twentieth Century"/>
              <a:sym typeface="Twentieth Century"/>
            </a:endParaRPr>
          </a:p>
          <a:p>
            <a:pPr marL="457200" lvl="0" indent="-342900" algn="l" rtl="0">
              <a:lnSpc>
                <a:spcPct val="250000"/>
              </a:lnSpc>
              <a:spcBef>
                <a:spcPts val="0"/>
              </a:spcBef>
              <a:spcAft>
                <a:spcPts val="0"/>
              </a:spcAft>
              <a:buClr>
                <a:schemeClr val="dk1"/>
              </a:buClr>
              <a:buSzPts val="1800"/>
              <a:buFont typeface="Twentieth Century"/>
              <a:buChar char="➔"/>
            </a:pPr>
            <a:r>
              <a:rPr lang="en" sz="1800" b="1">
                <a:solidFill>
                  <a:schemeClr val="dk1"/>
                </a:solidFill>
                <a:latin typeface="Twentieth Century"/>
                <a:ea typeface="Twentieth Century"/>
                <a:cs typeface="Twentieth Century"/>
                <a:sym typeface="Twentieth Century"/>
              </a:rPr>
              <a:t>Provide captions</a:t>
            </a:r>
            <a:endParaRPr sz="1800" b="1">
              <a:solidFill>
                <a:schemeClr val="dk1"/>
              </a:solidFill>
              <a:latin typeface="Twentieth Century"/>
              <a:ea typeface="Twentieth Century"/>
              <a:cs typeface="Twentieth Century"/>
              <a:sym typeface="Twentieth Century"/>
            </a:endParaRPr>
          </a:p>
          <a:p>
            <a:pPr marL="457200" lvl="0" indent="-342900" algn="l" rtl="0">
              <a:lnSpc>
                <a:spcPct val="250000"/>
              </a:lnSpc>
              <a:spcBef>
                <a:spcPts val="0"/>
              </a:spcBef>
              <a:spcAft>
                <a:spcPts val="0"/>
              </a:spcAft>
              <a:buClr>
                <a:schemeClr val="dk1"/>
              </a:buClr>
              <a:buSzPts val="1800"/>
              <a:buFont typeface="Twentieth Century"/>
              <a:buChar char="➔"/>
            </a:pPr>
            <a:r>
              <a:rPr lang="en" sz="1800" b="1">
                <a:solidFill>
                  <a:schemeClr val="dk1"/>
                </a:solidFill>
                <a:latin typeface="Twentieth Century"/>
                <a:ea typeface="Twentieth Century"/>
                <a:cs typeface="Twentieth Century"/>
                <a:sym typeface="Twentieth Century"/>
              </a:rPr>
              <a:t>Accessibility</a:t>
            </a:r>
            <a:endParaRPr sz="1800" b="1">
              <a:solidFill>
                <a:schemeClr val="dk1"/>
              </a:solidFill>
              <a:latin typeface="Twentieth Century"/>
              <a:ea typeface="Twentieth Century"/>
              <a:cs typeface="Twentieth Century"/>
              <a:sym typeface="Twentieth Century"/>
            </a:endParaRPr>
          </a:p>
          <a:p>
            <a:pPr marL="457200" lvl="0" indent="-342900" algn="l" rtl="0">
              <a:lnSpc>
                <a:spcPct val="250000"/>
              </a:lnSpc>
              <a:spcBef>
                <a:spcPts val="0"/>
              </a:spcBef>
              <a:spcAft>
                <a:spcPts val="0"/>
              </a:spcAft>
              <a:buClr>
                <a:schemeClr val="dk1"/>
              </a:buClr>
              <a:buSzPts val="1800"/>
              <a:buFont typeface="Twentieth Century"/>
              <a:buChar char="➔"/>
            </a:pPr>
            <a:r>
              <a:rPr lang="en" sz="1800" b="1">
                <a:solidFill>
                  <a:schemeClr val="dk1"/>
                </a:solidFill>
                <a:latin typeface="Twentieth Century"/>
                <a:ea typeface="Twentieth Century"/>
                <a:cs typeface="Twentieth Century"/>
                <a:sym typeface="Twentieth Century"/>
              </a:rPr>
              <a:t>Reproducibility</a:t>
            </a:r>
            <a:endParaRPr sz="1800" b="1">
              <a:solidFill>
                <a:schemeClr val="dk1"/>
              </a:solidFill>
              <a:latin typeface="Twentieth Century"/>
              <a:ea typeface="Twentieth Century"/>
              <a:cs typeface="Twentieth Century"/>
              <a:sym typeface="Twentieth Century"/>
            </a:endParaRPr>
          </a:p>
          <a:p>
            <a:pPr marL="457200" lvl="0" indent="-342900" algn="l" rtl="0">
              <a:lnSpc>
                <a:spcPct val="250000"/>
              </a:lnSpc>
              <a:spcBef>
                <a:spcPts val="0"/>
              </a:spcBef>
              <a:spcAft>
                <a:spcPts val="0"/>
              </a:spcAft>
              <a:buClr>
                <a:schemeClr val="dk1"/>
              </a:buClr>
              <a:buSzPts val="1800"/>
              <a:buFont typeface="Twentieth Century"/>
              <a:buChar char="➔"/>
            </a:pPr>
            <a:r>
              <a:rPr lang="en" sz="1800" b="1">
                <a:solidFill>
                  <a:schemeClr val="dk1"/>
                </a:solidFill>
                <a:latin typeface="Twentieth Century"/>
                <a:ea typeface="Twentieth Century"/>
                <a:cs typeface="Twentieth Century"/>
                <a:sym typeface="Twentieth Century"/>
              </a:rPr>
              <a:t>Consider aesthetics</a:t>
            </a:r>
            <a:endParaRPr sz="1800" b="1">
              <a:solidFill>
                <a:schemeClr val="dk1"/>
              </a:solidFill>
              <a:latin typeface="Twentieth Century"/>
              <a:ea typeface="Twentieth Century"/>
              <a:cs typeface="Twentieth Century"/>
              <a:sym typeface="Twentieth Century"/>
            </a:endParaRPr>
          </a:p>
          <a:p>
            <a:pPr marL="457200" lvl="0" indent="0" algn="l" rtl="0">
              <a:lnSpc>
                <a:spcPct val="150000"/>
              </a:lnSpc>
              <a:spcBef>
                <a:spcPts val="1800"/>
              </a:spcBef>
              <a:spcAft>
                <a:spcPts val="0"/>
              </a:spcAft>
              <a:buNone/>
            </a:pPr>
            <a:endParaRPr b="1">
              <a:latin typeface="Twentieth Century"/>
              <a:ea typeface="Twentieth Century"/>
              <a:cs typeface="Twentieth Century"/>
              <a:sym typeface="Twentieth Century"/>
            </a:endParaRPr>
          </a:p>
          <a:p>
            <a:pPr marL="457200" marR="0" lvl="0" indent="0" algn="l" rtl="0">
              <a:lnSpc>
                <a:spcPct val="180000"/>
              </a:lnSpc>
              <a:spcBef>
                <a:spcPts val="1800"/>
              </a:spcBef>
              <a:spcAft>
                <a:spcPts val="0"/>
              </a:spcAft>
              <a:buNone/>
            </a:pPr>
            <a:endParaRPr sz="1500" b="1">
              <a:latin typeface="Twentieth Century"/>
              <a:ea typeface="Twentieth Century"/>
              <a:cs typeface="Twentieth Century"/>
              <a:sym typeface="Twentieth Century"/>
            </a:endParaRPr>
          </a:p>
          <a:p>
            <a:pPr marL="241300" marR="0" lvl="0" indent="-177800" algn="l" rtl="0">
              <a:lnSpc>
                <a:spcPct val="150000"/>
              </a:lnSpc>
              <a:spcBef>
                <a:spcPts val="500"/>
              </a:spcBef>
              <a:spcAft>
                <a:spcPts val="0"/>
              </a:spcAft>
              <a:buClr>
                <a:srgbClr val="00A4E0"/>
              </a:buClr>
              <a:buSzPts val="900"/>
              <a:buFont typeface="Noto Sans Symbols"/>
              <a:buNone/>
            </a:pPr>
            <a:endParaRPr sz="1500" b="1" i="0" u="none" strike="noStrike" cap="none">
              <a:solidFill>
                <a:srgbClr val="000000"/>
              </a:solidFill>
              <a:latin typeface="Twentieth Century"/>
              <a:ea typeface="Twentieth Century"/>
              <a:cs typeface="Twentieth Century"/>
              <a:sym typeface="Twentieth Century"/>
            </a:endParaRPr>
          </a:p>
        </p:txBody>
      </p:sp>
      <p:pic>
        <p:nvPicPr>
          <p:cNvPr id="164" name="Google Shape;164;p21"/>
          <p:cNvPicPr preferRelativeResize="0"/>
          <p:nvPr/>
        </p:nvPicPr>
        <p:blipFill>
          <a:blip r:embed="rId3">
            <a:alphaModFix/>
          </a:blip>
          <a:stretch>
            <a:fillRect/>
          </a:stretch>
        </p:blipFill>
        <p:spPr>
          <a:xfrm>
            <a:off x="4659137" y="1078375"/>
            <a:ext cx="1704899" cy="2277699"/>
          </a:xfrm>
          <a:prstGeom prst="rect">
            <a:avLst/>
          </a:prstGeom>
          <a:noFill/>
          <a:ln>
            <a:noFill/>
          </a:ln>
        </p:spPr>
      </p:pic>
      <p:pic>
        <p:nvPicPr>
          <p:cNvPr id="165" name="Google Shape;165;p21"/>
          <p:cNvPicPr preferRelativeResize="0"/>
          <p:nvPr/>
        </p:nvPicPr>
        <p:blipFill>
          <a:blip r:embed="rId4">
            <a:alphaModFix/>
          </a:blip>
          <a:stretch>
            <a:fillRect/>
          </a:stretch>
        </p:blipFill>
        <p:spPr>
          <a:xfrm>
            <a:off x="6670002" y="1745799"/>
            <a:ext cx="2330772" cy="31874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2"/>
          <p:cNvSpPr txBox="1">
            <a:spLocks noGrp="1"/>
          </p:cNvSpPr>
          <p:nvPr>
            <p:ph type="title"/>
          </p:nvPr>
        </p:nvSpPr>
        <p:spPr>
          <a:xfrm>
            <a:off x="-390906" y="260603"/>
            <a:ext cx="9916800" cy="6036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3000" b="1">
                <a:latin typeface="Twentieth Century"/>
                <a:ea typeface="Twentieth Century"/>
                <a:cs typeface="Twentieth Century"/>
                <a:sym typeface="Twentieth Century"/>
              </a:rPr>
              <a:t>Preparing for Data Visualization with Python</a:t>
            </a:r>
            <a:endParaRPr sz="3000" b="1">
              <a:latin typeface="Twentieth Century"/>
              <a:ea typeface="Twentieth Century"/>
              <a:cs typeface="Twentieth Century"/>
              <a:sym typeface="Twentieth Century"/>
            </a:endParaRPr>
          </a:p>
        </p:txBody>
      </p:sp>
      <p:sp>
        <p:nvSpPr>
          <p:cNvPr id="171" name="Google Shape;171;p22"/>
          <p:cNvSpPr txBox="1"/>
          <p:nvPr/>
        </p:nvSpPr>
        <p:spPr>
          <a:xfrm>
            <a:off x="304950" y="1221800"/>
            <a:ext cx="8497200" cy="3426600"/>
          </a:xfrm>
          <a:prstGeom prst="rect">
            <a:avLst/>
          </a:prstGeom>
          <a:solidFill>
            <a:srgbClr val="FFFFFF"/>
          </a:solidFill>
          <a:ln w="9525" cap="flat" cmpd="sng">
            <a:solidFill>
              <a:srgbClr val="7F7F7F"/>
            </a:solidFill>
            <a:prstDash val="solid"/>
            <a:round/>
            <a:headEnd type="none" w="sm" len="sm"/>
            <a:tailEnd type="none" w="sm" len="sm"/>
          </a:ln>
          <a:effectLst>
            <a:outerShdw blurRad="101600" dist="50800" dir="2700000" algn="tl" rotWithShape="0">
              <a:srgbClr val="000000">
                <a:alpha val="66670"/>
              </a:srgbClr>
            </a:outerShdw>
          </a:effectLst>
        </p:spPr>
        <p:txBody>
          <a:bodyPr spcFirstLastPara="1" wrap="square" lIns="205725" tIns="68575" rIns="68575" bIns="34275" anchor="t" anchorCtr="0">
            <a:noAutofit/>
          </a:bodyPr>
          <a:lstStyle/>
          <a:p>
            <a:pPr marL="457200" marR="0" lvl="0" indent="-323850" algn="l" rtl="0">
              <a:lnSpc>
                <a:spcPct val="150000"/>
              </a:lnSpc>
              <a:spcBef>
                <a:spcPts val="500"/>
              </a:spcBef>
              <a:spcAft>
                <a:spcPts val="0"/>
              </a:spcAft>
              <a:buClr>
                <a:srgbClr val="000000"/>
              </a:buClr>
              <a:buSzPts val="1500"/>
              <a:buFont typeface="Twentieth Century"/>
              <a:buAutoNum type="arabicPeriod"/>
            </a:pPr>
            <a:r>
              <a:rPr lang="en" sz="1800" b="1">
                <a:solidFill>
                  <a:schemeClr val="dk1"/>
                </a:solidFill>
                <a:latin typeface="Twentieth Century"/>
                <a:ea typeface="Twentieth Century"/>
                <a:cs typeface="Twentieth Century"/>
                <a:sym typeface="Twentieth Century"/>
              </a:rPr>
              <a:t>Know your data</a:t>
            </a:r>
            <a:endParaRPr sz="1800" b="1">
              <a:solidFill>
                <a:schemeClr val="dk1"/>
              </a:solidFill>
              <a:latin typeface="Twentieth Century"/>
              <a:ea typeface="Twentieth Century"/>
              <a:cs typeface="Twentieth Century"/>
              <a:sym typeface="Twentieth Century"/>
            </a:endParaRPr>
          </a:p>
          <a:p>
            <a:pPr marL="914400" marR="0" lvl="1" indent="-323850" algn="l" rtl="0">
              <a:lnSpc>
                <a:spcPct val="150000"/>
              </a:lnSpc>
              <a:spcBef>
                <a:spcPts val="0"/>
              </a:spcBef>
              <a:spcAft>
                <a:spcPts val="0"/>
              </a:spcAft>
              <a:buClr>
                <a:schemeClr val="dk1"/>
              </a:buClr>
              <a:buSzPts val="1500"/>
              <a:buFont typeface="Twentieth Century"/>
              <a:buAutoNum type="alphaLcPeriod"/>
            </a:pPr>
            <a:r>
              <a:rPr lang="en" sz="1500">
                <a:solidFill>
                  <a:schemeClr val="dk1"/>
                </a:solidFill>
                <a:latin typeface="Twentieth Century"/>
                <a:ea typeface="Twentieth Century"/>
                <a:cs typeface="Twentieth Century"/>
                <a:sym typeface="Twentieth Century"/>
              </a:rPr>
              <a:t>Are there any issues with the data (errors, inconsistencies, missing values, etc.)? What can be learned from the data? How can the data be best represented in a visualization?</a:t>
            </a:r>
            <a:endParaRPr sz="1500">
              <a:solidFill>
                <a:schemeClr val="dk1"/>
              </a:solidFill>
              <a:latin typeface="Twentieth Century"/>
              <a:ea typeface="Twentieth Century"/>
              <a:cs typeface="Twentieth Century"/>
              <a:sym typeface="Twentieth Century"/>
            </a:endParaRPr>
          </a:p>
          <a:p>
            <a:pPr marL="457200" marR="0" lvl="0" indent="-342900" algn="l" rtl="0">
              <a:lnSpc>
                <a:spcPct val="150000"/>
              </a:lnSpc>
              <a:spcBef>
                <a:spcPts val="2000"/>
              </a:spcBef>
              <a:spcAft>
                <a:spcPts val="0"/>
              </a:spcAft>
              <a:buClr>
                <a:schemeClr val="dk1"/>
              </a:buClr>
              <a:buSzPts val="1800"/>
              <a:buFont typeface="Twentieth Century"/>
              <a:buAutoNum type="arabicPeriod"/>
            </a:pPr>
            <a:r>
              <a:rPr lang="en" sz="1800" b="1">
                <a:solidFill>
                  <a:schemeClr val="dk1"/>
                </a:solidFill>
                <a:latin typeface="Twentieth Century"/>
                <a:ea typeface="Twentieth Century"/>
                <a:cs typeface="Twentieth Century"/>
                <a:sym typeface="Twentieth Century"/>
              </a:rPr>
              <a:t>Process or clean data if necessary</a:t>
            </a:r>
            <a:endParaRPr sz="1800" b="1">
              <a:solidFill>
                <a:schemeClr val="dk1"/>
              </a:solidFill>
              <a:latin typeface="Twentieth Century"/>
              <a:ea typeface="Twentieth Century"/>
              <a:cs typeface="Twentieth Century"/>
              <a:sym typeface="Twentieth Century"/>
            </a:endParaRPr>
          </a:p>
          <a:p>
            <a:pPr marL="457200" marR="0" lvl="0" indent="-342900" algn="l" rtl="0">
              <a:lnSpc>
                <a:spcPct val="150000"/>
              </a:lnSpc>
              <a:spcBef>
                <a:spcPts val="2000"/>
              </a:spcBef>
              <a:spcAft>
                <a:spcPts val="0"/>
              </a:spcAft>
              <a:buClr>
                <a:schemeClr val="dk1"/>
              </a:buClr>
              <a:buSzPts val="1800"/>
              <a:buFont typeface="Twentieth Century"/>
              <a:buAutoNum type="arabicPeriod"/>
            </a:pPr>
            <a:r>
              <a:rPr lang="en" sz="1800" b="1">
                <a:solidFill>
                  <a:schemeClr val="dk1"/>
                </a:solidFill>
                <a:latin typeface="Twentieth Century"/>
                <a:ea typeface="Twentieth Century"/>
                <a:cs typeface="Twentieth Century"/>
                <a:sym typeface="Twentieth Century"/>
              </a:rPr>
              <a:t>Produce visualization</a:t>
            </a:r>
            <a:endParaRPr sz="1800" b="1">
              <a:solidFill>
                <a:schemeClr val="dk1"/>
              </a:solidFill>
              <a:latin typeface="Twentieth Century"/>
              <a:ea typeface="Twentieth Century"/>
              <a:cs typeface="Twentieth Century"/>
              <a:sym typeface="Twentieth Century"/>
            </a:endParaRPr>
          </a:p>
          <a:p>
            <a:pPr marL="457200" marR="0" lvl="0" indent="-342900" algn="l" rtl="0">
              <a:lnSpc>
                <a:spcPct val="150000"/>
              </a:lnSpc>
              <a:spcBef>
                <a:spcPts val="2000"/>
              </a:spcBef>
              <a:spcAft>
                <a:spcPts val="0"/>
              </a:spcAft>
              <a:buClr>
                <a:schemeClr val="dk1"/>
              </a:buClr>
              <a:buSzPts val="1800"/>
              <a:buFont typeface="Twentieth Century"/>
              <a:buAutoNum type="arabicPeriod"/>
            </a:pPr>
            <a:r>
              <a:rPr lang="en" sz="1800" b="1">
                <a:solidFill>
                  <a:schemeClr val="dk1"/>
                </a:solidFill>
                <a:latin typeface="Twentieth Century"/>
                <a:ea typeface="Twentieth Century"/>
                <a:cs typeface="Twentieth Century"/>
                <a:sym typeface="Twentieth Century"/>
              </a:rPr>
              <a:t>Refine visualization</a:t>
            </a:r>
            <a:endParaRPr sz="1800" b="1">
              <a:solidFill>
                <a:schemeClr val="dk1"/>
              </a:solidFill>
              <a:latin typeface="Twentieth Century"/>
              <a:ea typeface="Twentieth Century"/>
              <a:cs typeface="Twentieth Century"/>
              <a:sym typeface="Twentieth Century"/>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3"/>
          <p:cNvSpPr txBox="1">
            <a:spLocks noGrp="1"/>
          </p:cNvSpPr>
          <p:nvPr>
            <p:ph type="body" idx="1"/>
          </p:nvPr>
        </p:nvSpPr>
        <p:spPr>
          <a:xfrm>
            <a:off x="137225" y="962150"/>
            <a:ext cx="8914200" cy="21189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228600" tIns="228600" rIns="137150" bIns="137150" anchor="t" anchorCtr="0">
            <a:noAutofit/>
          </a:bodyPr>
          <a:lstStyle/>
          <a:p>
            <a:pPr marL="342900" lvl="0" indent="-260350" algn="l" rtl="0">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Installing new packages</a:t>
            </a:r>
            <a:endParaRPr sz="1400">
              <a:latin typeface="Twentieth Century"/>
              <a:ea typeface="Twentieth Century"/>
              <a:cs typeface="Twentieth Century"/>
              <a:sym typeface="Twentieth Century"/>
            </a:endParaRPr>
          </a:p>
          <a:p>
            <a:pPr marL="342900" lvl="0" indent="-260350" algn="l" rtl="0">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Creating a variety of different chart types including pie charts, bar charts, and scatter plots</a:t>
            </a:r>
            <a:endParaRPr sz="1400">
              <a:latin typeface="Twentieth Century"/>
              <a:ea typeface="Twentieth Century"/>
              <a:cs typeface="Twentieth Century"/>
              <a:sym typeface="Twentieth Century"/>
            </a:endParaRPr>
          </a:p>
          <a:p>
            <a:pPr marL="342900" lvl="0" indent="-260350" algn="l" rtl="0">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Comparing code for creating simple chart types with different visualization libraries</a:t>
            </a:r>
            <a:endParaRPr sz="1400">
              <a:latin typeface="Twentieth Century"/>
              <a:ea typeface="Twentieth Century"/>
              <a:cs typeface="Twentieth Century"/>
              <a:sym typeface="Twentieth Century"/>
            </a:endParaRPr>
          </a:p>
          <a:p>
            <a:pPr marL="342900" lvl="0" indent="-260350" algn="l" rtl="0">
              <a:lnSpc>
                <a:spcPct val="200000"/>
              </a:lnSpc>
              <a:spcBef>
                <a:spcPts val="0"/>
              </a:spcBef>
              <a:spcAft>
                <a:spcPts val="0"/>
              </a:spcAft>
              <a:buSzPts val="1400"/>
              <a:buFont typeface="Twentieth Century"/>
              <a:buChar char="➔"/>
            </a:pPr>
            <a:r>
              <a:rPr lang="en" sz="1400">
                <a:latin typeface="Twentieth Century"/>
                <a:ea typeface="Twentieth Century"/>
                <a:cs typeface="Twentieth Century"/>
                <a:sym typeface="Twentieth Century"/>
              </a:rPr>
              <a:t>Reading package documentation to learn how to create and make adjustments to charts and figures</a:t>
            </a:r>
            <a:endParaRPr sz="1400">
              <a:latin typeface="Twentieth Century"/>
              <a:ea typeface="Twentieth Century"/>
              <a:cs typeface="Twentieth Century"/>
              <a:sym typeface="Twentieth Century"/>
            </a:endParaRPr>
          </a:p>
        </p:txBody>
      </p:sp>
      <p:sp>
        <p:nvSpPr>
          <p:cNvPr id="178" name="Google Shape;178;p23"/>
          <p:cNvSpPr txBox="1">
            <a:spLocks noGrp="1"/>
          </p:cNvSpPr>
          <p:nvPr>
            <p:ph type="title"/>
          </p:nvPr>
        </p:nvSpPr>
        <p:spPr>
          <a:xfrm>
            <a:off x="-386400" y="205799"/>
            <a:ext cx="9916800" cy="635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2400" b="1">
                <a:latin typeface="Twentieth Century"/>
                <a:ea typeface="Twentieth Century"/>
                <a:cs typeface="Twentieth Century"/>
                <a:sym typeface="Twentieth Century"/>
              </a:rPr>
              <a:t>Python Demo: Visualizing Data</a:t>
            </a:r>
            <a:endParaRPr sz="500" b="1">
              <a:latin typeface="Twentieth Century"/>
              <a:ea typeface="Twentieth Century"/>
              <a:cs typeface="Twentieth Century"/>
              <a:sym typeface="Twentieth Century"/>
            </a:endParaRPr>
          </a:p>
        </p:txBody>
      </p:sp>
      <p:pic>
        <p:nvPicPr>
          <p:cNvPr id="179" name="Google Shape;179;p23"/>
          <p:cNvPicPr preferRelativeResize="0"/>
          <p:nvPr/>
        </p:nvPicPr>
        <p:blipFill>
          <a:blip r:embed="rId3">
            <a:alphaModFix/>
          </a:blip>
          <a:stretch>
            <a:fillRect/>
          </a:stretch>
        </p:blipFill>
        <p:spPr>
          <a:xfrm>
            <a:off x="152400" y="3233450"/>
            <a:ext cx="2280156" cy="1757651"/>
          </a:xfrm>
          <a:prstGeom prst="rect">
            <a:avLst/>
          </a:prstGeom>
          <a:noFill/>
          <a:ln>
            <a:noFill/>
          </a:ln>
        </p:spPr>
      </p:pic>
      <p:pic>
        <p:nvPicPr>
          <p:cNvPr id="180" name="Google Shape;180;p23"/>
          <p:cNvPicPr preferRelativeResize="0"/>
          <p:nvPr/>
        </p:nvPicPr>
        <p:blipFill>
          <a:blip r:embed="rId4">
            <a:alphaModFix/>
          </a:blip>
          <a:stretch>
            <a:fillRect/>
          </a:stretch>
        </p:blipFill>
        <p:spPr>
          <a:xfrm>
            <a:off x="2584956" y="3233450"/>
            <a:ext cx="2289572" cy="1757651"/>
          </a:xfrm>
          <a:prstGeom prst="rect">
            <a:avLst/>
          </a:prstGeom>
          <a:noFill/>
          <a:ln>
            <a:noFill/>
          </a:ln>
        </p:spPr>
      </p:pic>
      <p:pic>
        <p:nvPicPr>
          <p:cNvPr id="181" name="Google Shape;181;p23"/>
          <p:cNvPicPr preferRelativeResize="0"/>
          <p:nvPr/>
        </p:nvPicPr>
        <p:blipFill>
          <a:blip r:embed="rId5">
            <a:alphaModFix/>
          </a:blip>
          <a:stretch>
            <a:fillRect/>
          </a:stretch>
        </p:blipFill>
        <p:spPr>
          <a:xfrm>
            <a:off x="5202601" y="3310550"/>
            <a:ext cx="853450" cy="721275"/>
          </a:xfrm>
          <a:prstGeom prst="rect">
            <a:avLst/>
          </a:prstGeom>
          <a:noFill/>
          <a:ln>
            <a:noFill/>
          </a:ln>
        </p:spPr>
      </p:pic>
      <p:pic>
        <p:nvPicPr>
          <p:cNvPr id="182" name="Google Shape;182;p23"/>
          <p:cNvPicPr preferRelativeResize="0"/>
          <p:nvPr/>
        </p:nvPicPr>
        <p:blipFill>
          <a:blip r:embed="rId6">
            <a:alphaModFix/>
          </a:blip>
          <a:stretch>
            <a:fillRect/>
          </a:stretch>
        </p:blipFill>
        <p:spPr>
          <a:xfrm>
            <a:off x="5202600" y="4150849"/>
            <a:ext cx="3469373" cy="840250"/>
          </a:xfrm>
          <a:prstGeom prst="rect">
            <a:avLst/>
          </a:prstGeom>
          <a:noFill/>
          <a:ln>
            <a:noFill/>
          </a:ln>
        </p:spPr>
      </p:pic>
      <p:pic>
        <p:nvPicPr>
          <p:cNvPr id="183" name="Google Shape;183;p23"/>
          <p:cNvPicPr preferRelativeResize="0"/>
          <p:nvPr/>
        </p:nvPicPr>
        <p:blipFill>
          <a:blip r:embed="rId7">
            <a:alphaModFix/>
          </a:blip>
          <a:stretch>
            <a:fillRect/>
          </a:stretch>
        </p:blipFill>
        <p:spPr>
          <a:xfrm>
            <a:off x="6208525" y="3310550"/>
            <a:ext cx="980250" cy="7368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4"/>
          <p:cNvSpPr txBox="1"/>
          <p:nvPr/>
        </p:nvSpPr>
        <p:spPr>
          <a:xfrm>
            <a:off x="2959050" y="3168375"/>
            <a:ext cx="3000000" cy="1616100"/>
          </a:xfrm>
          <a:prstGeom prst="rect">
            <a:avLst/>
          </a:prstGeom>
          <a:solidFill>
            <a:srgbClr val="000000">
              <a:alpha val="70000"/>
            </a:srgbClr>
          </a:solidFill>
          <a:ln>
            <a:noFill/>
          </a:ln>
        </p:spPr>
        <p:txBody>
          <a:bodyPr spcFirstLastPara="1" wrap="square" lIns="91425" tIns="91425" rIns="91425" bIns="91425" anchor="t" anchorCtr="0">
            <a:spAutoFit/>
          </a:bodyPr>
          <a:lstStyle/>
          <a:p>
            <a:pPr marL="0" lvl="0" indent="0" algn="l" rtl="0">
              <a:lnSpc>
                <a:spcPct val="133333"/>
              </a:lnSpc>
              <a:spcBef>
                <a:spcPts val="0"/>
              </a:spcBef>
              <a:spcAft>
                <a:spcPts val="0"/>
              </a:spcAft>
              <a:buNone/>
            </a:pPr>
            <a:r>
              <a:rPr lang="en" sz="900">
                <a:solidFill>
                  <a:srgbClr val="C678DD"/>
                </a:solidFill>
                <a:highlight>
                  <a:srgbClr val="282C34"/>
                </a:highlight>
                <a:latin typeface="Courier New"/>
                <a:ea typeface="Courier New"/>
                <a:cs typeface="Courier New"/>
                <a:sym typeface="Courier New"/>
              </a:rPr>
              <a:t>from</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matplotlib</a:t>
            </a:r>
            <a:r>
              <a:rPr lang="en" sz="900">
                <a:solidFill>
                  <a:srgbClr val="ABB2BF"/>
                </a:solidFill>
                <a:highlight>
                  <a:srgbClr val="282C34"/>
                </a:highlight>
                <a:latin typeface="Courier New"/>
                <a:ea typeface="Courier New"/>
                <a:cs typeface="Courier New"/>
                <a:sym typeface="Courier New"/>
              </a:rPr>
              <a:t> </a:t>
            </a:r>
            <a:r>
              <a:rPr lang="en" sz="900">
                <a:solidFill>
                  <a:srgbClr val="C678DD"/>
                </a:solidFill>
                <a:highlight>
                  <a:srgbClr val="282C34"/>
                </a:highlight>
                <a:latin typeface="Courier New"/>
                <a:ea typeface="Courier New"/>
                <a:cs typeface="Courier New"/>
                <a:sym typeface="Courier New"/>
              </a:rPr>
              <a:t>import</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pyplot</a:t>
            </a:r>
            <a:r>
              <a:rPr lang="en" sz="900">
                <a:solidFill>
                  <a:srgbClr val="ABB2BF"/>
                </a:solidFill>
                <a:highlight>
                  <a:srgbClr val="282C34"/>
                </a:highlight>
                <a:latin typeface="Courier New"/>
                <a:ea typeface="Courier New"/>
                <a:cs typeface="Courier New"/>
                <a:sym typeface="Courier New"/>
              </a:rPr>
              <a:t> </a:t>
            </a:r>
            <a:r>
              <a:rPr lang="en" sz="900">
                <a:solidFill>
                  <a:srgbClr val="C678DD"/>
                </a:solidFill>
                <a:highlight>
                  <a:srgbClr val="282C34"/>
                </a:highlight>
                <a:latin typeface="Courier New"/>
                <a:ea typeface="Courier New"/>
                <a:cs typeface="Courier New"/>
                <a:sym typeface="Courier New"/>
              </a:rPr>
              <a:t>as</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plt</a:t>
            </a:r>
            <a:endParaRPr sz="900">
              <a:solidFill>
                <a:srgbClr val="E5C07B"/>
              </a:solidFill>
              <a:highlight>
                <a:srgbClr val="282C3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678DD"/>
                </a:solidFill>
                <a:highlight>
                  <a:srgbClr val="282C34"/>
                </a:highlight>
                <a:latin typeface="Courier New"/>
                <a:ea typeface="Courier New"/>
                <a:cs typeface="Courier New"/>
                <a:sym typeface="Courier New"/>
              </a:rPr>
              <a:t>import</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numpy</a:t>
            </a:r>
            <a:r>
              <a:rPr lang="en" sz="900">
                <a:solidFill>
                  <a:srgbClr val="ABB2BF"/>
                </a:solidFill>
                <a:highlight>
                  <a:srgbClr val="282C34"/>
                </a:highlight>
                <a:latin typeface="Courier New"/>
                <a:ea typeface="Courier New"/>
                <a:cs typeface="Courier New"/>
                <a:sym typeface="Courier New"/>
              </a:rPr>
              <a:t> </a:t>
            </a:r>
            <a:r>
              <a:rPr lang="en" sz="900">
                <a:solidFill>
                  <a:srgbClr val="C678DD"/>
                </a:solidFill>
                <a:highlight>
                  <a:srgbClr val="282C34"/>
                </a:highlight>
                <a:latin typeface="Courier New"/>
                <a:ea typeface="Courier New"/>
                <a:cs typeface="Courier New"/>
                <a:sym typeface="Courier New"/>
              </a:rPr>
              <a:t>as</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np</a:t>
            </a:r>
            <a:endParaRPr sz="900">
              <a:solidFill>
                <a:srgbClr val="E5C07B"/>
              </a:solidFill>
              <a:highlight>
                <a:srgbClr val="282C3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678DD"/>
                </a:solidFill>
                <a:highlight>
                  <a:srgbClr val="282C34"/>
                </a:highlight>
                <a:latin typeface="Courier New"/>
                <a:ea typeface="Courier New"/>
                <a:cs typeface="Courier New"/>
                <a:sym typeface="Courier New"/>
              </a:rPr>
              <a:t>import</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pandas</a:t>
            </a:r>
            <a:r>
              <a:rPr lang="en" sz="900">
                <a:solidFill>
                  <a:srgbClr val="ABB2BF"/>
                </a:solidFill>
                <a:highlight>
                  <a:srgbClr val="282C34"/>
                </a:highlight>
                <a:latin typeface="Courier New"/>
                <a:ea typeface="Courier New"/>
                <a:cs typeface="Courier New"/>
                <a:sym typeface="Courier New"/>
              </a:rPr>
              <a:t> </a:t>
            </a:r>
            <a:r>
              <a:rPr lang="en" sz="900">
                <a:solidFill>
                  <a:srgbClr val="C678DD"/>
                </a:solidFill>
                <a:highlight>
                  <a:srgbClr val="282C34"/>
                </a:highlight>
                <a:latin typeface="Courier New"/>
                <a:ea typeface="Courier New"/>
                <a:cs typeface="Courier New"/>
                <a:sym typeface="Courier New"/>
              </a:rPr>
              <a:t>as</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pd</a:t>
            </a:r>
            <a:endParaRPr sz="900">
              <a:solidFill>
                <a:srgbClr val="E5C07B"/>
              </a:solidFill>
              <a:highlight>
                <a:srgbClr val="282C3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678DD"/>
                </a:solidFill>
                <a:highlight>
                  <a:srgbClr val="282C34"/>
                </a:highlight>
                <a:latin typeface="Courier New"/>
                <a:ea typeface="Courier New"/>
                <a:cs typeface="Courier New"/>
                <a:sym typeface="Courier New"/>
              </a:rPr>
              <a:t>import</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plotly</a:t>
            </a:r>
            <a:r>
              <a:rPr lang="en" sz="900">
                <a:solidFill>
                  <a:srgbClr val="ABB2BF"/>
                </a:solidFill>
                <a:highlight>
                  <a:srgbClr val="282C34"/>
                </a:highlight>
                <a:latin typeface="Courier New"/>
                <a:ea typeface="Courier New"/>
                <a:cs typeface="Courier New"/>
                <a:sym typeface="Courier New"/>
              </a:rPr>
              <a:t>.</a:t>
            </a:r>
            <a:r>
              <a:rPr lang="en" sz="900">
                <a:solidFill>
                  <a:srgbClr val="E5C07B"/>
                </a:solidFill>
                <a:highlight>
                  <a:srgbClr val="282C34"/>
                </a:highlight>
                <a:latin typeface="Courier New"/>
                <a:ea typeface="Courier New"/>
                <a:cs typeface="Courier New"/>
                <a:sym typeface="Courier New"/>
              </a:rPr>
              <a:t>express</a:t>
            </a:r>
            <a:r>
              <a:rPr lang="en" sz="900">
                <a:solidFill>
                  <a:srgbClr val="ABB2BF"/>
                </a:solidFill>
                <a:highlight>
                  <a:srgbClr val="282C34"/>
                </a:highlight>
                <a:latin typeface="Courier New"/>
                <a:ea typeface="Courier New"/>
                <a:cs typeface="Courier New"/>
                <a:sym typeface="Courier New"/>
              </a:rPr>
              <a:t> </a:t>
            </a:r>
            <a:r>
              <a:rPr lang="en" sz="900">
                <a:solidFill>
                  <a:srgbClr val="C678DD"/>
                </a:solidFill>
                <a:highlight>
                  <a:srgbClr val="282C34"/>
                </a:highlight>
                <a:latin typeface="Courier New"/>
                <a:ea typeface="Courier New"/>
                <a:cs typeface="Courier New"/>
                <a:sym typeface="Courier New"/>
              </a:rPr>
              <a:t>as</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px</a:t>
            </a:r>
            <a:endParaRPr sz="900">
              <a:solidFill>
                <a:srgbClr val="E5C07B"/>
              </a:solidFill>
              <a:highlight>
                <a:srgbClr val="282C3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678DD"/>
                </a:solidFill>
                <a:highlight>
                  <a:srgbClr val="282C34"/>
                </a:highlight>
                <a:latin typeface="Courier New"/>
                <a:ea typeface="Courier New"/>
                <a:cs typeface="Courier New"/>
                <a:sym typeface="Courier New"/>
              </a:rPr>
              <a:t>import</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polars</a:t>
            </a:r>
            <a:r>
              <a:rPr lang="en" sz="900">
                <a:solidFill>
                  <a:srgbClr val="ABB2BF"/>
                </a:solidFill>
                <a:highlight>
                  <a:srgbClr val="282C34"/>
                </a:highlight>
                <a:latin typeface="Courier New"/>
                <a:ea typeface="Courier New"/>
                <a:cs typeface="Courier New"/>
                <a:sym typeface="Courier New"/>
              </a:rPr>
              <a:t> </a:t>
            </a:r>
            <a:r>
              <a:rPr lang="en" sz="900">
                <a:solidFill>
                  <a:srgbClr val="C678DD"/>
                </a:solidFill>
                <a:highlight>
                  <a:srgbClr val="282C34"/>
                </a:highlight>
                <a:latin typeface="Courier New"/>
                <a:ea typeface="Courier New"/>
                <a:cs typeface="Courier New"/>
                <a:sym typeface="Courier New"/>
              </a:rPr>
              <a:t>as</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pl</a:t>
            </a:r>
            <a:endParaRPr sz="900">
              <a:solidFill>
                <a:srgbClr val="E5C07B"/>
              </a:solidFill>
              <a:highlight>
                <a:srgbClr val="282C3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678DD"/>
                </a:solidFill>
                <a:highlight>
                  <a:srgbClr val="282C34"/>
                </a:highlight>
                <a:latin typeface="Courier New"/>
                <a:ea typeface="Courier New"/>
                <a:cs typeface="Courier New"/>
                <a:sym typeface="Courier New"/>
              </a:rPr>
              <a:t>import</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rasterio</a:t>
            </a:r>
            <a:endParaRPr sz="900">
              <a:solidFill>
                <a:srgbClr val="E5C07B"/>
              </a:solidFill>
              <a:highlight>
                <a:srgbClr val="282C3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678DD"/>
                </a:solidFill>
                <a:highlight>
                  <a:srgbClr val="282C34"/>
                </a:highlight>
                <a:latin typeface="Courier New"/>
                <a:ea typeface="Courier New"/>
                <a:cs typeface="Courier New"/>
                <a:sym typeface="Courier New"/>
              </a:rPr>
              <a:t>from</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rasterio</a:t>
            </a:r>
            <a:r>
              <a:rPr lang="en" sz="900">
                <a:solidFill>
                  <a:srgbClr val="ABB2BF"/>
                </a:solidFill>
                <a:highlight>
                  <a:srgbClr val="282C34"/>
                </a:highlight>
                <a:latin typeface="Courier New"/>
                <a:ea typeface="Courier New"/>
                <a:cs typeface="Courier New"/>
                <a:sym typeface="Courier New"/>
              </a:rPr>
              <a:t>.</a:t>
            </a:r>
            <a:r>
              <a:rPr lang="en" sz="900">
                <a:solidFill>
                  <a:srgbClr val="E5C07B"/>
                </a:solidFill>
                <a:highlight>
                  <a:srgbClr val="282C34"/>
                </a:highlight>
                <a:latin typeface="Courier New"/>
                <a:ea typeface="Courier New"/>
                <a:cs typeface="Courier New"/>
                <a:sym typeface="Courier New"/>
              </a:rPr>
              <a:t>plot</a:t>
            </a:r>
            <a:r>
              <a:rPr lang="en" sz="900">
                <a:solidFill>
                  <a:srgbClr val="ABB2BF"/>
                </a:solidFill>
                <a:highlight>
                  <a:srgbClr val="282C34"/>
                </a:highlight>
                <a:latin typeface="Courier New"/>
                <a:ea typeface="Courier New"/>
                <a:cs typeface="Courier New"/>
                <a:sym typeface="Courier New"/>
              </a:rPr>
              <a:t> </a:t>
            </a:r>
            <a:r>
              <a:rPr lang="en" sz="900">
                <a:solidFill>
                  <a:srgbClr val="C678DD"/>
                </a:solidFill>
                <a:highlight>
                  <a:srgbClr val="282C34"/>
                </a:highlight>
                <a:latin typeface="Courier New"/>
                <a:ea typeface="Courier New"/>
                <a:cs typeface="Courier New"/>
                <a:sym typeface="Courier New"/>
              </a:rPr>
              <a:t>import</a:t>
            </a:r>
            <a:r>
              <a:rPr lang="en" sz="900">
                <a:solidFill>
                  <a:srgbClr val="ABB2BF"/>
                </a:solidFill>
                <a:highlight>
                  <a:srgbClr val="282C34"/>
                </a:highlight>
                <a:latin typeface="Courier New"/>
                <a:ea typeface="Courier New"/>
                <a:cs typeface="Courier New"/>
                <a:sym typeface="Courier New"/>
              </a:rPr>
              <a:t> </a:t>
            </a:r>
            <a:r>
              <a:rPr lang="en" sz="900">
                <a:solidFill>
                  <a:srgbClr val="61AFEF"/>
                </a:solidFill>
                <a:highlight>
                  <a:srgbClr val="282C34"/>
                </a:highlight>
                <a:latin typeface="Courier New"/>
                <a:ea typeface="Courier New"/>
                <a:cs typeface="Courier New"/>
                <a:sym typeface="Courier New"/>
              </a:rPr>
              <a:t>show</a:t>
            </a:r>
            <a:endParaRPr sz="900">
              <a:solidFill>
                <a:srgbClr val="61AFEF"/>
              </a:solidFill>
              <a:highlight>
                <a:srgbClr val="282C34"/>
              </a:highlight>
              <a:latin typeface="Courier New"/>
              <a:ea typeface="Courier New"/>
              <a:cs typeface="Courier New"/>
              <a:sym typeface="Courier New"/>
            </a:endParaRPr>
          </a:p>
          <a:p>
            <a:pPr marL="0" lvl="0" indent="0" algn="l" rtl="0">
              <a:lnSpc>
                <a:spcPct val="133333"/>
              </a:lnSpc>
              <a:spcBef>
                <a:spcPts val="0"/>
              </a:spcBef>
              <a:spcAft>
                <a:spcPts val="0"/>
              </a:spcAft>
              <a:buNone/>
            </a:pPr>
            <a:r>
              <a:rPr lang="en" sz="900">
                <a:solidFill>
                  <a:srgbClr val="C678DD"/>
                </a:solidFill>
                <a:highlight>
                  <a:srgbClr val="282C34"/>
                </a:highlight>
                <a:latin typeface="Courier New"/>
                <a:ea typeface="Courier New"/>
                <a:cs typeface="Courier New"/>
                <a:sym typeface="Courier New"/>
              </a:rPr>
              <a:t>import</a:t>
            </a:r>
            <a:r>
              <a:rPr lang="en" sz="900">
                <a:solidFill>
                  <a:srgbClr val="ABB2BF"/>
                </a:solidFill>
                <a:highlight>
                  <a:srgbClr val="282C34"/>
                </a:highlight>
                <a:latin typeface="Courier New"/>
                <a:ea typeface="Courier New"/>
                <a:cs typeface="Courier New"/>
                <a:sym typeface="Courier New"/>
              </a:rPr>
              <a:t> </a:t>
            </a:r>
            <a:r>
              <a:rPr lang="en" sz="900">
                <a:solidFill>
                  <a:srgbClr val="E5C07B"/>
                </a:solidFill>
                <a:highlight>
                  <a:srgbClr val="282C34"/>
                </a:highlight>
                <a:latin typeface="Courier New"/>
                <a:ea typeface="Courier New"/>
                <a:cs typeface="Courier New"/>
                <a:sym typeface="Courier New"/>
              </a:rPr>
              <a:t>requests</a:t>
            </a:r>
            <a:endParaRPr sz="900">
              <a:solidFill>
                <a:srgbClr val="ABB2BF"/>
              </a:solidFill>
              <a:highlight>
                <a:srgbClr val="282C34"/>
              </a:highlight>
              <a:latin typeface="Courier New"/>
              <a:ea typeface="Courier New"/>
              <a:cs typeface="Courier New"/>
              <a:sym typeface="Courier New"/>
            </a:endParaRPr>
          </a:p>
        </p:txBody>
      </p:sp>
      <p:sp>
        <p:nvSpPr>
          <p:cNvPr id="190" name="Google Shape;190;p24"/>
          <p:cNvSpPr txBox="1"/>
          <p:nvPr/>
        </p:nvSpPr>
        <p:spPr>
          <a:xfrm>
            <a:off x="393200" y="1012525"/>
            <a:ext cx="8260500" cy="1923900"/>
          </a:xfrm>
          <a:prstGeom prst="rect">
            <a:avLst/>
          </a:prstGeom>
          <a:solidFill>
            <a:schemeClr val="lt1"/>
          </a:solidFill>
          <a:ln>
            <a:noFill/>
          </a:ln>
        </p:spPr>
        <p:txBody>
          <a:bodyPr spcFirstLastPara="1" wrap="square" lIns="91425" tIns="91425" rIns="91425" bIns="91425" anchor="t" anchorCtr="0">
            <a:spAutoFit/>
          </a:bodyPr>
          <a:lstStyle/>
          <a:p>
            <a:pPr marL="0" lvl="0" indent="0" algn="l" rtl="0">
              <a:lnSpc>
                <a:spcPct val="131250"/>
              </a:lnSpc>
              <a:spcBef>
                <a:spcPts val="0"/>
              </a:spcBef>
              <a:spcAft>
                <a:spcPts val="0"/>
              </a:spcAft>
              <a:buNone/>
            </a:pPr>
            <a:r>
              <a:rPr lang="en" sz="800">
                <a:solidFill>
                  <a:schemeClr val="dk1"/>
                </a:solidFill>
                <a:highlight>
                  <a:srgbClr val="FFFFFF"/>
                </a:highlight>
                <a:latin typeface="Courier New"/>
                <a:ea typeface="Courier New"/>
                <a:cs typeface="Courier New"/>
                <a:sym typeface="Courier New"/>
              </a:rPr>
              <a:t>There are a number of required Python packages that need to be installed to successfully run the code below. Fortunately, Google Colab already has these packages installed but if you want run this code locally on your computer you would need to make sure the required packages are installed by using running the pip install command below that is correct for your operating system.</a:t>
            </a:r>
            <a:endParaRPr sz="800">
              <a:solidFill>
                <a:schemeClr val="dk1"/>
              </a:solidFill>
              <a:highlight>
                <a:srgbClr val="FFFFFF"/>
              </a:highlight>
              <a:latin typeface="Courier New"/>
              <a:ea typeface="Courier New"/>
              <a:cs typeface="Courier New"/>
              <a:sym typeface="Courier New"/>
            </a:endParaRPr>
          </a:p>
          <a:p>
            <a:pPr marL="0" lvl="0" indent="0" algn="l" rtl="0">
              <a:lnSpc>
                <a:spcPct val="131250"/>
              </a:lnSpc>
              <a:spcBef>
                <a:spcPts val="0"/>
              </a:spcBef>
              <a:spcAft>
                <a:spcPts val="0"/>
              </a:spcAft>
              <a:buNone/>
            </a:pPr>
            <a:endParaRPr sz="800">
              <a:solidFill>
                <a:schemeClr val="dk1"/>
              </a:solidFill>
              <a:highlight>
                <a:srgbClr val="FFFFFF"/>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en" sz="800" b="1">
                <a:solidFill>
                  <a:schemeClr val="dk1"/>
                </a:solidFill>
                <a:highlight>
                  <a:srgbClr val="FFFFFF"/>
                </a:highlight>
                <a:latin typeface="Courier New"/>
                <a:ea typeface="Courier New"/>
                <a:cs typeface="Courier New"/>
                <a:sym typeface="Courier New"/>
              </a:rPr>
              <a:t>**Mac:**</a:t>
            </a:r>
            <a:endParaRPr sz="800" b="1">
              <a:solidFill>
                <a:schemeClr val="dk1"/>
              </a:solidFill>
              <a:highlight>
                <a:srgbClr val="FFFFFF"/>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en" sz="800">
                <a:solidFill>
                  <a:schemeClr val="dk1"/>
                </a:solidFill>
                <a:highlight>
                  <a:srgbClr val="FFFFFF"/>
                </a:highlight>
                <a:latin typeface="Courier New"/>
                <a:ea typeface="Courier New"/>
                <a:cs typeface="Courier New"/>
                <a:sym typeface="Courier New"/>
              </a:rPr>
              <a:t>python3 -m pip install numpy matplotlib pandas plotly polars rasterio requests</a:t>
            </a:r>
            <a:endParaRPr sz="800">
              <a:solidFill>
                <a:schemeClr val="dk1"/>
              </a:solidFill>
              <a:highlight>
                <a:srgbClr val="FFFFFF"/>
              </a:highlight>
              <a:latin typeface="Courier New"/>
              <a:ea typeface="Courier New"/>
              <a:cs typeface="Courier New"/>
              <a:sym typeface="Courier New"/>
            </a:endParaRPr>
          </a:p>
          <a:p>
            <a:pPr marL="0" lvl="0" indent="0" algn="l" rtl="0">
              <a:lnSpc>
                <a:spcPct val="131250"/>
              </a:lnSpc>
              <a:spcBef>
                <a:spcPts val="0"/>
              </a:spcBef>
              <a:spcAft>
                <a:spcPts val="0"/>
              </a:spcAft>
              <a:buNone/>
            </a:pPr>
            <a:endParaRPr sz="800">
              <a:solidFill>
                <a:schemeClr val="dk1"/>
              </a:solidFill>
              <a:highlight>
                <a:srgbClr val="FFFFFF"/>
              </a:highlight>
              <a:latin typeface="Courier New"/>
              <a:ea typeface="Courier New"/>
              <a:cs typeface="Courier New"/>
              <a:sym typeface="Courier New"/>
            </a:endParaRPr>
          </a:p>
          <a:p>
            <a:pPr marL="0" lvl="0" indent="0" algn="l" rtl="0">
              <a:lnSpc>
                <a:spcPct val="131250"/>
              </a:lnSpc>
              <a:spcBef>
                <a:spcPts val="0"/>
              </a:spcBef>
              <a:spcAft>
                <a:spcPts val="0"/>
              </a:spcAft>
              <a:buNone/>
            </a:pPr>
            <a:endParaRPr sz="800">
              <a:solidFill>
                <a:schemeClr val="dk1"/>
              </a:solidFill>
              <a:highlight>
                <a:srgbClr val="FFFFFF"/>
              </a:highlight>
              <a:latin typeface="Courier New"/>
              <a:ea typeface="Courier New"/>
              <a:cs typeface="Courier New"/>
              <a:sym typeface="Courier New"/>
            </a:endParaRPr>
          </a:p>
          <a:p>
            <a:pPr marL="0" lvl="0" indent="0" algn="l" rtl="0">
              <a:lnSpc>
                <a:spcPct val="131250"/>
              </a:lnSpc>
              <a:spcBef>
                <a:spcPts val="0"/>
              </a:spcBef>
              <a:spcAft>
                <a:spcPts val="0"/>
              </a:spcAft>
              <a:buNone/>
            </a:pPr>
            <a:endParaRPr sz="800">
              <a:solidFill>
                <a:schemeClr val="dk1"/>
              </a:solidFill>
              <a:highlight>
                <a:srgbClr val="FFFFFF"/>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en" sz="800" b="1">
                <a:solidFill>
                  <a:schemeClr val="dk1"/>
                </a:solidFill>
                <a:highlight>
                  <a:srgbClr val="FFFFFF"/>
                </a:highlight>
                <a:latin typeface="Courier New"/>
                <a:ea typeface="Courier New"/>
                <a:cs typeface="Courier New"/>
                <a:sym typeface="Courier New"/>
              </a:rPr>
              <a:t>**Windows:**</a:t>
            </a:r>
            <a:endParaRPr sz="800" b="1">
              <a:solidFill>
                <a:schemeClr val="dk1"/>
              </a:solidFill>
              <a:highlight>
                <a:srgbClr val="FFFFFF"/>
              </a:highlight>
              <a:latin typeface="Courier New"/>
              <a:ea typeface="Courier New"/>
              <a:cs typeface="Courier New"/>
              <a:sym typeface="Courier New"/>
            </a:endParaRPr>
          </a:p>
          <a:p>
            <a:pPr marL="0" lvl="0" indent="0" algn="l" rtl="0">
              <a:lnSpc>
                <a:spcPct val="131250"/>
              </a:lnSpc>
              <a:spcBef>
                <a:spcPts val="0"/>
              </a:spcBef>
              <a:spcAft>
                <a:spcPts val="0"/>
              </a:spcAft>
              <a:buNone/>
            </a:pPr>
            <a:r>
              <a:rPr lang="en" sz="800">
                <a:solidFill>
                  <a:schemeClr val="dk1"/>
                </a:solidFill>
                <a:highlight>
                  <a:srgbClr val="FFFFFF"/>
                </a:highlight>
                <a:latin typeface="Courier New"/>
                <a:ea typeface="Courier New"/>
                <a:cs typeface="Courier New"/>
                <a:sym typeface="Courier New"/>
              </a:rPr>
              <a:t>python -m pip install numpy matplotlib pandas plotly polars rasterio requests</a:t>
            </a:r>
            <a:endParaRPr sz="800">
              <a:solidFill>
                <a:schemeClr val="dk1"/>
              </a:solidFill>
              <a:highlight>
                <a:srgbClr val="FFFFFF"/>
              </a:highlight>
              <a:latin typeface="Courier New"/>
              <a:ea typeface="Courier New"/>
              <a:cs typeface="Courier New"/>
              <a:sym typeface="Courier New"/>
            </a:endParaRPr>
          </a:p>
        </p:txBody>
      </p:sp>
      <p:sp>
        <p:nvSpPr>
          <p:cNvPr id="191" name="Google Shape;191;p24"/>
          <p:cNvSpPr txBox="1">
            <a:spLocks noGrp="1"/>
          </p:cNvSpPr>
          <p:nvPr>
            <p:ph type="title"/>
          </p:nvPr>
        </p:nvSpPr>
        <p:spPr>
          <a:xfrm>
            <a:off x="-386400" y="205799"/>
            <a:ext cx="9916800" cy="635400"/>
          </a:xfrm>
          <a:prstGeom prst="rect">
            <a:avLst/>
          </a:prstGeom>
          <a:solidFill>
            <a:schemeClr val="lt1"/>
          </a:solidFill>
          <a:ln w="28575" cap="flat" cmpd="sng">
            <a:solidFill>
              <a:schemeClr val="dk1"/>
            </a:solidFill>
            <a:prstDash val="solid"/>
            <a:round/>
            <a:headEnd type="none" w="sm" len="sm"/>
            <a:tailEnd type="none" w="sm" len="sm"/>
          </a:ln>
        </p:spPr>
        <p:txBody>
          <a:bodyPr spcFirstLastPara="1" wrap="square" lIns="68575" tIns="34275" rIns="68575" bIns="34275" anchor="ctr" anchorCtr="0">
            <a:noAutofit/>
          </a:bodyPr>
          <a:lstStyle/>
          <a:p>
            <a:pPr marL="685800" lvl="0" indent="0" algn="l" rtl="0">
              <a:lnSpc>
                <a:spcPct val="90000"/>
              </a:lnSpc>
              <a:spcBef>
                <a:spcPts val="0"/>
              </a:spcBef>
              <a:spcAft>
                <a:spcPts val="0"/>
              </a:spcAft>
              <a:buClr>
                <a:schemeClr val="dk1"/>
              </a:buClr>
              <a:buSzPts val="3000"/>
              <a:buFont typeface="Rockwell"/>
              <a:buNone/>
            </a:pPr>
            <a:r>
              <a:rPr lang="en" sz="2400" b="1">
                <a:latin typeface="Twentieth Century"/>
                <a:ea typeface="Twentieth Century"/>
                <a:cs typeface="Twentieth Century"/>
                <a:sym typeface="Twentieth Century"/>
              </a:rPr>
              <a:t>Required Packages</a:t>
            </a:r>
            <a:endParaRPr sz="500" b="1">
              <a:latin typeface="Twentieth Century"/>
              <a:ea typeface="Twentieth Century"/>
              <a:cs typeface="Twentieth Century"/>
              <a:sym typeface="Twentieth Century"/>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body" idx="1"/>
          </p:nvPr>
        </p:nvSpPr>
        <p:spPr>
          <a:xfrm>
            <a:off x="124275" y="478174"/>
            <a:ext cx="8914200" cy="1384800"/>
          </a:xfrm>
          <a:prstGeom prst="rect">
            <a:avLst/>
          </a:prstGeom>
          <a:solidFill>
            <a:srgbClr val="D9EAD3"/>
          </a:solidFill>
          <a:ln w="38100" cap="flat" cmpd="sng">
            <a:solidFill>
              <a:srgbClr val="134F5C"/>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37150" tIns="228600" rIns="137150" bIns="137150" anchor="t" anchorCtr="0">
            <a:noAutofit/>
          </a:bodyPr>
          <a:lstStyle/>
          <a:p>
            <a:pPr marL="0" lvl="0" indent="0" algn="l" rtl="0">
              <a:lnSpc>
                <a:spcPct val="131250"/>
              </a:lnSpc>
              <a:spcBef>
                <a:spcPts val="0"/>
              </a:spcBef>
              <a:spcAft>
                <a:spcPts val="0"/>
              </a:spcAft>
              <a:buNone/>
            </a:pPr>
            <a:r>
              <a:rPr lang="en" sz="1000">
                <a:solidFill>
                  <a:srgbClr val="000000"/>
                </a:solidFill>
                <a:latin typeface="Twentieth Century"/>
                <a:ea typeface="Twentieth Century"/>
                <a:cs typeface="Twentieth Century"/>
                <a:sym typeface="Twentieth Century"/>
              </a:rPr>
              <a:t>from the Texas Data Repository dataset at </a:t>
            </a:r>
            <a:r>
              <a:rPr lang="en" sz="900" u="sng">
                <a:solidFill>
                  <a:schemeClr val="hlink"/>
                </a:solidFill>
                <a:latin typeface="Twentieth Century"/>
                <a:ea typeface="Twentieth Century"/>
                <a:cs typeface="Twentieth Century"/>
                <a:sym typeface="Twentieth Century"/>
                <a:hlinkClick r:id="rId3"/>
              </a:rPr>
              <a:t>https://dataverse.tdl.org/file.xhtml?fileId=62725&amp;datasetVersionId=1894</a:t>
            </a:r>
            <a:r>
              <a:rPr lang="en" sz="900">
                <a:solidFill>
                  <a:srgbClr val="000000"/>
                </a:solidFill>
                <a:latin typeface="Twentieth Century"/>
                <a:ea typeface="Twentieth Century"/>
                <a:cs typeface="Twentieth Century"/>
                <a:sym typeface="Twentieth Century"/>
              </a:rPr>
              <a:t> </a:t>
            </a:r>
            <a:endParaRPr sz="900">
              <a:solidFill>
                <a:srgbClr val="000000"/>
              </a:solidFill>
              <a:latin typeface="Twentieth Century"/>
              <a:ea typeface="Twentieth Century"/>
              <a:cs typeface="Twentieth Century"/>
              <a:sym typeface="Twentieth Century"/>
            </a:endParaRPr>
          </a:p>
          <a:p>
            <a:pPr marL="0" lvl="0" indent="0" algn="l" rtl="0">
              <a:lnSpc>
                <a:spcPct val="131250"/>
              </a:lnSpc>
              <a:spcBef>
                <a:spcPts val="0"/>
              </a:spcBef>
              <a:spcAft>
                <a:spcPts val="0"/>
              </a:spcAft>
              <a:buNone/>
            </a:pPr>
            <a:r>
              <a:rPr lang="en" sz="1000">
                <a:solidFill>
                  <a:srgbClr val="000000"/>
                </a:solidFill>
                <a:latin typeface="Twentieth Century"/>
                <a:ea typeface="Twentieth Century"/>
                <a:cs typeface="Twentieth Century"/>
                <a:sym typeface="Twentieth Century"/>
              </a:rPr>
              <a:t>The publication related to this dataset is:  Fuiman, L.A., T.M. Williams, and R.W. Davis. 2020. Homing tactics of Weddell seals in the Antarctic fast-ice environment. Marine Biology. (doi: 10.1007/s00227-020-03730-w)</a:t>
            </a:r>
            <a:endParaRPr sz="1000">
              <a:solidFill>
                <a:srgbClr val="000000"/>
              </a:solidFill>
              <a:latin typeface="Twentieth Century"/>
              <a:ea typeface="Twentieth Century"/>
              <a:cs typeface="Twentieth Century"/>
              <a:sym typeface="Twentieth Century"/>
            </a:endParaRPr>
          </a:p>
          <a:p>
            <a:pPr marL="457200" lvl="0" indent="0" algn="l" rtl="0">
              <a:lnSpc>
                <a:spcPct val="131250"/>
              </a:lnSpc>
              <a:spcBef>
                <a:spcPts val="0"/>
              </a:spcBef>
              <a:spcAft>
                <a:spcPts val="0"/>
              </a:spcAft>
              <a:buNone/>
            </a:pPr>
            <a:endParaRPr sz="1000">
              <a:solidFill>
                <a:srgbClr val="008000"/>
              </a:solidFill>
              <a:highlight>
                <a:srgbClr val="FFFFFF"/>
              </a:highlight>
              <a:latin typeface="Courier New"/>
              <a:ea typeface="Courier New"/>
              <a:cs typeface="Courier New"/>
              <a:sym typeface="Courier New"/>
            </a:endParaRPr>
          </a:p>
          <a:p>
            <a:pPr marL="228600" lvl="0" indent="-152400" algn="l" rtl="0">
              <a:lnSpc>
                <a:spcPct val="131250"/>
              </a:lnSpc>
              <a:spcBef>
                <a:spcPts val="0"/>
              </a:spcBef>
              <a:spcAft>
                <a:spcPts val="0"/>
              </a:spcAft>
              <a:buSzPts val="600"/>
              <a:buFont typeface="Twentieth Century"/>
              <a:buChar char="➔"/>
            </a:pPr>
            <a:r>
              <a:rPr lang="en" sz="700">
                <a:highlight>
                  <a:schemeClr val="lt1"/>
                </a:highlight>
                <a:latin typeface="Courier New"/>
                <a:ea typeface="Courier New"/>
                <a:cs typeface="Courier New"/>
                <a:sym typeface="Courier New"/>
              </a:rPr>
              <a:t>sealdivesdf = pd.read_csv(</a:t>
            </a:r>
            <a:r>
              <a:rPr lang="en" sz="700">
                <a:solidFill>
                  <a:srgbClr val="A31515"/>
                </a:solidFill>
                <a:highlight>
                  <a:schemeClr val="lt1"/>
                </a:highlight>
                <a:latin typeface="Courier New"/>
                <a:ea typeface="Courier New"/>
                <a:cs typeface="Courier New"/>
                <a:sym typeface="Courier New"/>
              </a:rPr>
              <a:t>"https://dataverse.tdl.org/api/access/datafile/62725?gbrecs=true"</a:t>
            </a:r>
            <a:r>
              <a:rPr lang="en" sz="700">
                <a:highlight>
                  <a:schemeClr val="lt1"/>
                </a:highlight>
                <a:latin typeface="Courier New"/>
                <a:ea typeface="Courier New"/>
                <a:cs typeface="Courier New"/>
                <a:sym typeface="Courier New"/>
              </a:rPr>
              <a:t>)</a:t>
            </a:r>
            <a:endParaRPr sz="700">
              <a:highlight>
                <a:schemeClr val="lt1"/>
              </a:highlight>
              <a:latin typeface="Courier New"/>
              <a:ea typeface="Courier New"/>
              <a:cs typeface="Courier New"/>
              <a:sym typeface="Courier New"/>
            </a:endParaRPr>
          </a:p>
          <a:p>
            <a:pPr marL="457200" lvl="0" indent="0" algn="l" rtl="0">
              <a:lnSpc>
                <a:spcPct val="150000"/>
              </a:lnSpc>
              <a:spcBef>
                <a:spcPts val="0"/>
              </a:spcBef>
              <a:spcAft>
                <a:spcPts val="0"/>
              </a:spcAft>
              <a:buNone/>
            </a:pPr>
            <a:endParaRPr sz="700">
              <a:highlight>
                <a:srgbClr val="FFFFFF"/>
              </a:highlight>
              <a:latin typeface="Courier New"/>
              <a:ea typeface="Courier New"/>
              <a:cs typeface="Courier New"/>
              <a:sym typeface="Courier New"/>
            </a:endParaRPr>
          </a:p>
        </p:txBody>
      </p:sp>
      <p:sp>
        <p:nvSpPr>
          <p:cNvPr id="198" name="Google Shape;198;p25"/>
          <p:cNvSpPr txBox="1"/>
          <p:nvPr/>
        </p:nvSpPr>
        <p:spPr>
          <a:xfrm>
            <a:off x="102726" y="160325"/>
            <a:ext cx="5558700" cy="318300"/>
          </a:xfrm>
          <a:prstGeom prst="rect">
            <a:avLst/>
          </a:prstGeom>
          <a:solidFill>
            <a:srgbClr val="134F5C"/>
          </a:solidFill>
          <a:ln>
            <a:noFill/>
          </a:ln>
        </p:spPr>
        <p:txBody>
          <a:bodyPr spcFirstLastPara="1" wrap="square" lIns="91425" tIns="45700" rIns="91425" bIns="91425" anchor="t" anchorCtr="0">
            <a:noAutofit/>
          </a:bodyPr>
          <a:lstStyle/>
          <a:p>
            <a:pPr marL="0" lvl="0" indent="0" algn="l" rtl="0">
              <a:spcBef>
                <a:spcPts val="0"/>
              </a:spcBef>
              <a:spcAft>
                <a:spcPts val="0"/>
              </a:spcAft>
              <a:buNone/>
            </a:pPr>
            <a:r>
              <a:rPr lang="en" sz="1600" b="1">
                <a:solidFill>
                  <a:schemeClr val="lt1"/>
                </a:solidFill>
                <a:latin typeface="Twentieth Century"/>
                <a:ea typeface="Twentieth Century"/>
                <a:cs typeface="Twentieth Century"/>
                <a:sym typeface="Twentieth Century"/>
              </a:rPr>
              <a:t>Data Source: Dive characteristics of Weddell seals 2014-2016</a:t>
            </a:r>
            <a:endParaRPr sz="1600" b="1">
              <a:solidFill>
                <a:schemeClr val="lt1"/>
              </a:solidFill>
              <a:latin typeface="Twentieth Century"/>
              <a:ea typeface="Twentieth Century"/>
              <a:cs typeface="Twentieth Century"/>
              <a:sym typeface="Twentieth Century"/>
            </a:endParaRPr>
          </a:p>
        </p:txBody>
      </p:sp>
      <p:sp>
        <p:nvSpPr>
          <p:cNvPr id="199" name="Google Shape;199;p25"/>
          <p:cNvSpPr txBox="1">
            <a:spLocks noGrp="1"/>
          </p:cNvSpPr>
          <p:nvPr>
            <p:ph type="body" idx="1"/>
          </p:nvPr>
        </p:nvSpPr>
        <p:spPr>
          <a:xfrm>
            <a:off x="124275" y="2320762"/>
            <a:ext cx="8914200" cy="1094100"/>
          </a:xfrm>
          <a:prstGeom prst="rect">
            <a:avLst/>
          </a:prstGeom>
          <a:solidFill>
            <a:srgbClr val="D9EAD3"/>
          </a:solidFill>
          <a:ln w="38100" cap="flat" cmpd="sng">
            <a:solidFill>
              <a:srgbClr val="134F5C"/>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37150" tIns="228600" rIns="137150" bIns="137150" anchor="t" anchorCtr="0">
            <a:noAutofit/>
          </a:bodyPr>
          <a:lstStyle/>
          <a:p>
            <a:pPr marL="0" lvl="0" indent="0" algn="l" rtl="0">
              <a:lnSpc>
                <a:spcPct val="131250"/>
              </a:lnSpc>
              <a:spcBef>
                <a:spcPts val="0"/>
              </a:spcBef>
              <a:spcAft>
                <a:spcPts val="0"/>
              </a:spcAft>
              <a:buNone/>
            </a:pPr>
            <a:r>
              <a:rPr lang="en" sz="1000">
                <a:latin typeface="Twentieth Century"/>
                <a:ea typeface="Twentieth Century"/>
                <a:cs typeface="Twentieth Century"/>
                <a:sym typeface="Twentieth Century"/>
              </a:rPr>
              <a:t>From </a:t>
            </a:r>
            <a:r>
              <a:rPr lang="en" sz="1000" u="sng">
                <a:solidFill>
                  <a:schemeClr val="hlink"/>
                </a:solidFill>
                <a:latin typeface="Twentieth Century"/>
                <a:ea typeface="Twentieth Century"/>
                <a:cs typeface="Twentieth Century"/>
                <a:sym typeface="Twentieth Century"/>
                <a:hlinkClick r:id="rId4"/>
              </a:rPr>
              <a:t>https://gis-pdx.opendata.arcgis.com/datasets/PDX::parks-tree-inventory/about</a:t>
            </a:r>
            <a:r>
              <a:rPr lang="en" sz="1100">
                <a:latin typeface="Twentieth Century"/>
                <a:ea typeface="Twentieth Century"/>
                <a:cs typeface="Twentieth Century"/>
                <a:sym typeface="Twentieth Century"/>
              </a:rPr>
              <a:t> </a:t>
            </a:r>
            <a:endParaRPr sz="1100">
              <a:latin typeface="Twentieth Century"/>
              <a:ea typeface="Twentieth Century"/>
              <a:cs typeface="Twentieth Century"/>
              <a:sym typeface="Twentieth Century"/>
            </a:endParaRPr>
          </a:p>
          <a:p>
            <a:pPr marL="0" lvl="0" indent="0" algn="l" rtl="0">
              <a:lnSpc>
                <a:spcPct val="131250"/>
              </a:lnSpc>
              <a:spcBef>
                <a:spcPts val="0"/>
              </a:spcBef>
              <a:spcAft>
                <a:spcPts val="0"/>
              </a:spcAft>
              <a:buClr>
                <a:schemeClr val="dk1"/>
              </a:buClr>
              <a:buSzPts val="1100"/>
              <a:buFont typeface="Arial"/>
              <a:buNone/>
            </a:pPr>
            <a:endParaRPr sz="1100" b="1">
              <a:latin typeface="Courier New"/>
              <a:ea typeface="Courier New"/>
              <a:cs typeface="Courier New"/>
              <a:sym typeface="Courier New"/>
            </a:endParaRPr>
          </a:p>
          <a:p>
            <a:pPr marL="228600" lvl="0" indent="-158750" algn="l" rtl="0">
              <a:lnSpc>
                <a:spcPct val="131250"/>
              </a:lnSpc>
              <a:spcBef>
                <a:spcPts val="0"/>
              </a:spcBef>
              <a:spcAft>
                <a:spcPts val="0"/>
              </a:spcAft>
              <a:buSzPts val="700"/>
              <a:buFont typeface="Courier New"/>
              <a:buChar char="➔"/>
            </a:pPr>
            <a:r>
              <a:rPr lang="en" sz="700">
                <a:highlight>
                  <a:srgbClr val="FFFFFF"/>
                </a:highlight>
                <a:latin typeface="Courier New"/>
                <a:ea typeface="Courier New"/>
                <a:cs typeface="Courier New"/>
                <a:sym typeface="Courier New"/>
              </a:rPr>
              <a:t>treesdf = pd.read_csv(</a:t>
            </a:r>
            <a:r>
              <a:rPr lang="en" sz="700">
                <a:solidFill>
                  <a:srgbClr val="A31515"/>
                </a:solidFill>
                <a:highlight>
                  <a:srgbClr val="FFFFFF"/>
                </a:highlight>
                <a:latin typeface="Courier New"/>
                <a:ea typeface="Courier New"/>
                <a:cs typeface="Courier New"/>
                <a:sym typeface="Courier New"/>
              </a:rPr>
              <a:t>"https://hub.arcgis.com/api/v3/datasets/15ae00ece1bf486a868c0f635d3acbfa_220/downloads/data?format=csv&amp;spatialRefId=3857&amp;where=1%3D1"</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marL="457200" lvl="0" indent="0" algn="l" rtl="0">
              <a:lnSpc>
                <a:spcPct val="150000"/>
              </a:lnSpc>
              <a:spcBef>
                <a:spcPts val="0"/>
              </a:spcBef>
              <a:spcAft>
                <a:spcPts val="0"/>
              </a:spcAft>
              <a:buNone/>
            </a:pPr>
            <a:endParaRPr sz="1000">
              <a:solidFill>
                <a:srgbClr val="008000"/>
              </a:solidFill>
              <a:highlight>
                <a:srgbClr val="FFFFFF"/>
              </a:highlight>
              <a:latin typeface="Courier New"/>
              <a:ea typeface="Courier New"/>
              <a:cs typeface="Courier New"/>
              <a:sym typeface="Courier New"/>
            </a:endParaRPr>
          </a:p>
        </p:txBody>
      </p:sp>
      <p:sp>
        <p:nvSpPr>
          <p:cNvPr id="200" name="Google Shape;200;p25"/>
          <p:cNvSpPr txBox="1"/>
          <p:nvPr/>
        </p:nvSpPr>
        <p:spPr>
          <a:xfrm>
            <a:off x="102726" y="2002925"/>
            <a:ext cx="5522100" cy="318300"/>
          </a:xfrm>
          <a:prstGeom prst="rect">
            <a:avLst/>
          </a:prstGeom>
          <a:solidFill>
            <a:srgbClr val="134F5C"/>
          </a:solidFill>
          <a:ln>
            <a:noFill/>
          </a:ln>
        </p:spPr>
        <p:txBody>
          <a:bodyPr spcFirstLastPara="1" wrap="square" lIns="91425" tIns="45700" rIns="91425" bIns="91425" anchor="t" anchorCtr="0">
            <a:noAutofit/>
          </a:bodyPr>
          <a:lstStyle/>
          <a:p>
            <a:pPr marL="0" lvl="0" indent="0" algn="l" rtl="0">
              <a:spcBef>
                <a:spcPts val="0"/>
              </a:spcBef>
              <a:spcAft>
                <a:spcPts val="0"/>
              </a:spcAft>
              <a:buNone/>
            </a:pPr>
            <a:r>
              <a:rPr lang="en" sz="1600" b="1">
                <a:solidFill>
                  <a:schemeClr val="lt1"/>
                </a:solidFill>
                <a:latin typeface="Twentieth Century"/>
                <a:ea typeface="Twentieth Century"/>
                <a:cs typeface="Twentieth Century"/>
                <a:sym typeface="Twentieth Century"/>
              </a:rPr>
              <a:t>Data Source: Portland, Oregon parks tree inventory data</a:t>
            </a:r>
            <a:endParaRPr sz="1600" b="1">
              <a:solidFill>
                <a:schemeClr val="lt1"/>
              </a:solidFill>
              <a:latin typeface="Twentieth Century"/>
              <a:ea typeface="Twentieth Century"/>
              <a:cs typeface="Twentieth Century"/>
              <a:sym typeface="Twentieth Century"/>
            </a:endParaRPr>
          </a:p>
        </p:txBody>
      </p:sp>
      <p:sp>
        <p:nvSpPr>
          <p:cNvPr id="201" name="Google Shape;201;p25"/>
          <p:cNvSpPr txBox="1">
            <a:spLocks noGrp="1"/>
          </p:cNvSpPr>
          <p:nvPr>
            <p:ph type="body" idx="1"/>
          </p:nvPr>
        </p:nvSpPr>
        <p:spPr>
          <a:xfrm>
            <a:off x="124275" y="3920962"/>
            <a:ext cx="8914200" cy="1094100"/>
          </a:xfrm>
          <a:prstGeom prst="rect">
            <a:avLst/>
          </a:prstGeom>
          <a:solidFill>
            <a:srgbClr val="D9EAD3"/>
          </a:solidFill>
          <a:ln w="38100" cap="flat" cmpd="sng">
            <a:solidFill>
              <a:srgbClr val="134F5C"/>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37150" tIns="228600" rIns="137150" bIns="137150" anchor="t" anchorCtr="0">
            <a:noAutofit/>
          </a:bodyPr>
          <a:lstStyle/>
          <a:p>
            <a:pPr marL="0" lvl="0" indent="0" algn="l" rtl="0">
              <a:lnSpc>
                <a:spcPct val="131250"/>
              </a:lnSpc>
              <a:spcBef>
                <a:spcPts val="0"/>
              </a:spcBef>
              <a:spcAft>
                <a:spcPts val="0"/>
              </a:spcAft>
              <a:buNone/>
            </a:pPr>
            <a:r>
              <a:rPr lang="en" sz="1000" dirty="0">
                <a:latin typeface="Twentieth Century"/>
                <a:ea typeface="Twentieth Century"/>
                <a:cs typeface="Twentieth Century"/>
                <a:sym typeface="Twentieth Century"/>
              </a:rPr>
              <a:t>From </a:t>
            </a:r>
            <a:r>
              <a:rPr lang="en" sz="1000" u="sng" dirty="0">
                <a:solidFill>
                  <a:schemeClr val="hlink"/>
                </a:solidFill>
                <a:latin typeface="Twentieth Century"/>
                <a:ea typeface="Twentieth Century"/>
                <a:cs typeface="Twentieth Century"/>
                <a:sym typeface="Twentieth Century"/>
                <a:hlinkClick r:id="rId5"/>
              </a:rPr>
              <a:t>https://github.com/IBM/telco-customer-churn-on-icp4d/tree/master</a:t>
            </a:r>
            <a:r>
              <a:rPr lang="en" sz="1000" dirty="0">
                <a:latin typeface="Twentieth Century"/>
                <a:ea typeface="Twentieth Century"/>
                <a:cs typeface="Twentieth Century"/>
                <a:sym typeface="Twentieth Century"/>
              </a:rPr>
              <a:t> </a:t>
            </a:r>
            <a:endParaRPr sz="1000" b="1" dirty="0">
              <a:latin typeface="Twentieth Century"/>
              <a:ea typeface="Twentieth Century"/>
              <a:cs typeface="Twentieth Century"/>
              <a:sym typeface="Twentieth Century"/>
            </a:endParaRPr>
          </a:p>
          <a:p>
            <a:pPr marL="0" lvl="0" indent="0" algn="l" rtl="0">
              <a:lnSpc>
                <a:spcPct val="131250"/>
              </a:lnSpc>
              <a:spcBef>
                <a:spcPts val="0"/>
              </a:spcBef>
              <a:spcAft>
                <a:spcPts val="0"/>
              </a:spcAft>
              <a:buNone/>
            </a:pPr>
            <a:endParaRPr sz="1100" b="1" dirty="0">
              <a:latin typeface="Courier New"/>
              <a:ea typeface="Courier New"/>
              <a:cs typeface="Courier New"/>
              <a:sym typeface="Courier New"/>
            </a:endParaRPr>
          </a:p>
          <a:p>
            <a:pPr marL="228600" lvl="0" indent="-155575" algn="l" rtl="0">
              <a:lnSpc>
                <a:spcPct val="131250"/>
              </a:lnSpc>
              <a:spcBef>
                <a:spcPts val="0"/>
              </a:spcBef>
              <a:spcAft>
                <a:spcPts val="0"/>
              </a:spcAft>
              <a:buSzPts val="650"/>
              <a:buFont typeface="Courier New"/>
              <a:buChar char="➔"/>
            </a:pPr>
            <a:r>
              <a:rPr lang="en" sz="700" dirty="0">
                <a:highlight>
                  <a:srgbClr val="FFFFFF"/>
                </a:highlight>
                <a:latin typeface="Courier New"/>
                <a:ea typeface="Courier New"/>
                <a:cs typeface="Courier New"/>
                <a:sym typeface="Courier New"/>
              </a:rPr>
              <a:t>customerchurndf = pd.read_csv(</a:t>
            </a:r>
            <a:r>
              <a:rPr lang="en" sz="700" dirty="0">
                <a:solidFill>
                  <a:srgbClr val="A31515"/>
                </a:solidFill>
                <a:highlight>
                  <a:srgbClr val="FFFFFF"/>
                </a:highlight>
                <a:latin typeface="Courier New"/>
                <a:ea typeface="Courier New"/>
                <a:cs typeface="Courier New"/>
                <a:sym typeface="Courier New"/>
              </a:rPr>
              <a:t>"https://raw.githubusercontent.com/IBM/telco-customer-churn-on-icp4d/refs/heads/master/data/Telco-Customer-Churn.csv"</a:t>
            </a:r>
            <a:r>
              <a:rPr lang="en" sz="700" dirty="0">
                <a:highlight>
                  <a:srgbClr val="FFFFFF"/>
                </a:highlight>
                <a:latin typeface="Courier New"/>
                <a:ea typeface="Courier New"/>
                <a:cs typeface="Courier New"/>
                <a:sym typeface="Courier New"/>
              </a:rPr>
              <a:t>)</a:t>
            </a:r>
            <a:endParaRPr sz="700" dirty="0">
              <a:highlight>
                <a:srgbClr val="FFFFFF"/>
              </a:highlight>
              <a:latin typeface="Courier New"/>
              <a:ea typeface="Courier New"/>
              <a:cs typeface="Courier New"/>
              <a:sym typeface="Courier New"/>
            </a:endParaRPr>
          </a:p>
          <a:p>
            <a:pPr marL="457200" lvl="0" indent="0" algn="l" rtl="0">
              <a:lnSpc>
                <a:spcPct val="131250"/>
              </a:lnSpc>
              <a:spcBef>
                <a:spcPts val="0"/>
              </a:spcBef>
              <a:spcAft>
                <a:spcPts val="0"/>
              </a:spcAft>
              <a:buNone/>
            </a:pPr>
            <a:endParaRPr sz="650" dirty="0">
              <a:highlight>
                <a:srgbClr val="FFFFFF"/>
              </a:highlight>
              <a:latin typeface="Courier New"/>
              <a:ea typeface="Courier New"/>
              <a:cs typeface="Courier New"/>
              <a:sym typeface="Courier New"/>
            </a:endParaRPr>
          </a:p>
          <a:p>
            <a:pPr marL="457200" lvl="0" indent="0" algn="l" rtl="0">
              <a:lnSpc>
                <a:spcPct val="150000"/>
              </a:lnSpc>
              <a:spcBef>
                <a:spcPts val="0"/>
              </a:spcBef>
              <a:spcAft>
                <a:spcPts val="0"/>
              </a:spcAft>
              <a:buNone/>
            </a:pPr>
            <a:endParaRPr sz="1000" dirty="0">
              <a:solidFill>
                <a:srgbClr val="008000"/>
              </a:solidFill>
              <a:highlight>
                <a:srgbClr val="FFFFFF"/>
              </a:highlight>
              <a:latin typeface="Courier New"/>
              <a:ea typeface="Courier New"/>
              <a:cs typeface="Courier New"/>
              <a:sym typeface="Courier New"/>
            </a:endParaRPr>
          </a:p>
        </p:txBody>
      </p:sp>
      <p:sp>
        <p:nvSpPr>
          <p:cNvPr id="202" name="Google Shape;202;p25"/>
          <p:cNvSpPr txBox="1"/>
          <p:nvPr/>
        </p:nvSpPr>
        <p:spPr>
          <a:xfrm>
            <a:off x="102733" y="3603125"/>
            <a:ext cx="5558700" cy="318300"/>
          </a:xfrm>
          <a:prstGeom prst="rect">
            <a:avLst/>
          </a:prstGeom>
          <a:solidFill>
            <a:srgbClr val="134F5C"/>
          </a:solidFill>
          <a:ln>
            <a:noFill/>
          </a:ln>
        </p:spPr>
        <p:txBody>
          <a:bodyPr spcFirstLastPara="1" wrap="square" lIns="91425" tIns="45700" rIns="91425" bIns="91425" anchor="t" anchorCtr="0">
            <a:noAutofit/>
          </a:bodyPr>
          <a:lstStyle/>
          <a:p>
            <a:pPr marL="0" lvl="0" indent="0" algn="l" rtl="0">
              <a:spcBef>
                <a:spcPts val="0"/>
              </a:spcBef>
              <a:spcAft>
                <a:spcPts val="0"/>
              </a:spcAft>
              <a:buNone/>
            </a:pPr>
            <a:r>
              <a:rPr lang="en" sz="1600" b="1">
                <a:solidFill>
                  <a:schemeClr val="lt1"/>
                </a:solidFill>
                <a:latin typeface="Twentieth Century"/>
                <a:ea typeface="Twentieth Century"/>
                <a:cs typeface="Twentieth Century"/>
                <a:sym typeface="Twentieth Century"/>
              </a:rPr>
              <a:t>Data Source: Telco customer churn dataset </a:t>
            </a:r>
            <a:endParaRPr sz="1600" b="1">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body" idx="1"/>
          </p:nvPr>
        </p:nvSpPr>
        <p:spPr>
          <a:xfrm>
            <a:off x="124275" y="478175"/>
            <a:ext cx="8914200" cy="708300"/>
          </a:xfrm>
          <a:prstGeom prst="rect">
            <a:avLst/>
          </a:prstGeom>
          <a:solidFill>
            <a:srgbClr val="D9EAD3"/>
          </a:solidFill>
          <a:ln w="38100" cap="flat" cmpd="sng">
            <a:solidFill>
              <a:srgbClr val="134F5C"/>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137150" tIns="228600" rIns="137150" bIns="137150" anchor="t" anchorCtr="0">
            <a:noAutofit/>
          </a:bodyPr>
          <a:lstStyle/>
          <a:p>
            <a:pPr marL="457200" lvl="0" indent="-234950" algn="l" rtl="0">
              <a:lnSpc>
                <a:spcPct val="131250"/>
              </a:lnSpc>
              <a:spcBef>
                <a:spcPts val="0"/>
              </a:spcBef>
              <a:spcAft>
                <a:spcPts val="0"/>
              </a:spcAft>
              <a:buSzPts val="100"/>
              <a:buFont typeface="Twentieth Century"/>
              <a:buChar char="➔"/>
            </a:pPr>
            <a:r>
              <a:rPr lang="en" sz="700">
                <a:highlight>
                  <a:srgbClr val="FFFFFF"/>
                </a:highlight>
                <a:latin typeface="Courier New"/>
                <a:ea typeface="Courier New"/>
                <a:cs typeface="Courier New"/>
                <a:sym typeface="Courier New"/>
              </a:rPr>
              <a:t>singleimageband2 = {</a:t>
            </a:r>
            <a:r>
              <a:rPr lang="en" sz="700">
                <a:solidFill>
                  <a:srgbClr val="A31515"/>
                </a:solidFill>
                <a:highlight>
                  <a:srgbClr val="FFFFFF"/>
                </a:highlight>
                <a:latin typeface="Courier New"/>
                <a:ea typeface="Courier New"/>
                <a:cs typeface="Courier New"/>
                <a:sym typeface="Courier New"/>
              </a:rPr>
              <a:t>"bandname"</a:t>
            </a:r>
            <a:r>
              <a:rPr lang="en" sz="700">
                <a:highlight>
                  <a:srgbClr val="FFFFFF"/>
                </a:highlight>
                <a:latin typeface="Courier New"/>
                <a:ea typeface="Courier New"/>
                <a:cs typeface="Courier New"/>
                <a:sym typeface="Courier New"/>
              </a:rPr>
              <a:t>:</a:t>
            </a:r>
            <a:r>
              <a:rPr lang="en" sz="700">
                <a:solidFill>
                  <a:srgbClr val="A31515"/>
                </a:solidFill>
                <a:highlight>
                  <a:srgbClr val="FFFFFF"/>
                </a:highlight>
                <a:latin typeface="Courier New"/>
                <a:ea typeface="Courier New"/>
                <a:cs typeface="Courier New"/>
                <a:sym typeface="Courier New"/>
              </a:rPr>
              <a:t>"green"</a:t>
            </a: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"cmap"</a:t>
            </a:r>
            <a:r>
              <a:rPr lang="en" sz="700">
                <a:highlight>
                  <a:srgbClr val="FFFFFF"/>
                </a:highlight>
                <a:latin typeface="Courier New"/>
                <a:ea typeface="Courier New"/>
                <a:cs typeface="Courier New"/>
                <a:sym typeface="Courier New"/>
              </a:rPr>
              <a:t>:</a:t>
            </a:r>
            <a:r>
              <a:rPr lang="en" sz="700">
                <a:solidFill>
                  <a:srgbClr val="A31515"/>
                </a:solidFill>
                <a:highlight>
                  <a:srgbClr val="FFFFFF"/>
                </a:highlight>
                <a:latin typeface="Courier New"/>
                <a:ea typeface="Courier New"/>
                <a:cs typeface="Courier New"/>
                <a:sym typeface="Courier New"/>
              </a:rPr>
              <a:t>"Greens"</a:t>
            </a:r>
            <a:r>
              <a:rPr lang="en" sz="700">
                <a:highlight>
                  <a:srgbClr val="FFFFFF"/>
                </a:highlight>
                <a:latin typeface="Courier New"/>
                <a:ea typeface="Courier New"/>
                <a:cs typeface="Courier New"/>
                <a:sym typeface="Courier New"/>
              </a:rPr>
              <a:t>,  </a:t>
            </a:r>
            <a:r>
              <a:rPr lang="en" sz="700">
                <a:solidFill>
                  <a:srgbClr val="A31515"/>
                </a:solidFill>
                <a:highlight>
                  <a:srgbClr val="FFFFFF"/>
                </a:highlight>
                <a:latin typeface="Courier New"/>
                <a:ea typeface="Courier New"/>
                <a:cs typeface="Courier New"/>
                <a:sym typeface="Courier New"/>
              </a:rPr>
              <a:t>"url"</a:t>
            </a:r>
            <a:r>
              <a:rPr lang="en" sz="700">
                <a:highlight>
                  <a:srgbClr val="FFFFFF"/>
                </a:highlight>
                <a:latin typeface="Courier New"/>
                <a:ea typeface="Courier New"/>
                <a:cs typeface="Courier New"/>
                <a:sym typeface="Courier New"/>
              </a:rPr>
              <a:t>:</a:t>
            </a:r>
            <a:r>
              <a:rPr lang="en" sz="700">
                <a:solidFill>
                  <a:srgbClr val="A31515"/>
                </a:solidFill>
                <a:highlight>
                  <a:srgbClr val="FFFFFF"/>
                </a:highlight>
                <a:latin typeface="Courier New"/>
                <a:ea typeface="Courier New"/>
                <a:cs typeface="Courier New"/>
                <a:sym typeface="Courier New"/>
              </a:rPr>
              <a:t>"https://ut-austin.maps.arcgis.com/sharing/rest/content/items/21bfc72d87a844c8834db572bda24e58/data"</a:t>
            </a:r>
            <a:r>
              <a:rPr lang="en" sz="700">
                <a:highlight>
                  <a:srgbClr val="FFFFFF"/>
                </a:highlight>
                <a:latin typeface="Courier New"/>
                <a:ea typeface="Courier New"/>
                <a:cs typeface="Courier New"/>
                <a:sym typeface="Courier New"/>
              </a:rPr>
              <a:t>}</a:t>
            </a:r>
            <a:endParaRPr sz="700">
              <a:highlight>
                <a:srgbClr val="FFFFFF"/>
              </a:highlight>
              <a:latin typeface="Courier New"/>
              <a:ea typeface="Courier New"/>
              <a:cs typeface="Courier New"/>
              <a:sym typeface="Courier New"/>
            </a:endParaRPr>
          </a:p>
          <a:p>
            <a:pPr marL="457200" lvl="0" indent="0" algn="l" rtl="0">
              <a:lnSpc>
                <a:spcPct val="131250"/>
              </a:lnSpc>
              <a:spcBef>
                <a:spcPts val="0"/>
              </a:spcBef>
              <a:spcAft>
                <a:spcPts val="0"/>
              </a:spcAft>
              <a:buNone/>
            </a:pPr>
            <a:endParaRPr sz="700">
              <a:highlight>
                <a:srgbClr val="FFFFFF"/>
              </a:highlight>
              <a:latin typeface="Courier New"/>
              <a:ea typeface="Courier New"/>
              <a:cs typeface="Courier New"/>
              <a:sym typeface="Courier New"/>
            </a:endParaRPr>
          </a:p>
        </p:txBody>
      </p:sp>
      <p:sp>
        <p:nvSpPr>
          <p:cNvPr id="209" name="Google Shape;209;p26"/>
          <p:cNvSpPr txBox="1"/>
          <p:nvPr/>
        </p:nvSpPr>
        <p:spPr>
          <a:xfrm>
            <a:off x="102725" y="160325"/>
            <a:ext cx="5859900" cy="318300"/>
          </a:xfrm>
          <a:prstGeom prst="rect">
            <a:avLst/>
          </a:prstGeom>
          <a:solidFill>
            <a:srgbClr val="134F5C"/>
          </a:solidFill>
          <a:ln>
            <a:noFill/>
          </a:ln>
        </p:spPr>
        <p:txBody>
          <a:bodyPr spcFirstLastPara="1" wrap="square" lIns="91425" tIns="45700" rIns="91425" bIns="91425" anchor="t" anchorCtr="0">
            <a:noAutofit/>
          </a:bodyPr>
          <a:lstStyle/>
          <a:p>
            <a:pPr marL="0" lvl="0" indent="0" algn="l" rtl="0">
              <a:spcBef>
                <a:spcPts val="0"/>
              </a:spcBef>
              <a:spcAft>
                <a:spcPts val="0"/>
              </a:spcAft>
              <a:buNone/>
            </a:pPr>
            <a:r>
              <a:rPr lang="en" sz="1600" b="1">
                <a:solidFill>
                  <a:schemeClr val="lt1"/>
                </a:solidFill>
                <a:latin typeface="Twentieth Century"/>
                <a:ea typeface="Twentieth Century"/>
                <a:cs typeface="Twentieth Century"/>
                <a:sym typeface="Twentieth Century"/>
              </a:rPr>
              <a:t>Data Source: Single Band Raster from UAV Imagery Orthomosaic</a:t>
            </a:r>
            <a:endParaRPr sz="1600" b="1">
              <a:solidFill>
                <a:schemeClr val="lt1"/>
              </a:solidFill>
              <a:latin typeface="Twentieth Century"/>
              <a:ea typeface="Twentieth Century"/>
              <a:cs typeface="Twentieth Century"/>
              <a:sym typeface="Twentieth Century"/>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863</Words>
  <Application>Microsoft Office PowerPoint</Application>
  <PresentationFormat>On-screen Show (16:9)</PresentationFormat>
  <Paragraphs>108</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Courier New</vt:lpstr>
      <vt:lpstr>Noto Sans Symbols</vt:lpstr>
      <vt:lpstr>Rockwell</vt:lpstr>
      <vt:lpstr>Twentieth Century</vt:lpstr>
      <vt:lpstr>Office Theme</vt:lpstr>
      <vt:lpstr>Immersive Python Workshop Day 3</vt:lpstr>
      <vt:lpstr>Overall Goals of this Data Visualization Session</vt:lpstr>
      <vt:lpstr>What is Data Visualization?</vt:lpstr>
      <vt:lpstr>Python Data Visualization Resources</vt:lpstr>
      <vt:lpstr>Choosing a Data Visualization Library</vt:lpstr>
      <vt:lpstr>Packages for Tabular Data and Data Visualization</vt:lpstr>
      <vt:lpstr>Python for Automating Processes in Data Vis Desktop Software</vt:lpstr>
      <vt:lpstr>Learn What’s Possible and Get Ideas</vt:lpstr>
      <vt:lpstr>Good Data Visualization Practices</vt:lpstr>
      <vt:lpstr>Preparing for Data Visualization with Python</vt:lpstr>
      <vt:lpstr>Python Demo: Visualizing Data</vt:lpstr>
      <vt:lpstr>Required Packages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Immersive Python Workshop Day 3</dc:title>
  <cp:lastModifiedBy> </cp:lastModifiedBy>
  <cp:revision>1</cp:revision>
  <dcterms:modified xsi:type="dcterms:W3CDTF">2026-01-22T18:36:47Z</dcterms:modified>
</cp:coreProperties>
</file>