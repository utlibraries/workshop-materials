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Mukta"/>
      <p:regular r:id="rId32"/>
      <p:bold r:id="rId33"/>
    </p:embeddedFont>
    <p:embeddedFont>
      <p:font typeface="Covered By Your Grace"/>
      <p:regular r:id="rId34"/>
    </p:embeddedFont>
    <p:embeddedFont>
      <p:font typeface="Roboto Serif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B470BC-1CC3-4CC9-9262-4FB19FF58206}">
  <a:tblStyle styleId="{9BB470BC-1CC3-4CC9-9262-4FB19FF5820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ukta-bold.fntdata"/><Relationship Id="rId10" Type="http://schemas.openxmlformats.org/officeDocument/2006/relationships/slide" Target="slides/slide4.xml"/><Relationship Id="rId32" Type="http://schemas.openxmlformats.org/officeDocument/2006/relationships/font" Target="fonts/Mukta-regular.fntdata"/><Relationship Id="rId13" Type="http://schemas.openxmlformats.org/officeDocument/2006/relationships/slide" Target="slides/slide7.xml"/><Relationship Id="rId35" Type="http://schemas.openxmlformats.org/officeDocument/2006/relationships/font" Target="fonts/RobotoSerifMedium-regular.fntdata"/><Relationship Id="rId12" Type="http://schemas.openxmlformats.org/officeDocument/2006/relationships/slide" Target="slides/slide6.xml"/><Relationship Id="rId34" Type="http://schemas.openxmlformats.org/officeDocument/2006/relationships/font" Target="fonts/CoveredByYourGrace-regular.fntdata"/><Relationship Id="rId15" Type="http://schemas.openxmlformats.org/officeDocument/2006/relationships/slide" Target="slides/slide9.xml"/><Relationship Id="rId37" Type="http://schemas.openxmlformats.org/officeDocument/2006/relationships/font" Target="fonts/RobotoSerifMedium-italic.fntdata"/><Relationship Id="rId14" Type="http://schemas.openxmlformats.org/officeDocument/2006/relationships/slide" Target="slides/slide8.xml"/><Relationship Id="rId36" Type="http://schemas.openxmlformats.org/officeDocument/2006/relationships/font" Target="fonts/RobotoSerifMedium-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RobotoSerifMedium-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d2135f3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ad2135f32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d2135f323_0_32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3ad2135f323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400">
                <a:solidFill>
                  <a:schemeClr val="dk1"/>
                </a:solidFill>
                <a:highlight>
                  <a:schemeClr val="lt1"/>
                </a:highlight>
              </a:rPr>
              <a:t>Please ask the instructors to introduce themselves. </a:t>
            </a:r>
            <a:endParaRPr sz="1400">
              <a:solidFill>
                <a:schemeClr val="dk1"/>
              </a:solidFill>
              <a:highlight>
                <a:schemeClr val="lt1"/>
              </a:highlight>
            </a:endParaRPr>
          </a:p>
          <a:p>
            <a:pPr indent="0" lvl="0" marL="0" rtl="0" algn="l">
              <a:lnSpc>
                <a:spcPct val="115000"/>
              </a:lnSpc>
              <a:spcBef>
                <a:spcPts val="600"/>
              </a:spcBef>
              <a:spcAft>
                <a:spcPts val="0"/>
              </a:spcAft>
              <a:buClr>
                <a:schemeClr val="dk1"/>
              </a:buClr>
              <a:buSzPts val="1100"/>
              <a:buFont typeface="Arial"/>
              <a:buNone/>
            </a:pPr>
            <a:r>
              <a:rPr lang="en" sz="1400">
                <a:solidFill>
                  <a:schemeClr val="dk1"/>
                </a:solidFill>
                <a:highlight>
                  <a:schemeClr val="lt1"/>
                </a:highlight>
              </a:rPr>
              <a:t>Perhaps the helpers will indicate they are a helper by putting the word helper next to their name in the participants?</a:t>
            </a:r>
            <a:endParaRPr sz="1400">
              <a:solidFill>
                <a:schemeClr val="dk1"/>
              </a:solidFill>
              <a:highlight>
                <a:schemeClr val="lt1"/>
              </a:highlight>
            </a:endParaRPr>
          </a:p>
          <a:p>
            <a:pPr indent="0" lvl="0" marL="0" rtl="0" algn="l">
              <a:lnSpc>
                <a:spcPct val="115000"/>
              </a:lnSpc>
              <a:spcBef>
                <a:spcPts val="800"/>
              </a:spcBef>
              <a:spcAft>
                <a:spcPts val="0"/>
              </a:spcAft>
              <a:buClr>
                <a:schemeClr val="dk1"/>
              </a:buClr>
              <a:buSzPts val="1100"/>
              <a:buFont typeface="Arial"/>
              <a:buNone/>
            </a:pPr>
            <a:r>
              <a:t/>
            </a:r>
            <a:endParaRPr sz="1400">
              <a:solidFill>
                <a:schemeClr val="dk1"/>
              </a:solidFill>
              <a:highlight>
                <a:schemeClr val="lt1"/>
              </a:highlight>
            </a:endParaRPr>
          </a:p>
          <a:p>
            <a:pPr indent="0" lvl="0" marL="0" rtl="0" algn="l">
              <a:spcBef>
                <a:spcPts val="800"/>
              </a:spcBef>
              <a:spcAft>
                <a:spcPts val="0"/>
              </a:spcAft>
              <a:buClr>
                <a:schemeClr val="dk1"/>
              </a:buClr>
              <a:buSzPts val="1100"/>
              <a:buFont typeface="Arial"/>
              <a:buNone/>
            </a:pPr>
            <a:r>
              <a:rPr lang="en">
                <a:solidFill>
                  <a:schemeClr val="dk1"/>
                </a:solidFill>
              </a:rPr>
              <a:t>[[Following introduction, STOP SHARE, Allow Anna to take over PRESENTATION.REMINDER TO START RECORD….</a:t>
            </a:r>
            <a:endParaRPr sz="1400">
              <a:solidFill>
                <a:schemeClr val="dk1"/>
              </a:solidFill>
              <a:highlight>
                <a:srgbClr val="FFFFFF"/>
              </a:highlight>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d2135f323_0_1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ad2135f323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d2135f323_0_2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ad2135f32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d2135f323_0_2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ad2135f323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d2135f323_0_3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ad2135f323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are two workshop series that may interest you.</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One is the Data &amp; Donuts series. It’s held on Fridays and focuses on a </a:t>
            </a:r>
            <a:r>
              <a:rPr lang="en"/>
              <a:t>variety</a:t>
            </a:r>
            <a:r>
              <a:rPr lang="en"/>
              <a:t> of data-</a:t>
            </a:r>
            <a:r>
              <a:rPr lang="en"/>
              <a:t>related</a:t>
            </a:r>
            <a:r>
              <a:rPr lang="en"/>
              <a:t> topics.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Using AI is another series the library will host in the Spring. One of the </a:t>
            </a:r>
            <a:r>
              <a:rPr lang="en"/>
              <a:t>sessions</a:t>
            </a:r>
            <a:r>
              <a:rPr lang="en"/>
              <a:t> is about AI tools for coding and data.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d2135f323_0_5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ad2135f323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We also would like to introduce a code of conduct.</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welcoming and inclusive language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 respectful of different viewpoints and experiences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Gracefully accept constructive criticism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Focus on what is best for all of 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Show courtesy and respect towards each other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Please contact any of us who are instructors or helpers with any code of conduct concerns.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d2135f32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d2135f32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d2135f323_0_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ad2135f323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d2135f323_0_7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ad2135f323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d2135f323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ad2135f323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ad2135f323_0_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7647687d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b7647687d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b7647687d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d2135f323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ad2135f323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ad2135f323_0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d2135f323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ad2135f323_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ad2135f323_0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d2135f323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ad2135f323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ad2135f323_0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d2135f323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ad2135f323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ad2135f323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d2135f323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ad2135f323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Mac comes preinstalled with Python</a:t>
            </a:r>
            <a:endParaRPr/>
          </a:p>
        </p:txBody>
      </p:sp>
      <p:sp>
        <p:nvSpPr>
          <p:cNvPr id="223" name="Google Shape;223;g3ad2135f323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d2135f323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ad2135f323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ad2135f323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d2135f323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ad2135f323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ad2135f323_0_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d2135f323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ad2135f323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ad2135f323_0_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d2135f323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ad2135f323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ad2135f323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d2135f323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ad2135f323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ad2135f323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d2135f323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3ad2135f323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ad2135f323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d2135f323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ad2135f323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ad2135f323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d2135f323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d2135f323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50" name="Shape 50"/>
        <p:cNvGrpSpPr/>
        <p:nvPr/>
      </p:nvGrpSpPr>
      <p:grpSpPr>
        <a:xfrm>
          <a:off x="0" y="0"/>
          <a:ext cx="0" cy="0"/>
          <a:chOff x="0" y="0"/>
          <a:chExt cx="0" cy="0"/>
        </a:xfrm>
      </p:grpSpPr>
      <p:sp>
        <p:nvSpPr>
          <p:cNvPr id="51" name="Google Shape;51;p13"/>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52" name="Google Shape;52;p13"/>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3" name="Google Shape;53;p13"/>
          <p:cNvSpPr/>
          <p:nvPr/>
        </p:nvSpPr>
        <p:spPr>
          <a:xfrm>
            <a:off x="0" y="655733"/>
            <a:ext cx="9144000" cy="97800"/>
          </a:xfrm>
          <a:prstGeom prst="rect">
            <a:avLst/>
          </a:prstGeom>
          <a:solidFill>
            <a:srgbClr val="17365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 name="Google Shape;54;p13"/>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fontScale="70000" lnSpcReduction="20000"/>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8" name="Google Shape;58;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bit.ly/iwp-winter26-notes" TargetMode="External"/></Relationships>
</file>

<file path=ppt/slides/_rels/slide2.xml.rels><?xml version="1.0" encoding="UTF-8" standalone="yes"?><Relationships xmlns="http://schemas.openxmlformats.org/package/2006/relationships"><Relationship Id="rId10" Type="http://schemas.openxmlformats.org/officeDocument/2006/relationships/image" Target="../media/image14.jp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5.jpg"/><Relationship Id="rId9" Type="http://schemas.openxmlformats.org/officeDocument/2006/relationships/image" Target="../media/image8.jpg"/><Relationship Id="rId5" Type="http://schemas.openxmlformats.org/officeDocument/2006/relationships/image" Target="../media/image4.jpg"/><Relationship Id="rId6" Type="http://schemas.openxmlformats.org/officeDocument/2006/relationships/image" Target="../media/image11.jpg"/><Relationship Id="rId7" Type="http://schemas.openxmlformats.org/officeDocument/2006/relationships/image" Target="../media/image10.png"/><Relationship Id="rId8"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bit.ly/iwp-winter26-notes" TargetMode="External"/><Relationship Id="rId4" Type="http://schemas.openxmlformats.org/officeDocument/2006/relationships/hyperlink" Target="https://github.com/utlibraries/workshop-material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www.lib.utexas.edu/study-spaces-technology/scholars-lab" TargetMode="External"/><Relationship Id="rId4" Type="http://schemas.openxmlformats.org/officeDocument/2006/relationships/hyperlink" Target="https://guides.lib.utexas.edu/data-and-donuts" TargetMode="External"/><Relationship Id="rId5" Type="http://schemas.openxmlformats.org/officeDocument/2006/relationships/image" Target="../media/image7.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colab.research.google.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0" Type="http://schemas.openxmlformats.org/officeDocument/2006/relationships/hyperlink" Target="https://www.nature.com/articles/d41586-025-01241-6" TargetMode="External"/><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5.png"/><Relationship Id="rId9" Type="http://schemas.openxmlformats.org/officeDocument/2006/relationships/image" Target="../media/image19.png"/><Relationship Id="rId5" Type="http://schemas.openxmlformats.org/officeDocument/2006/relationships/image" Target="../media/image13.png"/><Relationship Id="rId6" Type="http://schemas.openxmlformats.org/officeDocument/2006/relationships/image" Target="../media/image30.png"/><Relationship Id="rId7" Type="http://schemas.openxmlformats.org/officeDocument/2006/relationships/image" Target="../media/image17.png"/><Relationship Id="rId8"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hyperlink" Target="https://research.google.com/colaboratory/faq.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hyperlink" Target="https://bit.ly/3Lud01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hyperlink" Target="https://bit.ly/3Lud01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tiny.cc/k1zv001" TargetMode="External"/><Relationship Id="rId4" Type="http://schemas.openxmlformats.org/officeDocument/2006/relationships/hyperlink" Target="https://www.python.org/downloads/" TargetMode="External"/><Relationship Id="rId5" Type="http://schemas.openxmlformats.org/officeDocument/2006/relationships/hyperlink" Target="https://www.anaconda.com/products/distributio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32.png"/><Relationship Id="rId13" Type="http://schemas.openxmlformats.org/officeDocument/2006/relationships/image" Target="../media/image29.png"/><Relationship Id="rId12" Type="http://schemas.openxmlformats.org/officeDocument/2006/relationships/image" Target="../media/image33.png"/><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jupyter.org/" TargetMode="External"/><Relationship Id="rId4" Type="http://schemas.openxmlformats.org/officeDocument/2006/relationships/hyperlink" Target="https://code.visualstudio.com/" TargetMode="External"/><Relationship Id="rId9" Type="http://schemas.openxmlformats.org/officeDocument/2006/relationships/image" Target="../media/image24.png"/><Relationship Id="rId5" Type="http://schemas.openxmlformats.org/officeDocument/2006/relationships/hyperlink" Target="https://pulsar-edit.dev/" TargetMode="External"/><Relationship Id="rId6" Type="http://schemas.openxmlformats.org/officeDocument/2006/relationships/hyperlink" Target="https://www.jetbrains.com/pycharm/download/" TargetMode="External"/><Relationship Id="rId7" Type="http://schemas.openxmlformats.org/officeDocument/2006/relationships/hyperlink" Target="https://www.spyder-ide.org/" TargetMode="External"/><Relationship Id="rId8"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hyperlink" Target="https://code.visualstudio.com/" TargetMode="External"/><Relationship Id="rId5" Type="http://schemas.openxmlformats.org/officeDocument/2006/relationships/image" Target="../media/image29.png"/></Relationships>
</file>

<file path=ppt/slides/_rels/slide22.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35.png"/><Relationship Id="rId12" Type="http://schemas.openxmlformats.org/officeDocument/2006/relationships/image" Target="../media/image36.png"/><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hyperlink" Target="https://stackoverflow.com/" TargetMode="External"/><Relationship Id="rId4" Type="http://schemas.openxmlformats.org/officeDocument/2006/relationships/hyperlink" Target="https://datacarpentry.org/python-ecology-lesson/" TargetMode="External"/><Relationship Id="rId9" Type="http://schemas.openxmlformats.org/officeDocument/2006/relationships/hyperlink" Target="https://colab.research.google.com/notebooks/intro.ipynb" TargetMode="External"/><Relationship Id="rId5" Type="http://schemas.openxmlformats.org/officeDocument/2006/relationships/hyperlink" Target="https://docs.python.org/3/library/index.html" TargetMode="External"/><Relationship Id="rId6" Type="http://schemas.openxmlformats.org/officeDocument/2006/relationships/hyperlink" Target="https://docs.python.org/3/tutorial/index.html" TargetMode="External"/><Relationship Id="rId7" Type="http://schemas.openxmlformats.org/officeDocument/2006/relationships/hyperlink" Target="https://www.linkedin.com/learning/topics/python" TargetMode="External"/><Relationship Id="rId8" Type="http://schemas.openxmlformats.org/officeDocument/2006/relationships/hyperlink" Target="https://stat.utexas.edu/training/software-short-cours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hyperlink" Target="https://www.python.org/downloads/" TargetMode="External"/><Relationship Id="rId4" Type="http://schemas.openxmlformats.org/officeDocument/2006/relationships/hyperlink" Target="https://code.visualstudio.com/download" TargetMode="External"/><Relationship Id="rId5" Type="http://schemas.openxmlformats.org/officeDocument/2006/relationships/hyperlink" Target="https://git-scm.com/downloads" TargetMode="External"/><Relationship Id="rId6" Type="http://schemas.openxmlformats.org/officeDocument/2006/relationships/hyperlink" Target="https://desktop.github.com/downloa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64" name="Shape 64"/>
        <p:cNvGrpSpPr/>
        <p:nvPr/>
      </p:nvGrpSpPr>
      <p:grpSpPr>
        <a:xfrm>
          <a:off x="0" y="0"/>
          <a:ext cx="0" cy="0"/>
          <a:chOff x="0" y="0"/>
          <a:chExt cx="0" cy="0"/>
        </a:xfrm>
      </p:grpSpPr>
      <p:sp>
        <p:nvSpPr>
          <p:cNvPr id="65" name="Google Shape;65;p15"/>
          <p:cNvSpPr/>
          <p:nvPr/>
        </p:nvSpPr>
        <p:spPr>
          <a:xfrm>
            <a:off x="6699600" y="4137650"/>
            <a:ext cx="2306400" cy="723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i="0" sz="1100" u="none" cap="none" strike="noStrike">
              <a:solidFill>
                <a:srgbClr val="000000"/>
              </a:solidFill>
              <a:latin typeface="Rockwell"/>
              <a:ea typeface="Rockwell"/>
              <a:cs typeface="Rockwell"/>
              <a:sym typeface="Rockwell"/>
            </a:endParaRPr>
          </a:p>
        </p:txBody>
      </p:sp>
      <p:pic>
        <p:nvPicPr>
          <p:cNvPr id="66" name="Google Shape;66;p15"/>
          <p:cNvPicPr preferRelativeResize="0"/>
          <p:nvPr/>
        </p:nvPicPr>
        <p:blipFill>
          <a:blip r:embed="rId3">
            <a:alphaModFix/>
          </a:blip>
          <a:stretch>
            <a:fillRect/>
          </a:stretch>
        </p:blipFill>
        <p:spPr>
          <a:xfrm>
            <a:off x="6761481" y="4164319"/>
            <a:ext cx="717702" cy="682025"/>
          </a:xfrm>
          <a:prstGeom prst="rect">
            <a:avLst/>
          </a:prstGeom>
          <a:noFill/>
          <a:ln>
            <a:noFill/>
          </a:ln>
        </p:spPr>
      </p:pic>
      <p:sp>
        <p:nvSpPr>
          <p:cNvPr id="67" name="Google Shape;67;p15"/>
          <p:cNvSpPr txBox="1"/>
          <p:nvPr>
            <p:ph idx="1" type="subTitle"/>
          </p:nvPr>
        </p:nvSpPr>
        <p:spPr>
          <a:xfrm>
            <a:off x="384250" y="744875"/>
            <a:ext cx="8520600" cy="12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600">
                <a:solidFill>
                  <a:schemeClr val="lt1"/>
                </a:solidFill>
                <a:latin typeface="Mukta"/>
                <a:ea typeface="Mukta"/>
                <a:cs typeface="Mukta"/>
                <a:sym typeface="Mukta"/>
              </a:rPr>
              <a:t>Immersive Python Workshop</a:t>
            </a:r>
            <a:endParaRPr b="1" sz="4600">
              <a:solidFill>
                <a:schemeClr val="lt1"/>
              </a:solidFill>
              <a:latin typeface="Mukta"/>
              <a:ea typeface="Mukta"/>
              <a:cs typeface="Mukta"/>
              <a:sym typeface="Mukta"/>
            </a:endParaRPr>
          </a:p>
          <a:p>
            <a:pPr indent="0" lvl="0" marL="0" rtl="0" algn="ctr">
              <a:spcBef>
                <a:spcPts val="0"/>
              </a:spcBef>
              <a:spcAft>
                <a:spcPts val="0"/>
              </a:spcAft>
              <a:buClr>
                <a:schemeClr val="dk1"/>
              </a:buClr>
              <a:buSzPts val="2800"/>
              <a:buFont typeface="Arial"/>
              <a:buNone/>
            </a:pPr>
            <a:r>
              <a:rPr b="1" lang="en" sz="2600">
                <a:solidFill>
                  <a:schemeClr val="lt2"/>
                </a:solidFill>
                <a:latin typeface="Mukta"/>
                <a:ea typeface="Mukta"/>
                <a:cs typeface="Mukta"/>
                <a:sym typeface="Mukta"/>
              </a:rPr>
              <a:t>January 7-9</a:t>
            </a:r>
            <a:r>
              <a:rPr b="1" lang="en" sz="2600">
                <a:solidFill>
                  <a:schemeClr val="lt2"/>
                </a:solidFill>
                <a:latin typeface="Mukta"/>
                <a:ea typeface="Mukta"/>
                <a:cs typeface="Mukta"/>
                <a:sym typeface="Mukta"/>
              </a:rPr>
              <a:t>, 2026</a:t>
            </a:r>
            <a:endParaRPr b="1" sz="4300">
              <a:solidFill>
                <a:schemeClr val="lt1"/>
              </a:solidFill>
              <a:latin typeface="Mukta"/>
              <a:ea typeface="Mukta"/>
              <a:cs typeface="Mukta"/>
              <a:sym typeface="Mukta"/>
            </a:endParaRPr>
          </a:p>
        </p:txBody>
      </p:sp>
      <p:sp>
        <p:nvSpPr>
          <p:cNvPr id="68" name="Google Shape;68;p15"/>
          <p:cNvSpPr txBox="1"/>
          <p:nvPr>
            <p:ph idx="1" type="subTitle"/>
          </p:nvPr>
        </p:nvSpPr>
        <p:spPr>
          <a:xfrm>
            <a:off x="2520600" y="4012650"/>
            <a:ext cx="4255200" cy="12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Presented by the </a:t>
            </a:r>
            <a:endParaRPr b="1" sz="1600">
              <a:solidFill>
                <a:schemeClr val="lt1"/>
              </a:solidFill>
              <a:latin typeface="Mukta"/>
              <a:ea typeface="Mukta"/>
              <a:cs typeface="Mukta"/>
              <a:sym typeface="Mukta"/>
            </a:endParaRPr>
          </a:p>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UT Libraries &amp;</a:t>
            </a:r>
            <a:endParaRPr b="1" sz="1600">
              <a:solidFill>
                <a:schemeClr val="lt1"/>
              </a:solidFill>
              <a:latin typeface="Mukta"/>
              <a:ea typeface="Mukta"/>
              <a:cs typeface="Mukta"/>
              <a:sym typeface="Mukta"/>
            </a:endParaRPr>
          </a:p>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Open Source Program Office (UT-OSPO)</a:t>
            </a:r>
            <a:endParaRPr b="1" sz="1600">
              <a:solidFill>
                <a:schemeClr val="lt1"/>
              </a:solidFill>
              <a:latin typeface="Mukta"/>
              <a:ea typeface="Mukta"/>
              <a:cs typeface="Mukta"/>
              <a:sym typeface="Mukta"/>
            </a:endParaRPr>
          </a:p>
        </p:txBody>
      </p:sp>
      <p:grpSp>
        <p:nvGrpSpPr>
          <p:cNvPr id="69" name="Google Shape;69;p15"/>
          <p:cNvGrpSpPr/>
          <p:nvPr/>
        </p:nvGrpSpPr>
        <p:grpSpPr>
          <a:xfrm>
            <a:off x="151305" y="4116793"/>
            <a:ext cx="2499120" cy="723814"/>
            <a:chOff x="4618653" y="5730341"/>
            <a:chExt cx="3471000" cy="928800"/>
          </a:xfrm>
        </p:grpSpPr>
        <p:sp>
          <p:nvSpPr>
            <p:cNvPr id="70" name="Google Shape;70;p15"/>
            <p:cNvSpPr/>
            <p:nvPr/>
          </p:nvSpPr>
          <p:spPr>
            <a:xfrm>
              <a:off x="4618653" y="5730341"/>
              <a:ext cx="3471000" cy="928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i="0" sz="1100" u="none" cap="none" strike="noStrike">
                <a:solidFill>
                  <a:srgbClr val="000000"/>
                </a:solidFill>
                <a:latin typeface="Rockwell"/>
                <a:ea typeface="Rockwell"/>
                <a:cs typeface="Rockwell"/>
                <a:sym typeface="Rockwell"/>
              </a:endParaRPr>
            </a:p>
          </p:txBody>
        </p:sp>
        <p:pic>
          <p:nvPicPr>
            <p:cNvPr id="71" name="Google Shape;71;p15"/>
            <p:cNvPicPr preferRelativeResize="0"/>
            <p:nvPr/>
          </p:nvPicPr>
          <p:blipFill rotWithShape="1">
            <a:blip r:embed="rId4">
              <a:alphaModFix/>
            </a:blip>
            <a:srcRect b="0" l="0" r="0" t="0"/>
            <a:stretch/>
          </p:blipFill>
          <p:spPr>
            <a:xfrm>
              <a:off x="4982989" y="5917562"/>
              <a:ext cx="2910269" cy="610218"/>
            </a:xfrm>
            <a:prstGeom prst="rect">
              <a:avLst/>
            </a:prstGeom>
            <a:noFill/>
            <a:ln>
              <a:noFill/>
            </a:ln>
          </p:spPr>
        </p:pic>
      </p:grpSp>
      <p:sp>
        <p:nvSpPr>
          <p:cNvPr id="72" name="Google Shape;72;p15"/>
          <p:cNvSpPr txBox="1"/>
          <p:nvPr/>
        </p:nvSpPr>
        <p:spPr>
          <a:xfrm>
            <a:off x="7477107" y="4092294"/>
            <a:ext cx="14424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Twentieth Century"/>
                <a:ea typeface="Twentieth Century"/>
                <a:cs typeface="Twentieth Century"/>
                <a:sym typeface="Twentieth Century"/>
              </a:rPr>
              <a:t>UT-OSPO</a:t>
            </a:r>
            <a:endParaRPr b="1" sz="2000">
              <a:latin typeface="Twentieth Century"/>
              <a:ea typeface="Twentieth Century"/>
              <a:cs typeface="Twentieth Century"/>
              <a:sym typeface="Twentieth Century"/>
            </a:endParaRPr>
          </a:p>
          <a:p>
            <a:pPr indent="0" lvl="0" marL="0" rtl="0" algn="ctr">
              <a:spcBef>
                <a:spcPts val="0"/>
              </a:spcBef>
              <a:spcAft>
                <a:spcPts val="0"/>
              </a:spcAft>
              <a:buNone/>
            </a:pPr>
            <a:r>
              <a:rPr lang="en" sz="1000">
                <a:latin typeface="Twentieth Century"/>
                <a:ea typeface="Twentieth Century"/>
                <a:cs typeface="Twentieth Century"/>
                <a:sym typeface="Twentieth Century"/>
              </a:rPr>
              <a:t>UT Austin Open Source Program Office</a:t>
            </a:r>
            <a:endParaRPr sz="1000">
              <a:latin typeface="Twentieth Century"/>
              <a:ea typeface="Twentieth Century"/>
              <a:cs typeface="Twentieth Century"/>
              <a:sym typeface="Twentieth Century"/>
            </a:endParaRPr>
          </a:p>
        </p:txBody>
      </p:sp>
      <p:sp>
        <p:nvSpPr>
          <p:cNvPr id="73" name="Google Shape;73;p15"/>
          <p:cNvSpPr txBox="1"/>
          <p:nvPr/>
        </p:nvSpPr>
        <p:spPr>
          <a:xfrm>
            <a:off x="6805979" y="4817579"/>
            <a:ext cx="2223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rgbClr val="FFFFFF"/>
                </a:solidFill>
                <a:latin typeface="Calibri"/>
                <a:ea typeface="Calibri"/>
                <a:cs typeface="Calibri"/>
                <a:sym typeface="Calibri"/>
              </a:rPr>
              <a:t>Sloan grant number: </a:t>
            </a:r>
            <a:r>
              <a:rPr b="1" lang="en" sz="1000">
                <a:solidFill>
                  <a:srgbClr val="FFFFFF"/>
                </a:solidFill>
                <a:latin typeface="Calibri"/>
                <a:ea typeface="Calibri"/>
                <a:cs typeface="Calibri"/>
                <a:sym typeface="Calibri"/>
              </a:rPr>
              <a:t>G-2023-20944</a:t>
            </a:r>
            <a:endParaRPr b="1" sz="1300">
              <a:solidFill>
                <a:srgbClr val="FFFFFF"/>
              </a:solidFill>
            </a:endParaRPr>
          </a:p>
        </p:txBody>
      </p:sp>
      <p:sp>
        <p:nvSpPr>
          <p:cNvPr id="74" name="Google Shape;74;p15"/>
          <p:cNvSpPr txBox="1"/>
          <p:nvPr/>
        </p:nvSpPr>
        <p:spPr>
          <a:xfrm>
            <a:off x="2472000" y="2479000"/>
            <a:ext cx="4352400" cy="1166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3700">
                <a:solidFill>
                  <a:schemeClr val="lt1"/>
                </a:solidFill>
              </a:rPr>
              <a:t>Day 2</a:t>
            </a:r>
            <a:endParaRPr b="1" sz="3700">
              <a:solidFill>
                <a:schemeClr val="lt1"/>
              </a:solidFill>
            </a:endParaRPr>
          </a:p>
          <a:p>
            <a:pPr indent="0" lvl="0" marL="0" rtl="0" algn="ctr">
              <a:spcBef>
                <a:spcPts val="0"/>
              </a:spcBef>
              <a:spcAft>
                <a:spcPts val="0"/>
              </a:spcAft>
              <a:buNone/>
            </a:pPr>
            <a:r>
              <a:rPr lang="en" sz="2500">
                <a:solidFill>
                  <a:schemeClr val="lt1"/>
                </a:solidFill>
              </a:rPr>
              <a:t>1/8/2026</a:t>
            </a:r>
            <a:endParaRPr sz="2500">
              <a:solidFill>
                <a:schemeClr val="lt1"/>
              </a:solidFill>
            </a:endParaRPr>
          </a:p>
        </p:txBody>
      </p:sp>
      <p:sp>
        <p:nvSpPr>
          <p:cNvPr id="75" name="Google Shape;75;p15"/>
          <p:cNvSpPr txBox="1"/>
          <p:nvPr/>
        </p:nvSpPr>
        <p:spPr>
          <a:xfrm>
            <a:off x="6292525" y="2571750"/>
            <a:ext cx="2626800" cy="1236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274300">
            <a:noAutofit/>
          </a:bodyPr>
          <a:lstStyle/>
          <a:p>
            <a:pPr indent="0" lvl="0" marL="0" rtl="0" algn="ctr">
              <a:spcBef>
                <a:spcPts val="0"/>
              </a:spcBef>
              <a:spcAft>
                <a:spcPts val="0"/>
              </a:spcAft>
              <a:buNone/>
            </a:pPr>
            <a:r>
              <a:rPr lang="en" sz="2000">
                <a:solidFill>
                  <a:schemeClr val="dk2"/>
                </a:solidFill>
                <a:latin typeface="Twentieth Century"/>
                <a:ea typeface="Twentieth Century"/>
                <a:cs typeface="Twentieth Century"/>
                <a:sym typeface="Twentieth Century"/>
              </a:rPr>
              <a:t>Access shared notes</a:t>
            </a:r>
            <a:endParaRPr sz="2000">
              <a:solidFill>
                <a:schemeClr val="dk2"/>
              </a:solidFill>
              <a:latin typeface="Twentieth Century"/>
              <a:ea typeface="Twentieth Century"/>
              <a:cs typeface="Twentieth Century"/>
              <a:sym typeface="Twentieth Century"/>
            </a:endParaRPr>
          </a:p>
          <a:p>
            <a:pPr indent="0" lvl="0" marL="0" rtl="0" algn="ctr">
              <a:spcBef>
                <a:spcPts val="0"/>
              </a:spcBef>
              <a:spcAft>
                <a:spcPts val="0"/>
              </a:spcAft>
              <a:buNone/>
            </a:pPr>
            <a:r>
              <a:rPr lang="en" sz="1300" u="sng">
                <a:solidFill>
                  <a:schemeClr val="hlink"/>
                </a:solidFill>
                <a:latin typeface="Twentieth Century"/>
                <a:ea typeface="Twentieth Century"/>
                <a:cs typeface="Twentieth Century"/>
                <a:sym typeface="Twentieth Century"/>
                <a:hlinkClick r:id="rId5"/>
              </a:rPr>
              <a:t>https://bit.ly/iwp-winter26-notes</a:t>
            </a:r>
            <a:r>
              <a:rPr lang="en" sz="1300">
                <a:solidFill>
                  <a:schemeClr val="dk2"/>
                </a:solidFill>
                <a:latin typeface="Twentieth Century"/>
                <a:ea typeface="Twentieth Century"/>
                <a:cs typeface="Twentieth Century"/>
                <a:sym typeface="Twentieth Century"/>
              </a:rPr>
              <a:t> </a:t>
            </a:r>
            <a:endParaRPr sz="1300">
              <a:solidFill>
                <a:schemeClr val="dk2"/>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sz="3000">
                <a:solidFill>
                  <a:schemeClr val="dk1"/>
                </a:solidFill>
                <a:latin typeface="Trebuchet MS"/>
                <a:ea typeface="Trebuchet MS"/>
                <a:cs typeface="Trebuchet MS"/>
                <a:sym typeface="Trebuchet MS"/>
              </a:rPr>
              <a:t>Instruction Team</a:t>
            </a:r>
            <a:endParaRPr sz="3000">
              <a:latin typeface="Trebuchet MS"/>
              <a:ea typeface="Trebuchet MS"/>
              <a:cs typeface="Trebuchet MS"/>
              <a:sym typeface="Trebuchet MS"/>
            </a:endParaRPr>
          </a:p>
        </p:txBody>
      </p:sp>
      <p:sp>
        <p:nvSpPr>
          <p:cNvPr id="81" name="Google Shape;81;p16"/>
          <p:cNvSpPr txBox="1"/>
          <p:nvPr/>
        </p:nvSpPr>
        <p:spPr>
          <a:xfrm>
            <a:off x="617411" y="2507340"/>
            <a:ext cx="17172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Communication &amp; Information Librarian</a:t>
            </a:r>
            <a:endParaRPr sz="912">
              <a:solidFill>
                <a:srgbClr val="121212"/>
              </a:solidFill>
              <a:latin typeface="Roboto Serif Medium"/>
              <a:ea typeface="Roboto Serif Medium"/>
              <a:cs typeface="Roboto Serif Medium"/>
              <a:sym typeface="Roboto Serif Medium"/>
            </a:endParaRPr>
          </a:p>
        </p:txBody>
      </p:sp>
      <p:sp>
        <p:nvSpPr>
          <p:cNvPr id="82" name="Google Shape;82;p16"/>
          <p:cNvSpPr txBox="1"/>
          <p:nvPr/>
        </p:nvSpPr>
        <p:spPr>
          <a:xfrm>
            <a:off x="2575539" y="2507338"/>
            <a:ext cx="1788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Research Data Coordinator</a:t>
            </a:r>
            <a:endParaRPr sz="912">
              <a:solidFill>
                <a:srgbClr val="121212"/>
              </a:solidFill>
              <a:latin typeface="Roboto Serif Medium"/>
              <a:ea typeface="Roboto Serif Medium"/>
              <a:cs typeface="Roboto Serif Medium"/>
              <a:sym typeface="Roboto Serif Medium"/>
            </a:endParaRPr>
          </a:p>
        </p:txBody>
      </p:sp>
      <p:sp>
        <p:nvSpPr>
          <p:cNvPr id="83" name="Google Shape;83;p16"/>
          <p:cNvSpPr txBox="1"/>
          <p:nvPr/>
        </p:nvSpPr>
        <p:spPr>
          <a:xfrm>
            <a:off x="4696272" y="2507340"/>
            <a:ext cx="1734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European Studies and Linguistics Librarian</a:t>
            </a:r>
            <a:endParaRPr sz="912">
              <a:solidFill>
                <a:srgbClr val="121212"/>
              </a:solidFill>
              <a:latin typeface="Roboto Serif Medium"/>
              <a:ea typeface="Roboto Serif Medium"/>
              <a:cs typeface="Roboto Serif Medium"/>
              <a:sym typeface="Roboto Serif Medium"/>
            </a:endParaRPr>
          </a:p>
        </p:txBody>
      </p:sp>
      <p:sp>
        <p:nvSpPr>
          <p:cNvPr id="84" name="Google Shape;84;p16"/>
          <p:cNvSpPr txBox="1"/>
          <p:nvPr/>
        </p:nvSpPr>
        <p:spPr>
          <a:xfrm>
            <a:off x="6631871" y="2507340"/>
            <a:ext cx="20013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Digital Processing Archivist</a:t>
            </a:r>
            <a:endParaRPr sz="912">
              <a:solidFill>
                <a:srgbClr val="121212"/>
              </a:solidFill>
              <a:latin typeface="Roboto Serif Medium"/>
              <a:ea typeface="Roboto Serif Medium"/>
              <a:cs typeface="Roboto Serif Medium"/>
              <a:sym typeface="Roboto Serif Medium"/>
            </a:endParaRPr>
          </a:p>
        </p:txBody>
      </p:sp>
      <p:sp>
        <p:nvSpPr>
          <p:cNvPr id="85" name="Google Shape;85;p16"/>
          <p:cNvSpPr txBox="1"/>
          <p:nvPr/>
        </p:nvSpPr>
        <p:spPr>
          <a:xfrm>
            <a:off x="543242" y="2267672"/>
            <a:ext cx="18396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Meryl Brodsky</a:t>
            </a:r>
            <a:endParaRPr sz="1825">
              <a:solidFill>
                <a:srgbClr val="121212"/>
              </a:solidFill>
              <a:latin typeface="Covered By Your Grace"/>
              <a:ea typeface="Covered By Your Grace"/>
              <a:cs typeface="Covered By Your Grace"/>
              <a:sym typeface="Covered By Your Grace"/>
            </a:endParaRPr>
          </a:p>
        </p:txBody>
      </p:sp>
      <p:sp>
        <p:nvSpPr>
          <p:cNvPr id="86" name="Google Shape;86;p16"/>
          <p:cNvSpPr txBox="1"/>
          <p:nvPr/>
        </p:nvSpPr>
        <p:spPr>
          <a:xfrm>
            <a:off x="2556839" y="2267672"/>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Bryan Gee</a:t>
            </a:r>
            <a:endParaRPr sz="1825">
              <a:solidFill>
                <a:srgbClr val="121212"/>
              </a:solidFill>
              <a:latin typeface="Covered By Your Grace"/>
              <a:ea typeface="Covered By Your Grace"/>
              <a:cs typeface="Covered By Your Grace"/>
              <a:sym typeface="Covered By Your Grace"/>
            </a:endParaRPr>
          </a:p>
        </p:txBody>
      </p:sp>
      <p:sp>
        <p:nvSpPr>
          <p:cNvPr id="87" name="Google Shape;87;p16"/>
          <p:cNvSpPr txBox="1"/>
          <p:nvPr/>
        </p:nvSpPr>
        <p:spPr>
          <a:xfrm>
            <a:off x="4613613" y="2267672"/>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Ian Goodale</a:t>
            </a:r>
            <a:endParaRPr sz="1825">
              <a:solidFill>
                <a:srgbClr val="121212"/>
              </a:solidFill>
              <a:latin typeface="Covered By Your Grace"/>
              <a:ea typeface="Covered By Your Grace"/>
              <a:cs typeface="Covered By Your Grace"/>
              <a:sym typeface="Covered By Your Grace"/>
            </a:endParaRPr>
          </a:p>
        </p:txBody>
      </p:sp>
      <p:sp>
        <p:nvSpPr>
          <p:cNvPr id="88" name="Google Shape;88;p16"/>
          <p:cNvSpPr txBox="1"/>
          <p:nvPr/>
        </p:nvSpPr>
        <p:spPr>
          <a:xfrm>
            <a:off x="6693340" y="2267672"/>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Jeremy Thompson</a:t>
            </a:r>
            <a:endParaRPr sz="1825">
              <a:solidFill>
                <a:srgbClr val="121212"/>
              </a:solidFill>
              <a:latin typeface="Covered By Your Grace"/>
              <a:ea typeface="Covered By Your Grace"/>
              <a:cs typeface="Covered By Your Grace"/>
              <a:sym typeface="Covered By Your Grace"/>
            </a:endParaRPr>
          </a:p>
        </p:txBody>
      </p:sp>
      <p:sp>
        <p:nvSpPr>
          <p:cNvPr id="89" name="Google Shape;89;p16"/>
          <p:cNvSpPr txBox="1"/>
          <p:nvPr/>
        </p:nvSpPr>
        <p:spPr>
          <a:xfrm>
            <a:off x="642784" y="4550861"/>
            <a:ext cx="17172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Scholars Lab Librarian</a:t>
            </a:r>
            <a:endParaRPr sz="912">
              <a:solidFill>
                <a:srgbClr val="121212"/>
              </a:solidFill>
              <a:latin typeface="Roboto Serif Medium"/>
              <a:ea typeface="Roboto Serif Medium"/>
              <a:cs typeface="Roboto Serif Medium"/>
              <a:sym typeface="Roboto Serif Medium"/>
            </a:endParaRPr>
          </a:p>
        </p:txBody>
      </p:sp>
      <p:sp>
        <p:nvSpPr>
          <p:cNvPr id="90" name="Google Shape;90;p16"/>
          <p:cNvSpPr txBox="1"/>
          <p:nvPr/>
        </p:nvSpPr>
        <p:spPr>
          <a:xfrm>
            <a:off x="2600912" y="4550859"/>
            <a:ext cx="1788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GIS &amp; Geospatial Data Coordinator</a:t>
            </a:r>
            <a:endParaRPr sz="912">
              <a:solidFill>
                <a:srgbClr val="121212"/>
              </a:solidFill>
              <a:latin typeface="Roboto Serif Medium"/>
              <a:ea typeface="Roboto Serif Medium"/>
              <a:cs typeface="Roboto Serif Medium"/>
              <a:sym typeface="Roboto Serif Medium"/>
            </a:endParaRPr>
          </a:p>
        </p:txBody>
      </p:sp>
      <p:sp>
        <p:nvSpPr>
          <p:cNvPr id="91" name="Google Shape;91;p16"/>
          <p:cNvSpPr txBox="1"/>
          <p:nvPr/>
        </p:nvSpPr>
        <p:spPr>
          <a:xfrm>
            <a:off x="4721645" y="4550861"/>
            <a:ext cx="1734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Head of Research Data Services</a:t>
            </a:r>
            <a:endParaRPr sz="912">
              <a:solidFill>
                <a:srgbClr val="121212"/>
              </a:solidFill>
              <a:latin typeface="Roboto Serif Medium"/>
              <a:ea typeface="Roboto Serif Medium"/>
              <a:cs typeface="Roboto Serif Medium"/>
              <a:sym typeface="Roboto Serif Medium"/>
            </a:endParaRPr>
          </a:p>
        </p:txBody>
      </p:sp>
      <p:sp>
        <p:nvSpPr>
          <p:cNvPr id="92" name="Google Shape;92;p16"/>
          <p:cNvSpPr txBox="1"/>
          <p:nvPr/>
        </p:nvSpPr>
        <p:spPr>
          <a:xfrm>
            <a:off x="568616" y="4311193"/>
            <a:ext cx="18396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Karina Sanchez</a:t>
            </a:r>
            <a:endParaRPr sz="1825">
              <a:solidFill>
                <a:srgbClr val="121212"/>
              </a:solidFill>
              <a:latin typeface="Covered By Your Grace"/>
              <a:ea typeface="Covered By Your Grace"/>
              <a:cs typeface="Covered By Your Grace"/>
              <a:sym typeface="Covered By Your Grace"/>
            </a:endParaRPr>
          </a:p>
        </p:txBody>
      </p:sp>
      <p:sp>
        <p:nvSpPr>
          <p:cNvPr id="93" name="Google Shape;93;p16"/>
          <p:cNvSpPr txBox="1"/>
          <p:nvPr/>
        </p:nvSpPr>
        <p:spPr>
          <a:xfrm>
            <a:off x="2582212" y="4311193"/>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Alex Marden</a:t>
            </a:r>
            <a:endParaRPr sz="1825">
              <a:solidFill>
                <a:srgbClr val="121212"/>
              </a:solidFill>
              <a:latin typeface="Covered By Your Grace"/>
              <a:ea typeface="Covered By Your Grace"/>
              <a:cs typeface="Covered By Your Grace"/>
              <a:sym typeface="Covered By Your Grace"/>
            </a:endParaRPr>
          </a:p>
        </p:txBody>
      </p:sp>
      <p:sp>
        <p:nvSpPr>
          <p:cNvPr id="94" name="Google Shape;94;p16"/>
          <p:cNvSpPr txBox="1"/>
          <p:nvPr/>
        </p:nvSpPr>
        <p:spPr>
          <a:xfrm>
            <a:off x="4638987" y="4311193"/>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Michael Shensky</a:t>
            </a:r>
            <a:endParaRPr sz="1825">
              <a:solidFill>
                <a:srgbClr val="121212"/>
              </a:solidFill>
              <a:latin typeface="Covered By Your Grace"/>
              <a:ea typeface="Covered By Your Grace"/>
              <a:cs typeface="Covered By Your Grace"/>
              <a:sym typeface="Covered By Your Grace"/>
            </a:endParaRPr>
          </a:p>
        </p:txBody>
      </p:sp>
      <p:pic>
        <p:nvPicPr>
          <p:cNvPr id="95" name="Google Shape;95;p16" title="ian_head.jpg"/>
          <p:cNvPicPr preferRelativeResize="0"/>
          <p:nvPr/>
        </p:nvPicPr>
        <p:blipFill>
          <a:blip r:embed="rId3">
            <a:alphaModFix/>
          </a:blip>
          <a:stretch>
            <a:fillRect/>
          </a:stretch>
        </p:blipFill>
        <p:spPr>
          <a:xfrm>
            <a:off x="4895264" y="930625"/>
            <a:ext cx="1336063" cy="1336063"/>
          </a:xfrm>
          <a:prstGeom prst="rect">
            <a:avLst/>
          </a:prstGeom>
          <a:noFill/>
          <a:ln>
            <a:noFill/>
          </a:ln>
        </p:spPr>
      </p:pic>
      <p:pic>
        <p:nvPicPr>
          <p:cNvPr id="96" name="Google Shape;96;p16" title="Meryl-head.jpeg"/>
          <p:cNvPicPr preferRelativeResize="0"/>
          <p:nvPr/>
        </p:nvPicPr>
        <p:blipFill rotWithShape="1">
          <a:blip r:embed="rId4">
            <a:alphaModFix/>
          </a:blip>
          <a:srcRect b="11645" l="0" r="0" t="0"/>
          <a:stretch/>
        </p:blipFill>
        <p:spPr>
          <a:xfrm>
            <a:off x="1008772" y="1002900"/>
            <a:ext cx="984879" cy="1264776"/>
          </a:xfrm>
          <a:prstGeom prst="rect">
            <a:avLst/>
          </a:prstGeom>
          <a:noFill/>
          <a:ln>
            <a:noFill/>
          </a:ln>
        </p:spPr>
      </p:pic>
      <p:pic>
        <p:nvPicPr>
          <p:cNvPr id="97" name="Google Shape;97;p16"/>
          <p:cNvPicPr preferRelativeResize="0"/>
          <p:nvPr/>
        </p:nvPicPr>
        <p:blipFill>
          <a:blip r:embed="rId5">
            <a:alphaModFix/>
          </a:blip>
          <a:stretch>
            <a:fillRect/>
          </a:stretch>
        </p:blipFill>
        <p:spPr>
          <a:xfrm>
            <a:off x="4836083" y="3093923"/>
            <a:ext cx="1484182" cy="1181996"/>
          </a:xfrm>
          <a:prstGeom prst="rect">
            <a:avLst/>
          </a:prstGeom>
          <a:noFill/>
          <a:ln>
            <a:noFill/>
          </a:ln>
        </p:spPr>
      </p:pic>
      <p:pic>
        <p:nvPicPr>
          <p:cNvPr descr="2024" id="98" name="Google Shape;98;p16"/>
          <p:cNvPicPr preferRelativeResize="0"/>
          <p:nvPr/>
        </p:nvPicPr>
        <p:blipFill>
          <a:blip r:embed="rId6">
            <a:alphaModFix/>
          </a:blip>
          <a:stretch>
            <a:fillRect/>
          </a:stretch>
        </p:blipFill>
        <p:spPr>
          <a:xfrm>
            <a:off x="2896898" y="1002900"/>
            <a:ext cx="1264769" cy="1264769"/>
          </a:xfrm>
          <a:prstGeom prst="rect">
            <a:avLst/>
          </a:prstGeom>
          <a:noFill/>
          <a:ln>
            <a:noFill/>
          </a:ln>
        </p:spPr>
      </p:pic>
      <p:pic>
        <p:nvPicPr>
          <p:cNvPr id="99" name="Google Shape;99;p16"/>
          <p:cNvPicPr preferRelativeResize="0"/>
          <p:nvPr/>
        </p:nvPicPr>
        <p:blipFill rotWithShape="1">
          <a:blip r:embed="rId7">
            <a:alphaModFix/>
          </a:blip>
          <a:srcRect b="11785" l="0" r="0" t="0"/>
          <a:stretch/>
        </p:blipFill>
        <p:spPr>
          <a:xfrm>
            <a:off x="2900850" y="3097354"/>
            <a:ext cx="1336049" cy="1178573"/>
          </a:xfrm>
          <a:prstGeom prst="rect">
            <a:avLst/>
          </a:prstGeom>
          <a:noFill/>
          <a:ln>
            <a:noFill/>
          </a:ln>
        </p:spPr>
      </p:pic>
      <p:sp>
        <p:nvSpPr>
          <p:cNvPr id="100" name="Google Shape;100;p16"/>
          <p:cNvSpPr txBox="1"/>
          <p:nvPr/>
        </p:nvSpPr>
        <p:spPr>
          <a:xfrm>
            <a:off x="6924987" y="4311193"/>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Anna McGilvray</a:t>
            </a:r>
            <a:endParaRPr sz="1825">
              <a:solidFill>
                <a:srgbClr val="121212"/>
              </a:solidFill>
              <a:latin typeface="Covered By Your Grace"/>
              <a:ea typeface="Covered By Your Grace"/>
              <a:cs typeface="Covered By Your Grace"/>
              <a:sym typeface="Covered By Your Grace"/>
            </a:endParaRPr>
          </a:p>
        </p:txBody>
      </p:sp>
      <p:sp>
        <p:nvSpPr>
          <p:cNvPr id="101" name="Google Shape;101;p16"/>
          <p:cNvSpPr txBox="1"/>
          <p:nvPr/>
        </p:nvSpPr>
        <p:spPr>
          <a:xfrm>
            <a:off x="6780172" y="4550850"/>
            <a:ext cx="18783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Physical and Computational Sciences Librarian</a:t>
            </a:r>
            <a:endParaRPr sz="912">
              <a:solidFill>
                <a:srgbClr val="121212"/>
              </a:solidFill>
              <a:latin typeface="Roboto Serif Medium"/>
              <a:ea typeface="Roboto Serif Medium"/>
              <a:cs typeface="Roboto Serif Medium"/>
              <a:sym typeface="Roboto Serif Medium"/>
            </a:endParaRPr>
          </a:p>
        </p:txBody>
      </p:sp>
      <p:pic>
        <p:nvPicPr>
          <p:cNvPr id="102" name="Google Shape;102;p16" title="Headshot-Jeremy_2019-A.jpg"/>
          <p:cNvPicPr preferRelativeResize="0"/>
          <p:nvPr/>
        </p:nvPicPr>
        <p:blipFill>
          <a:blip r:embed="rId8">
            <a:alphaModFix/>
          </a:blip>
          <a:stretch>
            <a:fillRect/>
          </a:stretch>
        </p:blipFill>
        <p:spPr>
          <a:xfrm>
            <a:off x="7054238" y="913513"/>
            <a:ext cx="1156577" cy="1336074"/>
          </a:xfrm>
          <a:prstGeom prst="rect">
            <a:avLst/>
          </a:prstGeom>
          <a:noFill/>
          <a:ln>
            <a:noFill/>
          </a:ln>
        </p:spPr>
      </p:pic>
      <p:pic>
        <p:nvPicPr>
          <p:cNvPr id="103" name="Google Shape;103;p16"/>
          <p:cNvPicPr preferRelativeResize="0"/>
          <p:nvPr/>
        </p:nvPicPr>
        <p:blipFill rotWithShape="1">
          <a:blip r:embed="rId9">
            <a:alphaModFix/>
          </a:blip>
          <a:srcRect b="27113" l="0" r="0" t="0"/>
          <a:stretch/>
        </p:blipFill>
        <p:spPr>
          <a:xfrm>
            <a:off x="917750" y="3043725"/>
            <a:ext cx="1090601" cy="1182000"/>
          </a:xfrm>
          <a:prstGeom prst="rect">
            <a:avLst/>
          </a:prstGeom>
          <a:noFill/>
          <a:ln>
            <a:noFill/>
          </a:ln>
        </p:spPr>
      </p:pic>
      <p:pic>
        <p:nvPicPr>
          <p:cNvPr id="104" name="Google Shape;104;p16" title="profile_picture.JPG"/>
          <p:cNvPicPr preferRelativeResize="0"/>
          <p:nvPr/>
        </p:nvPicPr>
        <p:blipFill rotWithShape="1">
          <a:blip r:embed="rId10">
            <a:alphaModFix/>
          </a:blip>
          <a:srcRect b="0" l="15975" r="22719" t="6576"/>
          <a:stretch/>
        </p:blipFill>
        <p:spPr>
          <a:xfrm>
            <a:off x="7157330" y="3054250"/>
            <a:ext cx="1244970" cy="1264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230450" y="71919"/>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dk1"/>
                </a:solidFill>
              </a:rPr>
              <a:t>Itinerary for the Day</a:t>
            </a:r>
            <a:endParaRPr sz="3000">
              <a:solidFill>
                <a:schemeClr val="dk1"/>
              </a:solidFill>
            </a:endParaRPr>
          </a:p>
        </p:txBody>
      </p:sp>
      <p:graphicFrame>
        <p:nvGraphicFramePr>
          <p:cNvPr id="110" name="Google Shape;110;p17"/>
          <p:cNvGraphicFramePr/>
          <p:nvPr/>
        </p:nvGraphicFramePr>
        <p:xfrm>
          <a:off x="329950" y="1047750"/>
          <a:ext cx="3000000" cy="3000000"/>
        </p:xfrm>
        <a:graphic>
          <a:graphicData uri="http://schemas.openxmlformats.org/drawingml/2006/table">
            <a:tbl>
              <a:tblPr>
                <a:noFill/>
                <a:tableStyleId>{9BB470BC-1CC3-4CC9-9262-4FB19FF58206}</a:tableStyleId>
              </a:tblPr>
              <a:tblGrid>
                <a:gridCol w="1266400"/>
                <a:gridCol w="7225150"/>
              </a:tblGrid>
              <a:tr h="381000">
                <a:tc>
                  <a:txBody>
                    <a:bodyPr/>
                    <a:lstStyle/>
                    <a:p>
                      <a:pPr indent="0" lvl="0" marL="0" rtl="0" algn="l">
                        <a:spcBef>
                          <a:spcPts val="0"/>
                        </a:spcBef>
                        <a:spcAft>
                          <a:spcPts val="0"/>
                        </a:spcAft>
                        <a:buNone/>
                      </a:pPr>
                      <a:r>
                        <a:rPr b="1" lang="en"/>
                        <a:t>12:30 PM</a:t>
                      </a:r>
                      <a:endParaRPr b="1"/>
                    </a:p>
                  </a:txBody>
                  <a:tcPr marT="91425" marB="91425" marR="91425" marL="91425">
                    <a:solidFill>
                      <a:srgbClr val="F3F3F3"/>
                    </a:solidFill>
                  </a:tcPr>
                </a:tc>
                <a:tc>
                  <a:txBody>
                    <a:bodyPr/>
                    <a:lstStyle/>
                    <a:p>
                      <a:pPr indent="0" lvl="0" marL="0" rtl="0" algn="l">
                        <a:spcBef>
                          <a:spcPts val="0"/>
                        </a:spcBef>
                        <a:spcAft>
                          <a:spcPts val="0"/>
                        </a:spcAft>
                        <a:buNone/>
                      </a:pPr>
                      <a:r>
                        <a:rPr b="1" lang="en"/>
                        <a:t>Welcome</a:t>
                      </a:r>
                      <a:endParaRPr b="1"/>
                    </a:p>
                  </a:txBody>
                  <a:tcPr marT="91425" marB="91425" marR="91425" marL="91425">
                    <a:solidFill>
                      <a:srgbClr val="F3F3F3"/>
                    </a:solidFill>
                  </a:tcPr>
                </a:tc>
              </a:tr>
              <a:tr h="381000">
                <a:tc>
                  <a:txBody>
                    <a:bodyPr/>
                    <a:lstStyle/>
                    <a:p>
                      <a:pPr indent="0" lvl="0" marL="0" rtl="0" algn="l">
                        <a:spcBef>
                          <a:spcPts val="0"/>
                        </a:spcBef>
                        <a:spcAft>
                          <a:spcPts val="0"/>
                        </a:spcAft>
                        <a:buNone/>
                      </a:pPr>
                      <a:r>
                        <a:rPr b="1" lang="en"/>
                        <a:t>12:40 PM</a:t>
                      </a:r>
                      <a:endParaRPr b="1"/>
                    </a:p>
                  </a:txBody>
                  <a:tcPr marT="91425" marB="91425" marR="91425" marL="91425">
                    <a:solidFill>
                      <a:srgbClr val="D9D2E9"/>
                    </a:solidFill>
                  </a:tcPr>
                </a:tc>
                <a:tc>
                  <a:txBody>
                    <a:bodyPr/>
                    <a:lstStyle/>
                    <a:p>
                      <a:pPr indent="0" lvl="0" marL="0" rtl="0" algn="l">
                        <a:spcBef>
                          <a:spcPts val="0"/>
                        </a:spcBef>
                        <a:spcAft>
                          <a:spcPts val="0"/>
                        </a:spcAft>
                        <a:buNone/>
                      </a:pPr>
                      <a:r>
                        <a:rPr b="1" lang="en"/>
                        <a:t>Instruction: Intro to Python Basics</a:t>
                      </a:r>
                      <a:endParaRPr b="1"/>
                    </a:p>
                  </a:txBody>
                  <a:tcPr marT="91425" marB="91425" marR="91425" marL="91425">
                    <a:solidFill>
                      <a:srgbClr val="D9D2E9"/>
                    </a:solidFill>
                  </a:tcPr>
                </a:tc>
              </a:tr>
              <a:tr h="381000">
                <a:tc>
                  <a:txBody>
                    <a:bodyPr/>
                    <a:lstStyle/>
                    <a:p>
                      <a:pPr indent="0" lvl="0" marL="0" rtl="0" algn="l">
                        <a:spcBef>
                          <a:spcPts val="0"/>
                        </a:spcBef>
                        <a:spcAft>
                          <a:spcPts val="0"/>
                        </a:spcAft>
                        <a:buNone/>
                      </a:pPr>
                      <a:r>
                        <a:rPr b="1" lang="en"/>
                        <a:t>1:30 PM</a:t>
                      </a:r>
                      <a:endParaRPr b="1"/>
                    </a:p>
                  </a:txBody>
                  <a:tcPr marT="91425" marB="91425" marR="91425" marL="91425">
                    <a:solidFill>
                      <a:srgbClr val="D9D9D9"/>
                    </a:solidFill>
                  </a:tcPr>
                </a:tc>
                <a:tc>
                  <a:txBody>
                    <a:bodyPr/>
                    <a:lstStyle/>
                    <a:p>
                      <a:pPr indent="0" lvl="0" marL="0" rtl="0" algn="l">
                        <a:spcBef>
                          <a:spcPts val="0"/>
                        </a:spcBef>
                        <a:spcAft>
                          <a:spcPts val="0"/>
                        </a:spcAft>
                        <a:buNone/>
                      </a:pPr>
                      <a:r>
                        <a:rPr i="1" lang="en"/>
                        <a:t>Break</a:t>
                      </a:r>
                      <a:endParaRPr i="1"/>
                    </a:p>
                  </a:txBody>
                  <a:tcPr marT="91425" marB="91425" marR="91425" marL="91425">
                    <a:solidFill>
                      <a:srgbClr val="D9D9D9"/>
                    </a:solidFill>
                  </a:tcPr>
                </a:tc>
              </a:tr>
              <a:tr h="381000">
                <a:tc>
                  <a:txBody>
                    <a:bodyPr/>
                    <a:lstStyle/>
                    <a:p>
                      <a:pPr indent="0" lvl="0" marL="0" rtl="0" algn="l">
                        <a:spcBef>
                          <a:spcPts val="0"/>
                        </a:spcBef>
                        <a:spcAft>
                          <a:spcPts val="0"/>
                        </a:spcAft>
                        <a:buNone/>
                      </a:pPr>
                      <a:r>
                        <a:rPr b="1" lang="en"/>
                        <a:t>1:40 PM</a:t>
                      </a:r>
                      <a:endParaRPr b="1"/>
                    </a:p>
                  </a:txBody>
                  <a:tcPr marT="91425" marB="91425" marR="91425" marL="91425">
                    <a:lnB cap="flat" cmpd="sng" w="9525">
                      <a:solidFill>
                        <a:srgbClr val="9E9E9E"/>
                      </a:solidFill>
                      <a:prstDash val="solid"/>
                      <a:round/>
                      <a:headEnd len="sm" w="sm" type="none"/>
                      <a:tailEnd len="sm" w="sm" type="none"/>
                    </a:lnB>
                    <a:solidFill>
                      <a:srgbClr val="D9D2E9"/>
                    </a:solidFill>
                  </a:tcPr>
                </a:tc>
                <a:tc>
                  <a:txBody>
                    <a:bodyPr/>
                    <a:lstStyle/>
                    <a:p>
                      <a:pPr indent="0" lvl="0" marL="0" rtl="0" algn="l">
                        <a:spcBef>
                          <a:spcPts val="0"/>
                        </a:spcBef>
                        <a:spcAft>
                          <a:spcPts val="0"/>
                        </a:spcAft>
                        <a:buNone/>
                      </a:pPr>
                      <a:r>
                        <a:rPr b="1" lang="en"/>
                        <a:t>Instruction: Python Essentials</a:t>
                      </a:r>
                      <a:endParaRPr b="1"/>
                    </a:p>
                  </a:txBody>
                  <a:tcPr marT="91425" marB="91425" marR="91425" marL="91425">
                    <a:lnB cap="flat" cmpd="sng" w="9525">
                      <a:solidFill>
                        <a:srgbClr val="9E9E9E"/>
                      </a:solidFill>
                      <a:prstDash val="solid"/>
                      <a:round/>
                      <a:headEnd len="sm" w="sm" type="none"/>
                      <a:tailEnd len="sm" w="sm" type="none"/>
                    </a:lnB>
                    <a:solidFill>
                      <a:srgbClr val="D9D2E9"/>
                    </a:solidFill>
                  </a:tcPr>
                </a:tc>
              </a:tr>
              <a:tr h="381000">
                <a:tc>
                  <a:txBody>
                    <a:bodyPr/>
                    <a:lstStyle/>
                    <a:p>
                      <a:pPr indent="0" lvl="0" marL="0" rtl="0" algn="l">
                        <a:spcBef>
                          <a:spcPts val="0"/>
                        </a:spcBef>
                        <a:spcAft>
                          <a:spcPts val="0"/>
                        </a:spcAft>
                        <a:buNone/>
                      </a:pPr>
                      <a:r>
                        <a:rPr b="1" lang="en"/>
                        <a:t>2</a:t>
                      </a:r>
                      <a:r>
                        <a:rPr b="1" lang="en"/>
                        <a:t>:30 PM</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i="1" lang="en"/>
                        <a:t>Break</a:t>
                      </a:r>
                      <a:endParaRPr b="1" i="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r>
              <a:tr h="381000">
                <a:tc>
                  <a:txBody>
                    <a:bodyPr/>
                    <a:lstStyle/>
                    <a:p>
                      <a:pPr indent="0" lvl="0" marL="0" rtl="0" algn="l">
                        <a:spcBef>
                          <a:spcPts val="0"/>
                        </a:spcBef>
                        <a:spcAft>
                          <a:spcPts val="0"/>
                        </a:spcAft>
                        <a:buNone/>
                      </a:pPr>
                      <a:r>
                        <a:rPr b="1" lang="en"/>
                        <a:t>2:40 PM</a:t>
                      </a:r>
                      <a:endParaRPr b="1"/>
                    </a:p>
                  </a:txBody>
                  <a:tcPr marT="91425" marB="91425" marR="91425" marL="91425">
                    <a:lnT cap="flat" cmpd="sng" w="9525">
                      <a:solidFill>
                        <a:srgbClr val="9E9E9E"/>
                      </a:solidFill>
                      <a:prstDash val="solid"/>
                      <a:round/>
                      <a:headEnd len="sm" w="sm" type="none"/>
                      <a:tailEnd len="sm" w="sm" type="none"/>
                    </a:lnT>
                    <a:solidFill>
                      <a:srgbClr val="D9D2E9"/>
                    </a:solidFill>
                  </a:tcPr>
                </a:tc>
                <a:tc>
                  <a:txBody>
                    <a:bodyPr/>
                    <a:lstStyle/>
                    <a:p>
                      <a:pPr indent="0" lvl="0" marL="0" rtl="0" algn="l">
                        <a:spcBef>
                          <a:spcPts val="0"/>
                        </a:spcBef>
                        <a:spcAft>
                          <a:spcPts val="0"/>
                        </a:spcAft>
                        <a:buNone/>
                      </a:pPr>
                      <a:r>
                        <a:rPr b="1" lang="en"/>
                        <a:t>Instruction: Managing and processing files</a:t>
                      </a:r>
                      <a:endParaRPr b="1"/>
                    </a:p>
                  </a:txBody>
                  <a:tcPr marT="91425" marB="91425" marR="91425" marL="91425">
                    <a:lnT cap="flat" cmpd="sng" w="9525">
                      <a:solidFill>
                        <a:srgbClr val="9E9E9E"/>
                      </a:solidFill>
                      <a:prstDash val="solid"/>
                      <a:round/>
                      <a:headEnd len="sm" w="sm" type="none"/>
                      <a:tailEnd len="sm" w="sm" type="none"/>
                    </a:lnT>
                    <a:solidFill>
                      <a:srgbClr val="D9D2E9"/>
                    </a:solidFill>
                  </a:tcPr>
                </a:tc>
              </a:tr>
              <a:tr h="381000">
                <a:tc>
                  <a:txBody>
                    <a:bodyPr/>
                    <a:lstStyle/>
                    <a:p>
                      <a:pPr indent="0" lvl="0" marL="0" rtl="0" algn="l">
                        <a:spcBef>
                          <a:spcPts val="0"/>
                        </a:spcBef>
                        <a:spcAft>
                          <a:spcPts val="0"/>
                        </a:spcAft>
                        <a:buNone/>
                      </a:pPr>
                      <a:r>
                        <a:rPr b="1" lang="en"/>
                        <a:t>3:30 PM</a:t>
                      </a:r>
                      <a:endParaRPr b="1"/>
                    </a:p>
                  </a:txBody>
                  <a:tcPr marT="91425" marB="91425" marR="91425" marL="91425">
                    <a:solidFill>
                      <a:srgbClr val="F4CCCC"/>
                    </a:solidFill>
                  </a:tcPr>
                </a:tc>
                <a:tc>
                  <a:txBody>
                    <a:bodyPr/>
                    <a:lstStyle/>
                    <a:p>
                      <a:pPr indent="0" lvl="0" marL="0" rtl="0" algn="l">
                        <a:spcBef>
                          <a:spcPts val="0"/>
                        </a:spcBef>
                        <a:spcAft>
                          <a:spcPts val="0"/>
                        </a:spcAft>
                        <a:buNone/>
                      </a:pPr>
                      <a:r>
                        <a:rPr b="1" lang="en"/>
                        <a:t>Python and VSCode installation help (if required)</a:t>
                      </a:r>
                      <a:endParaRPr b="1"/>
                    </a:p>
                  </a:txBody>
                  <a:tcPr marT="91425" marB="91425" marR="91425" marL="91425">
                    <a:solidFill>
                      <a:srgbClr val="F4CCCC"/>
                    </a:solidFill>
                  </a:tcPr>
                </a:tc>
              </a:tr>
              <a:tr h="381000">
                <a:tc>
                  <a:txBody>
                    <a:bodyPr/>
                    <a:lstStyle/>
                    <a:p>
                      <a:pPr indent="0" lvl="0" marL="0" rtl="0" algn="l">
                        <a:spcBef>
                          <a:spcPts val="0"/>
                        </a:spcBef>
                        <a:spcAft>
                          <a:spcPts val="0"/>
                        </a:spcAft>
                        <a:buNone/>
                      </a:pPr>
                      <a:r>
                        <a:rPr b="1" lang="en"/>
                        <a:t>4:00 PM</a:t>
                      </a:r>
                      <a:endParaRPr b="1"/>
                    </a:p>
                  </a:txBody>
                  <a:tcPr marT="91425" marB="91425" marR="91425" marL="91425">
                    <a:solidFill>
                      <a:srgbClr val="D9D9D9"/>
                    </a:solidFill>
                  </a:tcPr>
                </a:tc>
                <a:tc>
                  <a:txBody>
                    <a:bodyPr/>
                    <a:lstStyle/>
                    <a:p>
                      <a:pPr indent="0" lvl="0" marL="0" rtl="0" algn="l">
                        <a:spcBef>
                          <a:spcPts val="0"/>
                        </a:spcBef>
                        <a:spcAft>
                          <a:spcPts val="0"/>
                        </a:spcAft>
                        <a:buNone/>
                      </a:pPr>
                      <a:r>
                        <a:rPr i="1" lang="en"/>
                        <a:t>Close</a:t>
                      </a:r>
                      <a:endParaRPr i="1"/>
                    </a:p>
                  </a:txBody>
                  <a:tcPr marT="91425" marB="91425" marR="91425" marL="91425">
                    <a:solidFill>
                      <a:srgbClr val="D9D9D9"/>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226400" y="84900"/>
            <a:ext cx="8765400" cy="57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dk1"/>
                </a:solidFill>
                <a:latin typeface="Trebuchet MS"/>
                <a:ea typeface="Trebuchet MS"/>
                <a:cs typeface="Trebuchet MS"/>
                <a:sym typeface="Trebuchet MS"/>
              </a:rPr>
              <a:t>Land Acknowledgement</a:t>
            </a:r>
            <a:endParaRPr b="1"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t/>
            </a:r>
            <a:endParaRPr b="1"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4400"/>
              <a:buNone/>
            </a:pPr>
            <a:r>
              <a:t/>
            </a:r>
            <a:endParaRPr sz="3000">
              <a:latin typeface="Trebuchet MS"/>
              <a:ea typeface="Trebuchet MS"/>
              <a:cs typeface="Trebuchet MS"/>
              <a:sym typeface="Trebuchet MS"/>
            </a:endParaRPr>
          </a:p>
        </p:txBody>
      </p:sp>
      <p:sp>
        <p:nvSpPr>
          <p:cNvPr id="116" name="Google Shape;116;p18"/>
          <p:cNvSpPr txBox="1"/>
          <p:nvPr>
            <p:ph idx="1" type="body"/>
          </p:nvPr>
        </p:nvSpPr>
        <p:spPr>
          <a:xfrm>
            <a:off x="716250" y="1085000"/>
            <a:ext cx="7711500" cy="3699900"/>
          </a:xfrm>
          <a:prstGeom prst="rect">
            <a:avLst/>
          </a:prstGeom>
          <a:noFill/>
          <a:ln>
            <a:noFill/>
          </a:ln>
        </p:spPr>
        <p:txBody>
          <a:bodyPr anchorCtr="0" anchor="t" bIns="91425" lIns="91425" spcFirstLastPara="1" rIns="91425" wrap="square" tIns="91425">
            <a:noAutofit/>
          </a:bodyPr>
          <a:lstStyle/>
          <a:p>
            <a:pPr indent="0" lvl="0" marL="0" rtl="0" algn="l">
              <a:lnSpc>
                <a:spcPct val="160000"/>
              </a:lnSpc>
              <a:spcBef>
                <a:spcPts val="1200"/>
              </a:spcBef>
              <a:spcAft>
                <a:spcPts val="0"/>
              </a:spcAft>
              <a:buClr>
                <a:schemeClr val="dk1"/>
              </a:buClr>
              <a:buSzPts val="1100"/>
              <a:buFont typeface="Arial"/>
              <a:buNone/>
            </a:pPr>
            <a:r>
              <a:rPr lang="en" sz="1900">
                <a:solidFill>
                  <a:schemeClr val="dk1"/>
                </a:solidFill>
                <a:latin typeface="Twentieth Century"/>
                <a:ea typeface="Twentieth Century"/>
                <a:cs typeface="Twentieth Century"/>
                <a:sym typeface="Twentieth Century"/>
              </a:rPr>
              <a:t>We would like to acknowledge that we are meeting on the Indigenous lands of Turtle Island, the ancestral name for what now is called North America.</a:t>
            </a:r>
            <a:endParaRPr sz="1900">
              <a:solidFill>
                <a:schemeClr val="dk1"/>
              </a:solidFill>
              <a:latin typeface="Twentieth Century"/>
              <a:ea typeface="Twentieth Century"/>
              <a:cs typeface="Twentieth Century"/>
              <a:sym typeface="Twentieth Century"/>
            </a:endParaRPr>
          </a:p>
          <a:p>
            <a:pPr indent="0" lvl="0" marL="0" rtl="0" algn="l">
              <a:lnSpc>
                <a:spcPct val="160000"/>
              </a:lnSpc>
              <a:spcBef>
                <a:spcPts val="1200"/>
              </a:spcBef>
              <a:spcAft>
                <a:spcPts val="0"/>
              </a:spcAft>
              <a:buClr>
                <a:schemeClr val="dk1"/>
              </a:buClr>
              <a:buSzPts val="1100"/>
              <a:buFont typeface="Arial"/>
              <a:buNone/>
            </a:pPr>
            <a:r>
              <a:rPr lang="en" sz="1900">
                <a:solidFill>
                  <a:schemeClr val="dk1"/>
                </a:solidFill>
                <a:latin typeface="Twentieth Century"/>
                <a:ea typeface="Twentieth Century"/>
                <a:cs typeface="Twentieth Century"/>
                <a:sym typeface="Twentieth Century"/>
              </a:rPr>
              <a:t>Moreover, (I) We would like to acknowledge the Alabama-Coushatta, Caddo, Carrizo/Comecrudo, Coahuiltecan, Comanche, Kickapoo, Lipan Apache, Tonkawa and Ysleta Del Sur Pueblo, and all the American Indian and Indigenous Peoples and communities who have been or have become a part of these lands and territories in Texas.</a:t>
            </a:r>
            <a:endParaRPr sz="1900">
              <a:solidFill>
                <a:schemeClr val="dk1"/>
              </a:solidFill>
              <a:latin typeface="Twentieth Century"/>
              <a:ea typeface="Twentieth Century"/>
              <a:cs typeface="Twentieth Century"/>
              <a:sym typeface="Twentieth Century"/>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Twentieth Century"/>
              <a:ea typeface="Twentieth Century"/>
              <a:cs typeface="Twentieth Century"/>
              <a:sym typeface="Twentieth Century"/>
            </a:endParaRPr>
          </a:p>
          <a:p>
            <a:pPr indent="0" lvl="0" marL="0" rtl="0" algn="l">
              <a:lnSpc>
                <a:spcPct val="150000"/>
              </a:lnSpc>
              <a:spcBef>
                <a:spcPts val="1200"/>
              </a:spcBef>
              <a:spcAft>
                <a:spcPts val="0"/>
              </a:spcAft>
              <a:buClr>
                <a:schemeClr val="dk1"/>
              </a:buClr>
              <a:buSzPts val="1100"/>
              <a:buFont typeface="Arial"/>
              <a:buNone/>
            </a:pPr>
            <a:r>
              <a:t/>
            </a:r>
            <a:endParaRPr sz="17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226400" y="77825"/>
            <a:ext cx="8765400" cy="57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200">
                <a:solidFill>
                  <a:schemeClr val="dk1"/>
                </a:solidFill>
                <a:latin typeface="Twentieth Century"/>
                <a:ea typeface="Twentieth Century"/>
                <a:cs typeface="Twentieth Century"/>
                <a:sym typeface="Twentieth Century"/>
              </a:rPr>
              <a:t>Logistics</a:t>
            </a:r>
            <a:endParaRPr b="1" sz="3200">
              <a:solidFill>
                <a:schemeClr val="dk1"/>
              </a:solidFill>
              <a:latin typeface="Twentieth Century"/>
              <a:ea typeface="Twentieth Century"/>
              <a:cs typeface="Twentieth Century"/>
              <a:sym typeface="Twentieth Century"/>
            </a:endParaRPr>
          </a:p>
        </p:txBody>
      </p:sp>
      <p:sp>
        <p:nvSpPr>
          <p:cNvPr id="122" name="Google Shape;122;p19"/>
          <p:cNvSpPr txBox="1"/>
          <p:nvPr>
            <p:ph idx="1" type="body"/>
          </p:nvPr>
        </p:nvSpPr>
        <p:spPr>
          <a:xfrm>
            <a:off x="398775" y="981800"/>
            <a:ext cx="6960000" cy="3673500"/>
          </a:xfrm>
          <a:prstGeom prst="rect">
            <a:avLst/>
          </a:prstGeom>
          <a:noFill/>
          <a:ln>
            <a:noFill/>
          </a:ln>
        </p:spPr>
        <p:txBody>
          <a:bodyPr anchorCtr="0" anchor="t" bIns="91425" lIns="91425" spcFirstLastPara="1" rIns="91425" wrap="square" tIns="91425">
            <a:noAutofit/>
          </a:bodyPr>
          <a:lstStyle/>
          <a:p>
            <a:pPr indent="-349250" lvl="0" marL="4572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Shared notes document (</a:t>
            </a:r>
            <a:r>
              <a:rPr lang="en" u="sng">
                <a:solidFill>
                  <a:schemeClr val="accent5"/>
                </a:solidFill>
                <a:latin typeface="Twentieth Century"/>
                <a:ea typeface="Twentieth Century"/>
                <a:cs typeface="Twentieth Century"/>
                <a:sym typeface="Twentieth Century"/>
                <a:hlinkClick r:id="rId3">
                  <a:extLst>
                    <a:ext uri="{A12FA001-AC4F-418D-AE19-62706E023703}">
                      <ahyp:hlinkClr val="tx"/>
                    </a:ext>
                  </a:extLst>
                </a:hlinkClick>
              </a:rPr>
              <a:t>https://bit.ly/iwp-winter26-notes</a:t>
            </a:r>
            <a:r>
              <a:rPr lang="en">
                <a:latin typeface="Twentieth Century"/>
                <a:ea typeface="Twentieth Century"/>
                <a:cs typeface="Twentieth Century"/>
                <a:sym typeface="Twentieth Century"/>
              </a:rPr>
              <a:t> </a:t>
            </a:r>
            <a:r>
              <a:rPr lang="en" sz="1900">
                <a:solidFill>
                  <a:schemeClr val="dk1"/>
                </a:solidFill>
                <a:latin typeface="Twentieth Century"/>
                <a:ea typeface="Twentieth Century"/>
                <a:cs typeface="Twentieth Century"/>
                <a:sym typeface="Twentieth Century"/>
              </a:rPr>
              <a:t>) </a:t>
            </a:r>
            <a:endParaRPr sz="1900">
              <a:solidFill>
                <a:schemeClr val="dk1"/>
              </a:solidFill>
              <a:latin typeface="Twentieth Century"/>
              <a:ea typeface="Twentieth Century"/>
              <a:cs typeface="Twentieth Century"/>
              <a:sym typeface="Twentieth Century"/>
            </a:endParaRPr>
          </a:p>
          <a:p>
            <a:pPr indent="-311150" lvl="1" marL="914400" rtl="0" algn="l">
              <a:lnSpc>
                <a:spcPct val="170000"/>
              </a:lnSpc>
              <a:spcBef>
                <a:spcPts val="0"/>
              </a:spcBef>
              <a:spcAft>
                <a:spcPts val="0"/>
              </a:spcAft>
              <a:buClr>
                <a:schemeClr val="dk1"/>
              </a:buClr>
              <a:buSzPts val="1300"/>
              <a:buFont typeface="Twentieth Century"/>
              <a:buChar char="◆"/>
            </a:pPr>
            <a:r>
              <a:rPr lang="en" sz="1600">
                <a:solidFill>
                  <a:schemeClr val="dk1"/>
                </a:solidFill>
                <a:latin typeface="Twentieth Century"/>
                <a:ea typeface="Twentieth Century"/>
                <a:cs typeface="Twentieth Century"/>
                <a:sym typeface="Twentieth Century"/>
              </a:rPr>
              <a:t>Important URLs will be provided here</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Asking questions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Timing of breaks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Workshop materials and slides will be posted on GitHub</a:t>
            </a:r>
            <a:endParaRPr>
              <a:solidFill>
                <a:schemeClr val="dk1"/>
              </a:solidFill>
              <a:latin typeface="Twentieth Century"/>
              <a:ea typeface="Twentieth Century"/>
              <a:cs typeface="Twentieth Century"/>
              <a:sym typeface="Twentieth Century"/>
            </a:endParaRPr>
          </a:p>
          <a:p>
            <a:pPr indent="-311150" lvl="1" marL="914400" rtl="0" algn="l">
              <a:lnSpc>
                <a:spcPct val="170000"/>
              </a:lnSpc>
              <a:spcBef>
                <a:spcPts val="0"/>
              </a:spcBef>
              <a:spcAft>
                <a:spcPts val="0"/>
              </a:spcAft>
              <a:buClr>
                <a:schemeClr val="dk1"/>
              </a:buClr>
              <a:buSzPts val="1300"/>
              <a:buFont typeface="Twentieth Century"/>
              <a:buChar char="◆"/>
            </a:pPr>
            <a:r>
              <a:rPr lang="en" sz="1800" u="sng">
                <a:solidFill>
                  <a:schemeClr val="hlink"/>
                </a:solidFill>
                <a:latin typeface="Twentieth Century"/>
                <a:ea typeface="Twentieth Century"/>
                <a:cs typeface="Twentieth Century"/>
                <a:sym typeface="Twentieth Century"/>
                <a:hlinkClick r:id="rId4"/>
              </a:rPr>
              <a:t>https://github.com/utlibraries/workshop-materials</a:t>
            </a:r>
            <a:endParaRPr sz="2100">
              <a:solidFill>
                <a:schemeClr val="dk1"/>
              </a:solidFill>
              <a:latin typeface="Twentieth Century"/>
              <a:ea typeface="Twentieth Century"/>
              <a:cs typeface="Twentieth Century"/>
              <a:sym typeface="Twentieth Century"/>
            </a:endParaRPr>
          </a:p>
          <a:p>
            <a:pPr indent="-292100" lvl="1" marL="914400" rtl="0" algn="l">
              <a:lnSpc>
                <a:spcPct val="170000"/>
              </a:lnSpc>
              <a:spcBef>
                <a:spcPts val="0"/>
              </a:spcBef>
              <a:spcAft>
                <a:spcPts val="0"/>
              </a:spcAft>
              <a:buClr>
                <a:schemeClr val="dk1"/>
              </a:buClr>
              <a:buSzPts val="1000"/>
              <a:buFont typeface="Twentieth Century"/>
              <a:buChar char="◆"/>
            </a:pPr>
            <a:r>
              <a:rPr lang="en" sz="1800">
                <a:solidFill>
                  <a:schemeClr val="dk1"/>
                </a:solidFill>
                <a:latin typeface="Twentieth Century"/>
                <a:ea typeface="Twentieth Century"/>
                <a:cs typeface="Twentieth Century"/>
                <a:sym typeface="Twentieth Century"/>
              </a:rPr>
              <a:t>Recording of session</a:t>
            </a:r>
            <a:endParaRPr sz="1800">
              <a:solidFill>
                <a:schemeClr val="dk1"/>
              </a:solidFill>
              <a:latin typeface="Twentieth Century"/>
              <a:ea typeface="Twentieth Century"/>
              <a:cs typeface="Twentieth Century"/>
              <a:sym typeface="Twentieth Century"/>
            </a:endParaRPr>
          </a:p>
          <a:p>
            <a:pPr indent="0" lvl="0" marL="0" rtl="0" algn="l">
              <a:lnSpc>
                <a:spcPct val="170000"/>
              </a:lnSpc>
              <a:spcBef>
                <a:spcPts val="0"/>
              </a:spcBef>
              <a:spcAft>
                <a:spcPts val="0"/>
              </a:spcAft>
              <a:buNone/>
            </a:pPr>
            <a:r>
              <a:t/>
            </a:r>
            <a:endParaRPr>
              <a:solidFill>
                <a:schemeClr val="dk1"/>
              </a:solidFill>
              <a:latin typeface="Twentieth Century"/>
              <a:ea typeface="Twentieth Century"/>
              <a:cs typeface="Twentieth Century"/>
              <a:sym typeface="Twentieth Century"/>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nvSpPr>
        <p:spPr>
          <a:xfrm>
            <a:off x="2806500" y="3495975"/>
            <a:ext cx="6180300" cy="1398300"/>
          </a:xfrm>
          <a:prstGeom prst="rect">
            <a:avLst/>
          </a:prstGeom>
          <a:solidFill>
            <a:srgbClr val="F3F3F3"/>
          </a:solidFill>
          <a:ln>
            <a:noFill/>
          </a:ln>
        </p:spPr>
        <p:txBody>
          <a:bodyPr anchorCtr="0" anchor="t" bIns="182875" lIns="182875" spcFirstLastPara="1" rIns="182875" wrap="square" tIns="182875">
            <a:noAutofit/>
          </a:bodyPr>
          <a:lstStyle/>
          <a:p>
            <a:pPr indent="0" lvl="0" marL="0" rtl="0" algn="l">
              <a:lnSpc>
                <a:spcPct val="125000"/>
              </a:lnSpc>
              <a:spcBef>
                <a:spcPts val="0"/>
              </a:spcBef>
              <a:spcAft>
                <a:spcPts val="0"/>
              </a:spcAft>
              <a:buClr>
                <a:srgbClr val="000000"/>
              </a:buClr>
              <a:buSzPts val="1100"/>
              <a:buFont typeface="Arial"/>
              <a:buNone/>
            </a:pPr>
            <a:r>
              <a:t/>
            </a:r>
            <a:endParaRPr b="1">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Learn about AI tools for </a:t>
            </a:r>
            <a:r>
              <a:rPr lang="en">
                <a:solidFill>
                  <a:srgbClr val="000000"/>
                </a:solidFill>
                <a:latin typeface="Twentieth Century"/>
                <a:ea typeface="Twentieth Century"/>
                <a:cs typeface="Twentieth Century"/>
                <a:sym typeface="Twentieth Century"/>
              </a:rPr>
              <a:t>working with research code and data</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March 26, 2026 (Thursday): noon to 1 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Virtual</a:t>
            </a:r>
            <a:endParaRPr>
              <a:latin typeface="Twentieth Century"/>
              <a:ea typeface="Twentieth Century"/>
              <a:cs typeface="Twentieth Century"/>
              <a:sym typeface="Twentieth Century"/>
            </a:endParaRPr>
          </a:p>
        </p:txBody>
      </p:sp>
      <p:sp>
        <p:nvSpPr>
          <p:cNvPr id="128" name="Google Shape;128;p20"/>
          <p:cNvSpPr txBox="1"/>
          <p:nvPr>
            <p:ph type="title"/>
          </p:nvPr>
        </p:nvSpPr>
        <p:spPr>
          <a:xfrm>
            <a:off x="227225" y="-456"/>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600">
                <a:solidFill>
                  <a:schemeClr val="dk1"/>
                </a:solidFill>
                <a:latin typeface="Twentieth Century"/>
                <a:ea typeface="Twentieth Century"/>
                <a:cs typeface="Twentieth Century"/>
                <a:sym typeface="Twentieth Century"/>
              </a:rPr>
              <a:t>Upcoming Spring Workshops</a:t>
            </a:r>
            <a:endParaRPr b="1" sz="3600">
              <a:solidFill>
                <a:schemeClr val="dk1"/>
              </a:solidFill>
              <a:latin typeface="Twentieth Century"/>
              <a:ea typeface="Twentieth Century"/>
              <a:cs typeface="Twentieth Century"/>
              <a:sym typeface="Twentieth Century"/>
            </a:endParaRPr>
          </a:p>
        </p:txBody>
      </p:sp>
      <p:sp>
        <p:nvSpPr>
          <p:cNvPr id="129" name="Google Shape;129;p20"/>
          <p:cNvSpPr/>
          <p:nvPr/>
        </p:nvSpPr>
        <p:spPr>
          <a:xfrm>
            <a:off x="408125" y="3469100"/>
            <a:ext cx="1789800" cy="13809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0" name="Google Shape;130;p20"/>
          <p:cNvSpPr/>
          <p:nvPr/>
        </p:nvSpPr>
        <p:spPr>
          <a:xfrm>
            <a:off x="330039" y="1460300"/>
            <a:ext cx="1861800" cy="13983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1" name="Google Shape;131;p20"/>
          <p:cNvSpPr txBox="1"/>
          <p:nvPr/>
        </p:nvSpPr>
        <p:spPr>
          <a:xfrm>
            <a:off x="2781298" y="1178100"/>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Data &amp; Donuts Workshop Series</a:t>
            </a:r>
            <a:endParaRPr b="1" sz="1900">
              <a:solidFill>
                <a:schemeClr val="lt1"/>
              </a:solidFill>
              <a:latin typeface="Twentieth Century"/>
              <a:ea typeface="Twentieth Century"/>
              <a:cs typeface="Twentieth Century"/>
              <a:sym typeface="Twentieth Century"/>
            </a:endParaRPr>
          </a:p>
        </p:txBody>
      </p:sp>
      <p:sp>
        <p:nvSpPr>
          <p:cNvPr id="132" name="Google Shape;132;p20"/>
          <p:cNvSpPr txBox="1"/>
          <p:nvPr/>
        </p:nvSpPr>
        <p:spPr>
          <a:xfrm>
            <a:off x="2781300" y="1513613"/>
            <a:ext cx="6230700" cy="15492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Workshops covering research data practices and software</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On the following dates: Jan. 30, Feb. 10, Feb. 11, Feb. 13, and Feb. 27</a:t>
            </a:r>
            <a:endParaRPr sz="1300">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Time		</a:t>
            </a:r>
            <a:r>
              <a:rPr lang="en">
                <a:latin typeface="Twentieth Century"/>
                <a:ea typeface="Twentieth Century"/>
                <a:cs typeface="Twentieth Century"/>
                <a:sym typeface="Twentieth Century"/>
              </a:rPr>
              <a:t>12pm - 1:15pm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Zoom (all dates) / </a:t>
            </a:r>
            <a:r>
              <a:rPr lang="en"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PCL Scholars Lab</a:t>
            </a:r>
            <a:r>
              <a:rPr lang="en">
                <a:latin typeface="Twentieth Century"/>
                <a:ea typeface="Twentieth Century"/>
                <a:cs typeface="Twentieth Century"/>
                <a:sym typeface="Twentieth Century"/>
              </a:rPr>
              <a:t> (select dates)</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More info</a:t>
            </a:r>
            <a:r>
              <a:rPr lang="en">
                <a:latin typeface="Twentieth Century"/>
                <a:ea typeface="Twentieth Century"/>
                <a:cs typeface="Twentieth Century"/>
                <a:sym typeface="Twentieth Century"/>
              </a:rPr>
              <a:t>	</a:t>
            </a:r>
            <a:r>
              <a:rPr lang="en" u="sng">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https://guides.lib.utexas.edu/data-and-donuts</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sp>
        <p:nvSpPr>
          <p:cNvPr id="133" name="Google Shape;133;p20"/>
          <p:cNvSpPr txBox="1"/>
          <p:nvPr/>
        </p:nvSpPr>
        <p:spPr>
          <a:xfrm>
            <a:off x="2781300" y="3422875"/>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Using AI for Research</a:t>
            </a:r>
            <a:endParaRPr b="1" sz="1900">
              <a:solidFill>
                <a:schemeClr val="lt1"/>
              </a:solidFill>
              <a:latin typeface="Twentieth Century"/>
              <a:ea typeface="Twentieth Century"/>
              <a:cs typeface="Twentieth Century"/>
              <a:sym typeface="Twentieth Century"/>
            </a:endParaRPr>
          </a:p>
        </p:txBody>
      </p:sp>
      <p:pic>
        <p:nvPicPr>
          <p:cNvPr id="134" name="Google Shape;134;p20"/>
          <p:cNvPicPr preferRelativeResize="0"/>
          <p:nvPr/>
        </p:nvPicPr>
        <p:blipFill rotWithShape="1">
          <a:blip r:embed="rId5">
            <a:alphaModFix/>
          </a:blip>
          <a:srcRect b="0" l="62910" r="-208" t="67448"/>
          <a:stretch/>
        </p:blipFill>
        <p:spPr>
          <a:xfrm>
            <a:off x="373647" y="2529716"/>
            <a:ext cx="1818030" cy="301939"/>
          </a:xfrm>
          <a:prstGeom prst="rect">
            <a:avLst/>
          </a:prstGeom>
          <a:noFill/>
          <a:ln>
            <a:noFill/>
          </a:ln>
        </p:spPr>
      </p:pic>
      <p:pic>
        <p:nvPicPr>
          <p:cNvPr id="135" name="Google Shape;135;p20"/>
          <p:cNvPicPr preferRelativeResize="0"/>
          <p:nvPr/>
        </p:nvPicPr>
        <p:blipFill rotWithShape="1">
          <a:blip r:embed="rId6">
            <a:alphaModFix/>
          </a:blip>
          <a:srcRect b="19376" l="0" r="0" t="4756"/>
          <a:stretch/>
        </p:blipFill>
        <p:spPr>
          <a:xfrm>
            <a:off x="469100" y="3529825"/>
            <a:ext cx="1665025" cy="1263150"/>
          </a:xfrm>
          <a:prstGeom prst="rect">
            <a:avLst/>
          </a:prstGeom>
          <a:noFill/>
          <a:ln>
            <a:noFill/>
          </a:ln>
        </p:spPr>
      </p:pic>
      <p:pic>
        <p:nvPicPr>
          <p:cNvPr id="136" name="Google Shape;136;p20"/>
          <p:cNvPicPr preferRelativeResize="0"/>
          <p:nvPr/>
        </p:nvPicPr>
        <p:blipFill rotWithShape="1">
          <a:blip r:embed="rId5">
            <a:alphaModFix/>
          </a:blip>
          <a:srcRect b="0" l="0" r="37154" t="0"/>
          <a:stretch/>
        </p:blipFill>
        <p:spPr>
          <a:xfrm>
            <a:off x="373647" y="1482648"/>
            <a:ext cx="1778400" cy="645419"/>
          </a:xfrm>
          <a:prstGeom prst="rect">
            <a:avLst/>
          </a:prstGeom>
          <a:noFill/>
          <a:ln>
            <a:noFill/>
          </a:ln>
        </p:spPr>
      </p:pic>
      <p:sp>
        <p:nvSpPr>
          <p:cNvPr id="137" name="Google Shape;137;p20"/>
          <p:cNvSpPr txBox="1"/>
          <p:nvPr/>
        </p:nvSpPr>
        <p:spPr>
          <a:xfrm>
            <a:off x="400825" y="2156225"/>
            <a:ext cx="1733400" cy="301800"/>
          </a:xfrm>
          <a:prstGeom prst="rect">
            <a:avLst/>
          </a:prstGeom>
          <a:solidFill>
            <a:srgbClr val="274E13"/>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1700">
                <a:solidFill>
                  <a:schemeClr val="lt1"/>
                </a:solidFill>
                <a:latin typeface="Twentieth Century"/>
                <a:ea typeface="Twentieth Century"/>
                <a:cs typeface="Twentieth Century"/>
                <a:sym typeface="Twentieth Century"/>
              </a:rPr>
              <a:t>Spring 2026</a:t>
            </a:r>
            <a:endParaRPr b="1" sz="17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226400" y="91975"/>
            <a:ext cx="8765400" cy="56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000">
                <a:solidFill>
                  <a:schemeClr val="dk1"/>
                </a:solidFill>
                <a:latin typeface="Trebuchet MS"/>
                <a:ea typeface="Trebuchet MS"/>
                <a:cs typeface="Trebuchet MS"/>
                <a:sym typeface="Trebuchet MS"/>
              </a:rPr>
              <a:t>Code of Conduct</a:t>
            </a:r>
            <a:endParaRPr b="1" sz="3000">
              <a:solidFill>
                <a:schemeClr val="dk1"/>
              </a:solidFill>
              <a:latin typeface="Trebuchet MS"/>
              <a:ea typeface="Trebuchet MS"/>
              <a:cs typeface="Trebuchet MS"/>
              <a:sym typeface="Trebuchet MS"/>
            </a:endParaRPr>
          </a:p>
        </p:txBody>
      </p:sp>
      <p:sp>
        <p:nvSpPr>
          <p:cNvPr id="143" name="Google Shape;143;p21"/>
          <p:cNvSpPr txBox="1"/>
          <p:nvPr>
            <p:ph idx="1" type="body"/>
          </p:nvPr>
        </p:nvSpPr>
        <p:spPr>
          <a:xfrm>
            <a:off x="332525" y="1025600"/>
            <a:ext cx="8659200" cy="3604200"/>
          </a:xfrm>
          <a:prstGeom prst="rect">
            <a:avLst/>
          </a:prstGeom>
          <a:noFill/>
          <a:ln>
            <a:noFill/>
          </a:ln>
        </p:spPr>
        <p:txBody>
          <a:bodyPr anchorCtr="0" anchor="t" bIns="91425" lIns="91425" spcFirstLastPara="1" rIns="91425" wrap="square" tIns="91425">
            <a:normAutofit/>
          </a:bodyPr>
          <a:lstStyle/>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Use welcoming and inclusive language</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Be respectful of different viewpoints and experiences</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Gracefully accept constructive criticism</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Focus on what is best for the community</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Show courtesy and respect towards other community members</a:t>
            </a:r>
            <a:br>
              <a:rPr lang="en" sz="1700">
                <a:solidFill>
                  <a:schemeClr val="dk1"/>
                </a:solidFill>
                <a:latin typeface="Twentieth Century"/>
                <a:ea typeface="Twentieth Century"/>
                <a:cs typeface="Twentieth Century"/>
                <a:sym typeface="Twentieth Century"/>
              </a:rPr>
            </a:br>
            <a:endParaRPr sz="1700">
              <a:solidFill>
                <a:schemeClr val="dk1"/>
              </a:solidFill>
              <a:latin typeface="Twentieth Century"/>
              <a:ea typeface="Twentieth Century"/>
              <a:cs typeface="Twentieth Century"/>
              <a:sym typeface="Twentieth Century"/>
            </a:endParaRPr>
          </a:p>
          <a:p>
            <a:pPr indent="0" lvl="0" marL="0" rtl="0" algn="l">
              <a:lnSpc>
                <a:spcPct val="150000"/>
              </a:lnSpc>
              <a:spcBef>
                <a:spcPts val="640"/>
              </a:spcBef>
              <a:spcAft>
                <a:spcPts val="0"/>
              </a:spcAft>
              <a:buSzPts val="1800"/>
              <a:buNone/>
            </a:pPr>
            <a:r>
              <a:rPr i="1" lang="en" sz="1700">
                <a:solidFill>
                  <a:schemeClr val="dk1"/>
                </a:solidFill>
                <a:latin typeface="Twentieth Century"/>
                <a:ea typeface="Twentieth Century"/>
                <a:cs typeface="Twentieth Century"/>
                <a:sym typeface="Twentieth Century"/>
              </a:rPr>
              <a:t>Contact any Instructor/Helper for assistance</a:t>
            </a:r>
            <a:endParaRPr i="1" sz="17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1163250" y="994900"/>
            <a:ext cx="6817500" cy="2911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sz="4100">
                <a:solidFill>
                  <a:schemeClr val="lt1"/>
                </a:solidFill>
              </a:rPr>
              <a:t>Day 2</a:t>
            </a:r>
            <a:endParaRPr b="1" sz="4100">
              <a:solidFill>
                <a:schemeClr val="lt1"/>
              </a:solidFill>
            </a:endParaRPr>
          </a:p>
          <a:p>
            <a:pPr indent="0" lvl="0" marL="0" rtl="0" algn="ctr">
              <a:lnSpc>
                <a:spcPct val="100000"/>
              </a:lnSpc>
              <a:spcBef>
                <a:spcPts val="0"/>
              </a:spcBef>
              <a:spcAft>
                <a:spcPts val="0"/>
              </a:spcAft>
              <a:buSzPts val="3600"/>
              <a:buNone/>
            </a:pPr>
            <a:r>
              <a:t/>
            </a:r>
            <a:endParaRPr b="1" sz="4100">
              <a:solidFill>
                <a:schemeClr val="lt1"/>
              </a:solidFill>
            </a:endParaRPr>
          </a:p>
          <a:p>
            <a:pPr indent="0" lvl="0" marL="0" rtl="0" algn="ctr">
              <a:lnSpc>
                <a:spcPct val="100000"/>
              </a:lnSpc>
              <a:spcBef>
                <a:spcPts val="0"/>
              </a:spcBef>
              <a:spcAft>
                <a:spcPts val="0"/>
              </a:spcAft>
              <a:buSzPts val="3600"/>
              <a:buNone/>
            </a:pPr>
            <a:r>
              <a:rPr b="1" lang="en" sz="4100">
                <a:solidFill>
                  <a:schemeClr val="lt1"/>
                </a:solidFill>
              </a:rPr>
              <a:t>Intro to Python</a:t>
            </a:r>
            <a:endParaRPr b="1" sz="41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nvSpPr>
        <p:spPr>
          <a:xfrm>
            <a:off x="382350" y="1300650"/>
            <a:ext cx="8370300" cy="32811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260350" lvl="0" marL="342900" marR="0" rtl="0" algn="l">
              <a:lnSpc>
                <a:spcPct val="115000"/>
              </a:lnSpc>
              <a:spcBef>
                <a:spcPts val="28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Introduce the fundamental knowledge required to help you get started using Python</a:t>
            </a:r>
            <a:endParaRPr sz="1500">
              <a:solidFill>
                <a:schemeClr val="dk1"/>
              </a:solidFill>
              <a:latin typeface="Twentieth Century"/>
              <a:ea typeface="Twentieth Century"/>
              <a:cs typeface="Twentieth Century"/>
              <a:sym typeface="Twentieth Century"/>
            </a:endParaRPr>
          </a:p>
          <a:p>
            <a:pPr indent="-260350" lvl="0" marL="342900" rtl="0" algn="l">
              <a:lnSpc>
                <a:spcPct val="115000"/>
              </a:lnSpc>
              <a:spcBef>
                <a:spcPts val="28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Provide information about related resources you can use to learn more about Python moving forward</a:t>
            </a:r>
            <a:endParaRPr sz="1500">
              <a:solidFill>
                <a:schemeClr val="dk1"/>
              </a:solidFill>
              <a:latin typeface="Twentieth Century"/>
              <a:ea typeface="Twentieth Century"/>
              <a:cs typeface="Twentieth Century"/>
              <a:sym typeface="Twentieth Century"/>
            </a:endParaRPr>
          </a:p>
          <a:p>
            <a:pPr indent="-260350" lvl="0" marL="342900" rtl="0" algn="l">
              <a:lnSpc>
                <a:spcPct val="115000"/>
              </a:lnSpc>
              <a:spcBef>
                <a:spcPts val="28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Showcase the benefits of using Python for reproducible research</a:t>
            </a:r>
            <a:endParaRPr sz="1500">
              <a:solidFill>
                <a:schemeClr val="dk1"/>
              </a:solidFill>
              <a:latin typeface="Twentieth Century"/>
              <a:ea typeface="Twentieth Century"/>
              <a:cs typeface="Twentieth Century"/>
              <a:sym typeface="Twentieth Century"/>
            </a:endParaRPr>
          </a:p>
          <a:p>
            <a:pPr indent="0" lvl="0" marL="457200" rtl="0" algn="l">
              <a:lnSpc>
                <a:spcPct val="115000"/>
              </a:lnSpc>
              <a:spcBef>
                <a:spcPts val="2800"/>
              </a:spcBef>
              <a:spcAft>
                <a:spcPts val="0"/>
              </a:spcAft>
              <a:buNone/>
            </a:pPr>
            <a:r>
              <a:t/>
            </a:r>
            <a:endParaRPr sz="100">
              <a:solidFill>
                <a:schemeClr val="dk1"/>
              </a:solidFill>
              <a:latin typeface="Twentieth Century"/>
              <a:ea typeface="Twentieth Century"/>
              <a:cs typeface="Twentieth Century"/>
              <a:sym typeface="Twentieth Century"/>
            </a:endParaRPr>
          </a:p>
          <a:p>
            <a:pPr indent="-260350" lvl="0" marL="342900" rtl="0" algn="l">
              <a:lnSpc>
                <a:spcPct val="115000"/>
              </a:lnSpc>
              <a:spcBef>
                <a:spcPts val="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Learn how to use Python without installing any software - this workshop will use </a:t>
            </a:r>
            <a:r>
              <a:rPr lang="en" sz="1500" u="sng">
                <a:solidFill>
                  <a:schemeClr val="dk1"/>
                </a:solidFill>
                <a:latin typeface="Twentieth Century"/>
                <a:ea typeface="Twentieth Century"/>
                <a:cs typeface="Twentieth Century"/>
                <a:sym typeface="Twentieth Century"/>
                <a:hlinkClick r:id="rId3">
                  <a:extLst>
                    <a:ext uri="{A12FA001-AC4F-418D-AE19-62706E023703}">
                      <ahyp:hlinkClr val="tx"/>
                    </a:ext>
                  </a:extLst>
                </a:hlinkClick>
              </a:rPr>
              <a:t>Google Colab</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We will focus on using a local Python installation during tomorrow’s session</a:t>
            </a:r>
            <a:endParaRPr sz="1500">
              <a:solidFill>
                <a:schemeClr val="dk1"/>
              </a:solidFill>
              <a:latin typeface="Twentieth Century"/>
              <a:ea typeface="Twentieth Century"/>
              <a:cs typeface="Twentieth Century"/>
              <a:sym typeface="Twentieth Century"/>
            </a:endParaRPr>
          </a:p>
        </p:txBody>
      </p:sp>
      <p:sp>
        <p:nvSpPr>
          <p:cNvPr id="154" name="Google Shape;154;p2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Goals for the Intro to Python Section of the Workshop</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nvSpPr>
        <p:spPr>
          <a:xfrm>
            <a:off x="382350" y="941600"/>
            <a:ext cx="8370300" cy="40239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260350" lvl="0" marL="342900" marR="0" rtl="0" algn="l">
              <a:lnSpc>
                <a:spcPct val="115000"/>
              </a:lnSpc>
              <a:spcBef>
                <a:spcPts val="10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Scaling data retrieval</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APIs vs. web-interface retrieval</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Scaling data management tasks</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batch renaming thousands of files; indexing a compressed archive</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Handling large data files</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200 MB CSV file</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Ensuring reproducibility</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All steps in a process are preserved in code</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Automating recurring processes</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scheduling weekly back-up; producing graphical summaries</a:t>
            </a:r>
            <a:endParaRPr sz="1500">
              <a:solidFill>
                <a:schemeClr val="dk1"/>
              </a:solidFill>
              <a:latin typeface="Twentieth Century"/>
              <a:ea typeface="Twentieth Century"/>
              <a:cs typeface="Twentieth Century"/>
              <a:sym typeface="Twentieth Century"/>
            </a:endParaRPr>
          </a:p>
          <a:p>
            <a:pPr indent="0" lvl="0" marL="0" marR="0" rtl="0" algn="l">
              <a:lnSpc>
                <a:spcPct val="115000"/>
              </a:lnSpc>
              <a:spcBef>
                <a:spcPts val="1000"/>
              </a:spcBef>
              <a:spcAft>
                <a:spcPts val="0"/>
              </a:spcAft>
              <a:buNone/>
            </a:pPr>
            <a:r>
              <a:t/>
            </a:r>
            <a:endParaRPr sz="1500">
              <a:solidFill>
                <a:schemeClr val="dk1"/>
              </a:solidFill>
              <a:latin typeface="Twentieth Century"/>
              <a:ea typeface="Twentieth Century"/>
              <a:cs typeface="Twentieth Century"/>
              <a:sym typeface="Twentieth Century"/>
            </a:endParaRPr>
          </a:p>
        </p:txBody>
      </p:sp>
      <p:sp>
        <p:nvSpPr>
          <p:cNvPr id="160" name="Google Shape;160;p2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Benefits of Using Scripted Approaches</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idx="1" type="body"/>
          </p:nvPr>
        </p:nvSpPr>
        <p:spPr>
          <a:xfrm>
            <a:off x="510000" y="1252600"/>
            <a:ext cx="8115000" cy="33624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rmAutofit/>
          </a:bodyPr>
          <a:lstStyle/>
          <a:p>
            <a:pPr indent="-215900" lvl="0" marL="1778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Open source, interpreted programming language</a:t>
            </a:r>
            <a:endParaRPr sz="1100"/>
          </a:p>
          <a:p>
            <a:pPr indent="-215900" lvl="0" marL="1778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Cross platform compatible (Windows, MacOS, &amp; Linux)</a:t>
            </a:r>
            <a:endParaRPr sz="1500">
              <a:latin typeface="Twentieth Century"/>
              <a:ea typeface="Twentieth Century"/>
              <a:cs typeface="Twentieth Century"/>
              <a:sym typeface="Twentieth Century"/>
            </a:endParaRPr>
          </a:p>
          <a:p>
            <a:pPr indent="-215900" lvl="0" marL="1778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Large ecosystem of open source packages</a:t>
            </a:r>
            <a:endParaRPr sz="1100"/>
          </a:p>
          <a:p>
            <a:pPr indent="-215900" lvl="0" marL="1778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Can be used for file management, analyzing data, editing data, visualizing data, and more!</a:t>
            </a:r>
            <a:endParaRPr sz="1500">
              <a:latin typeface="Twentieth Century"/>
              <a:ea typeface="Twentieth Century"/>
              <a:cs typeface="Twentieth Century"/>
              <a:sym typeface="Twentieth Century"/>
            </a:endParaRPr>
          </a:p>
          <a:p>
            <a:pPr indent="-177800" lvl="0" marL="177800" rtl="0" algn="l">
              <a:lnSpc>
                <a:spcPct val="300000"/>
              </a:lnSpc>
              <a:spcBef>
                <a:spcPts val="0"/>
              </a:spcBef>
              <a:spcAft>
                <a:spcPts val="1200"/>
              </a:spcAft>
              <a:buSzPts val="1400"/>
              <a:buFont typeface="Twentieth Century"/>
              <a:buChar char="●"/>
            </a:pPr>
            <a:r>
              <a:rPr lang="en" sz="1500">
                <a:latin typeface="Twentieth Century"/>
                <a:ea typeface="Twentieth Century"/>
                <a:cs typeface="Twentieth Century"/>
                <a:sym typeface="Twentieth Century"/>
              </a:rPr>
              <a:t>Extensive use in a variety of fields and non-academic settings</a:t>
            </a:r>
            <a:endParaRPr sz="1500">
              <a:latin typeface="Twentieth Century"/>
              <a:ea typeface="Twentieth Century"/>
              <a:cs typeface="Twentieth Century"/>
              <a:sym typeface="Twentieth Century"/>
            </a:endParaRPr>
          </a:p>
        </p:txBody>
      </p:sp>
      <p:pic>
        <p:nvPicPr>
          <p:cNvPr id="167" name="Google Shape;167;p25"/>
          <p:cNvPicPr preferRelativeResize="0"/>
          <p:nvPr/>
        </p:nvPicPr>
        <p:blipFill rotWithShape="1">
          <a:blip r:embed="rId3">
            <a:alphaModFix/>
          </a:blip>
          <a:srcRect b="0" l="0" r="0" t="0"/>
          <a:stretch/>
        </p:blipFill>
        <p:spPr>
          <a:xfrm>
            <a:off x="7505575" y="1341473"/>
            <a:ext cx="1015950" cy="1015925"/>
          </a:xfrm>
          <a:prstGeom prst="rect">
            <a:avLst/>
          </a:prstGeom>
          <a:noFill/>
          <a:ln>
            <a:noFill/>
          </a:ln>
        </p:spPr>
      </p:pic>
      <p:sp>
        <p:nvSpPr>
          <p:cNvPr id="168" name="Google Shape;168;p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What is Python?</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6"/>
          <p:cNvPicPr preferRelativeResize="0"/>
          <p:nvPr/>
        </p:nvPicPr>
        <p:blipFill rotWithShape="1">
          <a:blip r:embed="rId3">
            <a:alphaModFix/>
          </a:blip>
          <a:srcRect b="0" l="0" r="0" t="0"/>
          <a:stretch/>
        </p:blipFill>
        <p:spPr>
          <a:xfrm>
            <a:off x="7033250" y="1008749"/>
            <a:ext cx="691600" cy="691575"/>
          </a:xfrm>
          <a:prstGeom prst="rect">
            <a:avLst/>
          </a:prstGeom>
          <a:noFill/>
          <a:ln>
            <a:noFill/>
          </a:ln>
        </p:spPr>
      </p:pic>
      <p:sp>
        <p:nvSpPr>
          <p:cNvPr id="175" name="Google Shape;175;p2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and Other Programming Languages</a:t>
            </a:r>
            <a:endParaRPr b="1" sz="2500">
              <a:solidFill>
                <a:schemeClr val="lt1"/>
              </a:solidFill>
              <a:latin typeface="Twentieth Century"/>
              <a:ea typeface="Twentieth Century"/>
              <a:cs typeface="Twentieth Century"/>
              <a:sym typeface="Twentieth Century"/>
            </a:endParaRPr>
          </a:p>
        </p:txBody>
      </p:sp>
      <p:grpSp>
        <p:nvGrpSpPr>
          <p:cNvPr id="176" name="Google Shape;176;p26"/>
          <p:cNvGrpSpPr/>
          <p:nvPr/>
        </p:nvGrpSpPr>
        <p:grpSpPr>
          <a:xfrm>
            <a:off x="223250" y="1008750"/>
            <a:ext cx="6664676" cy="4087575"/>
            <a:chOff x="152400" y="1016600"/>
            <a:chExt cx="6664676" cy="4087575"/>
          </a:xfrm>
        </p:grpSpPr>
        <p:pic>
          <p:nvPicPr>
            <p:cNvPr id="177" name="Google Shape;177;p26"/>
            <p:cNvPicPr preferRelativeResize="0"/>
            <p:nvPr/>
          </p:nvPicPr>
          <p:blipFill>
            <a:blip r:embed="rId4">
              <a:alphaModFix/>
            </a:blip>
            <a:stretch>
              <a:fillRect/>
            </a:stretch>
          </p:blipFill>
          <p:spPr>
            <a:xfrm>
              <a:off x="152400" y="1016600"/>
              <a:ext cx="6664676" cy="3748874"/>
            </a:xfrm>
            <a:prstGeom prst="rect">
              <a:avLst/>
            </a:prstGeom>
            <a:noFill/>
            <a:ln>
              <a:noFill/>
            </a:ln>
          </p:spPr>
        </p:pic>
        <p:sp>
          <p:nvSpPr>
            <p:cNvPr id="178" name="Google Shape;178;p26"/>
            <p:cNvSpPr txBox="1"/>
            <p:nvPr/>
          </p:nvSpPr>
          <p:spPr>
            <a:xfrm>
              <a:off x="152400" y="4765475"/>
              <a:ext cx="4287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Twentieth Century"/>
                  <a:ea typeface="Twentieth Century"/>
                  <a:cs typeface="Twentieth Century"/>
                  <a:sym typeface="Twentieth Century"/>
                </a:rPr>
                <a:t>GitHub (2025)</a:t>
              </a:r>
              <a:endParaRPr sz="1000">
                <a:solidFill>
                  <a:schemeClr val="dk2"/>
                </a:solidFill>
                <a:latin typeface="Twentieth Century"/>
                <a:ea typeface="Twentieth Century"/>
                <a:cs typeface="Twentieth Century"/>
                <a:sym typeface="Twentieth Century"/>
              </a:endParaRPr>
            </a:p>
          </p:txBody>
        </p:sp>
      </p:grpSp>
      <p:pic>
        <p:nvPicPr>
          <p:cNvPr id="179" name="Google Shape;179;p26"/>
          <p:cNvPicPr preferRelativeResize="0"/>
          <p:nvPr/>
        </p:nvPicPr>
        <p:blipFill>
          <a:blip r:embed="rId5">
            <a:alphaModFix/>
          </a:blip>
          <a:stretch>
            <a:fillRect/>
          </a:stretch>
        </p:blipFill>
        <p:spPr>
          <a:xfrm>
            <a:off x="8136083" y="1259524"/>
            <a:ext cx="850877" cy="659351"/>
          </a:xfrm>
          <a:prstGeom prst="rect">
            <a:avLst/>
          </a:prstGeom>
          <a:noFill/>
          <a:ln>
            <a:noFill/>
          </a:ln>
        </p:spPr>
      </p:pic>
      <p:pic>
        <p:nvPicPr>
          <p:cNvPr id="180" name="Google Shape;180;p26"/>
          <p:cNvPicPr preferRelativeResize="0"/>
          <p:nvPr/>
        </p:nvPicPr>
        <p:blipFill>
          <a:blip r:embed="rId6">
            <a:alphaModFix/>
          </a:blip>
          <a:stretch>
            <a:fillRect/>
          </a:stretch>
        </p:blipFill>
        <p:spPr>
          <a:xfrm>
            <a:off x="7072626" y="1844875"/>
            <a:ext cx="691599" cy="691599"/>
          </a:xfrm>
          <a:prstGeom prst="rect">
            <a:avLst/>
          </a:prstGeom>
          <a:noFill/>
          <a:ln>
            <a:noFill/>
          </a:ln>
        </p:spPr>
      </p:pic>
      <p:pic>
        <p:nvPicPr>
          <p:cNvPr id="181" name="Google Shape;181;p26"/>
          <p:cNvPicPr preferRelativeResize="0"/>
          <p:nvPr/>
        </p:nvPicPr>
        <p:blipFill>
          <a:blip r:embed="rId7">
            <a:alphaModFix/>
          </a:blip>
          <a:stretch>
            <a:fillRect/>
          </a:stretch>
        </p:blipFill>
        <p:spPr>
          <a:xfrm>
            <a:off x="8269063" y="2093750"/>
            <a:ext cx="584907" cy="659350"/>
          </a:xfrm>
          <a:prstGeom prst="rect">
            <a:avLst/>
          </a:prstGeom>
          <a:noFill/>
          <a:ln>
            <a:noFill/>
          </a:ln>
        </p:spPr>
      </p:pic>
      <p:pic>
        <p:nvPicPr>
          <p:cNvPr id="182" name="Google Shape;182;p26"/>
          <p:cNvPicPr preferRelativeResize="0"/>
          <p:nvPr/>
        </p:nvPicPr>
        <p:blipFill>
          <a:blip r:embed="rId8">
            <a:alphaModFix/>
          </a:blip>
          <a:stretch>
            <a:fillRect/>
          </a:stretch>
        </p:blipFill>
        <p:spPr>
          <a:xfrm>
            <a:off x="6992990" y="2681025"/>
            <a:ext cx="850875" cy="548101"/>
          </a:xfrm>
          <a:prstGeom prst="rect">
            <a:avLst/>
          </a:prstGeom>
          <a:noFill/>
          <a:ln>
            <a:noFill/>
          </a:ln>
        </p:spPr>
      </p:pic>
      <p:pic>
        <p:nvPicPr>
          <p:cNvPr id="183" name="Google Shape;183;p26"/>
          <p:cNvPicPr preferRelativeResize="0"/>
          <p:nvPr/>
        </p:nvPicPr>
        <p:blipFill>
          <a:blip r:embed="rId9">
            <a:alphaModFix/>
          </a:blip>
          <a:stretch>
            <a:fillRect/>
          </a:stretch>
        </p:blipFill>
        <p:spPr>
          <a:xfrm>
            <a:off x="8255361" y="2970576"/>
            <a:ext cx="612329" cy="548101"/>
          </a:xfrm>
          <a:prstGeom prst="rect">
            <a:avLst/>
          </a:prstGeom>
          <a:noFill/>
          <a:ln>
            <a:noFill/>
          </a:ln>
        </p:spPr>
      </p:pic>
      <p:sp>
        <p:nvSpPr>
          <p:cNvPr id="184" name="Google Shape;184;p26"/>
          <p:cNvSpPr txBox="1"/>
          <p:nvPr/>
        </p:nvSpPr>
        <p:spPr>
          <a:xfrm>
            <a:off x="7033250" y="3736150"/>
            <a:ext cx="1953600" cy="1031400"/>
          </a:xfrm>
          <a:prstGeom prst="rect">
            <a:avLst/>
          </a:prstGeom>
          <a:solidFill>
            <a:srgbClr val="F7F7F7"/>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2"/>
                </a:solidFill>
                <a:latin typeface="Twentieth Century"/>
                <a:ea typeface="Twentieth Century"/>
                <a:cs typeface="Twentieth Century"/>
                <a:sym typeface="Twentieth Century"/>
              </a:rPr>
              <a:t>Nature</a:t>
            </a:r>
            <a:r>
              <a:rPr lang="en" sz="1100">
                <a:solidFill>
                  <a:schemeClr val="dk2"/>
                </a:solidFill>
                <a:latin typeface="Twentieth Century"/>
                <a:ea typeface="Twentieth Century"/>
                <a:cs typeface="Twentieth Century"/>
                <a:sym typeface="Twentieth Century"/>
              </a:rPr>
              <a:t> Technology Feature (April 2025): </a:t>
            </a:r>
            <a:r>
              <a:rPr b="1" lang="en" sz="1100" u="sng">
                <a:solidFill>
                  <a:schemeClr val="hlink"/>
                </a:solidFill>
                <a:latin typeface="Twentieth Century"/>
                <a:ea typeface="Twentieth Century"/>
                <a:cs typeface="Twentieth Century"/>
                <a:sym typeface="Twentieth Century"/>
                <a:hlinkClick r:id="rId10"/>
              </a:rPr>
              <a:t>Which programming language should I use? A guide for early-career researchers</a:t>
            </a:r>
            <a:endParaRPr sz="1100">
              <a:solidFill>
                <a:schemeClr val="dk2"/>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7"/>
          <p:cNvPicPr preferRelativeResize="0"/>
          <p:nvPr/>
        </p:nvPicPr>
        <p:blipFill>
          <a:blip r:embed="rId3">
            <a:alphaModFix/>
          </a:blip>
          <a:stretch>
            <a:fillRect/>
          </a:stretch>
        </p:blipFill>
        <p:spPr>
          <a:xfrm>
            <a:off x="329700" y="3235405"/>
            <a:ext cx="4949974" cy="1736900"/>
          </a:xfrm>
          <a:prstGeom prst="rect">
            <a:avLst/>
          </a:prstGeom>
          <a:noFill/>
          <a:ln>
            <a:noFill/>
          </a:ln>
        </p:spPr>
      </p:pic>
      <p:sp>
        <p:nvSpPr>
          <p:cNvPr id="191" name="Google Shape;191;p27"/>
          <p:cNvSpPr txBox="1"/>
          <p:nvPr/>
        </p:nvSpPr>
        <p:spPr>
          <a:xfrm>
            <a:off x="3476400" y="21174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https://research.google.com/colaboratory/faq.html</a:t>
            </a:r>
            <a:endParaRPr/>
          </a:p>
        </p:txBody>
      </p:sp>
      <p:sp>
        <p:nvSpPr>
          <p:cNvPr id="192" name="Google Shape;192;p27"/>
          <p:cNvSpPr txBox="1"/>
          <p:nvPr>
            <p:ph idx="1" type="body"/>
          </p:nvPr>
        </p:nvSpPr>
        <p:spPr>
          <a:xfrm>
            <a:off x="329700" y="1091975"/>
            <a:ext cx="8475600" cy="20103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68575" lIns="68575" spcFirstLastPara="1" rIns="68575" wrap="square" tIns="68575">
            <a:normAutofit/>
          </a:bodyPr>
          <a:lstStyle/>
          <a:p>
            <a:pPr indent="-241300" lvl="0" marL="342900" rtl="0" algn="l">
              <a:lnSpc>
                <a:spcPct val="150000"/>
              </a:lnSpc>
              <a:spcBef>
                <a:spcPts val="1000"/>
              </a:spcBef>
              <a:spcAft>
                <a:spcPts val="0"/>
              </a:spcAft>
              <a:buClr>
                <a:schemeClr val="dk1"/>
              </a:buClr>
              <a:buSzPts val="1200"/>
              <a:buFont typeface="Twentieth Century"/>
              <a:buChar char="●"/>
            </a:pPr>
            <a:r>
              <a:rPr b="1" lang="en" sz="1400">
                <a:latin typeface="Twentieth Century"/>
                <a:ea typeface="Twentieth Century"/>
                <a:cs typeface="Twentieth Century"/>
                <a:sym typeface="Twentieth Century"/>
              </a:rPr>
              <a:t>Colab is a free Google service that allows you to create and run Jupyter Notebooks in the cloud</a:t>
            </a:r>
            <a:endParaRPr b="1" sz="1400">
              <a:latin typeface="Twentieth Century"/>
              <a:ea typeface="Twentieth Century"/>
              <a:cs typeface="Twentieth Century"/>
              <a:sym typeface="Twentieth Century"/>
            </a:endParaRPr>
          </a:p>
          <a:p>
            <a:pPr indent="-241300" lvl="0" marL="342900" rtl="0" algn="l">
              <a:lnSpc>
                <a:spcPct val="150000"/>
              </a:lnSpc>
              <a:spcBef>
                <a:spcPts val="1000"/>
              </a:spcBef>
              <a:spcAft>
                <a:spcPts val="0"/>
              </a:spcAft>
              <a:buClr>
                <a:schemeClr val="dk1"/>
              </a:buClr>
              <a:buSzPts val="1200"/>
              <a:buFont typeface="Twentieth Century"/>
              <a:buChar char="●"/>
            </a:pPr>
            <a:r>
              <a:rPr b="1" lang="en" sz="1400">
                <a:latin typeface="Twentieth Century"/>
                <a:ea typeface="Twentieth Century"/>
                <a:cs typeface="Twentieth Century"/>
                <a:sym typeface="Twentieth Century"/>
              </a:rPr>
              <a:t>Allows you to write Python code and text notes in compartmentalized cells within a notebook</a:t>
            </a:r>
            <a:endParaRPr b="1" sz="1400">
              <a:latin typeface="Twentieth Century"/>
              <a:ea typeface="Twentieth Century"/>
              <a:cs typeface="Twentieth Century"/>
              <a:sym typeface="Twentieth Century"/>
            </a:endParaRPr>
          </a:p>
          <a:p>
            <a:pPr indent="-165100" lvl="1" marL="520700" rtl="0" algn="l">
              <a:lnSpc>
                <a:spcPct val="150000"/>
              </a:lnSpc>
              <a:spcBef>
                <a:spcPts val="1000"/>
              </a:spcBef>
              <a:spcAft>
                <a:spcPts val="0"/>
              </a:spcAft>
              <a:buSzPts val="1200"/>
              <a:buFont typeface="Noto Sans Symbols"/>
              <a:buChar char="○"/>
            </a:pPr>
            <a:r>
              <a:rPr lang="en" sz="1400">
                <a:latin typeface="Twentieth Century"/>
                <a:ea typeface="Twentieth Century"/>
                <a:cs typeface="Twentieth Century"/>
                <a:sym typeface="Twentieth Century"/>
              </a:rPr>
              <a:t>Code cells can be run individually to allow for previewing outputs and troubleshooting issues</a:t>
            </a:r>
            <a:endParaRPr sz="1400">
              <a:latin typeface="Twentieth Century"/>
              <a:ea typeface="Twentieth Century"/>
              <a:cs typeface="Twentieth Century"/>
              <a:sym typeface="Twentieth Century"/>
            </a:endParaRPr>
          </a:p>
          <a:p>
            <a:pPr indent="-241300" lvl="0" marL="342900" rtl="0" algn="l">
              <a:lnSpc>
                <a:spcPct val="150000"/>
              </a:lnSpc>
              <a:spcBef>
                <a:spcPts val="1200"/>
              </a:spcBef>
              <a:spcAft>
                <a:spcPts val="0"/>
              </a:spcAft>
              <a:buClr>
                <a:schemeClr val="dk1"/>
              </a:buClr>
              <a:buSzPts val="1200"/>
              <a:buFont typeface="Twentieth Century"/>
              <a:buChar char="●"/>
            </a:pPr>
            <a:r>
              <a:rPr b="1" lang="en" sz="1400">
                <a:latin typeface="Twentieth Century"/>
                <a:ea typeface="Twentieth Century"/>
                <a:cs typeface="Twentieth Century"/>
                <a:sym typeface="Twentieth Century"/>
              </a:rPr>
              <a:t>Notebooks are stored in Google Drive and can access other files in Google Drive</a:t>
            </a:r>
            <a:endParaRPr sz="1500">
              <a:latin typeface="Twentieth Century"/>
              <a:ea typeface="Twentieth Century"/>
              <a:cs typeface="Twentieth Century"/>
              <a:sym typeface="Twentieth Century"/>
            </a:endParaRPr>
          </a:p>
        </p:txBody>
      </p:sp>
      <p:pic>
        <p:nvPicPr>
          <p:cNvPr id="193" name="Google Shape;193;p27"/>
          <p:cNvPicPr preferRelativeResize="0"/>
          <p:nvPr/>
        </p:nvPicPr>
        <p:blipFill>
          <a:blip r:embed="rId4">
            <a:alphaModFix/>
          </a:blip>
          <a:stretch>
            <a:fillRect/>
          </a:stretch>
        </p:blipFill>
        <p:spPr>
          <a:xfrm>
            <a:off x="7826900" y="1886926"/>
            <a:ext cx="847250" cy="1076650"/>
          </a:xfrm>
          <a:prstGeom prst="rect">
            <a:avLst/>
          </a:prstGeom>
          <a:noFill/>
          <a:ln>
            <a:noFill/>
          </a:ln>
        </p:spPr>
      </p:pic>
      <p:sp>
        <p:nvSpPr>
          <p:cNvPr id="194" name="Google Shape;194;p27"/>
          <p:cNvSpPr txBox="1"/>
          <p:nvPr/>
        </p:nvSpPr>
        <p:spPr>
          <a:xfrm rot="-666665">
            <a:off x="4913173" y="4228247"/>
            <a:ext cx="4153353" cy="384900"/>
          </a:xfrm>
          <a:prstGeom prst="rect">
            <a:avLst/>
          </a:prstGeom>
          <a:solidFill>
            <a:schemeClr val="lt1"/>
          </a:solidFill>
          <a:ln cap="flat" cmpd="sng" w="19050">
            <a:solidFill>
              <a:srgbClr val="CC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CC0000"/>
                </a:solidFill>
              </a:rPr>
              <a:t>Colab FAQs at  </a:t>
            </a:r>
            <a:r>
              <a:rPr b="1" lang="en" sz="900" u="sng">
                <a:solidFill>
                  <a:schemeClr val="hlink"/>
                </a:solidFill>
                <a:hlinkClick r:id="rId5"/>
              </a:rPr>
              <a:t>https://research.google.com/colaboratory/faq.html</a:t>
            </a:r>
            <a:r>
              <a:rPr b="1" lang="en" sz="1100"/>
              <a:t> </a:t>
            </a:r>
            <a:endParaRPr b="1" sz="1100"/>
          </a:p>
        </p:txBody>
      </p:sp>
      <p:sp>
        <p:nvSpPr>
          <p:cNvPr id="195" name="Google Shape;195;p2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Google Colab</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idx="1" type="body"/>
          </p:nvPr>
        </p:nvSpPr>
        <p:spPr>
          <a:xfrm>
            <a:off x="260575" y="1016500"/>
            <a:ext cx="2778000" cy="227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68575" lIns="68575" spcFirstLastPara="1" rIns="68575" wrap="square" tIns="68575">
            <a:normAutofit lnSpcReduction="20000"/>
          </a:bodyPr>
          <a:lstStyle/>
          <a:p>
            <a:pPr indent="0" lvl="0" marL="0" rtl="0" algn="l">
              <a:lnSpc>
                <a:spcPct val="150000"/>
              </a:lnSpc>
              <a:spcBef>
                <a:spcPts val="1000"/>
              </a:spcBef>
              <a:spcAft>
                <a:spcPts val="0"/>
              </a:spcAft>
              <a:buNone/>
            </a:pPr>
            <a:r>
              <a:rPr b="1" lang="en" sz="1400">
                <a:latin typeface="Twentieth Century"/>
                <a:ea typeface="Twentieth Century"/>
                <a:cs typeface="Twentieth Century"/>
                <a:sym typeface="Twentieth Century"/>
              </a:rPr>
              <a:t>Python Basics</a:t>
            </a:r>
            <a:endParaRPr b="1" sz="1400">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Packages and modules</a:t>
            </a:r>
            <a:endParaRPr sz="1300">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Variables and object types</a:t>
            </a:r>
            <a:endParaRPr sz="1300"/>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Syntax</a:t>
            </a:r>
            <a:endParaRPr sz="1300"/>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Comments</a:t>
            </a:r>
            <a:endParaRPr sz="1300">
              <a:latin typeface="Twentieth Century"/>
              <a:ea typeface="Twentieth Century"/>
              <a:cs typeface="Twentieth Century"/>
              <a:sym typeface="Twentieth Century"/>
            </a:endParaRPr>
          </a:p>
          <a:p>
            <a:pPr indent="-254000" lvl="0" marL="342900" rtl="0" algn="l">
              <a:lnSpc>
                <a:spcPct val="115000"/>
              </a:lnSpc>
              <a:spcBef>
                <a:spcPts val="1000"/>
              </a:spcBef>
              <a:spcAft>
                <a:spcPts val="0"/>
              </a:spcAft>
              <a:buClr>
                <a:schemeClr val="dk1"/>
              </a:buClr>
              <a:buSzPts val="1400"/>
              <a:buFont typeface="Noto Sans Symbols"/>
              <a:buChar char="●"/>
            </a:pPr>
            <a:r>
              <a:rPr lang="en" sz="1300">
                <a:latin typeface="Twentieth Century"/>
                <a:ea typeface="Twentieth Century"/>
                <a:cs typeface="Twentieth Century"/>
                <a:sym typeface="Twentieth Century"/>
              </a:rPr>
              <a:t>Retrieve data with the requests module</a:t>
            </a:r>
            <a:endParaRPr sz="1400">
              <a:latin typeface="Twentieth Century"/>
              <a:ea typeface="Twentieth Century"/>
              <a:cs typeface="Twentieth Century"/>
              <a:sym typeface="Twentieth Century"/>
            </a:endParaRPr>
          </a:p>
        </p:txBody>
      </p:sp>
      <p:sp>
        <p:nvSpPr>
          <p:cNvPr id="202" name="Google Shape;202;p2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DEMO: Basics of Python for Reproducible Research</a:t>
            </a:r>
            <a:endParaRPr b="1" sz="2500">
              <a:solidFill>
                <a:schemeClr val="lt1"/>
              </a:solidFill>
              <a:latin typeface="Twentieth Century"/>
              <a:ea typeface="Twentieth Century"/>
              <a:cs typeface="Twentieth Century"/>
              <a:sym typeface="Twentieth Century"/>
            </a:endParaRPr>
          </a:p>
        </p:txBody>
      </p:sp>
      <p:pic>
        <p:nvPicPr>
          <p:cNvPr id="203" name="Google Shape;203;p28"/>
          <p:cNvPicPr preferRelativeResize="0"/>
          <p:nvPr/>
        </p:nvPicPr>
        <p:blipFill>
          <a:blip r:embed="rId3">
            <a:alphaModFix/>
          </a:blip>
          <a:stretch>
            <a:fillRect/>
          </a:stretch>
        </p:blipFill>
        <p:spPr>
          <a:xfrm>
            <a:off x="3190975" y="1016603"/>
            <a:ext cx="5775629" cy="3131196"/>
          </a:xfrm>
          <a:prstGeom prst="rect">
            <a:avLst/>
          </a:prstGeom>
          <a:noFill/>
          <a:ln>
            <a:noFill/>
          </a:ln>
        </p:spPr>
      </p:pic>
      <p:sp>
        <p:nvSpPr>
          <p:cNvPr id="204" name="Google Shape;204;p28"/>
          <p:cNvSpPr txBox="1"/>
          <p:nvPr/>
        </p:nvSpPr>
        <p:spPr>
          <a:xfrm>
            <a:off x="2439750" y="4300200"/>
            <a:ext cx="4255500" cy="655500"/>
          </a:xfrm>
          <a:prstGeom prst="rect">
            <a:avLst/>
          </a:prstGeom>
          <a:solidFill>
            <a:srgbClr val="FFE599"/>
          </a:solidFill>
          <a:ln cap="flat" cmpd="sng" w="28575">
            <a:solidFill>
              <a:srgbClr val="F6B26B"/>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300"/>
              <a:t>Link to publicly shared Google Colab Notebook: </a:t>
            </a:r>
            <a:endParaRPr b="1" sz="800"/>
          </a:p>
          <a:p>
            <a:pPr indent="0" lvl="0" marL="0" rtl="0" algn="ctr">
              <a:lnSpc>
                <a:spcPct val="150000"/>
              </a:lnSpc>
              <a:spcBef>
                <a:spcPts val="0"/>
              </a:spcBef>
              <a:spcAft>
                <a:spcPts val="0"/>
              </a:spcAft>
              <a:buNone/>
            </a:pPr>
            <a:r>
              <a:rPr b="1" lang="en" sz="1300" u="sng">
                <a:solidFill>
                  <a:schemeClr val="hlink"/>
                </a:solidFill>
                <a:hlinkClick r:id="rId4"/>
              </a:rPr>
              <a:t>https://bit.ly/3Lud01w</a:t>
            </a:r>
            <a:r>
              <a:rPr b="1" lang="en" sz="1300"/>
              <a:t>  </a:t>
            </a:r>
            <a:endParaRPr b="1"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9"/>
          <p:cNvPicPr preferRelativeResize="0"/>
          <p:nvPr/>
        </p:nvPicPr>
        <p:blipFill>
          <a:blip r:embed="rId3">
            <a:alphaModFix/>
          </a:blip>
          <a:stretch>
            <a:fillRect/>
          </a:stretch>
        </p:blipFill>
        <p:spPr>
          <a:xfrm>
            <a:off x="2791325" y="936150"/>
            <a:ext cx="6248501" cy="2512175"/>
          </a:xfrm>
          <a:prstGeom prst="rect">
            <a:avLst/>
          </a:prstGeom>
          <a:noFill/>
          <a:ln>
            <a:noFill/>
          </a:ln>
        </p:spPr>
      </p:pic>
      <p:sp>
        <p:nvSpPr>
          <p:cNvPr id="211" name="Google Shape;211;p2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DEMO: Python Essentials</a:t>
            </a:r>
            <a:endParaRPr b="1" sz="2500">
              <a:solidFill>
                <a:schemeClr val="lt1"/>
              </a:solidFill>
              <a:latin typeface="Twentieth Century"/>
              <a:ea typeface="Twentieth Century"/>
              <a:cs typeface="Twentieth Century"/>
              <a:sym typeface="Twentieth Century"/>
            </a:endParaRPr>
          </a:p>
        </p:txBody>
      </p:sp>
      <p:sp>
        <p:nvSpPr>
          <p:cNvPr id="212" name="Google Shape;212;p29"/>
          <p:cNvSpPr txBox="1"/>
          <p:nvPr>
            <p:ph idx="1" type="body"/>
          </p:nvPr>
        </p:nvSpPr>
        <p:spPr>
          <a:xfrm>
            <a:off x="108000" y="936150"/>
            <a:ext cx="2430300" cy="2512200"/>
          </a:xfrm>
          <a:prstGeom prst="rect">
            <a:avLst/>
          </a:prstGeom>
          <a:solidFill>
            <a:schemeClr val="lt1"/>
          </a:solidFill>
          <a:ln cap="flat" cmpd="sng" w="9525">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68575" lIns="68575" spcFirstLastPara="1" rIns="68575" wrap="square" tIns="68575">
            <a:normAutofit/>
          </a:bodyPr>
          <a:lstStyle/>
          <a:p>
            <a:pPr indent="0" lvl="0" marL="0" rtl="0" algn="l">
              <a:lnSpc>
                <a:spcPct val="150000"/>
              </a:lnSpc>
              <a:spcBef>
                <a:spcPts val="0"/>
              </a:spcBef>
              <a:spcAft>
                <a:spcPts val="0"/>
              </a:spcAft>
              <a:buNone/>
            </a:pPr>
            <a:r>
              <a:rPr b="1" lang="en" sz="1300">
                <a:latin typeface="Twentieth Century"/>
                <a:ea typeface="Twentieth Century"/>
                <a:cs typeface="Twentieth Century"/>
                <a:sym typeface="Twentieth Century"/>
              </a:rPr>
              <a:t>Python Essentials:</a:t>
            </a:r>
            <a:endParaRPr sz="1300">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Noto Sans Symbols"/>
              <a:buChar char="●"/>
            </a:pPr>
            <a:r>
              <a:rPr lang="en" sz="1300">
                <a:latin typeface="Twentieth Century"/>
                <a:ea typeface="Twentieth Century"/>
                <a:cs typeface="Twentieth Century"/>
                <a:sym typeface="Twentieth Century"/>
              </a:rPr>
              <a:t>Work with dataframes</a:t>
            </a:r>
            <a:endParaRPr sz="1300">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Noto Sans Symbols"/>
              <a:buChar char="●"/>
            </a:pPr>
            <a:r>
              <a:rPr lang="en" sz="1300">
                <a:latin typeface="Twentieth Century"/>
                <a:ea typeface="Twentieth Century"/>
                <a:cs typeface="Twentieth Century"/>
                <a:sym typeface="Twentieth Century"/>
              </a:rPr>
              <a:t>Utilize “for” loops</a:t>
            </a:r>
            <a:endParaRPr sz="1300">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Twentieth Century"/>
              <a:buChar char="●"/>
            </a:pPr>
            <a:r>
              <a:rPr lang="en" sz="1300">
                <a:latin typeface="Twentieth Century"/>
                <a:ea typeface="Twentieth Century"/>
                <a:cs typeface="Twentieth Century"/>
                <a:sym typeface="Twentieth Century"/>
              </a:rPr>
              <a:t>Write conditional statements</a:t>
            </a:r>
            <a:endParaRPr sz="1300">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Twentieth Century"/>
              <a:buChar char="●"/>
            </a:pPr>
            <a:r>
              <a:rPr lang="en" sz="1300">
                <a:latin typeface="Twentieth Century"/>
                <a:ea typeface="Twentieth Century"/>
                <a:cs typeface="Twentieth Century"/>
                <a:sym typeface="Twentieth Century"/>
              </a:rPr>
              <a:t>Use try and except to catch errors</a:t>
            </a:r>
            <a:endParaRPr sz="1300">
              <a:latin typeface="Twentieth Century"/>
              <a:ea typeface="Twentieth Century"/>
              <a:cs typeface="Twentieth Century"/>
              <a:sym typeface="Twentieth Century"/>
            </a:endParaRPr>
          </a:p>
          <a:p>
            <a:pPr indent="-196850" lvl="0" marL="400050" rtl="0" algn="l">
              <a:lnSpc>
                <a:spcPct val="150000"/>
              </a:lnSpc>
              <a:spcBef>
                <a:spcPts val="0"/>
              </a:spcBef>
              <a:spcAft>
                <a:spcPts val="0"/>
              </a:spcAft>
              <a:buSzPts val="1300"/>
              <a:buFont typeface="Twentieth Century"/>
              <a:buChar char="●"/>
            </a:pPr>
            <a:r>
              <a:rPr lang="en" sz="1300">
                <a:latin typeface="Twentieth Century"/>
                <a:ea typeface="Twentieth Century"/>
                <a:cs typeface="Twentieth Century"/>
                <a:sym typeface="Twentieth Century"/>
              </a:rPr>
              <a:t>Define new functions</a:t>
            </a:r>
            <a:endParaRPr sz="1300">
              <a:latin typeface="Twentieth Century"/>
              <a:ea typeface="Twentieth Century"/>
              <a:cs typeface="Twentieth Century"/>
              <a:sym typeface="Twentieth Century"/>
            </a:endParaRPr>
          </a:p>
        </p:txBody>
      </p:sp>
      <p:sp>
        <p:nvSpPr>
          <p:cNvPr id="213" name="Google Shape;213;p29"/>
          <p:cNvSpPr txBox="1"/>
          <p:nvPr/>
        </p:nvSpPr>
        <p:spPr>
          <a:xfrm>
            <a:off x="2439750" y="4300200"/>
            <a:ext cx="4255500" cy="655500"/>
          </a:xfrm>
          <a:prstGeom prst="rect">
            <a:avLst/>
          </a:prstGeom>
          <a:solidFill>
            <a:srgbClr val="FFE599"/>
          </a:solidFill>
          <a:ln cap="flat" cmpd="sng" w="28575">
            <a:solidFill>
              <a:srgbClr val="F6B26B"/>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en" sz="1300"/>
              <a:t>Link to publicly shared Google Colab Notebook: </a:t>
            </a:r>
            <a:endParaRPr b="1" sz="800"/>
          </a:p>
          <a:p>
            <a:pPr indent="0" lvl="0" marL="0" rtl="0" algn="ctr">
              <a:lnSpc>
                <a:spcPct val="150000"/>
              </a:lnSpc>
              <a:spcBef>
                <a:spcPts val="0"/>
              </a:spcBef>
              <a:spcAft>
                <a:spcPts val="0"/>
              </a:spcAft>
              <a:buNone/>
            </a:pPr>
            <a:r>
              <a:rPr b="1" lang="en" sz="1300" u="sng">
                <a:solidFill>
                  <a:schemeClr val="hlink"/>
                </a:solidFill>
                <a:hlinkClick r:id="rId4"/>
              </a:rPr>
              <a:t>https://bit.ly/3Lud01w</a:t>
            </a:r>
            <a:r>
              <a:rPr b="1" lang="en" sz="1300"/>
              <a:t>  </a:t>
            </a:r>
            <a:endParaRPr b="1" sz="1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0"/>
          <p:cNvSpPr txBox="1"/>
          <p:nvPr>
            <p:ph type="title"/>
          </p:nvPr>
        </p:nvSpPr>
        <p:spPr>
          <a:xfrm>
            <a:off x="-390906" y="20894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Running Python 101</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idx="1" type="body"/>
          </p:nvPr>
        </p:nvSpPr>
        <p:spPr>
          <a:xfrm>
            <a:off x="162425" y="1122725"/>
            <a:ext cx="8836500" cy="38568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198681" lvl="0" marL="285750" rtl="0" algn="l">
              <a:lnSpc>
                <a:spcPct val="150000"/>
              </a:lnSpc>
              <a:spcBef>
                <a:spcPts val="1000"/>
              </a:spcBef>
              <a:spcAft>
                <a:spcPts val="0"/>
              </a:spcAft>
              <a:buSzPts val="1629"/>
              <a:buFont typeface="Twentieth Century"/>
              <a:buChar char="●"/>
            </a:pPr>
            <a:r>
              <a:rPr lang="en" sz="1628">
                <a:latin typeface="Twentieth Century"/>
                <a:ea typeface="Twentieth Century"/>
                <a:cs typeface="Twentieth Century"/>
                <a:sym typeface="Twentieth Century"/>
              </a:rPr>
              <a:t>Might already be on your computer due to it being included with your OS or other software</a:t>
            </a:r>
            <a:endParaRPr sz="1628">
              <a:latin typeface="Twentieth Century"/>
              <a:ea typeface="Twentieth Century"/>
              <a:cs typeface="Twentieth Century"/>
              <a:sym typeface="Twentieth Century"/>
            </a:endParaRPr>
          </a:p>
          <a:p>
            <a:pPr indent="-192331" lvl="1" marL="520700" rtl="0" algn="l">
              <a:lnSpc>
                <a:spcPct val="150000"/>
              </a:lnSpc>
              <a:spcBef>
                <a:spcPts val="1000"/>
              </a:spcBef>
              <a:spcAft>
                <a:spcPts val="0"/>
              </a:spcAft>
              <a:buSzPts val="1629"/>
              <a:buFont typeface="Twentieth Century"/>
              <a:buChar char="○"/>
            </a:pPr>
            <a:r>
              <a:rPr lang="en" sz="1628">
                <a:latin typeface="Twentieth Century"/>
                <a:ea typeface="Twentieth Century"/>
                <a:cs typeface="Twentieth Century"/>
                <a:sym typeface="Twentieth Century"/>
              </a:rPr>
              <a:t>Be careful if you have multiple Python versions installed…</a:t>
            </a:r>
            <a:endParaRPr sz="1628">
              <a:latin typeface="Twentieth Century"/>
              <a:ea typeface="Twentieth Century"/>
              <a:cs typeface="Twentieth Century"/>
              <a:sym typeface="Twentieth Century"/>
            </a:endParaRPr>
          </a:p>
          <a:p>
            <a:pPr indent="-187569" lvl="1" marL="520700" rtl="0" algn="l">
              <a:lnSpc>
                <a:spcPct val="150000"/>
              </a:lnSpc>
              <a:spcBef>
                <a:spcPts val="1000"/>
              </a:spcBef>
              <a:spcAft>
                <a:spcPts val="0"/>
              </a:spcAft>
              <a:buSzPts val="1554"/>
              <a:buFont typeface="Twentieth Century"/>
              <a:buChar char="○"/>
            </a:pPr>
            <a:r>
              <a:rPr lang="en" sz="1628">
                <a:latin typeface="Twentieth Century"/>
                <a:ea typeface="Twentieth Century"/>
                <a:cs typeface="Twentieth Century"/>
                <a:sym typeface="Twentieth Century"/>
              </a:rPr>
              <a:t>Virtual environments can help manage multiple Python and package versions on your local machine. For more information and installation instructions, please consult this link: </a:t>
            </a:r>
            <a:r>
              <a:rPr lang="en" sz="1628" u="sng">
                <a:solidFill>
                  <a:schemeClr val="hlink"/>
                </a:solidFill>
                <a:latin typeface="Twentieth Century"/>
                <a:ea typeface="Twentieth Century"/>
                <a:cs typeface="Twentieth Century"/>
                <a:sym typeface="Twentieth Century"/>
                <a:hlinkClick r:id="rId3"/>
              </a:rPr>
              <a:t>http://tiny.cc/k1zv001</a:t>
            </a:r>
            <a:endParaRPr sz="1628">
              <a:latin typeface="Twentieth Century"/>
              <a:ea typeface="Twentieth Century"/>
              <a:cs typeface="Twentieth Century"/>
              <a:sym typeface="Twentieth Century"/>
            </a:endParaRPr>
          </a:p>
          <a:p>
            <a:pPr indent="-198681" lvl="0" marL="285750" rtl="0" algn="l">
              <a:lnSpc>
                <a:spcPct val="150000"/>
              </a:lnSpc>
              <a:spcBef>
                <a:spcPts val="1000"/>
              </a:spcBef>
              <a:spcAft>
                <a:spcPts val="0"/>
              </a:spcAft>
              <a:buSzPts val="1629"/>
              <a:buFont typeface="Twentieth Century"/>
              <a:buChar char="●"/>
            </a:pPr>
            <a:r>
              <a:rPr lang="en" sz="1628">
                <a:latin typeface="Twentieth Century"/>
                <a:ea typeface="Twentieth Century"/>
                <a:cs typeface="Twentieth Century"/>
                <a:sym typeface="Twentieth Century"/>
              </a:rPr>
              <a:t>You can install Python using the </a:t>
            </a:r>
            <a:r>
              <a:rPr lang="en" sz="1628" u="sng">
                <a:solidFill>
                  <a:schemeClr val="hlink"/>
                </a:solidFill>
                <a:latin typeface="Twentieth Century"/>
                <a:ea typeface="Twentieth Century"/>
                <a:cs typeface="Twentieth Century"/>
                <a:sym typeface="Twentieth Century"/>
                <a:hlinkClick r:id="rId4"/>
              </a:rPr>
              <a:t>default installer</a:t>
            </a:r>
            <a:r>
              <a:rPr lang="en" sz="1628">
                <a:latin typeface="Twentieth Century"/>
                <a:ea typeface="Twentieth Century"/>
                <a:cs typeface="Twentieth Century"/>
                <a:sym typeface="Twentieth Century"/>
              </a:rPr>
              <a:t> or you can use a package manager like </a:t>
            </a:r>
            <a:r>
              <a:rPr lang="en" sz="1628" u="sng">
                <a:solidFill>
                  <a:schemeClr val="hlink"/>
                </a:solidFill>
                <a:latin typeface="Twentieth Century"/>
                <a:ea typeface="Twentieth Century"/>
                <a:cs typeface="Twentieth Century"/>
                <a:sym typeface="Twentieth Century"/>
                <a:hlinkClick r:id="rId5"/>
              </a:rPr>
              <a:t>Anaconda</a:t>
            </a:r>
            <a:endParaRPr sz="1628">
              <a:latin typeface="Twentieth Century"/>
              <a:ea typeface="Twentieth Century"/>
              <a:cs typeface="Twentieth Century"/>
              <a:sym typeface="Twentieth Century"/>
            </a:endParaRPr>
          </a:p>
          <a:p>
            <a:pPr indent="-198681" lvl="0" marL="285750" rtl="0" algn="l">
              <a:lnSpc>
                <a:spcPct val="150000"/>
              </a:lnSpc>
              <a:spcBef>
                <a:spcPts val="1000"/>
              </a:spcBef>
              <a:spcAft>
                <a:spcPts val="0"/>
              </a:spcAft>
              <a:buSzPts val="1629"/>
              <a:buFont typeface="Twentieth Century"/>
              <a:buChar char="●"/>
            </a:pPr>
            <a:r>
              <a:rPr lang="en" sz="1628">
                <a:latin typeface="Twentieth Century"/>
                <a:ea typeface="Twentieth Century"/>
                <a:cs typeface="Twentieth Century"/>
                <a:sym typeface="Twentieth Century"/>
              </a:rPr>
              <a:t>Once Python is installed, you will likely want to install extra packages</a:t>
            </a:r>
            <a:endParaRPr sz="1628">
              <a:latin typeface="Twentieth Century"/>
              <a:ea typeface="Twentieth Century"/>
              <a:cs typeface="Twentieth Century"/>
              <a:sym typeface="Twentieth Century"/>
            </a:endParaRPr>
          </a:p>
          <a:p>
            <a:pPr indent="-192331" lvl="1" marL="520700" rtl="0" algn="l">
              <a:lnSpc>
                <a:spcPct val="150000"/>
              </a:lnSpc>
              <a:spcBef>
                <a:spcPts val="1000"/>
              </a:spcBef>
              <a:spcAft>
                <a:spcPts val="0"/>
              </a:spcAft>
              <a:buSzPts val="1629"/>
              <a:buFont typeface="Twentieth Century"/>
              <a:buChar char="○"/>
            </a:pPr>
            <a:r>
              <a:rPr lang="en" sz="1628">
                <a:latin typeface="Twentieth Century"/>
                <a:ea typeface="Twentieth Century"/>
                <a:cs typeface="Twentieth Century"/>
                <a:sym typeface="Twentieth Century"/>
              </a:rPr>
              <a:t>You can do this with </a:t>
            </a:r>
            <a:r>
              <a:rPr b="1" lang="en" sz="1628">
                <a:latin typeface="Twentieth Century"/>
                <a:ea typeface="Twentieth Century"/>
                <a:cs typeface="Twentieth Century"/>
                <a:sym typeface="Twentieth Century"/>
              </a:rPr>
              <a:t>pip </a:t>
            </a:r>
            <a:r>
              <a:rPr lang="en" sz="1628">
                <a:latin typeface="Twentieth Century"/>
                <a:ea typeface="Twentieth Century"/>
                <a:cs typeface="Twentieth Century"/>
                <a:sym typeface="Twentieth Century"/>
              </a:rPr>
              <a:t>or with </a:t>
            </a:r>
            <a:r>
              <a:rPr b="1" lang="en" sz="1628">
                <a:latin typeface="Twentieth Century"/>
                <a:ea typeface="Twentieth Century"/>
                <a:cs typeface="Twentieth Century"/>
                <a:sym typeface="Twentieth Century"/>
              </a:rPr>
              <a:t>Anaconda</a:t>
            </a:r>
            <a:endParaRPr sz="1478">
              <a:latin typeface="Twentieth Century"/>
              <a:ea typeface="Twentieth Century"/>
              <a:cs typeface="Twentieth Century"/>
              <a:sym typeface="Twentieth Century"/>
            </a:endParaRPr>
          </a:p>
          <a:p>
            <a:pPr indent="0" lvl="1" marL="342900" rtl="0" algn="l">
              <a:lnSpc>
                <a:spcPct val="150000"/>
              </a:lnSpc>
              <a:spcBef>
                <a:spcPts val="1000"/>
              </a:spcBef>
              <a:spcAft>
                <a:spcPts val="0"/>
              </a:spcAft>
              <a:buClr>
                <a:schemeClr val="dk1"/>
              </a:buClr>
              <a:buSzPts val="200"/>
              <a:buNone/>
            </a:pPr>
            <a:r>
              <a:t/>
            </a:r>
            <a:endParaRPr sz="950">
              <a:latin typeface="Twentieth Century"/>
              <a:ea typeface="Twentieth Century"/>
              <a:cs typeface="Twentieth Century"/>
              <a:sym typeface="Twentieth Century"/>
            </a:endParaRPr>
          </a:p>
          <a:p>
            <a:pPr indent="-127000" lvl="1" marL="520700" rtl="0" algn="l">
              <a:lnSpc>
                <a:spcPct val="150000"/>
              </a:lnSpc>
              <a:spcBef>
                <a:spcPts val="1000"/>
              </a:spcBef>
              <a:spcAft>
                <a:spcPts val="0"/>
              </a:spcAft>
              <a:buClr>
                <a:schemeClr val="dk1"/>
              </a:buClr>
              <a:buSzPts val="200"/>
              <a:buFont typeface="Noto Sans Symbols"/>
              <a:buNone/>
            </a:pPr>
            <a:r>
              <a:t/>
            </a:r>
            <a:endParaRPr sz="950">
              <a:latin typeface="Twentieth Century"/>
              <a:ea typeface="Twentieth Century"/>
              <a:cs typeface="Twentieth Century"/>
              <a:sym typeface="Twentieth Century"/>
            </a:endParaRPr>
          </a:p>
          <a:p>
            <a:pPr indent="-127000" lvl="0" marL="177800" rtl="0" algn="l">
              <a:lnSpc>
                <a:spcPct val="150000"/>
              </a:lnSpc>
              <a:spcBef>
                <a:spcPts val="1000"/>
              </a:spcBef>
              <a:spcAft>
                <a:spcPts val="1200"/>
              </a:spcAft>
              <a:buClr>
                <a:schemeClr val="dk1"/>
              </a:buClr>
              <a:buSzPts val="200"/>
              <a:buFont typeface="Noto Sans Symbols"/>
              <a:buNone/>
            </a:pPr>
            <a:r>
              <a:t/>
            </a:r>
            <a:endParaRPr sz="950">
              <a:latin typeface="Twentieth Century"/>
              <a:ea typeface="Twentieth Century"/>
              <a:cs typeface="Twentieth Century"/>
              <a:sym typeface="Twentieth Century"/>
            </a:endParaRPr>
          </a:p>
        </p:txBody>
      </p:sp>
      <p:sp>
        <p:nvSpPr>
          <p:cNvPr id="226" name="Google Shape;226;p3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Installing Python Locally</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ph idx="1" type="body"/>
          </p:nvPr>
        </p:nvSpPr>
        <p:spPr>
          <a:xfrm>
            <a:off x="127200" y="991650"/>
            <a:ext cx="8115000" cy="188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228600" spcFirstLastPara="1" rIns="137150" wrap="square" tIns="137150">
            <a:normAutofit/>
          </a:bodyPr>
          <a:lstStyle/>
          <a:p>
            <a:pPr indent="-228600" lvl="0" marL="342900" rtl="0" algn="l">
              <a:lnSpc>
                <a:spcPct val="200000"/>
              </a:lnSpc>
              <a:spcBef>
                <a:spcPts val="0"/>
              </a:spcBef>
              <a:spcAft>
                <a:spcPts val="0"/>
              </a:spcAft>
              <a:buClr>
                <a:schemeClr val="dk1"/>
              </a:buClr>
              <a:buSzPts val="1500"/>
              <a:buFont typeface="Twentieth Century"/>
              <a:buChar char="●"/>
            </a:pPr>
            <a:r>
              <a:rPr b="1" lang="en" sz="1500">
                <a:latin typeface="Twentieth Century"/>
                <a:ea typeface="Twentieth Century"/>
                <a:cs typeface="Twentieth Century"/>
                <a:sym typeface="Twentieth Century"/>
              </a:rPr>
              <a:t>pip </a:t>
            </a:r>
            <a:r>
              <a:rPr lang="en" sz="1500">
                <a:latin typeface="Twentieth Century"/>
                <a:ea typeface="Twentieth Century"/>
                <a:cs typeface="Twentieth Century"/>
                <a:sym typeface="Twentieth Century"/>
              </a:rPr>
              <a:t>is the default package installer for Python</a:t>
            </a:r>
            <a:endParaRPr sz="1500">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You can use pip to install packages from the Python Package Index and other indexes</a:t>
            </a:r>
            <a:endParaRPr sz="1500">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pip can be used to install packages if you are running Python locally or in Google Colab</a:t>
            </a:r>
            <a:endParaRPr sz="1500">
              <a:latin typeface="Twentieth Century"/>
              <a:ea typeface="Twentieth Century"/>
              <a:cs typeface="Twentieth Century"/>
              <a:sym typeface="Twentieth Century"/>
            </a:endParaRPr>
          </a:p>
          <a:p>
            <a:pPr indent="-228600" lvl="0" marL="342900" rtl="0" algn="l">
              <a:lnSpc>
                <a:spcPct val="200000"/>
              </a:lnSpc>
              <a:spcBef>
                <a:spcPts val="0"/>
              </a:spcBef>
              <a:spcAft>
                <a:spcPts val="1200"/>
              </a:spcAft>
              <a:buSzPts val="1500"/>
              <a:buFont typeface="Twentieth Century"/>
              <a:buChar char="●"/>
            </a:pPr>
            <a:r>
              <a:rPr lang="en" sz="1500">
                <a:latin typeface="Twentieth Century"/>
                <a:ea typeface="Twentieth Century"/>
                <a:cs typeface="Twentieth Century"/>
                <a:sym typeface="Twentieth Century"/>
              </a:rPr>
              <a:t>Packages should always be vetted before installation and use</a:t>
            </a:r>
            <a:endParaRPr sz="1500">
              <a:latin typeface="Twentieth Century"/>
              <a:ea typeface="Twentieth Century"/>
              <a:cs typeface="Twentieth Century"/>
              <a:sym typeface="Twentieth Century"/>
            </a:endParaRPr>
          </a:p>
        </p:txBody>
      </p:sp>
      <p:sp>
        <p:nvSpPr>
          <p:cNvPr id="233" name="Google Shape;233;p3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Installing New Python Packages</a:t>
            </a:r>
            <a:endParaRPr b="1" sz="2500">
              <a:solidFill>
                <a:schemeClr val="lt1"/>
              </a:solidFill>
              <a:latin typeface="Twentieth Century"/>
              <a:ea typeface="Twentieth Century"/>
              <a:cs typeface="Twentieth Century"/>
              <a:sym typeface="Twentieth Century"/>
            </a:endParaRPr>
          </a:p>
        </p:txBody>
      </p:sp>
      <p:pic>
        <p:nvPicPr>
          <p:cNvPr id="234" name="Google Shape;234;p32"/>
          <p:cNvPicPr preferRelativeResize="0"/>
          <p:nvPr/>
        </p:nvPicPr>
        <p:blipFill>
          <a:blip r:embed="rId3">
            <a:alphaModFix/>
          </a:blip>
          <a:stretch>
            <a:fillRect/>
          </a:stretch>
        </p:blipFill>
        <p:spPr>
          <a:xfrm>
            <a:off x="7663350" y="920150"/>
            <a:ext cx="1369750" cy="957699"/>
          </a:xfrm>
          <a:prstGeom prst="rect">
            <a:avLst/>
          </a:prstGeom>
          <a:noFill/>
          <a:ln>
            <a:noFill/>
          </a:ln>
          <a:effectLst>
            <a:outerShdw blurRad="57150" rotWithShape="0" algn="bl" dir="5400000" dist="19050">
              <a:srgbClr val="000000">
                <a:alpha val="50000"/>
              </a:srgbClr>
            </a:outerShdw>
          </a:effectLst>
        </p:spPr>
      </p:pic>
      <p:pic>
        <p:nvPicPr>
          <p:cNvPr id="235" name="Google Shape;235;p32"/>
          <p:cNvPicPr preferRelativeResize="0"/>
          <p:nvPr/>
        </p:nvPicPr>
        <p:blipFill>
          <a:blip r:embed="rId4">
            <a:alphaModFix/>
          </a:blip>
          <a:stretch>
            <a:fillRect/>
          </a:stretch>
        </p:blipFill>
        <p:spPr>
          <a:xfrm>
            <a:off x="5291750" y="2775025"/>
            <a:ext cx="3593876" cy="22128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idx="1" type="body"/>
          </p:nvPr>
        </p:nvSpPr>
        <p:spPr>
          <a:xfrm>
            <a:off x="302150" y="1019700"/>
            <a:ext cx="4900800" cy="1470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rmAutofit/>
          </a:bodyPr>
          <a:lstStyle/>
          <a:p>
            <a:pPr indent="-6350" lvl="0" marL="177800" rtl="0" algn="l">
              <a:lnSpc>
                <a:spcPct val="150000"/>
              </a:lnSpc>
              <a:spcBef>
                <a:spcPts val="0"/>
              </a:spcBef>
              <a:spcAft>
                <a:spcPts val="1200"/>
              </a:spcAft>
              <a:buClr>
                <a:schemeClr val="dk1"/>
              </a:buClr>
              <a:buSzPts val="700"/>
              <a:buFont typeface="Noto Sans Symbols"/>
              <a:buNone/>
            </a:pPr>
            <a:r>
              <a:rPr lang="en" sz="1300">
                <a:latin typeface="Twentieth Century"/>
                <a:ea typeface="Twentieth Century"/>
                <a:cs typeface="Twentieth Century"/>
                <a:sym typeface="Twentieth Century"/>
              </a:rPr>
              <a:t>You </a:t>
            </a:r>
            <a:r>
              <a:rPr b="1" lang="en" sz="1300">
                <a:latin typeface="Twentieth Century"/>
                <a:ea typeface="Twentieth Century"/>
                <a:cs typeface="Twentieth Century"/>
                <a:sym typeface="Twentieth Century"/>
              </a:rPr>
              <a:t>can </a:t>
            </a:r>
            <a:r>
              <a:rPr lang="en" sz="1300">
                <a:latin typeface="Twentieth Century"/>
                <a:ea typeface="Twentieth Century"/>
                <a:cs typeface="Twentieth Century"/>
                <a:sym typeface="Twentieth Century"/>
              </a:rPr>
              <a:t>write Python code and run it from your Command Prompt or Terminal…</a:t>
            </a:r>
            <a:endParaRPr sz="1200">
              <a:latin typeface="Twentieth Century"/>
              <a:ea typeface="Twentieth Century"/>
              <a:cs typeface="Twentieth Century"/>
              <a:sym typeface="Twentieth Century"/>
            </a:endParaRPr>
          </a:p>
        </p:txBody>
      </p:sp>
      <p:sp>
        <p:nvSpPr>
          <p:cNvPr id="242" name="Google Shape;242;p3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Integrated Development Environments (IDEs)</a:t>
            </a:r>
            <a:endParaRPr b="1" sz="2500">
              <a:solidFill>
                <a:schemeClr val="lt1"/>
              </a:solidFill>
              <a:latin typeface="Twentieth Century"/>
              <a:ea typeface="Twentieth Century"/>
              <a:cs typeface="Twentieth Century"/>
              <a:sym typeface="Twentieth Century"/>
            </a:endParaRPr>
          </a:p>
        </p:txBody>
      </p:sp>
      <p:pic>
        <p:nvPicPr>
          <p:cNvPr id="243" name="Google Shape;243;p33"/>
          <p:cNvPicPr preferRelativeResize="0"/>
          <p:nvPr/>
        </p:nvPicPr>
        <p:blipFill>
          <a:blip r:embed="rId3">
            <a:alphaModFix/>
          </a:blip>
          <a:stretch>
            <a:fillRect/>
          </a:stretch>
        </p:blipFill>
        <p:spPr>
          <a:xfrm>
            <a:off x="2501800" y="2153550"/>
            <a:ext cx="6483750" cy="2441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idx="1" type="body"/>
          </p:nvPr>
        </p:nvSpPr>
        <p:spPr>
          <a:xfrm>
            <a:off x="302150" y="2571750"/>
            <a:ext cx="4900800" cy="2364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rmAutofit/>
          </a:bodyPr>
          <a:lstStyle/>
          <a:p>
            <a:pPr indent="-209550" lvl="0" marL="285750" rtl="0" algn="l">
              <a:lnSpc>
                <a:spcPct val="140000"/>
              </a:lnSpc>
              <a:spcBef>
                <a:spcPts val="1000"/>
              </a:spcBef>
              <a:spcAft>
                <a:spcPts val="0"/>
              </a:spcAft>
              <a:buClr>
                <a:schemeClr val="dk1"/>
              </a:buClr>
              <a:buSzPts val="1200"/>
              <a:buFont typeface="Noto Sans Symbols"/>
              <a:buChar char="●"/>
            </a:pPr>
            <a:r>
              <a:rPr b="1" lang="en" sz="1200">
                <a:latin typeface="Twentieth Century"/>
                <a:ea typeface="Twentieth Century"/>
                <a:cs typeface="Twentieth Century"/>
                <a:sym typeface="Twentieth Century"/>
              </a:rPr>
              <a:t>Jupyter (</a:t>
            </a:r>
            <a:r>
              <a:rPr b="1" lang="en" sz="1200" u="sng">
                <a:solidFill>
                  <a:schemeClr val="hlink"/>
                </a:solidFill>
                <a:latin typeface="Twentieth Century"/>
                <a:ea typeface="Twentieth Century"/>
                <a:cs typeface="Twentieth Century"/>
                <a:sym typeface="Twentieth Century"/>
                <a:hlinkClick r:id="rId3"/>
              </a:rPr>
              <a:t>https://jupyter.org/</a:t>
            </a:r>
            <a:r>
              <a:rPr b="1" lang="en" sz="1200">
                <a:latin typeface="Twentieth Century"/>
                <a:ea typeface="Twentieth Century"/>
                <a:cs typeface="Twentieth Century"/>
                <a:sym typeface="Twentieth Century"/>
              </a:rPr>
              <a:t>)</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Clr>
                <a:schemeClr val="dk1"/>
              </a:buClr>
              <a:buSzPts val="1200"/>
              <a:buFont typeface="Noto Sans Symbols"/>
              <a:buChar char="●"/>
            </a:pPr>
            <a:r>
              <a:rPr b="1" lang="en" sz="1200">
                <a:latin typeface="Twentieth Century"/>
                <a:ea typeface="Twentieth Century"/>
                <a:cs typeface="Twentieth Century"/>
                <a:sym typeface="Twentieth Century"/>
              </a:rPr>
              <a:t>VS Code (</a:t>
            </a:r>
            <a:r>
              <a:rPr b="1" lang="en" sz="1200" u="sng">
                <a:solidFill>
                  <a:schemeClr val="hlink"/>
                </a:solidFill>
                <a:latin typeface="Twentieth Century"/>
                <a:ea typeface="Twentieth Century"/>
                <a:cs typeface="Twentieth Century"/>
                <a:sym typeface="Twentieth Century"/>
                <a:hlinkClick r:id="rId4"/>
              </a:rPr>
              <a:t>https://code.visualstudio.com/</a:t>
            </a:r>
            <a:r>
              <a:rPr b="1" lang="en" sz="1200">
                <a:latin typeface="Twentieth Century"/>
                <a:ea typeface="Twentieth Century"/>
                <a:cs typeface="Twentieth Century"/>
                <a:sym typeface="Twentieth Century"/>
              </a:rPr>
              <a:t>) </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Twentieth Century"/>
              <a:buChar char="●"/>
            </a:pPr>
            <a:r>
              <a:rPr b="1" lang="en" sz="1200">
                <a:latin typeface="Twentieth Century"/>
                <a:ea typeface="Twentieth Century"/>
                <a:cs typeface="Twentieth Century"/>
                <a:sym typeface="Twentieth Century"/>
              </a:rPr>
              <a:t>Pulsar (</a:t>
            </a:r>
            <a:r>
              <a:rPr b="1" lang="en" sz="1200" u="sng">
                <a:solidFill>
                  <a:schemeClr val="hlink"/>
                </a:solidFill>
                <a:latin typeface="Twentieth Century"/>
                <a:ea typeface="Twentieth Century"/>
                <a:cs typeface="Twentieth Century"/>
                <a:sym typeface="Twentieth Century"/>
                <a:hlinkClick r:id="rId5"/>
              </a:rPr>
              <a:t>https://pulsar-edit.dev/</a:t>
            </a:r>
            <a:r>
              <a:rPr b="1" lang="en" sz="1200">
                <a:latin typeface="Twentieth Century"/>
                <a:ea typeface="Twentieth Century"/>
                <a:cs typeface="Twentieth Century"/>
                <a:sym typeface="Twentieth Century"/>
              </a:rPr>
              <a:t>) </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Noto Sans Symbols"/>
              <a:buChar char="●"/>
            </a:pPr>
            <a:r>
              <a:rPr b="1" lang="en" sz="1200">
                <a:latin typeface="Twentieth Century"/>
                <a:ea typeface="Twentieth Century"/>
                <a:cs typeface="Twentieth Century"/>
                <a:sym typeface="Twentieth Century"/>
              </a:rPr>
              <a:t>PyCharm (</a:t>
            </a:r>
            <a:r>
              <a:rPr b="1" lang="en" sz="1200" u="sng">
                <a:solidFill>
                  <a:schemeClr val="hlink"/>
                </a:solidFill>
                <a:latin typeface="Twentieth Century"/>
                <a:ea typeface="Twentieth Century"/>
                <a:cs typeface="Twentieth Century"/>
                <a:sym typeface="Twentieth Century"/>
                <a:hlinkClick r:id="rId6"/>
              </a:rPr>
              <a:t>https://www.jetbrains.com/pycharm/download/</a:t>
            </a:r>
            <a:r>
              <a:rPr b="1" lang="en" sz="1200">
                <a:latin typeface="Twentieth Century"/>
                <a:ea typeface="Twentieth Century"/>
                <a:cs typeface="Twentieth Century"/>
                <a:sym typeface="Twentieth Century"/>
              </a:rPr>
              <a:t>)</a:t>
            </a:r>
            <a:endParaRPr b="1" sz="1200">
              <a:latin typeface="Twentieth Century"/>
              <a:ea typeface="Twentieth Century"/>
              <a:cs typeface="Twentieth Century"/>
              <a:sym typeface="Twentieth Century"/>
            </a:endParaRPr>
          </a:p>
          <a:p>
            <a:pPr indent="-209550" lvl="0" marL="285750" rtl="0" algn="l">
              <a:lnSpc>
                <a:spcPct val="140000"/>
              </a:lnSpc>
              <a:spcBef>
                <a:spcPts val="1200"/>
              </a:spcBef>
              <a:spcAft>
                <a:spcPts val="1200"/>
              </a:spcAft>
              <a:buSzPts val="1200"/>
              <a:buFont typeface="Noto Sans Symbols"/>
              <a:buChar char="●"/>
            </a:pPr>
            <a:r>
              <a:rPr b="1" lang="en" sz="1200">
                <a:latin typeface="Twentieth Century"/>
                <a:ea typeface="Twentieth Century"/>
                <a:cs typeface="Twentieth Century"/>
                <a:sym typeface="Twentieth Century"/>
              </a:rPr>
              <a:t>Spyder (</a:t>
            </a:r>
            <a:r>
              <a:rPr b="1" lang="en" sz="1200" u="sng">
                <a:solidFill>
                  <a:schemeClr val="hlink"/>
                </a:solidFill>
                <a:latin typeface="Twentieth Century"/>
                <a:ea typeface="Twentieth Century"/>
                <a:cs typeface="Twentieth Century"/>
                <a:sym typeface="Twentieth Century"/>
                <a:hlinkClick r:id="rId7"/>
              </a:rPr>
              <a:t>https://www.spyder-ide.org/</a:t>
            </a:r>
            <a:r>
              <a:rPr lang="en" sz="1200">
                <a:latin typeface="Twentieth Century"/>
                <a:ea typeface="Twentieth Century"/>
                <a:cs typeface="Twentieth Century"/>
                <a:sym typeface="Twentieth Century"/>
              </a:rPr>
              <a:t>)</a:t>
            </a:r>
            <a:endParaRPr sz="1200">
              <a:latin typeface="Twentieth Century"/>
              <a:ea typeface="Twentieth Century"/>
              <a:cs typeface="Twentieth Century"/>
              <a:sym typeface="Twentieth Century"/>
            </a:endParaRPr>
          </a:p>
        </p:txBody>
      </p:sp>
      <p:pic>
        <p:nvPicPr>
          <p:cNvPr id="250" name="Google Shape;250;p34"/>
          <p:cNvPicPr preferRelativeResize="0"/>
          <p:nvPr/>
        </p:nvPicPr>
        <p:blipFill>
          <a:blip r:embed="rId8">
            <a:alphaModFix/>
          </a:blip>
          <a:stretch>
            <a:fillRect/>
          </a:stretch>
        </p:blipFill>
        <p:spPr>
          <a:xfrm>
            <a:off x="3138875" y="4184750"/>
            <a:ext cx="1803974" cy="442475"/>
          </a:xfrm>
          <a:prstGeom prst="rect">
            <a:avLst/>
          </a:prstGeom>
          <a:noFill/>
          <a:ln>
            <a:noFill/>
          </a:ln>
        </p:spPr>
      </p:pic>
      <p:sp>
        <p:nvSpPr>
          <p:cNvPr id="251" name="Google Shape;251;p34"/>
          <p:cNvSpPr txBox="1"/>
          <p:nvPr>
            <p:ph idx="1" type="body"/>
          </p:nvPr>
        </p:nvSpPr>
        <p:spPr>
          <a:xfrm>
            <a:off x="302150" y="1019700"/>
            <a:ext cx="4900800" cy="1470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6350" lvl="0" marL="177800" rtl="0" algn="l">
              <a:lnSpc>
                <a:spcPct val="140000"/>
              </a:lnSpc>
              <a:spcBef>
                <a:spcPts val="0"/>
              </a:spcBef>
              <a:spcAft>
                <a:spcPts val="0"/>
              </a:spcAft>
              <a:buClr>
                <a:schemeClr val="dk1"/>
              </a:buClr>
              <a:buSzPts val="543"/>
              <a:buFont typeface="Noto Sans Symbols"/>
              <a:buNone/>
            </a:pPr>
            <a:r>
              <a:rPr lang="en" sz="1107">
                <a:latin typeface="Twentieth Century"/>
                <a:ea typeface="Twentieth Century"/>
                <a:cs typeface="Twentieth Century"/>
                <a:sym typeface="Twentieth Century"/>
              </a:rPr>
              <a:t>You </a:t>
            </a:r>
            <a:r>
              <a:rPr b="1" lang="en" sz="1107">
                <a:latin typeface="Twentieth Century"/>
                <a:ea typeface="Twentieth Century"/>
                <a:cs typeface="Twentieth Century"/>
                <a:sym typeface="Twentieth Century"/>
              </a:rPr>
              <a:t>can </a:t>
            </a:r>
            <a:r>
              <a:rPr lang="en" sz="1107">
                <a:latin typeface="Twentieth Century"/>
                <a:ea typeface="Twentieth Century"/>
                <a:cs typeface="Twentieth Century"/>
                <a:sym typeface="Twentieth Century"/>
              </a:rPr>
              <a:t>write Python code and run it from your Command Prompt or Terminal…</a:t>
            </a:r>
            <a:r>
              <a:rPr b="1" lang="en" sz="1107">
                <a:latin typeface="Twentieth Century"/>
                <a:ea typeface="Twentieth Century"/>
                <a:cs typeface="Twentieth Century"/>
                <a:sym typeface="Twentieth Century"/>
              </a:rPr>
              <a:t>but </a:t>
            </a:r>
            <a:r>
              <a:rPr lang="en" sz="1107">
                <a:latin typeface="Twentieth Century"/>
                <a:ea typeface="Twentieth Century"/>
                <a:cs typeface="Twentieth Century"/>
                <a:sym typeface="Twentieth Century"/>
              </a:rPr>
              <a:t>using an IDE makes writing code much easier</a:t>
            </a:r>
            <a:endParaRPr sz="410">
              <a:latin typeface="Twentieth Century"/>
              <a:ea typeface="Twentieth Century"/>
              <a:cs typeface="Twentieth Century"/>
              <a:sym typeface="Twentieth Century"/>
            </a:endParaRPr>
          </a:p>
          <a:p>
            <a:pPr indent="-6350" lvl="0" marL="177800" rtl="0" algn="l">
              <a:lnSpc>
                <a:spcPct val="140000"/>
              </a:lnSpc>
              <a:spcBef>
                <a:spcPts val="1200"/>
              </a:spcBef>
              <a:spcAft>
                <a:spcPts val="1200"/>
              </a:spcAft>
              <a:buClr>
                <a:schemeClr val="dk1"/>
              </a:buClr>
              <a:buSzPts val="543"/>
              <a:buFont typeface="Noto Sans Symbols"/>
              <a:buNone/>
            </a:pPr>
            <a:r>
              <a:rPr lang="en" sz="1107">
                <a:latin typeface="Twentieth Century"/>
                <a:ea typeface="Twentieth Century"/>
                <a:cs typeface="Twentieth Century"/>
                <a:sym typeface="Twentieth Century"/>
              </a:rPr>
              <a:t>An </a:t>
            </a:r>
            <a:r>
              <a:rPr b="1" lang="en" sz="1107">
                <a:latin typeface="Twentieth Century"/>
                <a:ea typeface="Twentieth Century"/>
                <a:cs typeface="Twentieth Century"/>
                <a:sym typeface="Twentieth Century"/>
              </a:rPr>
              <a:t>IDE (integrated development environment) </a:t>
            </a:r>
            <a:r>
              <a:rPr lang="en" sz="1107">
                <a:latin typeface="Twentieth Century"/>
                <a:ea typeface="Twentieth Century"/>
                <a:cs typeface="Twentieth Century"/>
                <a:sym typeface="Twentieth Century"/>
              </a:rPr>
              <a:t>is a software solution designed to facilitate writing code</a:t>
            </a:r>
            <a:endParaRPr sz="1030">
              <a:latin typeface="Twentieth Century"/>
              <a:ea typeface="Twentieth Century"/>
              <a:cs typeface="Twentieth Century"/>
              <a:sym typeface="Twentieth Century"/>
            </a:endParaRPr>
          </a:p>
        </p:txBody>
      </p:sp>
      <p:sp>
        <p:nvSpPr>
          <p:cNvPr id="252" name="Google Shape;252;p3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Integrated Development Environments (IDEs)</a:t>
            </a:r>
            <a:endParaRPr b="1" sz="2500">
              <a:solidFill>
                <a:schemeClr val="lt1"/>
              </a:solidFill>
              <a:latin typeface="Twentieth Century"/>
              <a:ea typeface="Twentieth Century"/>
              <a:cs typeface="Twentieth Century"/>
              <a:sym typeface="Twentieth Century"/>
            </a:endParaRPr>
          </a:p>
        </p:txBody>
      </p:sp>
      <p:pic>
        <p:nvPicPr>
          <p:cNvPr id="253" name="Google Shape;253;p34"/>
          <p:cNvPicPr preferRelativeResize="0"/>
          <p:nvPr/>
        </p:nvPicPr>
        <p:blipFill>
          <a:blip r:embed="rId9">
            <a:alphaModFix/>
          </a:blip>
          <a:stretch>
            <a:fillRect/>
          </a:stretch>
        </p:blipFill>
        <p:spPr>
          <a:xfrm>
            <a:off x="2801333" y="3400824"/>
            <a:ext cx="492268" cy="482501"/>
          </a:xfrm>
          <a:prstGeom prst="rect">
            <a:avLst/>
          </a:prstGeom>
          <a:noFill/>
          <a:ln>
            <a:noFill/>
          </a:ln>
        </p:spPr>
      </p:pic>
      <p:pic>
        <p:nvPicPr>
          <p:cNvPr id="254" name="Google Shape;254;p34"/>
          <p:cNvPicPr preferRelativeResize="0"/>
          <p:nvPr/>
        </p:nvPicPr>
        <p:blipFill>
          <a:blip r:embed="rId10">
            <a:alphaModFix/>
          </a:blip>
          <a:stretch>
            <a:fillRect/>
          </a:stretch>
        </p:blipFill>
        <p:spPr>
          <a:xfrm>
            <a:off x="3494225" y="2956777"/>
            <a:ext cx="492276" cy="492276"/>
          </a:xfrm>
          <a:prstGeom prst="rect">
            <a:avLst/>
          </a:prstGeom>
          <a:noFill/>
          <a:ln>
            <a:noFill/>
          </a:ln>
        </p:spPr>
      </p:pic>
      <p:pic>
        <p:nvPicPr>
          <p:cNvPr id="255" name="Google Shape;255;p34"/>
          <p:cNvPicPr preferRelativeResize="0"/>
          <p:nvPr/>
        </p:nvPicPr>
        <p:blipFill>
          <a:blip r:embed="rId11">
            <a:alphaModFix/>
          </a:blip>
          <a:stretch>
            <a:fillRect/>
          </a:stretch>
        </p:blipFill>
        <p:spPr>
          <a:xfrm>
            <a:off x="2746102" y="2528824"/>
            <a:ext cx="492273" cy="570568"/>
          </a:xfrm>
          <a:prstGeom prst="rect">
            <a:avLst/>
          </a:prstGeom>
          <a:noFill/>
          <a:ln>
            <a:noFill/>
          </a:ln>
        </p:spPr>
      </p:pic>
      <p:pic>
        <p:nvPicPr>
          <p:cNvPr id="256" name="Google Shape;256;p34"/>
          <p:cNvPicPr preferRelativeResize="0"/>
          <p:nvPr/>
        </p:nvPicPr>
        <p:blipFill>
          <a:blip r:embed="rId12">
            <a:alphaModFix/>
          </a:blip>
          <a:stretch>
            <a:fillRect/>
          </a:stretch>
        </p:blipFill>
        <p:spPr>
          <a:xfrm>
            <a:off x="4572000" y="3718026"/>
            <a:ext cx="492276" cy="492276"/>
          </a:xfrm>
          <a:prstGeom prst="rect">
            <a:avLst/>
          </a:prstGeom>
          <a:noFill/>
          <a:ln>
            <a:noFill/>
          </a:ln>
        </p:spPr>
      </p:pic>
      <p:pic>
        <p:nvPicPr>
          <p:cNvPr id="257" name="Google Shape;257;p34"/>
          <p:cNvPicPr preferRelativeResize="0"/>
          <p:nvPr/>
        </p:nvPicPr>
        <p:blipFill>
          <a:blip r:embed="rId13">
            <a:alphaModFix/>
          </a:blip>
          <a:stretch>
            <a:fillRect/>
          </a:stretch>
        </p:blipFill>
        <p:spPr>
          <a:xfrm>
            <a:off x="5895225" y="1019700"/>
            <a:ext cx="3103028" cy="39834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nvSpPr>
        <p:spPr>
          <a:xfrm>
            <a:off x="328550" y="1047000"/>
            <a:ext cx="5439600" cy="3049500"/>
          </a:xfrm>
          <a:prstGeom prst="rect">
            <a:avLst/>
          </a:prstGeom>
          <a:solidFill>
            <a:srgbClr val="FFFFFF"/>
          </a:solidFill>
          <a:ln>
            <a:noFill/>
          </a:ln>
          <a:effectLst>
            <a:outerShdw blurRad="50800" rotWithShape="0" algn="tl" dir="2700000" dist="38100">
              <a:srgbClr val="000000">
                <a:alpha val="40000"/>
              </a:srgbClr>
            </a:outerShdw>
          </a:effectLst>
        </p:spPr>
        <p:txBody>
          <a:bodyPr anchorCtr="0" anchor="t" bIns="182875" lIns="365750" spcFirstLastPara="1" rIns="182875" wrap="square" tIns="182875">
            <a:normAutofit/>
          </a:bodyPr>
          <a:lstStyle/>
          <a:p>
            <a:pPr indent="-279987" lvl="0" marL="228600" rtl="0" algn="l">
              <a:lnSpc>
                <a:spcPct val="140000"/>
              </a:lnSpc>
              <a:spcBef>
                <a:spcPts val="0"/>
              </a:spcBef>
              <a:spcAft>
                <a:spcPts val="0"/>
              </a:spcAft>
              <a:buClr>
                <a:srgbClr val="000000"/>
              </a:buClr>
              <a:buSzPts val="1799"/>
              <a:buFont typeface="Noto Sans Symbols"/>
              <a:buChar char="➔"/>
            </a:pPr>
            <a:r>
              <a:rPr lang="en" sz="1799">
                <a:latin typeface="Twentieth Century"/>
                <a:ea typeface="Twentieth Century"/>
                <a:cs typeface="Twentieth Century"/>
                <a:sym typeface="Twentieth Century"/>
              </a:rPr>
              <a:t>VS Code </a:t>
            </a:r>
            <a:r>
              <a:rPr lang="en" sz="1799">
                <a:solidFill>
                  <a:srgbClr val="000000"/>
                </a:solidFill>
                <a:latin typeface="Twentieth Century"/>
                <a:ea typeface="Twentieth Century"/>
                <a:cs typeface="Twentieth Century"/>
                <a:sym typeface="Twentieth Century"/>
              </a:rPr>
              <a:t>is a great IDE for Python because it is:</a:t>
            </a:r>
            <a:endParaRPr sz="1799">
              <a:solidFill>
                <a:srgbClr val="000000"/>
              </a:solidFill>
            </a:endParaRPr>
          </a:p>
          <a:p>
            <a:pPr indent="-270809" lvl="1" marL="685800" rtl="0" algn="l">
              <a:lnSpc>
                <a:spcPct val="140000"/>
              </a:lnSpc>
              <a:spcBef>
                <a:spcPts val="1000"/>
              </a:spcBef>
              <a:spcAft>
                <a:spcPts val="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Free</a:t>
            </a:r>
            <a:endParaRPr sz="1344">
              <a:solidFill>
                <a:srgbClr val="000000"/>
              </a:solidFill>
            </a:endParaRPr>
          </a:p>
          <a:p>
            <a:pPr indent="-270809" lvl="1" marL="685800" rtl="0" algn="l">
              <a:lnSpc>
                <a:spcPct val="140000"/>
              </a:lnSpc>
              <a:spcBef>
                <a:spcPts val="1000"/>
              </a:spcBef>
              <a:spcAft>
                <a:spcPts val="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Open source</a:t>
            </a:r>
            <a:endParaRPr sz="1544">
              <a:solidFill>
                <a:srgbClr val="000000"/>
              </a:solidFill>
            </a:endParaRPr>
          </a:p>
          <a:p>
            <a:pPr indent="-270809" lvl="1" marL="685800" rtl="0" algn="l">
              <a:lnSpc>
                <a:spcPct val="140000"/>
              </a:lnSpc>
              <a:spcBef>
                <a:spcPts val="1000"/>
              </a:spcBef>
              <a:spcAft>
                <a:spcPts val="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Cross platform compatible</a:t>
            </a:r>
            <a:endParaRPr sz="1544">
              <a:solidFill>
                <a:srgbClr val="000000"/>
              </a:solidFill>
              <a:latin typeface="Twentieth Century"/>
              <a:ea typeface="Twentieth Century"/>
              <a:cs typeface="Twentieth Century"/>
              <a:sym typeface="Twentieth Century"/>
            </a:endParaRPr>
          </a:p>
          <a:p>
            <a:pPr indent="-270809" lvl="1" marL="685800" rtl="0" algn="l">
              <a:lnSpc>
                <a:spcPct val="140000"/>
              </a:lnSpc>
              <a:spcBef>
                <a:spcPts val="1000"/>
              </a:spcBef>
              <a:spcAft>
                <a:spcPts val="0"/>
              </a:spcAft>
              <a:buClr>
                <a:schemeClr val="dk1"/>
              </a:buClr>
              <a:buSzPts val="1545"/>
              <a:buFont typeface="Twentieth Century"/>
              <a:buChar char="◆"/>
            </a:pPr>
            <a:r>
              <a:rPr lang="en" sz="1544">
                <a:latin typeface="Twentieth Century"/>
                <a:ea typeface="Twentieth Century"/>
                <a:cs typeface="Twentieth Century"/>
                <a:sym typeface="Twentieth Century"/>
              </a:rPr>
              <a:t>Widely utilized</a:t>
            </a:r>
            <a:endParaRPr sz="1544">
              <a:latin typeface="Twentieth Century"/>
              <a:ea typeface="Twentieth Century"/>
              <a:cs typeface="Twentieth Century"/>
              <a:sym typeface="Twentieth Century"/>
            </a:endParaRPr>
          </a:p>
          <a:p>
            <a:pPr indent="-270809" lvl="1" marL="685800" rtl="0" algn="l">
              <a:lnSpc>
                <a:spcPct val="140000"/>
              </a:lnSpc>
              <a:spcBef>
                <a:spcPts val="1000"/>
              </a:spcBef>
              <a:spcAft>
                <a:spcPts val="100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Extensible and customizable</a:t>
            </a:r>
            <a:endParaRPr sz="807">
              <a:solidFill>
                <a:srgbClr val="000000"/>
              </a:solidFill>
              <a:latin typeface="Twentieth Century"/>
              <a:ea typeface="Twentieth Century"/>
              <a:cs typeface="Twentieth Century"/>
              <a:sym typeface="Twentieth Century"/>
            </a:endParaRPr>
          </a:p>
        </p:txBody>
      </p:sp>
      <p:sp>
        <p:nvSpPr>
          <p:cNvPr id="264" name="Google Shape;264;p3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Using VS Code as your Python IDE</a:t>
            </a:r>
            <a:endParaRPr b="1" sz="2500">
              <a:solidFill>
                <a:schemeClr val="lt1"/>
              </a:solidFill>
              <a:latin typeface="Twentieth Century"/>
              <a:ea typeface="Twentieth Century"/>
              <a:cs typeface="Twentieth Century"/>
              <a:sym typeface="Twentieth Century"/>
            </a:endParaRPr>
          </a:p>
        </p:txBody>
      </p:sp>
      <p:pic>
        <p:nvPicPr>
          <p:cNvPr id="265" name="Google Shape;265;p35"/>
          <p:cNvPicPr preferRelativeResize="0"/>
          <p:nvPr/>
        </p:nvPicPr>
        <p:blipFill>
          <a:blip r:embed="rId3">
            <a:alphaModFix/>
          </a:blip>
          <a:stretch>
            <a:fillRect/>
          </a:stretch>
        </p:blipFill>
        <p:spPr>
          <a:xfrm>
            <a:off x="328551" y="4315675"/>
            <a:ext cx="2883591" cy="585000"/>
          </a:xfrm>
          <a:prstGeom prst="rect">
            <a:avLst/>
          </a:prstGeom>
          <a:noFill/>
          <a:ln>
            <a:noFill/>
          </a:ln>
          <a:effectLst>
            <a:outerShdw blurRad="57150" rotWithShape="0" algn="bl" dir="5400000" dist="19050">
              <a:srgbClr val="000000">
                <a:alpha val="50000"/>
              </a:srgbClr>
            </a:outerShdw>
          </a:effectLst>
        </p:spPr>
      </p:pic>
      <p:sp>
        <p:nvSpPr>
          <p:cNvPr id="266" name="Google Shape;266;p35"/>
          <p:cNvSpPr txBox="1"/>
          <p:nvPr/>
        </p:nvSpPr>
        <p:spPr>
          <a:xfrm>
            <a:off x="3339288" y="4315675"/>
            <a:ext cx="2428800" cy="585000"/>
          </a:xfrm>
          <a:prstGeom prst="rect">
            <a:avLst/>
          </a:prstGeom>
          <a:solidFill>
            <a:srgbClr val="26262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Calibri"/>
                <a:ea typeface="Calibri"/>
                <a:cs typeface="Calibri"/>
                <a:sym typeface="Calibri"/>
              </a:rPr>
              <a:t>Download VS Code at </a:t>
            </a:r>
            <a:r>
              <a:rPr b="1" lang="en" sz="1300" u="sng">
                <a:solidFill>
                  <a:srgbClr val="9FC5E8"/>
                </a:solidFill>
                <a:latin typeface="Calibri"/>
                <a:ea typeface="Calibri"/>
                <a:cs typeface="Calibri"/>
                <a:sym typeface="Calibri"/>
                <a:hlinkClick r:id="rId4">
                  <a:extLst>
                    <a:ext uri="{A12FA001-AC4F-418D-AE19-62706E023703}">
                      <ahyp:hlinkClr val="tx"/>
                    </a:ext>
                  </a:extLst>
                </a:hlinkClick>
              </a:rPr>
              <a:t>https://code.visualstudio.com/</a:t>
            </a:r>
            <a:r>
              <a:rPr b="1" lang="en" sz="1300">
                <a:solidFill>
                  <a:schemeClr val="lt1"/>
                </a:solidFill>
                <a:latin typeface="Calibri"/>
                <a:ea typeface="Calibri"/>
                <a:cs typeface="Calibri"/>
                <a:sym typeface="Calibri"/>
              </a:rPr>
              <a:t> </a:t>
            </a:r>
            <a:endParaRPr b="1" sz="1300">
              <a:solidFill>
                <a:schemeClr val="lt1"/>
              </a:solidFill>
              <a:latin typeface="Calibri"/>
              <a:ea typeface="Calibri"/>
              <a:cs typeface="Calibri"/>
              <a:sym typeface="Calibri"/>
            </a:endParaRPr>
          </a:p>
        </p:txBody>
      </p:sp>
      <p:pic>
        <p:nvPicPr>
          <p:cNvPr id="267" name="Google Shape;267;p35"/>
          <p:cNvPicPr preferRelativeResize="0"/>
          <p:nvPr/>
        </p:nvPicPr>
        <p:blipFill>
          <a:blip r:embed="rId5">
            <a:alphaModFix/>
          </a:blip>
          <a:stretch>
            <a:fillRect/>
          </a:stretch>
        </p:blipFill>
        <p:spPr>
          <a:xfrm>
            <a:off x="5895225" y="1019700"/>
            <a:ext cx="3103028" cy="3983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ph idx="1" type="body"/>
          </p:nvPr>
        </p:nvSpPr>
        <p:spPr>
          <a:xfrm>
            <a:off x="2471925" y="988450"/>
            <a:ext cx="6428100" cy="4006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68575" lIns="68575" spcFirstLastPara="1" rIns="68575" wrap="square" tIns="68575">
            <a:normAutofit/>
          </a:bodyPr>
          <a:lstStyle/>
          <a:p>
            <a:pPr indent="-165100" lvl="0" marL="285750" rtl="0" algn="l">
              <a:lnSpc>
                <a:spcPct val="200000"/>
              </a:lnSpc>
              <a:spcBef>
                <a:spcPts val="1000"/>
              </a:spcBef>
              <a:spcAft>
                <a:spcPts val="0"/>
              </a:spcAft>
              <a:buClr>
                <a:schemeClr val="dk1"/>
              </a:buClr>
              <a:buSzPts val="800"/>
              <a:buFont typeface="Noto Sans Symbols"/>
              <a:buChar char="●"/>
            </a:pPr>
            <a:r>
              <a:rPr b="1" lang="en" sz="1400">
                <a:latin typeface="Twentieth Century"/>
                <a:ea typeface="Twentieth Century"/>
                <a:cs typeface="Twentieth Century"/>
                <a:sym typeface="Twentieth Century"/>
              </a:rPr>
              <a:t>Stack Overflow </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3"/>
              </a:rPr>
              <a:t>https://stackoverflow.com/</a:t>
            </a:r>
            <a:r>
              <a:rPr lang="en" sz="900">
                <a:latin typeface="Twentieth Century"/>
                <a:ea typeface="Twentieth Century"/>
                <a:cs typeface="Twentieth Century"/>
                <a:sym typeface="Twentieth Century"/>
              </a:rPr>
              <a:t>) </a:t>
            </a:r>
            <a:endParaRPr sz="1100"/>
          </a:p>
          <a:p>
            <a:pPr indent="-165100" lvl="0" marL="285750" rtl="0" algn="l">
              <a:lnSpc>
                <a:spcPct val="200000"/>
              </a:lnSpc>
              <a:spcBef>
                <a:spcPts val="1000"/>
              </a:spcBef>
              <a:spcAft>
                <a:spcPts val="0"/>
              </a:spcAft>
              <a:buClr>
                <a:schemeClr val="dk1"/>
              </a:buClr>
              <a:buSzPts val="800"/>
              <a:buFont typeface="Noto Sans Symbols"/>
              <a:buChar char="●"/>
            </a:pPr>
            <a:r>
              <a:rPr b="1" lang="en" sz="1400">
                <a:latin typeface="Twentieth Century"/>
                <a:ea typeface="Twentieth Century"/>
                <a:cs typeface="Twentieth Century"/>
                <a:sym typeface="Twentieth Century"/>
              </a:rPr>
              <a:t>Data Carpentry</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4"/>
              </a:rPr>
              <a:t>https://datacarpentry.org/python-ecology-lesson/</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65100" lvl="0" marL="285750" rtl="0" algn="l">
              <a:lnSpc>
                <a:spcPct val="200000"/>
              </a:lnSpc>
              <a:spcBef>
                <a:spcPts val="1200"/>
              </a:spcBef>
              <a:spcAft>
                <a:spcPts val="0"/>
              </a:spcAft>
              <a:buSzPts val="800"/>
              <a:buFont typeface="Noto Sans Symbols"/>
              <a:buChar char="●"/>
            </a:pPr>
            <a:r>
              <a:rPr b="1" lang="en" sz="1400">
                <a:latin typeface="Twentieth Century"/>
                <a:ea typeface="Twentieth Century"/>
                <a:cs typeface="Twentieth Century"/>
                <a:sym typeface="Twentieth Century"/>
              </a:rPr>
              <a:t>Python Documentation</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5"/>
              </a:rPr>
              <a:t>https://docs.python.org/3/library/index.html</a:t>
            </a:r>
            <a:r>
              <a:rPr lang="en" sz="900">
                <a:latin typeface="Twentieth Century"/>
                <a:ea typeface="Twentieth Century"/>
                <a:cs typeface="Twentieth Century"/>
                <a:sym typeface="Twentieth Century"/>
              </a:rPr>
              <a:t>) </a:t>
            </a:r>
            <a:endParaRPr sz="1100"/>
          </a:p>
          <a:p>
            <a:pPr indent="-165100" lvl="0" marL="285750" rtl="0" algn="l">
              <a:lnSpc>
                <a:spcPct val="200000"/>
              </a:lnSpc>
              <a:spcBef>
                <a:spcPts val="1200"/>
              </a:spcBef>
              <a:spcAft>
                <a:spcPts val="0"/>
              </a:spcAft>
              <a:buSzPts val="800"/>
              <a:buFont typeface="Noto Sans Symbols"/>
              <a:buChar char="●"/>
            </a:pPr>
            <a:r>
              <a:rPr b="1" lang="en" sz="1400">
                <a:latin typeface="Twentieth Century"/>
                <a:ea typeface="Twentieth Century"/>
                <a:cs typeface="Twentieth Century"/>
                <a:sym typeface="Twentieth Century"/>
              </a:rPr>
              <a:t>Python Tutorial  </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6"/>
              </a:rPr>
              <a:t>https://docs.python.org/3/tutorial/index.html</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65100" lvl="0" marL="285750" rtl="0" algn="l">
              <a:lnSpc>
                <a:spcPct val="200000"/>
              </a:lnSpc>
              <a:spcBef>
                <a:spcPts val="1200"/>
              </a:spcBef>
              <a:spcAft>
                <a:spcPts val="0"/>
              </a:spcAft>
              <a:buSzPts val="800"/>
              <a:buFont typeface="Noto Sans Symbols"/>
              <a:buChar char="●"/>
            </a:pPr>
            <a:r>
              <a:rPr b="1" lang="en" sz="1400">
                <a:latin typeface="Twentieth Century"/>
                <a:ea typeface="Twentieth Century"/>
                <a:cs typeface="Twentieth Century"/>
                <a:sym typeface="Twentieth Century"/>
              </a:rPr>
              <a:t>LinkedIn Learning</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7"/>
              </a:rPr>
              <a:t>https://www.linkedin.com/learning/topics/python</a:t>
            </a:r>
            <a:r>
              <a:rPr lang="en" sz="900">
                <a:latin typeface="Twentieth Century"/>
                <a:ea typeface="Twentieth Century"/>
                <a:cs typeface="Twentieth Century"/>
                <a:sym typeface="Twentieth Century"/>
              </a:rPr>
              <a:t>)</a:t>
            </a:r>
            <a:endParaRPr sz="900">
              <a:latin typeface="Twentieth Century"/>
              <a:ea typeface="Twentieth Century"/>
              <a:cs typeface="Twentieth Century"/>
              <a:sym typeface="Twentieth Century"/>
            </a:endParaRPr>
          </a:p>
          <a:p>
            <a:pPr indent="-171450" lvl="0" marL="285750" rtl="0" algn="l">
              <a:lnSpc>
                <a:spcPct val="200000"/>
              </a:lnSpc>
              <a:spcBef>
                <a:spcPts val="1200"/>
              </a:spcBef>
              <a:spcAft>
                <a:spcPts val="0"/>
              </a:spcAft>
              <a:buSzPts val="900"/>
              <a:buFont typeface="Twentieth Century"/>
              <a:buChar char="●"/>
            </a:pPr>
            <a:r>
              <a:rPr b="1" lang="en" sz="1400">
                <a:latin typeface="Twentieth Century"/>
                <a:ea typeface="Twentieth Century"/>
                <a:cs typeface="Twentieth Century"/>
                <a:sym typeface="Twentieth Century"/>
              </a:rPr>
              <a:t>UT Statistics Short Courses</a:t>
            </a:r>
            <a:r>
              <a:rPr lang="en" sz="900">
                <a:latin typeface="Twentieth Century"/>
                <a:ea typeface="Twentieth Century"/>
                <a:cs typeface="Twentieth Century"/>
                <a:sym typeface="Twentieth Century"/>
              </a:rPr>
              <a:t> (</a:t>
            </a:r>
            <a:r>
              <a:rPr lang="en" sz="900" u="sng">
                <a:solidFill>
                  <a:schemeClr val="hlink"/>
                </a:solidFill>
                <a:latin typeface="Twentieth Century"/>
                <a:ea typeface="Twentieth Century"/>
                <a:cs typeface="Twentieth Century"/>
                <a:sym typeface="Twentieth Century"/>
                <a:hlinkClick r:id="rId8"/>
              </a:rPr>
              <a:t>https://stat.utexas.edu/training/software-short-courses</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71450" lvl="0" marL="285750" rtl="0" algn="l">
              <a:lnSpc>
                <a:spcPct val="200000"/>
              </a:lnSpc>
              <a:spcBef>
                <a:spcPts val="1200"/>
              </a:spcBef>
              <a:spcAft>
                <a:spcPts val="1200"/>
              </a:spcAft>
              <a:buSzPts val="900"/>
              <a:buFont typeface="Twentieth Century"/>
              <a:buChar char="●"/>
            </a:pPr>
            <a:r>
              <a:rPr b="1" lang="en" sz="1400">
                <a:latin typeface="Twentieth Century"/>
                <a:ea typeface="Twentieth Century"/>
                <a:cs typeface="Twentieth Century"/>
                <a:sym typeface="Twentieth Century"/>
              </a:rPr>
              <a:t>Google Colab: Intro to Python</a:t>
            </a:r>
            <a:r>
              <a:rPr b="1" lang="en" sz="13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9"/>
              </a:rPr>
              <a:t>https://colab.research.google.com/notebooks/intro.ipynb</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p:txBody>
      </p:sp>
      <p:pic>
        <p:nvPicPr>
          <p:cNvPr id="274" name="Google Shape;274;p36"/>
          <p:cNvPicPr preferRelativeResize="0"/>
          <p:nvPr/>
        </p:nvPicPr>
        <p:blipFill>
          <a:blip r:embed="rId10">
            <a:alphaModFix/>
          </a:blip>
          <a:stretch>
            <a:fillRect/>
          </a:stretch>
        </p:blipFill>
        <p:spPr>
          <a:xfrm>
            <a:off x="245724" y="1064650"/>
            <a:ext cx="1898427" cy="1024274"/>
          </a:xfrm>
          <a:prstGeom prst="rect">
            <a:avLst/>
          </a:prstGeom>
          <a:noFill/>
          <a:ln>
            <a:noFill/>
          </a:ln>
          <a:effectLst>
            <a:outerShdw blurRad="57150" rotWithShape="0" algn="bl" dir="5400000" dist="19050">
              <a:srgbClr val="000000">
                <a:alpha val="50000"/>
              </a:srgbClr>
            </a:outerShdw>
          </a:effectLst>
        </p:spPr>
      </p:pic>
      <p:pic>
        <p:nvPicPr>
          <p:cNvPr id="275" name="Google Shape;275;p36"/>
          <p:cNvPicPr preferRelativeResize="0"/>
          <p:nvPr/>
        </p:nvPicPr>
        <p:blipFill>
          <a:blip r:embed="rId11">
            <a:alphaModFix/>
          </a:blip>
          <a:stretch>
            <a:fillRect/>
          </a:stretch>
        </p:blipFill>
        <p:spPr>
          <a:xfrm>
            <a:off x="245725" y="2345450"/>
            <a:ext cx="1898425" cy="1226275"/>
          </a:xfrm>
          <a:prstGeom prst="rect">
            <a:avLst/>
          </a:prstGeom>
          <a:noFill/>
          <a:ln>
            <a:noFill/>
          </a:ln>
          <a:effectLst>
            <a:outerShdw blurRad="57150" rotWithShape="0" algn="bl" dir="5400000" dist="19050">
              <a:srgbClr val="000000">
                <a:alpha val="50000"/>
              </a:srgbClr>
            </a:outerShdw>
          </a:effectLst>
        </p:spPr>
      </p:pic>
      <p:pic>
        <p:nvPicPr>
          <p:cNvPr id="276" name="Google Shape;276;p36"/>
          <p:cNvPicPr preferRelativeResize="0"/>
          <p:nvPr/>
        </p:nvPicPr>
        <p:blipFill>
          <a:blip r:embed="rId12">
            <a:alphaModFix/>
          </a:blip>
          <a:stretch>
            <a:fillRect/>
          </a:stretch>
        </p:blipFill>
        <p:spPr>
          <a:xfrm>
            <a:off x="245725" y="3893747"/>
            <a:ext cx="1898427" cy="1051151"/>
          </a:xfrm>
          <a:prstGeom prst="rect">
            <a:avLst/>
          </a:prstGeom>
          <a:noFill/>
          <a:ln>
            <a:noFill/>
          </a:ln>
          <a:effectLst>
            <a:outerShdw blurRad="57150" rotWithShape="0" algn="bl" dir="5400000" dist="19050">
              <a:srgbClr val="000000">
                <a:alpha val="50000"/>
              </a:srgbClr>
            </a:outerShdw>
          </a:effectLst>
        </p:spPr>
      </p:pic>
      <p:sp>
        <p:nvSpPr>
          <p:cNvPr id="277" name="Google Shape;277;p3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Resources, Documentation, and Help</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txBox="1"/>
          <p:nvPr>
            <p:ph type="title"/>
          </p:nvPr>
        </p:nvSpPr>
        <p:spPr>
          <a:xfrm>
            <a:off x="-390906" y="20894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
        <p:nvSpPr>
          <p:cNvPr id="290" name="Google Shape;290;p38"/>
          <p:cNvSpPr txBox="1"/>
          <p:nvPr>
            <p:ph idx="1" type="body"/>
          </p:nvPr>
        </p:nvSpPr>
        <p:spPr>
          <a:xfrm>
            <a:off x="134400" y="967248"/>
            <a:ext cx="8866200" cy="4011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a:bodyPr>
          <a:lstStyle/>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Python (</a:t>
            </a:r>
            <a:r>
              <a:rPr b="1" lang="en" sz="14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https://www.python.org/downloads/</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Make sure you can install new Python packages using the Terminal (MacOS) or Command Prompt (Windows)</a:t>
            </a:r>
            <a:endParaRPr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the following command on your PC:     </a:t>
            </a:r>
            <a:r>
              <a:rPr b="1" lang="en" sz="1400">
                <a:latin typeface="Twentieth Century"/>
                <a:ea typeface="Twentieth Century"/>
                <a:cs typeface="Twentieth Century"/>
                <a:sym typeface="Twentieth Century"/>
              </a:rPr>
              <a:t>python -m pip install pandas</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the following command on your Mac:     </a:t>
            </a:r>
            <a:r>
              <a:rPr b="1" lang="en" sz="1400">
                <a:latin typeface="Twentieth Century"/>
                <a:ea typeface="Twentieth Century"/>
                <a:cs typeface="Twentieth Century"/>
                <a:sym typeface="Twentieth Century"/>
              </a:rPr>
              <a:t>python3 -m pip install pandas</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VSCode (</a:t>
            </a:r>
            <a:r>
              <a:rPr b="1" lang="en" sz="1400" u="sng">
                <a:solidFill>
                  <a:srgbClr val="1155CC"/>
                </a:solidFill>
                <a:latin typeface="Twentieth Century"/>
                <a:ea typeface="Twentieth Century"/>
                <a:cs typeface="Twentieth Century"/>
                <a:sym typeface="Twentieth Century"/>
                <a:hlinkClick r:id="rId4">
                  <a:extLst>
                    <a:ext uri="{A12FA001-AC4F-418D-AE19-62706E023703}">
                      <ahyp:hlinkClr val="tx"/>
                    </a:ext>
                  </a:extLst>
                </a:hlinkClick>
              </a:rPr>
              <a:t>https://code.visualstudio.com/download</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Create a new file with the extension .py (to designate the file as a Python script)</a:t>
            </a:r>
            <a:endParaRPr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clicking the play/run button in the upper right corner of VSCode to run the script</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Git </a:t>
            </a:r>
            <a:r>
              <a:rPr lang="en" sz="1400">
                <a:latin typeface="Twentieth Century"/>
                <a:ea typeface="Twentieth Century"/>
                <a:cs typeface="Twentieth Century"/>
                <a:sym typeface="Twentieth Century"/>
              </a:rPr>
              <a:t>(</a:t>
            </a:r>
            <a:r>
              <a:rPr b="1" lang="en" sz="1400" u="sng">
                <a:solidFill>
                  <a:schemeClr val="hlink"/>
                </a:solidFill>
                <a:latin typeface="Twentieth Century"/>
                <a:ea typeface="Twentieth Century"/>
                <a:cs typeface="Twentieth Century"/>
                <a:sym typeface="Twentieth Century"/>
                <a:hlinkClick r:id="rId5"/>
              </a:rPr>
              <a:t>https://git-scm.com/downloads</a:t>
            </a:r>
            <a:r>
              <a:rPr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Github Desktop (</a:t>
            </a:r>
            <a:r>
              <a:rPr b="1" lang="en" sz="1400" u="sng">
                <a:solidFill>
                  <a:srgbClr val="1155CC"/>
                </a:solidFill>
                <a:latin typeface="Twentieth Century"/>
                <a:ea typeface="Twentieth Century"/>
                <a:cs typeface="Twentieth Century"/>
                <a:sym typeface="Twentieth Century"/>
                <a:hlinkClick r:id="rId6">
                  <a:extLst>
                    <a:ext uri="{A12FA001-AC4F-418D-AE19-62706E023703}">
                      <ahyp:hlinkClr val="tx"/>
                    </a:ext>
                  </a:extLst>
                </a:hlinkClick>
              </a:rPr>
              <a:t>https://desktop.github.com/download/</a:t>
            </a:r>
            <a:r>
              <a:rPr b="1" lang="en" sz="1400">
                <a:latin typeface="Twentieth Century"/>
                <a:ea typeface="Twentieth Century"/>
                <a:cs typeface="Twentieth Century"/>
                <a:sym typeface="Twentieth Century"/>
              </a:rPr>
              <a:t>) </a:t>
            </a:r>
            <a:endParaRPr sz="1400">
              <a:latin typeface="Twentieth Century"/>
              <a:ea typeface="Twentieth Century"/>
              <a:cs typeface="Twentieth Century"/>
              <a:sym typeface="Twentieth Century"/>
            </a:endParaRPr>
          </a:p>
        </p:txBody>
      </p:sp>
      <p:sp>
        <p:nvSpPr>
          <p:cNvPr id="291" name="Google Shape;291;p38"/>
          <p:cNvSpPr txBox="1"/>
          <p:nvPr/>
        </p:nvSpPr>
        <p:spPr>
          <a:xfrm>
            <a:off x="6323675" y="4383200"/>
            <a:ext cx="2625000" cy="547500"/>
          </a:xfrm>
          <a:prstGeom prst="rect">
            <a:avLst/>
          </a:prstGeom>
          <a:solidFill>
            <a:srgbClr val="CC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Calibri"/>
                <a:ea typeface="Calibri"/>
                <a:cs typeface="Calibri"/>
                <a:sym typeface="Calibri"/>
              </a:rPr>
              <a:t>See next slide for troubleshooting common issues</a:t>
            </a:r>
            <a:endParaRPr b="1">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Common Issues</a:t>
            </a:r>
            <a:endParaRPr b="1" sz="2500">
              <a:solidFill>
                <a:schemeClr val="lt1"/>
              </a:solidFill>
              <a:latin typeface="Twentieth Century"/>
              <a:ea typeface="Twentieth Century"/>
              <a:cs typeface="Twentieth Century"/>
              <a:sym typeface="Twentieth Century"/>
            </a:endParaRPr>
          </a:p>
        </p:txBody>
      </p:sp>
      <p:sp>
        <p:nvSpPr>
          <p:cNvPr id="297" name="Google Shape;297;p39"/>
          <p:cNvSpPr txBox="1"/>
          <p:nvPr>
            <p:ph idx="1" type="body"/>
          </p:nvPr>
        </p:nvSpPr>
        <p:spPr>
          <a:xfrm>
            <a:off x="134400" y="948725"/>
            <a:ext cx="8866200" cy="3607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rmAutofit lnSpcReduction="10000"/>
          </a:bodyPr>
          <a:lstStyle/>
          <a:p>
            <a:pPr indent="-330200" lvl="0" marL="457200" rtl="0" algn="l">
              <a:lnSpc>
                <a:spcPct val="115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Mac</a:t>
            </a:r>
            <a:endParaRPr b="1" sz="16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ISSUE</a:t>
            </a:r>
            <a:r>
              <a:rPr lang="en" sz="1100">
                <a:latin typeface="Twentieth Century"/>
                <a:ea typeface="Twentieth Century"/>
                <a:cs typeface="Twentieth Century"/>
                <a:sym typeface="Twentieth Century"/>
              </a:rPr>
              <a:t>: you cannot run a Python script in VS Code</a:t>
            </a:r>
            <a:endParaRPr sz="11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CAUSE</a:t>
            </a:r>
            <a:r>
              <a:rPr lang="en" sz="1100">
                <a:latin typeface="Twentieth Century"/>
                <a:ea typeface="Twentieth Century"/>
                <a:cs typeface="Twentieth Century"/>
                <a:sym typeface="Twentieth Century"/>
              </a:rPr>
              <a:t>: the </a:t>
            </a:r>
            <a:r>
              <a:rPr i="1" lang="en" sz="1100">
                <a:latin typeface="Twentieth Century"/>
                <a:ea typeface="Twentieth Century"/>
                <a:cs typeface="Twentieth Century"/>
                <a:sym typeface="Twentieth Century"/>
              </a:rPr>
              <a:t>Python default interpreter path </a:t>
            </a:r>
            <a:r>
              <a:rPr lang="en" sz="1100">
                <a:latin typeface="Twentieth Century"/>
                <a:ea typeface="Twentieth Century"/>
                <a:cs typeface="Twentieth Century"/>
                <a:sym typeface="Twentieth Century"/>
              </a:rPr>
              <a:t>is not set correctly</a:t>
            </a:r>
            <a:endParaRPr sz="11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SOLUTION</a:t>
            </a:r>
            <a:r>
              <a:rPr lang="en" sz="1100">
                <a:latin typeface="Twentieth Century"/>
                <a:ea typeface="Twentieth Century"/>
                <a:cs typeface="Twentieth Century"/>
                <a:sym typeface="Twentieth Century"/>
              </a:rPr>
              <a:t>: In VSCode go to </a:t>
            </a:r>
            <a:r>
              <a:rPr i="1" lang="en" sz="1100">
                <a:latin typeface="Twentieth Century"/>
                <a:ea typeface="Twentieth Century"/>
                <a:cs typeface="Twentieth Century"/>
                <a:sym typeface="Twentieth Century"/>
              </a:rPr>
              <a:t>File &gt; Preferences &gt; Settings and search for the Python default interpreter path </a:t>
            </a:r>
            <a:r>
              <a:rPr lang="en" sz="1100">
                <a:latin typeface="Twentieth Century"/>
                <a:ea typeface="Twentieth Century"/>
                <a:cs typeface="Twentieth Century"/>
                <a:sym typeface="Twentieth Century"/>
              </a:rPr>
              <a:t>setting - when you find it, update the the value to the correct Python interpreter path. If you don’t know the path to the interpreter, open your Terminal, type python3, import sys, and the run sys.executable</a:t>
            </a:r>
            <a:endParaRPr sz="1100">
              <a:latin typeface="Twentieth Century"/>
              <a:ea typeface="Twentieth Century"/>
              <a:cs typeface="Twentieth Century"/>
              <a:sym typeface="Twentieth Century"/>
            </a:endParaRPr>
          </a:p>
          <a:p>
            <a:pPr indent="0" lvl="0" marL="914400" rtl="0" algn="l">
              <a:lnSpc>
                <a:spcPct val="150000"/>
              </a:lnSpc>
              <a:spcBef>
                <a:spcPts val="1200"/>
              </a:spcBef>
              <a:spcAft>
                <a:spcPts val="0"/>
              </a:spcAft>
              <a:buNone/>
            </a:pPr>
            <a:r>
              <a:t/>
            </a:r>
            <a:endParaRPr sz="100">
              <a:latin typeface="Twentieth Century"/>
              <a:ea typeface="Twentieth Century"/>
              <a:cs typeface="Twentieth Century"/>
              <a:sym typeface="Twentieth Century"/>
            </a:endParaRPr>
          </a:p>
          <a:p>
            <a:pPr indent="-330200" lvl="0" marL="457200" rtl="0" algn="l">
              <a:lnSpc>
                <a:spcPct val="150000"/>
              </a:lnSpc>
              <a:spcBef>
                <a:spcPts val="1200"/>
              </a:spcBef>
              <a:spcAft>
                <a:spcPts val="0"/>
              </a:spcAft>
              <a:buSzPts val="1600"/>
              <a:buFont typeface="Twentieth Century"/>
              <a:buChar char="●"/>
            </a:pPr>
            <a:r>
              <a:rPr b="1" lang="en" sz="1600">
                <a:latin typeface="Twentieth Century"/>
                <a:ea typeface="Twentieth Century"/>
                <a:cs typeface="Twentieth Century"/>
                <a:sym typeface="Twentieth Century"/>
              </a:rPr>
              <a:t>PC</a:t>
            </a:r>
            <a:endParaRPr b="1" sz="16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ISSUE: </a:t>
            </a:r>
            <a:r>
              <a:rPr lang="en" sz="1100">
                <a:latin typeface="Twentieth Century"/>
                <a:ea typeface="Twentieth Century"/>
                <a:cs typeface="Twentieth Century"/>
                <a:sym typeface="Twentieth Century"/>
              </a:rPr>
              <a:t>trying to </a:t>
            </a:r>
            <a:r>
              <a:rPr i="1" lang="en" sz="1100">
                <a:latin typeface="Twentieth Century"/>
                <a:ea typeface="Twentieth Century"/>
                <a:cs typeface="Twentieth Century"/>
                <a:sym typeface="Twentieth Century"/>
              </a:rPr>
              <a:t>run python </a:t>
            </a:r>
            <a:r>
              <a:rPr lang="en" sz="1100">
                <a:latin typeface="Twentieth Century"/>
                <a:ea typeface="Twentieth Century"/>
                <a:cs typeface="Twentieth Century"/>
                <a:sym typeface="Twentieth Century"/>
              </a:rPr>
              <a:t>in the command prompt opens the Windows Store</a:t>
            </a:r>
            <a:endParaRPr sz="11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CAUSE: </a:t>
            </a:r>
            <a:r>
              <a:rPr lang="en" sz="1100">
                <a:latin typeface="Twentieth Century"/>
                <a:ea typeface="Twentieth Century"/>
                <a:cs typeface="Twentieth Century"/>
                <a:sym typeface="Twentieth Century"/>
              </a:rPr>
              <a:t>the directory containing your Python interpreter is not correctly listed in your system Environment Variables’ </a:t>
            </a:r>
            <a:r>
              <a:rPr i="1" lang="en" sz="1100">
                <a:latin typeface="Twentieth Century"/>
                <a:ea typeface="Twentieth Century"/>
                <a:cs typeface="Twentieth Century"/>
                <a:sym typeface="Twentieth Century"/>
              </a:rPr>
              <a:t>path </a:t>
            </a:r>
            <a:r>
              <a:rPr lang="en" sz="1100">
                <a:latin typeface="Twentieth Century"/>
                <a:ea typeface="Twentieth Century"/>
                <a:cs typeface="Twentieth Century"/>
                <a:sym typeface="Twentieth Century"/>
              </a:rPr>
              <a:t>listing</a:t>
            </a:r>
            <a:endParaRPr sz="11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SOLUTION: </a:t>
            </a:r>
            <a:r>
              <a:rPr lang="en" sz="1100">
                <a:latin typeface="Twentieth Century"/>
                <a:ea typeface="Twentieth Century"/>
                <a:cs typeface="Twentieth Century"/>
                <a:sym typeface="Twentieth Century"/>
              </a:rPr>
              <a:t>use the full path to your Python interpreter in the Command Prompt. If you don’t know the path to the interpreter search on your file system until you find out where it is installed and then use the full path wrapped in quotation marks in the command prompt (e.g. use 'C:\\Program Files\\python\\python.exe' but note the exact path may be different on your computer) </a:t>
            </a:r>
            <a:endParaRPr b="1" sz="1100">
              <a:latin typeface="Twentieth Century"/>
              <a:ea typeface="Twentieth Century"/>
              <a:cs typeface="Twentieth Century"/>
              <a:sym typeface="Twentieth Century"/>
            </a:endParaRPr>
          </a:p>
        </p:txBody>
      </p:sp>
      <p:sp>
        <p:nvSpPr>
          <p:cNvPr id="298" name="Google Shape;298;p39"/>
          <p:cNvSpPr/>
          <p:nvPr/>
        </p:nvSpPr>
        <p:spPr>
          <a:xfrm>
            <a:off x="140575" y="4618037"/>
            <a:ext cx="8857800" cy="475800"/>
          </a:xfrm>
          <a:prstGeom prst="rect">
            <a:avLst/>
          </a:prstGeom>
          <a:solidFill>
            <a:srgbClr val="CC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Calibri"/>
                <a:ea typeface="Calibri"/>
                <a:cs typeface="Calibri"/>
                <a:sym typeface="Calibri"/>
              </a:rPr>
              <a:t>Helpers can stay past 4pm today to help resolve issues - having everything working by start of Day 2 is important</a:t>
            </a:r>
            <a:endParaRPr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