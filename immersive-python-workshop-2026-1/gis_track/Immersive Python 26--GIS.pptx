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5" r:id="rId4"/>
    <p:sldMasterId id="2147483686" r:id="rId5"/>
    <p:sldMasterId id="2147483687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y="5143500" cx="9144000"/>
  <p:notesSz cx="6858000" cy="9144000"/>
  <p:embeddedFontLst>
    <p:embeddedFont>
      <p:font typeface="Roboto"/>
      <p:regular r:id="rId24"/>
      <p:bold r:id="rId25"/>
      <p:italic r:id="rId26"/>
      <p:boldItalic r:id="rId27"/>
    </p:embeddedFont>
    <p:embeddedFont>
      <p:font typeface="Roboto Medium"/>
      <p:regular r:id="rId28"/>
      <p:bold r:id="rId29"/>
      <p:italic r:id="rId30"/>
      <p:boldItalic r:id="rId31"/>
    </p:embeddedFont>
    <p:embeddedFont>
      <p:font typeface="Mukta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Roboto-regular.fntdata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schemas.openxmlformats.org/officeDocument/2006/relationships/font" Target="fonts/RobotoMedium-regular.fntdata"/><Relationship Id="rId27" Type="http://schemas.openxmlformats.org/officeDocument/2006/relationships/font" Target="fonts/Roboto-bold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RobotoMedium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RobotoMedium-boldItalic.fntdata"/><Relationship Id="rId30" Type="http://schemas.openxmlformats.org/officeDocument/2006/relationships/font" Target="fonts/RobotoMedium-italic.fntdata"/><Relationship Id="rId11" Type="http://schemas.openxmlformats.org/officeDocument/2006/relationships/slide" Target="slides/slide4.xml"/><Relationship Id="rId33" Type="http://schemas.openxmlformats.org/officeDocument/2006/relationships/font" Target="fonts/Mukta-bold.fntdata"/><Relationship Id="rId10" Type="http://schemas.openxmlformats.org/officeDocument/2006/relationships/slide" Target="slides/slide3.xml"/><Relationship Id="rId32" Type="http://schemas.openxmlformats.org/officeDocument/2006/relationships/font" Target="fonts/Mukta-regular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6590b4f85b_0_8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26590b4f85b_0_8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6590b4f85b_0_4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26590b4f85b_0_4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6590b4f85b_0_5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26590b4f85b_0_5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26590b4f85b_0_5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6590b4f85b_0_5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26590b4f85b_0_5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26590b4f85b_0_50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6590b4f85b_0_5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26590b4f85b_0_5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26590b4f85b_0_5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6590b4f85b_0_5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26590b4f85b_0_5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26590b4f85b_0_5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6590b4f85b_0_5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g26590b4f85b_0_5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26590b4f85b_0_5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6590b4f85b_0_5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g26590b4f85b_0_5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26590b4f85b_0_5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6590b4f85b_0_5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26590b4f85b_0_5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26590b4f85b_0_5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6590b4f85b_0_5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26590b4f85b_0_5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26590b4f85b_0_59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7ff1d7d330_0_1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27ff1d7d330_0_1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7ff1d7d330_0_1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27ff1d7d330_0_1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7ff1d7d330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27ff1d7d330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6590b4f85b_0_6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g26590b4f85b_0_6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26590b4f85b_0_6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ae6a5bfe05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g2ae6a5bfe05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g2ae6a5bfe05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ae6a5bfe05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g2ae6a5bfe05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g2ae6a5bfe05_0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2 1 1 1 1">
  <p:cSld name="TITLE_1_2_1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>
            <p:ph idx="1" type="body"/>
          </p:nvPr>
        </p:nvSpPr>
        <p:spPr>
          <a:xfrm>
            <a:off x="146400" y="1025606"/>
            <a:ext cx="8845200" cy="36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Char char="•"/>
              <a:defRPr i="0" u="none" cap="none" strike="noStrike"/>
            </a:lvl1pPr>
            <a:lvl2pPr indent="-3175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400"/>
              <a:buChar char="–"/>
              <a:defRPr i="0" u="none" cap="none" strike="noStrike"/>
            </a:lvl2pPr>
            <a:lvl3pPr indent="-3175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00"/>
              <a:buChar char="•"/>
              <a:defRPr i="0" u="none" cap="none" strike="noStrike"/>
            </a:lvl3pPr>
            <a:lvl4pPr indent="-3175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–"/>
              <a:defRPr i="0" u="none" cap="none" strike="noStrike"/>
            </a:lvl4pPr>
            <a:lvl5pPr indent="-3175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»"/>
              <a:defRPr i="0" u="none" cap="none" strike="noStrike"/>
            </a:lvl5pPr>
            <a:lvl6pPr indent="-3175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i="0" u="none" cap="none" strike="noStrike"/>
            </a:lvl6pPr>
            <a:lvl7pPr indent="-3175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i="0" u="none" cap="none" strike="noStrike"/>
            </a:lvl7pPr>
            <a:lvl8pPr indent="-3175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i="0" u="none" cap="none" strike="noStrike"/>
            </a:lvl8pPr>
            <a:lvl9pPr indent="-3175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i="0" u="none" cap="none" strike="noStrike"/>
            </a:lvl9pPr>
          </a:lstStyle>
          <a:p/>
        </p:txBody>
      </p:sp>
      <p:sp>
        <p:nvSpPr>
          <p:cNvPr id="66" name="Google Shape;66;p16"/>
          <p:cNvSpPr txBox="1"/>
          <p:nvPr>
            <p:ph type="title"/>
          </p:nvPr>
        </p:nvSpPr>
        <p:spPr>
          <a:xfrm>
            <a:off x="146550" y="19144"/>
            <a:ext cx="8845200" cy="6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4400"/>
              <a:buNone/>
              <a:defRPr i="0" sz="4400" u="none" cap="none" strike="noStrike">
                <a:solidFill>
                  <a:srgbClr val="17365D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7" name="Google Shape;67;p16"/>
          <p:cNvSpPr/>
          <p:nvPr/>
        </p:nvSpPr>
        <p:spPr>
          <a:xfrm>
            <a:off x="0" y="655733"/>
            <a:ext cx="9144000" cy="97800"/>
          </a:xfrm>
          <a:prstGeom prst="rect">
            <a:avLst/>
          </a:prstGeom>
          <a:solidFill>
            <a:srgbClr val="17365D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9" y="47404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9" name="Google Shape;79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0" name="Google Shape;8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6" name="Google Shape;86;p2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7" name="Google Shape;8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0" name="Google Shape;9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4" name="Google Shape;94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5" name="Google Shape;95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6" name="Google Shape;9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9" name="Google Shape;9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2" name="Google Shape;102;p2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3" name="Google Shape;103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2 1 1 3 1 1">
  <p:cSld name="TITLE_1_2_1_1_3_1_1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7"/>
          <p:cNvSpPr txBox="1"/>
          <p:nvPr>
            <p:ph type="ctrTitle"/>
          </p:nvPr>
        </p:nvSpPr>
        <p:spPr>
          <a:xfrm>
            <a:off x="0" y="0"/>
            <a:ext cx="6524700" cy="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i="0" u="none" cap="none" strike="noStrike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800">
                <a:solidFill>
                  <a:srgbClr val="FFFFFF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800">
                <a:solidFill>
                  <a:srgbClr val="FFFFFF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800">
                <a:solidFill>
                  <a:srgbClr val="FFFFFF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800">
                <a:solidFill>
                  <a:srgbClr val="FFFFFF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800">
                <a:solidFill>
                  <a:srgbClr val="FFFFFF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800">
                <a:solidFill>
                  <a:srgbClr val="FFFFFF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800">
                <a:solidFill>
                  <a:srgbClr val="FFFFFF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08" name="Google Shape;108;p27"/>
          <p:cNvSpPr txBox="1"/>
          <p:nvPr>
            <p:ph idx="1" type="body"/>
          </p:nvPr>
        </p:nvSpPr>
        <p:spPr>
          <a:xfrm>
            <a:off x="152700" y="541425"/>
            <a:ext cx="8887200" cy="45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7"/>
          <p:cNvSpPr txBox="1"/>
          <p:nvPr>
            <p:ph idx="12" type="sldNum"/>
          </p:nvPr>
        </p:nvSpPr>
        <p:spPr>
          <a:xfrm>
            <a:off x="9" y="474974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6" name="Google Shape;116;p2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7" name="Google Shape;117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0" name="Google Shape;12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3" name="Google Shape;123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4" name="Google Shape;12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7" name="Google Shape;127;p3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8" name="Google Shape;128;p3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9" name="Google Shape;129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5" name="Google Shape;135;p3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6" name="Google Shape;136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9" name="Google Shape;139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3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3" name="Google Shape;143;p3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4" name="Google Shape;144;p3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5" name="Google Shape;145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48" name="Google Shape;148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51" name="Google Shape;151;p3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2" name="Google Shape;152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7" name="Google Shape;157;p4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58" name="Google Shape;158;p4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4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4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5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" name="Google Shape;112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3" name="Google Shape;113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jp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Relationship Id="rId4" Type="http://schemas.openxmlformats.org/officeDocument/2006/relationships/image" Target="../media/image12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18.png"/><Relationship Id="rId6" Type="http://schemas.openxmlformats.org/officeDocument/2006/relationships/image" Target="../media/image14.png"/><Relationship Id="rId7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18.png"/><Relationship Id="rId6" Type="http://schemas.openxmlformats.org/officeDocument/2006/relationships/image" Target="../media/image14.png"/><Relationship Id="rId7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18.png"/><Relationship Id="rId6" Type="http://schemas.openxmlformats.org/officeDocument/2006/relationships/image" Target="../media/image17.png"/><Relationship Id="rId7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1"/>
          <p:cNvSpPr/>
          <p:nvPr/>
        </p:nvSpPr>
        <p:spPr>
          <a:xfrm>
            <a:off x="6699600" y="4137650"/>
            <a:ext cx="2306400" cy="723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100" u="none" cap="none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166" name="Google Shape;16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1481" y="4164319"/>
            <a:ext cx="717702" cy="682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41"/>
          <p:cNvSpPr txBox="1"/>
          <p:nvPr>
            <p:ph idx="1" type="subTitle"/>
          </p:nvPr>
        </p:nvSpPr>
        <p:spPr>
          <a:xfrm>
            <a:off x="384250" y="744875"/>
            <a:ext cx="85206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4300">
                <a:solidFill>
                  <a:schemeClr val="lt1"/>
                </a:solidFill>
                <a:latin typeface="Mukta"/>
                <a:ea typeface="Mukta"/>
                <a:cs typeface="Mukta"/>
                <a:sym typeface="Mukta"/>
              </a:rPr>
              <a:t>Immersive Python Workshop</a:t>
            </a:r>
            <a:endParaRPr b="1" sz="4300">
              <a:solidFill>
                <a:schemeClr val="lt1"/>
              </a:solidFill>
              <a:latin typeface="Mukta"/>
              <a:ea typeface="Mukta"/>
              <a:cs typeface="Mukta"/>
              <a:sym typeface="Mukt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" sz="2600">
                <a:solidFill>
                  <a:schemeClr val="lt2"/>
                </a:solidFill>
                <a:latin typeface="Mukta"/>
                <a:ea typeface="Mukta"/>
                <a:cs typeface="Mukta"/>
                <a:sym typeface="Mukta"/>
              </a:rPr>
              <a:t>1/9/</a:t>
            </a:r>
            <a:r>
              <a:rPr b="1" lang="en" sz="2600">
                <a:solidFill>
                  <a:schemeClr val="lt2"/>
                </a:solidFill>
                <a:latin typeface="Mukta"/>
                <a:ea typeface="Mukta"/>
                <a:cs typeface="Mukta"/>
                <a:sym typeface="Mukta"/>
              </a:rPr>
              <a:t>2026</a:t>
            </a:r>
            <a:endParaRPr b="1" sz="4300">
              <a:solidFill>
                <a:schemeClr val="lt1"/>
              </a:solidFill>
              <a:latin typeface="Mukta"/>
              <a:ea typeface="Mukta"/>
              <a:cs typeface="Mukta"/>
              <a:sym typeface="Mukta"/>
            </a:endParaRPr>
          </a:p>
        </p:txBody>
      </p:sp>
      <p:sp>
        <p:nvSpPr>
          <p:cNvPr id="168" name="Google Shape;168;p41"/>
          <p:cNvSpPr txBox="1"/>
          <p:nvPr>
            <p:ph idx="1" type="subTitle"/>
          </p:nvPr>
        </p:nvSpPr>
        <p:spPr>
          <a:xfrm>
            <a:off x="2520600" y="4012650"/>
            <a:ext cx="4255200" cy="12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600">
                <a:solidFill>
                  <a:schemeClr val="lt1"/>
                </a:solidFill>
                <a:latin typeface="Mukta"/>
                <a:ea typeface="Mukta"/>
                <a:cs typeface="Mukta"/>
                <a:sym typeface="Mukta"/>
              </a:rPr>
              <a:t>Presented by the </a:t>
            </a:r>
            <a:endParaRPr b="1" sz="1600">
              <a:solidFill>
                <a:schemeClr val="lt1"/>
              </a:solidFill>
              <a:latin typeface="Mukta"/>
              <a:ea typeface="Mukta"/>
              <a:cs typeface="Mukta"/>
              <a:sym typeface="Mukta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600">
                <a:solidFill>
                  <a:schemeClr val="lt1"/>
                </a:solidFill>
                <a:latin typeface="Mukta"/>
                <a:ea typeface="Mukta"/>
                <a:cs typeface="Mukta"/>
                <a:sym typeface="Mukta"/>
              </a:rPr>
              <a:t>UT Libraries &amp;</a:t>
            </a:r>
            <a:endParaRPr b="1" sz="1600">
              <a:solidFill>
                <a:schemeClr val="lt1"/>
              </a:solidFill>
              <a:latin typeface="Mukta"/>
              <a:ea typeface="Mukta"/>
              <a:cs typeface="Mukta"/>
              <a:sym typeface="Mukta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600">
                <a:solidFill>
                  <a:schemeClr val="lt1"/>
                </a:solidFill>
                <a:latin typeface="Mukta"/>
                <a:ea typeface="Mukta"/>
                <a:cs typeface="Mukta"/>
                <a:sym typeface="Mukta"/>
              </a:rPr>
              <a:t>Open Source Program Office (UT-OSPO)</a:t>
            </a:r>
            <a:endParaRPr b="1" sz="1600">
              <a:solidFill>
                <a:schemeClr val="lt1"/>
              </a:solidFill>
              <a:latin typeface="Mukta"/>
              <a:ea typeface="Mukta"/>
              <a:cs typeface="Mukta"/>
              <a:sym typeface="Mukta"/>
            </a:endParaRPr>
          </a:p>
        </p:txBody>
      </p:sp>
      <p:grpSp>
        <p:nvGrpSpPr>
          <p:cNvPr id="169" name="Google Shape;169;p41"/>
          <p:cNvGrpSpPr/>
          <p:nvPr/>
        </p:nvGrpSpPr>
        <p:grpSpPr>
          <a:xfrm>
            <a:off x="151305" y="4269193"/>
            <a:ext cx="2499120" cy="723814"/>
            <a:chOff x="4618653" y="5730341"/>
            <a:chExt cx="3471000" cy="928800"/>
          </a:xfrm>
        </p:grpSpPr>
        <p:sp>
          <p:nvSpPr>
            <p:cNvPr id="170" name="Google Shape;170;p41"/>
            <p:cNvSpPr/>
            <p:nvPr/>
          </p:nvSpPr>
          <p:spPr>
            <a:xfrm>
              <a:off x="4618653" y="5730341"/>
              <a:ext cx="3471000" cy="9288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1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pic>
          <p:nvPicPr>
            <p:cNvPr id="171" name="Google Shape;171;p4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982989" y="5917562"/>
              <a:ext cx="2910269" cy="61021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2" name="Google Shape;172;p41"/>
          <p:cNvSpPr txBox="1"/>
          <p:nvPr/>
        </p:nvSpPr>
        <p:spPr>
          <a:xfrm>
            <a:off x="7477107" y="4092294"/>
            <a:ext cx="1442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wentieth Century"/>
                <a:ea typeface="Twentieth Century"/>
                <a:cs typeface="Twentieth Century"/>
                <a:sym typeface="Twentieth Century"/>
              </a:rPr>
              <a:t>UT-OSPO</a:t>
            </a:r>
            <a:endParaRPr b="1" sz="20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Twentieth Century"/>
                <a:ea typeface="Twentieth Century"/>
                <a:cs typeface="Twentieth Century"/>
                <a:sym typeface="Twentieth Century"/>
              </a:rPr>
              <a:t>UT Austin Open Source Program Office</a:t>
            </a:r>
            <a:endParaRPr sz="10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73" name="Google Shape;173;p41"/>
          <p:cNvSpPr txBox="1"/>
          <p:nvPr/>
        </p:nvSpPr>
        <p:spPr>
          <a:xfrm>
            <a:off x="1431900" y="2458575"/>
            <a:ext cx="65091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00">
                <a:solidFill>
                  <a:schemeClr val="lt1"/>
                </a:solidFill>
              </a:rPr>
              <a:t>Introduction</a:t>
            </a:r>
            <a:r>
              <a:rPr b="1" lang="en" sz="3700">
                <a:solidFill>
                  <a:schemeClr val="lt1"/>
                </a:solidFill>
              </a:rPr>
              <a:t> to Python for GIS </a:t>
            </a:r>
            <a:endParaRPr b="1" sz="3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2"/>
          <p:cNvSpPr txBox="1"/>
          <p:nvPr/>
        </p:nvSpPr>
        <p:spPr>
          <a:xfrm>
            <a:off x="366900" y="1232100"/>
            <a:ext cx="8410200" cy="3132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tl" dir="2700000" dist="50800">
              <a:srgbClr val="000000">
                <a:alpha val="66670"/>
              </a:srgbClr>
            </a:outerShdw>
          </a:effectLst>
        </p:spPr>
        <p:txBody>
          <a:bodyPr anchorCtr="0" anchor="t" bIns="34275" lIns="205725" spcFirstLastPara="1" rIns="68575" wrap="square" tIns="68575">
            <a:noAutofit/>
          </a:bodyPr>
          <a:lstStyle/>
          <a:p>
            <a:pPr indent="0" lvl="0" marL="457200" rtl="0" algn="l">
              <a:lnSpc>
                <a:spcPct val="240000"/>
              </a:lnSpc>
              <a:spcBef>
                <a:spcPts val="28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Highlight useful freestanding GIS packages on Python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40000"/>
              </a:lnSpc>
              <a:spcBef>
                <a:spcPts val="28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	Introduce workflows for Vector and Raster data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40000"/>
              </a:lnSpc>
              <a:spcBef>
                <a:spcPts val="28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	Provide sources for spatial data and explain how to access/manipulate with python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40000"/>
              </a:lnSpc>
              <a:spcBef>
                <a:spcPts val="28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	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179" name="Google Shape;179;p42"/>
          <p:cNvSpPr txBox="1"/>
          <p:nvPr>
            <p:ph type="title"/>
          </p:nvPr>
        </p:nvSpPr>
        <p:spPr>
          <a:xfrm>
            <a:off x="-390906" y="260603"/>
            <a:ext cx="9916800" cy="603600"/>
          </a:xfrm>
          <a:prstGeom prst="rect">
            <a:avLst/>
          </a:prstGeom>
          <a:solidFill>
            <a:srgbClr val="B45F06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ckwell"/>
              <a:buNone/>
            </a:pPr>
            <a:r>
              <a:rPr b="1" lang="en" sz="2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Goals for this Workshop</a:t>
            </a:r>
            <a:endParaRPr b="1" sz="2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3"/>
          <p:cNvSpPr txBox="1"/>
          <p:nvPr>
            <p:ph idx="1" type="body"/>
          </p:nvPr>
        </p:nvSpPr>
        <p:spPr>
          <a:xfrm>
            <a:off x="277150" y="877200"/>
            <a:ext cx="7720500" cy="23958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137150" lIns="137150" spcFirstLastPara="1" rIns="137150" wrap="square" tIns="137150">
            <a:normAutofit fontScale="77500"/>
          </a:bodyPr>
          <a:lstStyle/>
          <a:p>
            <a:pPr indent="0" lvl="0" marL="0" rtl="0" algn="just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 Medium"/>
                <a:ea typeface="Roboto Medium"/>
                <a:cs typeface="Roboto Medium"/>
                <a:sym typeface="Roboto Medium"/>
              </a:rPr>
              <a:t>Geographic</a:t>
            </a:r>
            <a:r>
              <a:rPr lang="en" sz="1800">
                <a:latin typeface="Roboto Medium"/>
                <a:ea typeface="Roboto Medium"/>
                <a:cs typeface="Roboto Medium"/>
                <a:sym typeface="Roboto Medium"/>
              </a:rPr>
              <a:t> – </a:t>
            </a:r>
            <a:r>
              <a:rPr lang="en" sz="1700">
                <a:latin typeface="Roboto Medium"/>
                <a:ea typeface="Roboto Medium"/>
                <a:cs typeface="Roboto Medium"/>
                <a:sym typeface="Roboto Medium"/>
              </a:rPr>
              <a:t>Relates to a specific location on the Earth’s surface</a:t>
            </a:r>
            <a:r>
              <a:rPr lang="en" sz="1800">
                <a:latin typeface="Roboto Medium"/>
                <a:ea typeface="Roboto Medium"/>
                <a:cs typeface="Roboto Medium"/>
                <a:sym typeface="Roboto Medium"/>
              </a:rPr>
              <a:t>  </a:t>
            </a:r>
            <a:endParaRPr sz="18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just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 Medium"/>
                <a:ea typeface="Roboto Medium"/>
                <a:cs typeface="Roboto Medium"/>
                <a:sym typeface="Roboto Medium"/>
              </a:rPr>
              <a:t>Information </a:t>
            </a:r>
            <a:r>
              <a:rPr lang="en" sz="1800">
                <a:latin typeface="Roboto Medium"/>
                <a:ea typeface="Roboto Medium"/>
                <a:cs typeface="Roboto Medium"/>
                <a:sym typeface="Roboto Medium"/>
              </a:rPr>
              <a:t>– </a:t>
            </a:r>
            <a:r>
              <a:rPr lang="en" sz="1700">
                <a:latin typeface="Roboto Medium"/>
                <a:ea typeface="Roboto Medium"/>
                <a:cs typeface="Roboto Medium"/>
                <a:sym typeface="Roboto Medium"/>
              </a:rPr>
              <a:t>Data that has some value added </a:t>
            </a:r>
            <a:endParaRPr sz="17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just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 Medium"/>
                <a:ea typeface="Roboto Medium"/>
                <a:cs typeface="Roboto Medium"/>
                <a:sym typeface="Roboto Medium"/>
              </a:rPr>
              <a:t>Systems</a:t>
            </a:r>
            <a:r>
              <a:rPr lang="en" sz="1800">
                <a:latin typeface="Roboto Medium"/>
                <a:ea typeface="Roboto Medium"/>
                <a:cs typeface="Roboto Medium"/>
                <a:sym typeface="Roboto Medium"/>
              </a:rPr>
              <a:t> – </a:t>
            </a:r>
            <a:r>
              <a:rPr lang="en" sz="1700">
                <a:latin typeface="Roboto Medium"/>
                <a:ea typeface="Roboto Medium"/>
                <a:cs typeface="Roboto Medium"/>
                <a:sym typeface="Roboto Medium"/>
              </a:rPr>
              <a:t>System that performs functions with geographic data</a:t>
            </a:r>
            <a:endParaRPr sz="17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17780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43"/>
          <p:cNvSpPr txBox="1"/>
          <p:nvPr>
            <p:ph type="title"/>
          </p:nvPr>
        </p:nvSpPr>
        <p:spPr>
          <a:xfrm>
            <a:off x="-390906" y="260603"/>
            <a:ext cx="9916800" cy="603600"/>
          </a:xfrm>
          <a:prstGeom prst="rect">
            <a:avLst/>
          </a:prstGeom>
          <a:solidFill>
            <a:srgbClr val="B45F06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ckwell"/>
              <a:buNone/>
            </a:pPr>
            <a:r>
              <a:rPr b="1" lang="en" sz="2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What is GIS?</a:t>
            </a:r>
            <a:endParaRPr b="1" sz="2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7" name="Google Shape;187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2425" y="2968450"/>
            <a:ext cx="4091574" cy="21750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4"/>
          <p:cNvSpPr txBox="1"/>
          <p:nvPr>
            <p:ph idx="1" type="body"/>
          </p:nvPr>
        </p:nvSpPr>
        <p:spPr>
          <a:xfrm>
            <a:off x="164850" y="1077800"/>
            <a:ext cx="4839300" cy="3840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137150" lIns="137150" spcFirstLastPara="1" rIns="137150" wrap="square" tIns="137150">
            <a:normAutofit fontScale="25000" lnSpcReduction="20000"/>
          </a:bodyPr>
          <a:lstStyle/>
          <a:p>
            <a:pPr indent="-328274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b="1" lang="en" sz="6278">
                <a:latin typeface="Roboto"/>
                <a:ea typeface="Roboto"/>
                <a:cs typeface="Roboto"/>
                <a:sym typeface="Roboto"/>
              </a:rPr>
              <a:t>Helps solve geographic problems</a:t>
            </a:r>
            <a:endParaRPr b="1" sz="6278">
              <a:latin typeface="Roboto"/>
              <a:ea typeface="Roboto"/>
              <a:cs typeface="Roboto"/>
              <a:sym typeface="Roboto"/>
            </a:endParaRPr>
          </a:p>
          <a:p>
            <a:pPr indent="-328274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b="1" lang="en" sz="6278">
                <a:latin typeface="Roboto"/>
                <a:ea typeface="Roboto"/>
                <a:cs typeface="Roboto"/>
                <a:sym typeface="Roboto"/>
              </a:rPr>
              <a:t>Location is either used to help find a solution or is the solution itself</a:t>
            </a:r>
            <a:endParaRPr b="1" sz="6278"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5978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5978">
                <a:latin typeface="Roboto Medium"/>
                <a:ea typeface="Roboto Medium"/>
                <a:cs typeface="Roboto Medium"/>
                <a:sym typeface="Roboto Medium"/>
              </a:rPr>
              <a:t>Examples:  “Where did the flooding occur?” </a:t>
            </a:r>
            <a:endParaRPr sz="5978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4572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5978">
                <a:latin typeface="Roboto Medium"/>
                <a:ea typeface="Roboto Medium"/>
                <a:cs typeface="Roboto Medium"/>
                <a:sym typeface="Roboto Medium"/>
              </a:rPr>
              <a:t>“Where should I open my business?” </a:t>
            </a:r>
            <a:endParaRPr sz="5978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4572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5978">
                <a:latin typeface="Roboto Medium"/>
                <a:ea typeface="Roboto Medium"/>
                <a:cs typeface="Roboto Medium"/>
                <a:sym typeface="Roboto Medium"/>
              </a:rPr>
              <a:t>“Why are cases of Cholera clustered?” </a:t>
            </a:r>
            <a:endParaRPr sz="5978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393700" lvl="0" marL="463550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0" lvl="1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0000"/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127000" lvl="1" marL="520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0000"/>
              <a:buFont typeface="Noto Sans Symbols"/>
              <a:buNone/>
            </a:pPr>
            <a:r>
              <a:t/>
            </a:r>
            <a:endParaRPr sz="10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127000" lvl="0" marL="177800" rtl="0" algn="l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80000"/>
              <a:buFont typeface="Noto Sans Symbols"/>
              <a:buNone/>
            </a:pPr>
            <a:r>
              <a:t/>
            </a:r>
            <a:endParaRPr sz="10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94" name="Google Shape;194;p44"/>
          <p:cNvSpPr txBox="1"/>
          <p:nvPr>
            <p:ph type="title"/>
          </p:nvPr>
        </p:nvSpPr>
        <p:spPr>
          <a:xfrm>
            <a:off x="-390906" y="260603"/>
            <a:ext cx="9916800" cy="603600"/>
          </a:xfrm>
          <a:prstGeom prst="rect">
            <a:avLst/>
          </a:prstGeom>
          <a:solidFill>
            <a:srgbClr val="B45F06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ckwell"/>
              <a:buNone/>
            </a:pPr>
            <a:r>
              <a:rPr b="1" lang="en" sz="2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Why is GIS Important?</a:t>
            </a:r>
            <a:endParaRPr b="1" sz="2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5" name="Google Shape;19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6650" y="1482900"/>
            <a:ext cx="3367525" cy="3434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96" name="Google Shape;196;p44"/>
          <p:cNvSpPr txBox="1"/>
          <p:nvPr/>
        </p:nvSpPr>
        <p:spPr>
          <a:xfrm>
            <a:off x="5416650" y="1062600"/>
            <a:ext cx="3367500" cy="42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 Medium"/>
                <a:ea typeface="Roboto Medium"/>
                <a:cs typeface="Roboto Medium"/>
                <a:sym typeface="Roboto Medium"/>
              </a:rPr>
              <a:t>John Snow’s Cholera Map, 1854</a:t>
            </a:r>
            <a:endParaRPr sz="17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5"/>
          <p:cNvSpPr txBox="1"/>
          <p:nvPr>
            <p:ph type="title"/>
          </p:nvPr>
        </p:nvSpPr>
        <p:spPr>
          <a:xfrm>
            <a:off x="-390906" y="260603"/>
            <a:ext cx="9916800" cy="603600"/>
          </a:xfrm>
          <a:prstGeom prst="rect">
            <a:avLst/>
          </a:prstGeom>
          <a:solidFill>
            <a:srgbClr val="B45F06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ckwell"/>
              <a:buNone/>
            </a:pPr>
            <a:r>
              <a:rPr b="1" lang="en" sz="2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What is GIS?</a:t>
            </a:r>
            <a:endParaRPr b="1" sz="2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3" name="Google Shape;20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3575" y="950253"/>
            <a:ext cx="5787862" cy="3974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6"/>
          <p:cNvSpPr txBox="1"/>
          <p:nvPr>
            <p:ph type="title"/>
          </p:nvPr>
        </p:nvSpPr>
        <p:spPr>
          <a:xfrm>
            <a:off x="-390906" y="260603"/>
            <a:ext cx="9916800" cy="603600"/>
          </a:xfrm>
          <a:prstGeom prst="rect">
            <a:avLst/>
          </a:prstGeom>
          <a:solidFill>
            <a:srgbClr val="B45F06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ckwell"/>
              <a:buNone/>
            </a:pPr>
            <a:r>
              <a:rPr b="1" lang="en" sz="2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What is GIS?</a:t>
            </a:r>
            <a:endParaRPr b="1" sz="2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0" name="Google Shape;210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600" y="1356900"/>
            <a:ext cx="1644099" cy="16440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1" name="Google Shape;211;p46"/>
          <p:cNvCxnSpPr>
            <a:stCxn id="210" idx="3"/>
            <a:endCxn id="212" idx="1"/>
          </p:cNvCxnSpPr>
          <p:nvPr/>
        </p:nvCxnSpPr>
        <p:spPr>
          <a:xfrm>
            <a:off x="1819699" y="2178949"/>
            <a:ext cx="397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12" name="Google Shape;212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17361" y="1356903"/>
            <a:ext cx="2987884" cy="1644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213" name="Google Shape;213;p46"/>
          <p:cNvCxnSpPr>
            <a:stCxn id="212" idx="3"/>
            <a:endCxn id="214" idx="1"/>
          </p:cNvCxnSpPr>
          <p:nvPr/>
        </p:nvCxnSpPr>
        <p:spPr>
          <a:xfrm>
            <a:off x="5205245" y="2178953"/>
            <a:ext cx="326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5" name="Google Shape;215;p46"/>
          <p:cNvCxnSpPr>
            <a:stCxn id="214" idx="2"/>
            <a:endCxn id="216" idx="0"/>
          </p:cNvCxnSpPr>
          <p:nvPr/>
        </p:nvCxnSpPr>
        <p:spPr>
          <a:xfrm>
            <a:off x="6948498" y="3020862"/>
            <a:ext cx="0" cy="21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16" name="Google Shape;216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23649" y="3233251"/>
            <a:ext cx="3049700" cy="179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31950" y="1337037"/>
            <a:ext cx="2833096" cy="168382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46"/>
          <p:cNvSpPr txBox="1"/>
          <p:nvPr/>
        </p:nvSpPr>
        <p:spPr>
          <a:xfrm>
            <a:off x="362000" y="1010100"/>
            <a:ext cx="16707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Medium"/>
                <a:ea typeface="Roboto Medium"/>
                <a:cs typeface="Roboto Medium"/>
                <a:sym typeface="Roboto Medium"/>
              </a:rPr>
              <a:t>Real World </a:t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18" name="Google Shape;218;p46"/>
          <p:cNvSpPr txBox="1"/>
          <p:nvPr/>
        </p:nvSpPr>
        <p:spPr>
          <a:xfrm>
            <a:off x="2946050" y="1020750"/>
            <a:ext cx="16707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Medium"/>
                <a:ea typeface="Roboto Medium"/>
                <a:cs typeface="Roboto Medium"/>
                <a:sym typeface="Roboto Medium"/>
              </a:rPr>
              <a:t>Raw Data</a:t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19" name="Google Shape;219;p46"/>
          <p:cNvSpPr txBox="1"/>
          <p:nvPr/>
        </p:nvSpPr>
        <p:spPr>
          <a:xfrm>
            <a:off x="6407150" y="1020738"/>
            <a:ext cx="16707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Medium"/>
                <a:ea typeface="Roboto Medium"/>
                <a:cs typeface="Roboto Medium"/>
                <a:sym typeface="Roboto Medium"/>
              </a:rPr>
              <a:t>Data Model</a:t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20" name="Google Shape;220;p46"/>
          <p:cNvSpPr txBox="1"/>
          <p:nvPr/>
        </p:nvSpPr>
        <p:spPr>
          <a:xfrm rot="5400000">
            <a:off x="8062450" y="2043625"/>
            <a:ext cx="16707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Medium"/>
                <a:ea typeface="Roboto Medium"/>
                <a:cs typeface="Roboto Medium"/>
                <a:sym typeface="Roboto Medium"/>
              </a:rPr>
              <a:t>Data Manipulation</a:t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21" name="Google Shape;221;p46"/>
          <p:cNvSpPr txBox="1"/>
          <p:nvPr/>
        </p:nvSpPr>
        <p:spPr>
          <a:xfrm>
            <a:off x="6637700" y="3164988"/>
            <a:ext cx="16707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Medium"/>
                <a:ea typeface="Roboto Medium"/>
                <a:cs typeface="Roboto Medium"/>
                <a:sym typeface="Roboto Medium"/>
              </a:rPr>
              <a:t>Output</a:t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22" name="Google Shape;222;p46"/>
          <p:cNvSpPr/>
          <p:nvPr/>
        </p:nvSpPr>
        <p:spPr>
          <a:xfrm>
            <a:off x="8433925" y="1916350"/>
            <a:ext cx="270600" cy="47640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7"/>
          <p:cNvSpPr txBox="1"/>
          <p:nvPr>
            <p:ph idx="1" type="body"/>
          </p:nvPr>
        </p:nvSpPr>
        <p:spPr>
          <a:xfrm>
            <a:off x="130825" y="971050"/>
            <a:ext cx="4839300" cy="40656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137150" lIns="137150" spcFirstLastPara="1" rIns="137150" wrap="square" tIns="137150">
            <a:normAutofit fontScale="25000" lnSpcReduction="20000"/>
          </a:bodyPr>
          <a:lstStyle/>
          <a:p>
            <a:pPr indent="-322621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Roboto Medium"/>
              <a:buChar char="●"/>
            </a:pPr>
            <a:r>
              <a:rPr lang="en" sz="5922">
                <a:latin typeface="Roboto Medium"/>
                <a:ea typeface="Roboto Medium"/>
                <a:cs typeface="Roboto Medium"/>
                <a:sym typeface="Roboto Medium"/>
              </a:rPr>
              <a:t>How do we represent geographic space with data?</a:t>
            </a:r>
            <a:endParaRPr sz="5922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21034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 Medium"/>
              <a:buChar char="●"/>
            </a:pPr>
            <a:r>
              <a:rPr lang="en" sz="5822">
                <a:latin typeface="Roboto Medium"/>
                <a:ea typeface="Roboto Medium"/>
                <a:cs typeface="Roboto Medium"/>
                <a:sym typeface="Roboto Medium"/>
              </a:rPr>
              <a:t>Two different types of models </a:t>
            </a:r>
            <a:endParaRPr sz="5822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21034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 Medium"/>
              <a:buChar char="○"/>
            </a:pPr>
            <a:r>
              <a:rPr lang="en" sz="5822">
                <a:latin typeface="Roboto Medium"/>
                <a:ea typeface="Roboto Medium"/>
                <a:cs typeface="Roboto Medium"/>
                <a:sym typeface="Roboto Medium"/>
              </a:rPr>
              <a:t>Vector</a:t>
            </a:r>
            <a:endParaRPr sz="5822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21034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 Medium"/>
              <a:buChar char="○"/>
            </a:pPr>
            <a:r>
              <a:rPr lang="en" sz="5822">
                <a:latin typeface="Roboto Medium"/>
                <a:ea typeface="Roboto Medium"/>
                <a:cs typeface="Roboto Medium"/>
                <a:sym typeface="Roboto Medium"/>
              </a:rPr>
              <a:t>Raster</a:t>
            </a:r>
            <a:endParaRPr sz="5822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9446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 Medium"/>
              <a:buChar char="●"/>
            </a:pPr>
            <a:r>
              <a:rPr lang="en" sz="5722">
                <a:latin typeface="Roboto Medium"/>
                <a:ea typeface="Roboto Medium"/>
                <a:cs typeface="Roboto Medium"/>
                <a:sym typeface="Roboto Medium"/>
              </a:rPr>
              <a:t>Vector is normally used for discrete features </a:t>
            </a:r>
            <a:endParaRPr sz="5722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9446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 Medium"/>
              <a:buChar char="○"/>
            </a:pPr>
            <a:r>
              <a:rPr lang="en" sz="5722">
                <a:latin typeface="Roboto Medium"/>
                <a:ea typeface="Roboto Medium"/>
                <a:cs typeface="Roboto Medium"/>
                <a:sym typeface="Roboto Medium"/>
              </a:rPr>
              <a:t>e.g., roads, lakes </a:t>
            </a:r>
            <a:endParaRPr sz="5722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9446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 Medium"/>
              <a:buChar char="●"/>
            </a:pPr>
            <a:r>
              <a:rPr lang="en" sz="5722">
                <a:latin typeface="Roboto Medium"/>
                <a:ea typeface="Roboto Medium"/>
                <a:cs typeface="Roboto Medium"/>
                <a:sym typeface="Roboto Medium"/>
              </a:rPr>
              <a:t>Raster is best for continuous features </a:t>
            </a:r>
            <a:endParaRPr sz="5722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9446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○"/>
            </a:pPr>
            <a:r>
              <a:rPr lang="en" sz="5722">
                <a:latin typeface="Roboto Medium"/>
                <a:ea typeface="Roboto Medium"/>
                <a:cs typeface="Roboto Medium"/>
                <a:sym typeface="Roboto Medium"/>
              </a:rPr>
              <a:t>e.g., elevation, land cover type</a:t>
            </a:r>
            <a:r>
              <a:rPr b="1" lang="en" sz="5722">
                <a:latin typeface="Arial"/>
                <a:ea typeface="Arial"/>
                <a:cs typeface="Arial"/>
                <a:sym typeface="Arial"/>
              </a:rPr>
              <a:t>`</a:t>
            </a:r>
            <a:endParaRPr b="1" sz="5722">
              <a:latin typeface="Arial"/>
              <a:ea typeface="Arial"/>
              <a:cs typeface="Arial"/>
              <a:sym typeface="Arial"/>
            </a:endParaRPr>
          </a:p>
          <a:p>
            <a:pPr indent="393700" lvl="0" marL="463550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0" lvl="1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0000"/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127000" lvl="1" marL="520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0000"/>
              <a:buFont typeface="Noto Sans Symbols"/>
              <a:buNone/>
            </a:pPr>
            <a:r>
              <a:t/>
            </a:r>
            <a:endParaRPr sz="10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127000" lvl="0" marL="177800" rtl="0" algn="l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80000"/>
              <a:buFont typeface="Noto Sans Symbols"/>
              <a:buNone/>
            </a:pPr>
            <a:r>
              <a:t/>
            </a:r>
            <a:endParaRPr sz="10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29" name="Google Shape;229;p47"/>
          <p:cNvSpPr txBox="1"/>
          <p:nvPr>
            <p:ph type="title"/>
          </p:nvPr>
        </p:nvSpPr>
        <p:spPr>
          <a:xfrm>
            <a:off x="-390906" y="260603"/>
            <a:ext cx="9916800" cy="603600"/>
          </a:xfrm>
          <a:prstGeom prst="rect">
            <a:avLst/>
          </a:prstGeom>
          <a:solidFill>
            <a:srgbClr val="B45F06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ckwell"/>
              <a:buNone/>
            </a:pPr>
            <a:r>
              <a:rPr b="1" lang="en" sz="2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GIS Data Models</a:t>
            </a:r>
            <a:endParaRPr b="1" sz="2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0" name="Google Shape;23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6550" y="1016603"/>
            <a:ext cx="3686917" cy="3974497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47"/>
          <p:cNvSpPr txBox="1"/>
          <p:nvPr/>
        </p:nvSpPr>
        <p:spPr>
          <a:xfrm>
            <a:off x="5156550" y="4905550"/>
            <a:ext cx="2054400" cy="1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Courtesy: Humboldt State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8"/>
          <p:cNvSpPr txBox="1"/>
          <p:nvPr>
            <p:ph type="title"/>
          </p:nvPr>
        </p:nvSpPr>
        <p:spPr>
          <a:xfrm>
            <a:off x="-390906" y="260603"/>
            <a:ext cx="9916800" cy="603600"/>
          </a:xfrm>
          <a:prstGeom prst="rect">
            <a:avLst/>
          </a:prstGeom>
          <a:solidFill>
            <a:srgbClr val="B45F06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ckwell"/>
              <a:buNone/>
            </a:pPr>
            <a:r>
              <a:rPr b="1" lang="en" sz="2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GIS Layers</a:t>
            </a:r>
            <a:endParaRPr b="1" sz="2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38" name="Google Shape;238;p48"/>
          <p:cNvGrpSpPr/>
          <p:nvPr/>
        </p:nvGrpSpPr>
        <p:grpSpPr>
          <a:xfrm>
            <a:off x="1231645" y="995903"/>
            <a:ext cx="3306905" cy="3974496"/>
            <a:chOff x="86945" y="949478"/>
            <a:chExt cx="3306905" cy="3974496"/>
          </a:xfrm>
        </p:grpSpPr>
        <p:pic>
          <p:nvPicPr>
            <p:cNvPr id="239" name="Google Shape;239;p4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945" y="949478"/>
              <a:ext cx="3306905" cy="397449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0" name="Google Shape;240;p48"/>
            <p:cNvSpPr txBox="1"/>
            <p:nvPr/>
          </p:nvSpPr>
          <p:spPr>
            <a:xfrm>
              <a:off x="86950" y="4598500"/>
              <a:ext cx="2631000" cy="17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alibri"/>
                  <a:ea typeface="Calibri"/>
                  <a:cs typeface="Calibri"/>
                  <a:sym typeface="Calibri"/>
                </a:rPr>
                <a:t>USGS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1" name="Google Shape;241;p48"/>
          <p:cNvSpPr txBox="1"/>
          <p:nvPr/>
        </p:nvSpPr>
        <p:spPr>
          <a:xfrm>
            <a:off x="2965175" y="4882800"/>
            <a:ext cx="26310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2" name="Google Shape;242;p48"/>
          <p:cNvGrpSpPr/>
          <p:nvPr/>
        </p:nvGrpSpPr>
        <p:grpSpPr>
          <a:xfrm>
            <a:off x="4884325" y="1126253"/>
            <a:ext cx="3363946" cy="3713796"/>
            <a:chOff x="5093150" y="1058403"/>
            <a:chExt cx="3363946" cy="3713796"/>
          </a:xfrm>
        </p:grpSpPr>
        <p:pic>
          <p:nvPicPr>
            <p:cNvPr id="243" name="Google Shape;243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093150" y="1058403"/>
              <a:ext cx="3363946" cy="371379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48"/>
            <p:cNvSpPr txBox="1"/>
            <p:nvPr/>
          </p:nvSpPr>
          <p:spPr>
            <a:xfrm>
              <a:off x="5093150" y="4455750"/>
              <a:ext cx="2631000" cy="17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alibri"/>
                  <a:ea typeface="Calibri"/>
                  <a:cs typeface="Calibri"/>
                  <a:sym typeface="Calibri"/>
                </a:rPr>
                <a:t>Carlton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9"/>
          <p:cNvSpPr txBox="1"/>
          <p:nvPr>
            <p:ph idx="1" type="body"/>
          </p:nvPr>
        </p:nvSpPr>
        <p:spPr>
          <a:xfrm>
            <a:off x="164850" y="1077800"/>
            <a:ext cx="3888000" cy="3840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137150" lIns="137150" spcFirstLastPara="1" rIns="137150" wrap="square" tIns="137150">
            <a:normAutofit fontScale="85000" lnSpcReduction="20000"/>
          </a:bodyPr>
          <a:lstStyle/>
          <a:p>
            <a:pPr indent="-298767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Roboto Medium"/>
              <a:buChar char="●"/>
            </a:pPr>
            <a:r>
              <a:rPr lang="en" sz="1300">
                <a:latin typeface="Roboto Medium"/>
                <a:ea typeface="Roboto Medium"/>
                <a:cs typeface="Roboto Medium"/>
                <a:sym typeface="Roboto Medium"/>
              </a:rPr>
              <a:t>To understand where something is we need uniquely defined locations for all points on earth</a:t>
            </a:r>
            <a:endParaRPr sz="13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298767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 Medium"/>
              <a:buChar char="●"/>
            </a:pPr>
            <a:r>
              <a:rPr lang="en" sz="1300">
                <a:solidFill>
                  <a:srgbClr val="040C28"/>
                </a:solidFill>
                <a:latin typeface="Roboto Medium"/>
                <a:ea typeface="Roboto Medium"/>
                <a:cs typeface="Roboto Medium"/>
                <a:sym typeface="Roboto Medium"/>
              </a:rPr>
              <a:t>A geographic coordinate system uses a three-dimensional spherical surface </a:t>
            </a:r>
            <a:endParaRPr sz="1300">
              <a:solidFill>
                <a:srgbClr val="040C28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298767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 Medium"/>
              <a:buChar char="○"/>
            </a:pPr>
            <a:r>
              <a:rPr lang="en" sz="1300">
                <a:latin typeface="Roboto Medium"/>
                <a:ea typeface="Roboto Medium"/>
                <a:cs typeface="Roboto Medium"/>
                <a:sym typeface="Roboto Medium"/>
              </a:rPr>
              <a:t>E.g., Lat/Long = 30.282, -97.738</a:t>
            </a:r>
            <a:endParaRPr sz="13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298767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 Medium"/>
              <a:buChar char="●"/>
            </a:pPr>
            <a:r>
              <a:rPr lang="en" sz="1300">
                <a:highlight>
                  <a:srgbClr val="FFFFFF"/>
                </a:highlight>
                <a:latin typeface="Roboto Medium"/>
                <a:ea typeface="Roboto Medium"/>
                <a:cs typeface="Roboto Medium"/>
                <a:sym typeface="Roboto Medium"/>
              </a:rPr>
              <a:t>A projected coordinate system employs a conversion from Lat/Long to X/Y on a planar system </a:t>
            </a:r>
            <a:endParaRPr sz="1300">
              <a:highlight>
                <a:srgbClr val="FFFFFF"/>
              </a:highlight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1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0000"/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127000" lvl="1" marL="520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0000"/>
              <a:buFont typeface="Noto Sans Symbols"/>
              <a:buNone/>
            </a:pPr>
            <a:r>
              <a:t/>
            </a:r>
            <a:endParaRPr sz="10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127000" lvl="0" marL="177800" rtl="0" algn="l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80000"/>
              <a:buFont typeface="Noto Sans Symbols"/>
              <a:buNone/>
            </a:pPr>
            <a:r>
              <a:t/>
            </a:r>
            <a:endParaRPr sz="10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51" name="Google Shape;251;p49"/>
          <p:cNvSpPr txBox="1"/>
          <p:nvPr>
            <p:ph type="title"/>
          </p:nvPr>
        </p:nvSpPr>
        <p:spPr>
          <a:xfrm>
            <a:off x="-390906" y="260603"/>
            <a:ext cx="9916800" cy="603600"/>
          </a:xfrm>
          <a:prstGeom prst="rect">
            <a:avLst/>
          </a:prstGeom>
          <a:solidFill>
            <a:srgbClr val="B45F06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ckwell"/>
              <a:buNone/>
            </a:pPr>
            <a:r>
              <a:rPr b="1" lang="en" sz="2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Coordinate Systems</a:t>
            </a:r>
            <a:endParaRPr b="1" sz="2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2" name="Google Shape;252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2775" y="1808475"/>
            <a:ext cx="4617551" cy="307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50"/>
          <p:cNvSpPr txBox="1"/>
          <p:nvPr>
            <p:ph idx="1" type="body"/>
          </p:nvPr>
        </p:nvSpPr>
        <p:spPr>
          <a:xfrm>
            <a:off x="1075650" y="948800"/>
            <a:ext cx="6992700" cy="4042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137150" lIns="137150" spcFirstLastPara="1" rIns="137150" wrap="square" tIns="137150">
            <a:normAutofit fontScale="25000" lnSpcReduction="20000"/>
          </a:bodyPr>
          <a:lstStyle/>
          <a:p>
            <a:pPr indent="-322748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Roboto Medium"/>
              <a:buChar char="●"/>
            </a:pPr>
            <a:r>
              <a:rPr lang="en" sz="5930">
                <a:latin typeface="Roboto Medium"/>
                <a:ea typeface="Roboto Medium"/>
                <a:cs typeface="Roboto Medium"/>
                <a:sym typeface="Roboto Medium"/>
              </a:rPr>
              <a:t>Traditionally dominated by proprietary software (Esri) in the US</a:t>
            </a:r>
            <a:endParaRPr sz="593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22748" lvl="0" marL="457200" rtl="0" algn="l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Roboto Medium"/>
              <a:buChar char="●"/>
            </a:pPr>
            <a:r>
              <a:rPr lang="en" sz="5930">
                <a:latin typeface="Roboto Medium"/>
                <a:ea typeface="Roboto Medium"/>
                <a:cs typeface="Roboto Medium"/>
                <a:sym typeface="Roboto Medium"/>
              </a:rPr>
              <a:t>It is still important to know Esri ArcGIS software for the GIS professional market in the US</a:t>
            </a:r>
            <a:endParaRPr sz="593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457200" lvl="0" marL="457200" rtl="0" algn="l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6130">
                <a:solidFill>
                  <a:schemeClr val="accent2"/>
                </a:solidFill>
                <a:latin typeface="Roboto Medium"/>
                <a:ea typeface="Roboto Medium"/>
                <a:cs typeface="Roboto Medium"/>
                <a:sym typeface="Roboto Medium"/>
              </a:rPr>
              <a:t>However, there are great open source alternatives!</a:t>
            </a:r>
            <a:endParaRPr sz="6130">
              <a:solidFill>
                <a:schemeClr val="accent2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22748" lvl="0" marL="457200" rtl="0" algn="l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Roboto Medium"/>
              <a:buChar char="●"/>
            </a:pPr>
            <a:r>
              <a:rPr lang="en" sz="5930">
                <a:latin typeface="Roboto Medium"/>
                <a:ea typeface="Roboto Medium"/>
                <a:cs typeface="Roboto Medium"/>
                <a:sym typeface="Roboto Medium"/>
              </a:rPr>
              <a:t>These open source softwares are free to use and globally popular </a:t>
            </a:r>
            <a:endParaRPr sz="593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22748" lvl="0" marL="457200" rtl="0" algn="l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Roboto Medium"/>
              <a:buChar char="●"/>
            </a:pPr>
            <a:r>
              <a:rPr lang="en" sz="5930">
                <a:latin typeface="Roboto Medium"/>
                <a:ea typeface="Roboto Medium"/>
                <a:cs typeface="Roboto Medium"/>
                <a:sym typeface="Roboto Medium"/>
              </a:rPr>
              <a:t>Analyses performed with open source software have higher reproducibility </a:t>
            </a:r>
            <a:endParaRPr sz="593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22748" lvl="0" marL="457200" rtl="0" algn="l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Roboto Medium"/>
              <a:buChar char="●"/>
            </a:pPr>
            <a:r>
              <a:rPr lang="en" sz="5930">
                <a:latin typeface="Roboto Medium"/>
                <a:ea typeface="Roboto Medium"/>
                <a:cs typeface="Roboto Medium"/>
                <a:sym typeface="Roboto Medium"/>
              </a:rPr>
              <a:t>Unlike ArcGIS Pro, open source GIS software generally works on Macs</a:t>
            </a:r>
            <a:endParaRPr sz="593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863600" rtl="0" algn="l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2" marL="685800" rtl="0" algn="r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5555"/>
              <a:buNone/>
            </a:pPr>
            <a:r>
              <a:t/>
            </a:r>
            <a:endParaRPr sz="9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1" marL="342900" rtl="0" algn="l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3333"/>
              <a:buNone/>
            </a:pPr>
            <a:r>
              <a:t/>
            </a:r>
            <a:endParaRPr sz="15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127000" lvl="1" marL="520700" rtl="0" algn="l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3333"/>
              <a:buFont typeface="Noto Sans Symbols"/>
              <a:buNone/>
            </a:pPr>
            <a:r>
              <a:t/>
            </a:r>
            <a:endParaRPr sz="15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127000" lvl="0" marL="177800" rtl="0" algn="l">
              <a:lnSpc>
                <a:spcPct val="170000"/>
              </a:lnSpc>
              <a:spcBef>
                <a:spcPts val="1000"/>
              </a:spcBef>
              <a:spcAft>
                <a:spcPts val="1200"/>
              </a:spcAft>
              <a:buClr>
                <a:schemeClr val="dk1"/>
              </a:buClr>
              <a:buSzPct val="53333"/>
              <a:buFont typeface="Noto Sans Symbols"/>
              <a:buNone/>
            </a:pPr>
            <a:r>
              <a:t/>
            </a:r>
            <a:endParaRPr sz="15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59" name="Google Shape;259;p50"/>
          <p:cNvSpPr txBox="1"/>
          <p:nvPr>
            <p:ph type="title"/>
          </p:nvPr>
        </p:nvSpPr>
        <p:spPr>
          <a:xfrm>
            <a:off x="-390906" y="260603"/>
            <a:ext cx="9916800" cy="603600"/>
          </a:xfrm>
          <a:prstGeom prst="rect">
            <a:avLst/>
          </a:prstGeom>
          <a:solidFill>
            <a:srgbClr val="B45F06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ckwell"/>
              <a:buNone/>
            </a:pPr>
            <a:r>
              <a:rPr b="1" lang="en" sz="2500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Why is open source important in GIS </a:t>
            </a:r>
            <a:endParaRPr b="1" sz="25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51"/>
          <p:cNvSpPr/>
          <p:nvPr/>
        </p:nvSpPr>
        <p:spPr>
          <a:xfrm>
            <a:off x="6182900" y="788275"/>
            <a:ext cx="2036400" cy="435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51"/>
          <p:cNvSpPr/>
          <p:nvPr/>
        </p:nvSpPr>
        <p:spPr>
          <a:xfrm>
            <a:off x="3773225" y="788275"/>
            <a:ext cx="2036400" cy="435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51"/>
          <p:cNvSpPr/>
          <p:nvPr/>
        </p:nvSpPr>
        <p:spPr>
          <a:xfrm>
            <a:off x="1182425" y="788275"/>
            <a:ext cx="2036400" cy="435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7" name="Google Shape;267;p51"/>
          <p:cNvPicPr preferRelativeResize="0"/>
          <p:nvPr/>
        </p:nvPicPr>
        <p:blipFill rotWithShape="1">
          <a:blip r:embed="rId3">
            <a:alphaModFix/>
          </a:blip>
          <a:srcRect b="13490" l="15557" r="13726" t="16427"/>
          <a:stretch/>
        </p:blipFill>
        <p:spPr>
          <a:xfrm>
            <a:off x="1362956" y="1155401"/>
            <a:ext cx="1688169" cy="1533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24993" y="1328263"/>
            <a:ext cx="1327165" cy="1327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70198" y="3246820"/>
            <a:ext cx="1473698" cy="1473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5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6036" y="2316656"/>
            <a:ext cx="1350139" cy="1350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5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058700" y="3524062"/>
            <a:ext cx="1459757" cy="1131115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51"/>
          <p:cNvSpPr txBox="1"/>
          <p:nvPr>
            <p:ph type="title"/>
          </p:nvPr>
        </p:nvSpPr>
        <p:spPr>
          <a:xfrm>
            <a:off x="-332606" y="203053"/>
            <a:ext cx="9916800" cy="603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685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ckwell"/>
              <a:buNone/>
            </a:pP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Software</a:t>
            </a:r>
            <a:endParaRPr b="1" sz="2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" name="Google Shape;273;p51"/>
          <p:cNvSpPr txBox="1"/>
          <p:nvPr/>
        </p:nvSpPr>
        <p:spPr>
          <a:xfrm>
            <a:off x="1135450" y="861925"/>
            <a:ext cx="2143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Desktop Interface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74" name="Google Shape;274;p51"/>
          <p:cNvSpPr txBox="1"/>
          <p:nvPr/>
        </p:nvSpPr>
        <p:spPr>
          <a:xfrm>
            <a:off x="4120100" y="910263"/>
            <a:ext cx="1473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Script-based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75" name="Google Shape;275;p51"/>
          <p:cNvSpPr txBox="1"/>
          <p:nvPr/>
        </p:nvSpPr>
        <p:spPr>
          <a:xfrm>
            <a:off x="6358975" y="932588"/>
            <a:ext cx="3223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Web-interface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76" name="Google Shape;276;p51"/>
          <p:cNvSpPr txBox="1"/>
          <p:nvPr/>
        </p:nvSpPr>
        <p:spPr>
          <a:xfrm>
            <a:off x="1355475" y="2509475"/>
            <a:ext cx="787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QGIS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77" name="Google Shape;277;p51"/>
          <p:cNvSpPr txBox="1"/>
          <p:nvPr/>
        </p:nvSpPr>
        <p:spPr>
          <a:xfrm>
            <a:off x="1367200" y="4655175"/>
            <a:ext cx="1327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ArcGIS Pro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78" name="Google Shape;278;p51"/>
          <p:cNvSpPr txBox="1"/>
          <p:nvPr/>
        </p:nvSpPr>
        <p:spPr>
          <a:xfrm>
            <a:off x="3860400" y="2426825"/>
            <a:ext cx="787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Python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79" name="Google Shape;279;p51"/>
          <p:cNvSpPr txBox="1"/>
          <p:nvPr/>
        </p:nvSpPr>
        <p:spPr>
          <a:xfrm>
            <a:off x="4317600" y="4469850"/>
            <a:ext cx="274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R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80" name="Google Shape;280;p51"/>
          <p:cNvSpPr txBox="1"/>
          <p:nvPr/>
        </p:nvSpPr>
        <p:spPr>
          <a:xfrm>
            <a:off x="6144350" y="3712175"/>
            <a:ext cx="1327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ArcGIS Online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2"/>
          <p:cNvSpPr/>
          <p:nvPr/>
        </p:nvSpPr>
        <p:spPr>
          <a:xfrm>
            <a:off x="6182900" y="788275"/>
            <a:ext cx="2036400" cy="435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52"/>
          <p:cNvSpPr/>
          <p:nvPr/>
        </p:nvSpPr>
        <p:spPr>
          <a:xfrm>
            <a:off x="3773225" y="788275"/>
            <a:ext cx="2036400" cy="435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52"/>
          <p:cNvSpPr/>
          <p:nvPr/>
        </p:nvSpPr>
        <p:spPr>
          <a:xfrm>
            <a:off x="1182425" y="788275"/>
            <a:ext cx="2036400" cy="435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8" name="Google Shape;288;p52"/>
          <p:cNvPicPr preferRelativeResize="0"/>
          <p:nvPr/>
        </p:nvPicPr>
        <p:blipFill rotWithShape="1">
          <a:blip r:embed="rId3">
            <a:alphaModFix/>
          </a:blip>
          <a:srcRect b="13490" l="15557" r="13726" t="16427"/>
          <a:stretch/>
        </p:blipFill>
        <p:spPr>
          <a:xfrm>
            <a:off x="1362956" y="1155401"/>
            <a:ext cx="1688169" cy="1533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24993" y="1328263"/>
            <a:ext cx="1327165" cy="1327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70198" y="3246820"/>
            <a:ext cx="1473698" cy="1473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5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6036" y="2316656"/>
            <a:ext cx="1350139" cy="1350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5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058700" y="3524062"/>
            <a:ext cx="1459757" cy="1131115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52"/>
          <p:cNvSpPr txBox="1"/>
          <p:nvPr>
            <p:ph type="title"/>
          </p:nvPr>
        </p:nvSpPr>
        <p:spPr>
          <a:xfrm>
            <a:off x="-332606" y="203053"/>
            <a:ext cx="9916800" cy="603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685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00000"/>
              <a:buFont typeface="Rockwell"/>
              <a:buNone/>
            </a:pP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Software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685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00000"/>
              <a:buFont typeface="Rockwell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p52"/>
          <p:cNvSpPr txBox="1"/>
          <p:nvPr/>
        </p:nvSpPr>
        <p:spPr>
          <a:xfrm>
            <a:off x="1135450" y="861925"/>
            <a:ext cx="2143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Desktop Interface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95" name="Google Shape;295;p52"/>
          <p:cNvSpPr txBox="1"/>
          <p:nvPr/>
        </p:nvSpPr>
        <p:spPr>
          <a:xfrm>
            <a:off x="4120100" y="910263"/>
            <a:ext cx="1473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Script-based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96" name="Google Shape;296;p52"/>
          <p:cNvSpPr txBox="1"/>
          <p:nvPr/>
        </p:nvSpPr>
        <p:spPr>
          <a:xfrm>
            <a:off x="6358975" y="932588"/>
            <a:ext cx="3223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Web-interface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97" name="Google Shape;297;p52"/>
          <p:cNvSpPr txBox="1"/>
          <p:nvPr/>
        </p:nvSpPr>
        <p:spPr>
          <a:xfrm>
            <a:off x="1355475" y="2509475"/>
            <a:ext cx="787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QGIS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98" name="Google Shape;298;p52"/>
          <p:cNvSpPr txBox="1"/>
          <p:nvPr/>
        </p:nvSpPr>
        <p:spPr>
          <a:xfrm>
            <a:off x="1367200" y="4655175"/>
            <a:ext cx="1327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ArcGIS Pro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99" name="Google Shape;299;p52"/>
          <p:cNvSpPr txBox="1"/>
          <p:nvPr/>
        </p:nvSpPr>
        <p:spPr>
          <a:xfrm>
            <a:off x="3860400" y="2426825"/>
            <a:ext cx="787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Python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00" name="Google Shape;300;p52"/>
          <p:cNvSpPr txBox="1"/>
          <p:nvPr/>
        </p:nvSpPr>
        <p:spPr>
          <a:xfrm>
            <a:off x="4317600" y="4469850"/>
            <a:ext cx="274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R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01" name="Google Shape;301;p52"/>
          <p:cNvSpPr txBox="1"/>
          <p:nvPr/>
        </p:nvSpPr>
        <p:spPr>
          <a:xfrm>
            <a:off x="6144350" y="3712175"/>
            <a:ext cx="1327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ArcGIS Online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02" name="Google Shape;302;p52"/>
          <p:cNvSpPr/>
          <p:nvPr/>
        </p:nvSpPr>
        <p:spPr>
          <a:xfrm rot="10800000">
            <a:off x="1169375" y="1263900"/>
            <a:ext cx="4597800" cy="3608400"/>
          </a:xfrm>
          <a:prstGeom prst="corner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3"/>
          <p:cNvSpPr txBox="1"/>
          <p:nvPr/>
        </p:nvSpPr>
        <p:spPr>
          <a:xfrm rot="-5400000">
            <a:off x="81150" y="2222050"/>
            <a:ext cx="15273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Accessibility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08" name="Google Shape;308;p53"/>
          <p:cNvSpPr/>
          <p:nvPr/>
        </p:nvSpPr>
        <p:spPr>
          <a:xfrm>
            <a:off x="1263300" y="4774250"/>
            <a:ext cx="6483300" cy="369300"/>
          </a:xfrm>
          <a:prstGeom prst="rightArrow">
            <a:avLst>
              <a:gd fmla="val 50000" name="adj1"/>
              <a:gd fmla="val 42268" name="adj2"/>
            </a:avLst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53"/>
          <p:cNvSpPr txBox="1"/>
          <p:nvPr/>
        </p:nvSpPr>
        <p:spPr>
          <a:xfrm>
            <a:off x="3763675" y="4459950"/>
            <a:ext cx="14850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Flexibility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10" name="Google Shape;310;p53"/>
          <p:cNvPicPr preferRelativeResize="0"/>
          <p:nvPr/>
        </p:nvPicPr>
        <p:blipFill rotWithShape="1">
          <a:blip r:embed="rId3">
            <a:alphaModFix/>
          </a:blip>
          <a:srcRect b="13490" l="15557" r="13726" t="16427"/>
          <a:stretch/>
        </p:blipFill>
        <p:spPr>
          <a:xfrm>
            <a:off x="4436974" y="1815503"/>
            <a:ext cx="1103462" cy="1002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8502" y="2872526"/>
            <a:ext cx="867494" cy="867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22913" y="1797975"/>
            <a:ext cx="963274" cy="963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5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17317" y="2870439"/>
            <a:ext cx="1103475" cy="855044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53"/>
          <p:cNvSpPr txBox="1"/>
          <p:nvPr/>
        </p:nvSpPr>
        <p:spPr>
          <a:xfrm>
            <a:off x="131375" y="15250"/>
            <a:ext cx="9787800" cy="7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*Assuming institutional access to ArcGIS products and a non-programming background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15" name="Google Shape;315;p5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86650" y="928450"/>
            <a:ext cx="963250" cy="963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53"/>
          <p:cNvSpPr/>
          <p:nvPr/>
        </p:nvSpPr>
        <p:spPr>
          <a:xfrm>
            <a:off x="1028600" y="814650"/>
            <a:ext cx="382500" cy="42360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53"/>
          <p:cNvSpPr txBox="1"/>
          <p:nvPr/>
        </p:nvSpPr>
        <p:spPr>
          <a:xfrm>
            <a:off x="2906425" y="27272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ArcGIS Pro</a:t>
            </a:r>
            <a:endParaRPr/>
          </a:p>
        </p:txBody>
      </p:sp>
      <p:sp>
        <p:nvSpPr>
          <p:cNvPr id="318" name="Google Shape;318;p53"/>
          <p:cNvSpPr txBox="1"/>
          <p:nvPr/>
        </p:nvSpPr>
        <p:spPr>
          <a:xfrm>
            <a:off x="4713763" y="2619863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QGIS</a:t>
            </a:r>
            <a:endParaRPr/>
          </a:p>
        </p:txBody>
      </p:sp>
      <p:sp>
        <p:nvSpPr>
          <p:cNvPr id="319" name="Google Shape;319;p53"/>
          <p:cNvSpPr txBox="1"/>
          <p:nvPr/>
        </p:nvSpPr>
        <p:spPr>
          <a:xfrm>
            <a:off x="1553413" y="1815500"/>
            <a:ext cx="1327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ArcGIS Online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20" name="Google Shape;320;p53"/>
          <p:cNvSpPr txBox="1"/>
          <p:nvPr/>
        </p:nvSpPr>
        <p:spPr>
          <a:xfrm>
            <a:off x="5613000" y="3707850"/>
            <a:ext cx="274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R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21" name="Google Shape;321;p53"/>
          <p:cNvSpPr txBox="1"/>
          <p:nvPr/>
        </p:nvSpPr>
        <p:spPr>
          <a:xfrm>
            <a:off x="6222600" y="3722225"/>
            <a:ext cx="787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Python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4"/>
          <p:cNvSpPr txBox="1"/>
          <p:nvPr>
            <p:ph type="title"/>
          </p:nvPr>
        </p:nvSpPr>
        <p:spPr>
          <a:xfrm>
            <a:off x="-390906" y="260603"/>
            <a:ext cx="9916800" cy="603600"/>
          </a:xfrm>
          <a:prstGeom prst="rect">
            <a:avLst/>
          </a:prstGeom>
          <a:solidFill>
            <a:srgbClr val="B45F06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ckwell"/>
              <a:buNone/>
            </a:pPr>
            <a:r>
              <a:rPr b="1" lang="en" sz="2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GIS in Python </a:t>
            </a:r>
            <a:endParaRPr b="1" sz="2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8" name="Google Shape;328;p54"/>
          <p:cNvSpPr txBox="1"/>
          <p:nvPr>
            <p:ph idx="1" type="body"/>
          </p:nvPr>
        </p:nvSpPr>
        <p:spPr>
          <a:xfrm>
            <a:off x="2721700" y="933900"/>
            <a:ext cx="6308700" cy="3568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68575" lIns="68575" spcFirstLastPara="1" rIns="68575" wrap="square" tIns="68575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56">
                <a:highlight>
                  <a:srgbClr val="FFFFFF"/>
                </a:highlight>
                <a:latin typeface="Roboto Medium"/>
                <a:ea typeface="Roboto Medium"/>
                <a:cs typeface="Roboto Medium"/>
                <a:sym typeface="Roboto Medium"/>
              </a:rPr>
              <a:t>Example Python GIS Packages</a:t>
            </a:r>
            <a:endParaRPr sz="2156">
              <a:highlight>
                <a:srgbClr val="FFFFFF"/>
              </a:highlight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Roboto"/>
                <a:ea typeface="Roboto"/>
                <a:cs typeface="Roboto"/>
                <a:sym typeface="Roboto"/>
              </a:rPr>
              <a:t>GeoPandas:</a:t>
            </a:r>
            <a:r>
              <a:rPr lang="en" sz="1500">
                <a:latin typeface="Roboto Medium"/>
                <a:ea typeface="Roboto Medium"/>
                <a:cs typeface="Roboto Medium"/>
                <a:sym typeface="Roboto Medium"/>
              </a:rPr>
              <a:t> Important library for working with vector based geospatial data in Python</a:t>
            </a:r>
            <a:endParaRPr sz="15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500">
                <a:latin typeface="Roboto"/>
                <a:ea typeface="Roboto"/>
                <a:cs typeface="Roboto"/>
                <a:sym typeface="Roboto"/>
              </a:rPr>
              <a:t>GDAL:</a:t>
            </a:r>
            <a:r>
              <a:rPr lang="en" sz="1500"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en" sz="1500">
                <a:latin typeface="Roboto Medium"/>
                <a:ea typeface="Roboto Medium"/>
                <a:cs typeface="Roboto Medium"/>
                <a:sym typeface="Roboto Medium"/>
              </a:rPr>
              <a:t>Translator library for a wide variety of raster and vector data formats. </a:t>
            </a:r>
            <a:endParaRPr sz="15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b="1" lang="en" sz="1500">
                <a:latin typeface="Roboto"/>
                <a:ea typeface="Roboto"/>
                <a:cs typeface="Roboto"/>
                <a:sym typeface="Roboto"/>
              </a:rPr>
              <a:t>GeoWombat: </a:t>
            </a:r>
            <a:r>
              <a:rPr lang="en" sz="1500">
                <a:highlight>
                  <a:srgbClr val="FFFFFF"/>
                </a:highlight>
                <a:latin typeface="Roboto Medium"/>
                <a:ea typeface="Roboto Medium"/>
                <a:cs typeface="Roboto Medium"/>
                <a:sym typeface="Roboto Medium"/>
              </a:rPr>
              <a:t>Provides utilities to process geospatial and time series of raster data at scale. Easily process Landsat, Sentinel, Planetscope or RGB data and others.</a:t>
            </a:r>
            <a:endParaRPr sz="1350">
              <a:highlight>
                <a:srgbClr val="FBFBFB"/>
              </a:highlight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Rasterio: </a:t>
            </a:r>
            <a:r>
              <a:rPr lang="en" sz="1500">
                <a:highlight>
                  <a:srgbClr val="FFFFFF"/>
                </a:highlight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en" sz="1500">
                <a:highlight>
                  <a:srgbClr val="FCFCFC"/>
                </a:highlight>
                <a:latin typeface="Roboto Medium"/>
                <a:ea typeface="Roboto Medium"/>
                <a:cs typeface="Roboto Medium"/>
                <a:sym typeface="Roboto Medium"/>
              </a:rPr>
              <a:t>Provides functionality for GeoTIFF and other formats to organize and store gridded raster datasets such as satellite imagery and terrain models</a:t>
            </a:r>
            <a:r>
              <a:rPr lang="en" sz="1500">
                <a:highlight>
                  <a:srgbClr val="FCFCFC"/>
                </a:highlight>
              </a:rPr>
              <a:t>.</a:t>
            </a:r>
            <a:endParaRPr sz="1500">
              <a:highlight>
                <a:srgbClr val="FCFCFC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OSMnx</a:t>
            </a:r>
            <a:r>
              <a:rPr lang="en" sz="1500">
                <a:highlight>
                  <a:srgbClr val="FCFCFC"/>
                </a:highlight>
                <a:latin typeface="Roboto Medium"/>
                <a:ea typeface="Roboto Medium"/>
                <a:cs typeface="Roboto Medium"/>
                <a:sym typeface="Roboto Medium"/>
              </a:rPr>
              <a:t>: </a:t>
            </a:r>
            <a:r>
              <a:rPr lang="en" sz="1452">
                <a:highlight>
                  <a:srgbClr val="FFFFFF"/>
                </a:highlight>
                <a:latin typeface="Roboto Medium"/>
                <a:ea typeface="Roboto Medium"/>
                <a:cs typeface="Roboto Medium"/>
                <a:sym typeface="Roboto Medium"/>
              </a:rPr>
              <a:t>Allows users to easily download, model, analyze, and visualize street networks and other geospatial features from OpenStreetMap.</a:t>
            </a:r>
            <a:endParaRPr sz="1852">
              <a:highlight>
                <a:srgbClr val="FCFCFC"/>
              </a:highlight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127000" lvl="1" marL="5207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3333"/>
              <a:buFont typeface="Noto Sans Symbols"/>
              <a:buNone/>
            </a:pPr>
            <a:r>
              <a:t/>
            </a:r>
            <a:endParaRPr sz="15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127000" lvl="0" marL="17780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53333"/>
              <a:buFont typeface="Noto Sans Symbols"/>
              <a:buNone/>
            </a:pPr>
            <a:r>
              <a:t/>
            </a:r>
            <a:endParaRPr sz="15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329" name="Google Shape;329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400" y="1725369"/>
            <a:ext cx="1946724" cy="2134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5"/>
          <p:cNvSpPr txBox="1"/>
          <p:nvPr>
            <p:ph type="title"/>
          </p:nvPr>
        </p:nvSpPr>
        <p:spPr>
          <a:xfrm>
            <a:off x="-390906" y="260603"/>
            <a:ext cx="9916800" cy="603600"/>
          </a:xfrm>
          <a:prstGeom prst="rect">
            <a:avLst/>
          </a:prstGeom>
          <a:solidFill>
            <a:srgbClr val="B45F06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ckwell"/>
              <a:buNone/>
            </a:pPr>
            <a:r>
              <a:rPr b="1" lang="en" sz="2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GIS in Python </a:t>
            </a:r>
            <a:endParaRPr b="1" sz="2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" name="Google Shape;336;p55"/>
          <p:cNvSpPr txBox="1"/>
          <p:nvPr>
            <p:ph idx="1" type="body"/>
          </p:nvPr>
        </p:nvSpPr>
        <p:spPr>
          <a:xfrm>
            <a:off x="2721700" y="933900"/>
            <a:ext cx="6308700" cy="3568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68575" lIns="68575" spcFirstLastPara="1" rIns="68575" wrap="square" tIns="6857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56">
                <a:highlight>
                  <a:srgbClr val="FFFFFF"/>
                </a:highlight>
                <a:latin typeface="Roboto Medium"/>
                <a:ea typeface="Roboto Medium"/>
                <a:cs typeface="Roboto Medium"/>
                <a:sym typeface="Roboto Medium"/>
              </a:rPr>
              <a:t>Other </a:t>
            </a:r>
            <a:r>
              <a:rPr lang="en" sz="2156">
                <a:highlight>
                  <a:srgbClr val="FFFFFF"/>
                </a:highlight>
                <a:latin typeface="Roboto Medium"/>
                <a:ea typeface="Roboto Medium"/>
                <a:cs typeface="Roboto Medium"/>
                <a:sym typeface="Roboto Medium"/>
              </a:rPr>
              <a:t>Packages We’ll Use Today</a:t>
            </a:r>
            <a:endParaRPr sz="2156">
              <a:highlight>
                <a:srgbClr val="FFFFFF"/>
              </a:highlight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750">
                <a:latin typeface="Roboto Medium"/>
                <a:ea typeface="Roboto Medium"/>
                <a:cs typeface="Roboto Medium"/>
                <a:sym typeface="Roboto Medium"/>
              </a:rPr>
              <a:t>MatPlotLib</a:t>
            </a:r>
            <a:r>
              <a:rPr lang="en" sz="1750">
                <a:latin typeface="Roboto Medium"/>
                <a:ea typeface="Roboto Medium"/>
                <a:cs typeface="Roboto Medium"/>
                <a:sym typeface="Roboto Medium"/>
              </a:rPr>
              <a:t>: </a:t>
            </a:r>
            <a:r>
              <a:rPr lang="en" sz="1750">
                <a:latin typeface="Roboto Medium"/>
                <a:ea typeface="Roboto Medium"/>
                <a:cs typeface="Roboto Medium"/>
                <a:sym typeface="Roboto Medium"/>
              </a:rPr>
              <a:t>comprehensive library for creating static, animated, and interactive visualizations.</a:t>
            </a:r>
            <a:endParaRPr sz="175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75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750">
                <a:latin typeface="Roboto Medium"/>
                <a:ea typeface="Roboto Medium"/>
                <a:cs typeface="Roboto Medium"/>
                <a:sym typeface="Roboto Medium"/>
              </a:rPr>
              <a:t>urllib: provides several modules for working with URLs:</a:t>
            </a:r>
            <a:endParaRPr sz="175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750">
              <a:highlight>
                <a:srgbClr val="FCFCFC"/>
              </a:highlight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50">
                <a:highlight>
                  <a:srgbClr val="FCFCFC"/>
                </a:highlight>
                <a:latin typeface="Roboto Medium"/>
                <a:ea typeface="Roboto Medium"/>
                <a:cs typeface="Roboto Medium"/>
                <a:sym typeface="Roboto Medium"/>
              </a:rPr>
              <a:t>Sklearn-xarray: A powerful machine learning package</a:t>
            </a:r>
            <a:endParaRPr sz="1750">
              <a:highlight>
                <a:srgbClr val="FCFCFC"/>
              </a:highlight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75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127000" lvl="1" marL="520700" rtl="0" algn="l">
              <a:lnSpc>
                <a:spcPct val="1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oto Sans Symbols"/>
              <a:buNone/>
            </a:pPr>
            <a:r>
              <a:t/>
            </a:r>
            <a:endParaRPr sz="15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127000" lvl="0" marL="17780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800"/>
              <a:buFont typeface="Noto Sans Symbols"/>
              <a:buNone/>
            </a:pPr>
            <a:r>
              <a:t/>
            </a:r>
            <a:endParaRPr sz="15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337" name="Google Shape;337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400" y="1725369"/>
            <a:ext cx="1946724" cy="2134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6"/>
          <p:cNvSpPr txBox="1"/>
          <p:nvPr>
            <p:ph idx="1" type="body"/>
          </p:nvPr>
        </p:nvSpPr>
        <p:spPr>
          <a:xfrm>
            <a:off x="1075650" y="948800"/>
            <a:ext cx="6992700" cy="4042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137150" lIns="137150" spcFirstLastPara="1" rIns="137150" wrap="square" tIns="137150">
            <a:normAutofit fontScale="47500" lnSpcReduction="10000"/>
          </a:bodyPr>
          <a:lstStyle/>
          <a:p>
            <a:pPr indent="-407481" lvl="0" marL="457200" rtl="0" algn="l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Roboto Medium"/>
              <a:buChar char="●"/>
            </a:pPr>
            <a:r>
              <a:rPr lang="en" sz="5930">
                <a:latin typeface="Roboto Medium"/>
                <a:ea typeface="Roboto Medium"/>
                <a:cs typeface="Roboto Medium"/>
                <a:sym typeface="Roboto Medium"/>
              </a:rPr>
              <a:t>Vector versus Raster</a:t>
            </a:r>
            <a:endParaRPr sz="593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407481" lvl="0" marL="457200" rtl="0" algn="l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Roboto Medium"/>
              <a:buChar char="●"/>
            </a:pPr>
            <a:r>
              <a:rPr lang="en" sz="5930">
                <a:latin typeface="Roboto Medium"/>
                <a:ea typeface="Roboto Medium"/>
                <a:cs typeface="Roboto Medium"/>
                <a:sym typeface="Roboto Medium"/>
              </a:rPr>
              <a:t>Coordinate Systems </a:t>
            </a:r>
            <a:endParaRPr sz="593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407481" lvl="0" marL="457200" rtl="0" algn="l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Roboto Medium"/>
              <a:buChar char="●"/>
            </a:pPr>
            <a:r>
              <a:rPr lang="en" sz="5930">
                <a:latin typeface="Roboto Medium"/>
                <a:ea typeface="Roboto Medium"/>
                <a:cs typeface="Roboto Medium"/>
                <a:sym typeface="Roboto Medium"/>
              </a:rPr>
              <a:t>Spatial Data </a:t>
            </a:r>
            <a:r>
              <a:rPr lang="en" sz="5930">
                <a:latin typeface="Roboto Medium"/>
                <a:ea typeface="Roboto Medium"/>
                <a:cs typeface="Roboto Medium"/>
                <a:sym typeface="Roboto Medium"/>
              </a:rPr>
              <a:t>Visualization</a:t>
            </a:r>
            <a:endParaRPr sz="593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863600" rtl="0" algn="l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2" marL="685800" rtl="0" algn="r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5555"/>
              <a:buNone/>
            </a:pPr>
            <a:r>
              <a:t/>
            </a:r>
            <a:endParaRPr sz="9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1" marL="342900" rtl="0" algn="l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3333"/>
              <a:buNone/>
            </a:pPr>
            <a:r>
              <a:t/>
            </a:r>
            <a:endParaRPr sz="15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127000" lvl="1" marL="520700" rtl="0" algn="l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3333"/>
              <a:buFont typeface="Noto Sans Symbols"/>
              <a:buNone/>
            </a:pPr>
            <a:r>
              <a:t/>
            </a:r>
            <a:endParaRPr sz="15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127000" lvl="0" marL="177800" rtl="0" algn="l">
              <a:lnSpc>
                <a:spcPct val="170000"/>
              </a:lnSpc>
              <a:spcBef>
                <a:spcPts val="1000"/>
              </a:spcBef>
              <a:spcAft>
                <a:spcPts val="1200"/>
              </a:spcAft>
              <a:buClr>
                <a:schemeClr val="dk1"/>
              </a:buClr>
              <a:buSzPct val="53333"/>
              <a:buFont typeface="Noto Sans Symbols"/>
              <a:buNone/>
            </a:pPr>
            <a:r>
              <a:t/>
            </a:r>
            <a:endParaRPr sz="15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44" name="Google Shape;344;p56"/>
          <p:cNvSpPr txBox="1"/>
          <p:nvPr>
            <p:ph type="title"/>
          </p:nvPr>
        </p:nvSpPr>
        <p:spPr>
          <a:xfrm>
            <a:off x="-390906" y="260603"/>
            <a:ext cx="9916800" cy="603600"/>
          </a:xfrm>
          <a:prstGeom prst="rect">
            <a:avLst/>
          </a:prstGeom>
          <a:solidFill>
            <a:srgbClr val="B45F06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ckwell"/>
              <a:buNone/>
            </a:pPr>
            <a:r>
              <a:rPr b="1" lang="en" sz="2500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Important Concepts for today</a:t>
            </a:r>
            <a:endParaRPr b="1" sz="25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345" name="Google Shape;345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2275" y="3250148"/>
            <a:ext cx="3146074" cy="174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55475" y="3360975"/>
            <a:ext cx="2490499" cy="15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56"/>
          <p:cNvSpPr txBox="1"/>
          <p:nvPr/>
        </p:nvSpPr>
        <p:spPr>
          <a:xfrm>
            <a:off x="2226025" y="4761075"/>
            <a:ext cx="2010900" cy="1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ArcGIS</a:t>
            </a:r>
            <a:endParaRPr sz="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