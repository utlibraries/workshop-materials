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ae4c74daf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ae4c74daf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ad3b162337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2ad3b16233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38261a18d_0_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638261a18d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638261a18d_0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638261a18d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38261a18d_0_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638261a18d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38261a18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638261a18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f34d4b675d_0_17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2f34d4b675d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ad3b162337_0_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2ad3b162337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d3b162337_0_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2ad3b162337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ad3b162337_0_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2ad3b162337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ad8a17cbd6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2ad8a17cb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ad8a17cbd6_0_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2ad8a17cbd6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ad3b162337_0_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2ad3b162337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ada6ca5381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2ada6ca538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ada6ca5381_0_3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22" name="Google Shape;222;g2ada6ca5381_0_3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ada6ca5381_0_43: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2" name="Google Shape;232;g2ada6ca5381_0_43: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33" name="Google Shape;233;g2ada6ca5381_0_43:notes"/>
          <p:cNvSpPr txBox="1"/>
          <p:nvPr>
            <p:ph idx="12" type="sldNum"/>
          </p:nvPr>
        </p:nvSpPr>
        <p:spPr>
          <a:xfrm>
            <a:off x="3884613" y="8685226"/>
            <a:ext cx="2971800" cy="457200"/>
          </a:xfrm>
          <a:prstGeom prst="rect">
            <a:avLst/>
          </a:prstGeom>
          <a:noFill/>
          <a:ln>
            <a:noFill/>
          </a:ln>
        </p:spPr>
        <p:txBody>
          <a:bodyPr anchorCtr="0" anchor="b" bIns="45650" lIns="91325" spcFirstLastPara="1" rIns="91325" wrap="square" tIns="456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ada6ca5381_0_1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2ada6ca5381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ada6ca5381_0_7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52" name="Google Shape;252;g2ada6ca5381_0_7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38261a18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38261a18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638261a18d_0_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65" name="Google Shape;265;g3638261a18d_0_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6f6c36ecb8_0_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72" name="Google Shape;272;g36f6c36ecb8_0_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6f6c36ecb8_0_62: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78" name="Google Shape;278;g36f6c36ecb8_0_62: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6f6c36ecb8_0_41: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85" name="Google Shape;285;g36f6c36ecb8_0_41: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6f6c36ecb8_0_5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91" name="Google Shape;291;g36f6c36ecb8_0_5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6f6c36ecb8_0_15: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299" name="Google Shape;299;g36f6c36ecb8_0_15: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6f6c36ecb8_0_28: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306" name="Google Shape;306;g36f6c36ecb8_0_28: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6f6c36ecb8_0_70: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312" name="Google Shape;312;g36f6c36ecb8_0_70: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ae4c74daf6_0_139:notes"/>
          <p:cNvSpPr txBox="1"/>
          <p:nvPr>
            <p:ph idx="1" type="body"/>
          </p:nvPr>
        </p:nvSpPr>
        <p:spPr>
          <a:xfrm>
            <a:off x="685800" y="4343406"/>
            <a:ext cx="5486400" cy="41148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a:p>
        </p:txBody>
      </p:sp>
      <p:sp>
        <p:nvSpPr>
          <p:cNvPr id="318" name="Google Shape;318;g2ae4c74daf6_0_139:notes"/>
          <p:cNvSpPr/>
          <p:nvPr>
            <p:ph idx="2" type="sldImg"/>
          </p:nvPr>
        </p:nvSpPr>
        <p:spPr>
          <a:xfrm>
            <a:off x="327025" y="687321"/>
            <a:ext cx="6204000" cy="3427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f3639c592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f3639c592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3" name="Google Shape;13;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4" name="Google Shape;14;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5" name="Google Shape;15;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8" name="Google Shape;18;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9" name="Google Shape;19;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0" name="Google Shape;20;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1" name="Google Shape;21;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4" name="Google Shape;24;p4"/>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25" name="Google Shape;25;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6" name="Google Shape;26;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27" name="Google Shape;27;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0" name="Google Shape;30;p5"/>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31" name="Google Shape;31;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2" name="Google Shape;32;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3" name="Google Shape;33;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36" name="Google Shape;36;p6"/>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7" name="Google Shape;37;p6"/>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8" name="Google Shape;38;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39" name="Google Shape;39;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0" name="Google Shape;40;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43" name="Google Shape;43;p7"/>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44" name="Google Shape;44;p7"/>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5" name="Google Shape;45;p7"/>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46" name="Google Shape;46;p7"/>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47" name="Google Shape;47;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8" name="Google Shape;48;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49" name="Google Shape;49;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2" name="Google Shape;52;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3" name="Google Shape;53;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6" name="Google Shape;56;p9"/>
          <p:cNvSpPr txBox="1"/>
          <p:nvPr>
            <p:ph idx="1" type="body"/>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57" name="Google Shape;57;p9"/>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58" name="Google Shape;58;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59" name="Google Shape;59;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0" name="Google Shape;60;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63" name="Google Shape;63;p10"/>
          <p:cNvSpPr/>
          <p:nvPr>
            <p:ph idx="2" type="pic"/>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40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65" name="Google Shape;65;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6" name="Google Shape;66;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7" name="Google Shape;67;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0" name="Google Shape;70;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1" name="Google Shape;71;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2" name="Google Shape;72;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3" name="Google Shape;73;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6" name="Google Shape;76;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7" name="Google Shape;77;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8" name="Google Shape;78;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9" name="Google Shape;79;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lvl1pPr lvl="0" rtl="0">
              <a:spcBef>
                <a:spcPts val="0"/>
              </a:spcBef>
              <a:spcAft>
                <a:spcPts val="0"/>
              </a:spcAft>
              <a:buSzPts val="33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82" name="Google Shape;82;p13"/>
          <p:cNvSpPr txBox="1"/>
          <p:nvPr>
            <p:ph idx="1" type="body"/>
          </p:nvPr>
        </p:nvSpPr>
        <p:spPr>
          <a:xfrm>
            <a:off x="311700" y="1152475"/>
            <a:ext cx="8520600" cy="3416400"/>
          </a:xfrm>
          <a:prstGeom prst="rect">
            <a:avLst/>
          </a:prstGeom>
        </p:spPr>
        <p:txBody>
          <a:bodyPr anchorCtr="0" anchor="t" bIns="34275" lIns="68575" spcFirstLastPara="1" rIns="68575" wrap="square" tIns="34275">
            <a:noAutofit/>
          </a:bodyPr>
          <a:lstStyle>
            <a:lvl1pPr indent="-361950" lvl="0" marL="457200" rtl="0">
              <a:spcBef>
                <a:spcPts val="800"/>
              </a:spcBef>
              <a:spcAft>
                <a:spcPts val="0"/>
              </a:spcAft>
              <a:buSzPts val="2100"/>
              <a:buChar char="•"/>
              <a:defRPr/>
            </a:lvl1pPr>
            <a:lvl2pPr indent="-342900" lvl="1" marL="914400" rtl="0">
              <a:spcBef>
                <a:spcPts val="400"/>
              </a:spcBef>
              <a:spcAft>
                <a:spcPts val="0"/>
              </a:spcAft>
              <a:buSzPts val="1800"/>
              <a:buChar char="•"/>
              <a:defRPr/>
            </a:lvl2pPr>
            <a:lvl3pPr indent="-323850" lvl="2" marL="1371600" rtl="0">
              <a:spcBef>
                <a:spcPts val="400"/>
              </a:spcBef>
              <a:spcAft>
                <a:spcPts val="0"/>
              </a:spcAft>
              <a:buSzPts val="15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83" name="Google Shape;83;p13"/>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44000"/>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git-scm.com/downloads"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png"/></Relationships>
</file>

<file path=ppt/slides/_rels/slide6.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23.png"/><Relationship Id="rId12" Type="http://schemas.openxmlformats.org/officeDocument/2006/relationships/image" Target="../media/image41.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1.png"/><Relationship Id="rId9"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11.png"/><Relationship Id="rId7" Type="http://schemas.openxmlformats.org/officeDocument/2006/relationships/image" Target="../media/image18.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github.com" TargetMode="External"/><Relationship Id="rId4" Type="http://schemas.openxmlformats.org/officeDocument/2006/relationships/hyperlink" Target="http://github.austin.utexas.edu/" TargetMode="External"/><Relationship Id="rId5" Type="http://schemas.openxmlformats.org/officeDocument/2006/relationships/image" Target="../media/image9.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ithub.com/features/copilot" TargetMode="External"/><Relationship Id="rId4" Type="http://schemas.openxmlformats.org/officeDocument/2006/relationships/hyperlink" Target="https://code.visualstudio.com/blogs/2024/12/18/free-github-copilot" TargetMode="External"/><Relationship Id="rId5" Type="http://schemas.openxmlformats.org/officeDocument/2006/relationships/hyperlink" Target="https://docs.github.com/en/copilot/managing-copilot/managing-copilot-as-an-individual-subscriber/managing-your-copilot-subscription/getting-free-access-to-copilot-as-a-student-teacher-or-maintainer" TargetMode="External"/><Relationship Id="rId6"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hoosealicense.com/licenses/" TargetMode="External"/><Relationship Id="rId4" Type="http://schemas.openxmlformats.org/officeDocument/2006/relationships/hyperlink" Target="https://opensource.utexas.edu/best-practices#open-source-software-licenses-pdf" TargetMode="External"/><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hyperlink" Target="mailto:anewell@austin.utexas.edu" TargetMode="External"/><Relationship Id="rId5" Type="http://schemas.openxmlformats.org/officeDocument/2006/relationships/image" Target="../media/image22.png"/><Relationship Id="rId6" Type="http://schemas.openxmlformats.org/officeDocument/2006/relationships/image" Target="../media/image39.png"/><Relationship Id="rId7" Type="http://schemas.openxmlformats.org/officeDocument/2006/relationships/image" Target="../media/image32.png"/><Relationship Id="rId8"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39.png"/><Relationship Id="rId6" Type="http://schemas.openxmlformats.org/officeDocument/2006/relationships/image" Target="../media/image32.png"/><Relationship Id="rId7"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www.opensource.utexas.edu/" TargetMode="External"/><Relationship Id="rId4" Type="http://schemas.openxmlformats.org/officeDocument/2006/relationships/hyperlink" Target="http://www.opensource.utexas.edu/" TargetMode="External"/><Relationship Id="rId5" Type="http://schemas.openxmlformats.org/officeDocument/2006/relationships/hyperlink" Target="https://utlists.utexas.edu/sympa/subscribe/ospo.announce" TargetMode="External"/><Relationship Id="rId6" Type="http://schemas.openxmlformats.org/officeDocument/2006/relationships/hyperlink" Target="https://outlook.office365.com/book/UTOSPOOpenSourceSoftwareConsultation@utexas.onmicrosoft.com/" TargetMode="External"/><Relationship Id="rId7" Type="http://schemas.openxmlformats.org/officeDocument/2006/relationships/image" Target="../media/image36.png"/><Relationship Id="rId8"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3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security.utexas.edu/iso-policies/cloud-services/decision-matrix#cloud-services" TargetMode="External"/><Relationship Id="rId4" Type="http://schemas.openxmlformats.org/officeDocument/2006/relationships/hyperlink" Target="https://compliance.utexas.edu/prohibited-technology-and-covered-application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taylorandfrancis.com/our-policies/ai-policy/" TargetMode="External"/><Relationship Id="rId4" Type="http://schemas.openxmlformats.org/officeDocument/2006/relationships/image" Target="../media/image3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www.theregister.com/2025/04/12/ai_code_suggestions_sabotage_supply_chai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www.lib.utexas.edu/study-spaces-technology/scholars-lab" TargetMode="External"/><Relationship Id="rId4" Type="http://schemas.openxmlformats.org/officeDocument/2006/relationships/hyperlink" Target="https://guides.lib.utexas.edu/data-and-donuts" TargetMode="External"/><Relationship Id="rId5" Type="http://schemas.openxmlformats.org/officeDocument/2006/relationships/image" Target="../media/image30.png"/><Relationship Id="rId6"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hyperlink" Target="https://bit.ly/ipw-aug2025" TargetMode="External"/><Relationship Id="rId4" Type="http://schemas.openxmlformats.org/officeDocument/2006/relationships/hyperlink" Target="https://utexas.qualtrics.com/jfe/form/SV_8dFj4bT5qvAhitM?Q_PopulateResponse=%7B%22QID20%22:%22Immersive%20Python%20Workshop%20(August%202025)%22%7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txBox="1"/>
          <p:nvPr>
            <p:ph type="title"/>
          </p:nvPr>
        </p:nvSpPr>
        <p:spPr>
          <a:xfrm>
            <a:off x="-390906" y="1784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Immersive Python Workshop Day 2  </a:t>
            </a:r>
            <a:r>
              <a:rPr lang="en" sz="3000">
                <a:solidFill>
                  <a:schemeClr val="lt1"/>
                </a:solidFill>
                <a:latin typeface="Twentieth Century"/>
                <a:ea typeface="Twentieth Century"/>
                <a:cs typeface="Twentieth Century"/>
                <a:sym typeface="Twentieth Century"/>
              </a:rPr>
              <a:t>|  Git &amp; GitHub</a:t>
            </a:r>
            <a:endParaRPr sz="30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Introduction to Git</a:t>
            </a:r>
            <a:endParaRPr b="1" sz="3000">
              <a:solidFill>
                <a:schemeClr val="lt1"/>
              </a:solidFill>
              <a:latin typeface="Twentieth Century"/>
              <a:ea typeface="Twentieth Century"/>
              <a:cs typeface="Twentieth Century"/>
              <a:sym typeface="Twentieth Century"/>
            </a:endParaRPr>
          </a:p>
        </p:txBody>
      </p:sp>
      <p:sp>
        <p:nvSpPr>
          <p:cNvPr id="94" name="Google Shape;94;p15"/>
          <p:cNvSpPr txBox="1"/>
          <p:nvPr/>
        </p:nvSpPr>
        <p:spPr>
          <a:xfrm>
            <a:off x="455050" y="1322650"/>
            <a:ext cx="4344300" cy="33153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323850" lvl="0" marL="457200" rtl="0" algn="l">
              <a:lnSpc>
                <a:spcPct val="150000"/>
              </a:lnSpc>
              <a:spcBef>
                <a:spcPts val="1000"/>
              </a:spcBef>
              <a:spcAft>
                <a:spcPts val="0"/>
              </a:spcAft>
              <a:buSzPts val="1500"/>
              <a:buFont typeface="Twentieth Century"/>
              <a:buChar char="➔"/>
            </a:pPr>
            <a:r>
              <a:rPr lang="en" sz="1500" u="sng">
                <a:solidFill>
                  <a:schemeClr val="hlink"/>
                </a:solidFill>
                <a:latin typeface="Twentieth Century"/>
                <a:ea typeface="Twentieth Century"/>
                <a:cs typeface="Twentieth Century"/>
                <a:sym typeface="Twentieth Century"/>
                <a:hlinkClick r:id="rId3"/>
              </a:rPr>
              <a:t>https://git-scm.com/downloads</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Distributed version control system</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Free and open source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Cross platform compatible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2400"/>
              </a:spcAft>
              <a:buSzPts val="1500"/>
              <a:buFont typeface="Twentieth Century"/>
              <a:buChar char="➔"/>
            </a:pPr>
            <a:r>
              <a:rPr lang="en" sz="1500">
                <a:latin typeface="Twentieth Century"/>
                <a:ea typeface="Twentieth Century"/>
                <a:cs typeface="Twentieth Century"/>
                <a:sym typeface="Twentieth Century"/>
              </a:rPr>
              <a:t>Run via Terminal or Command Prompt </a:t>
            </a:r>
            <a:endParaRPr sz="1500">
              <a:latin typeface="Twentieth Century"/>
              <a:ea typeface="Twentieth Century"/>
              <a:cs typeface="Twentieth Century"/>
              <a:sym typeface="Twentieth Century"/>
            </a:endParaRPr>
          </a:p>
        </p:txBody>
      </p:sp>
      <p:pic>
        <p:nvPicPr>
          <p:cNvPr id="95" name="Google Shape;95;p15"/>
          <p:cNvPicPr preferRelativeResize="0"/>
          <p:nvPr/>
        </p:nvPicPr>
        <p:blipFill>
          <a:blip r:embed="rId4">
            <a:alphaModFix/>
          </a:blip>
          <a:stretch>
            <a:fillRect/>
          </a:stretch>
        </p:blipFill>
        <p:spPr>
          <a:xfrm>
            <a:off x="5496075" y="993053"/>
            <a:ext cx="3455103" cy="39744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a:t>
            </a:r>
            <a:r>
              <a:rPr b="1" lang="en" sz="3000">
                <a:solidFill>
                  <a:schemeClr val="lt1"/>
                </a:solidFill>
                <a:latin typeface="Twentieth Century"/>
                <a:ea typeface="Twentieth Century"/>
                <a:cs typeface="Twentieth Century"/>
                <a:sym typeface="Twentieth Century"/>
              </a:rPr>
              <a:t> Git</a:t>
            </a:r>
            <a:endParaRPr b="1" sz="3000">
              <a:solidFill>
                <a:schemeClr val="lt1"/>
              </a:solidFill>
              <a:latin typeface="Twentieth Century"/>
              <a:ea typeface="Twentieth Century"/>
              <a:cs typeface="Twentieth Century"/>
              <a:sym typeface="Twentieth Century"/>
            </a:endParaRPr>
          </a:p>
        </p:txBody>
      </p:sp>
      <p:pic>
        <p:nvPicPr>
          <p:cNvPr id="101" name="Google Shape;101;p16"/>
          <p:cNvPicPr preferRelativeResize="0"/>
          <p:nvPr/>
        </p:nvPicPr>
        <p:blipFill rotWithShape="1">
          <a:blip r:embed="rId3">
            <a:alphaModFix/>
          </a:blip>
          <a:srcRect b="10596" l="7220" r="7323" t="11198"/>
          <a:stretch/>
        </p:blipFill>
        <p:spPr>
          <a:xfrm>
            <a:off x="348850" y="1818400"/>
            <a:ext cx="4806625" cy="2850101"/>
          </a:xfrm>
          <a:prstGeom prst="rect">
            <a:avLst/>
          </a:prstGeom>
          <a:noFill/>
          <a:ln>
            <a:noFill/>
          </a:ln>
        </p:spPr>
      </p:pic>
      <p:sp>
        <p:nvSpPr>
          <p:cNvPr id="102" name="Google Shape;102;p16"/>
          <p:cNvSpPr txBox="1"/>
          <p:nvPr/>
        </p:nvSpPr>
        <p:spPr>
          <a:xfrm>
            <a:off x="348850" y="1113300"/>
            <a:ext cx="27015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Twentieth Century"/>
                <a:ea typeface="Twentieth Century"/>
                <a:cs typeface="Twentieth Century"/>
                <a:sym typeface="Twentieth Century"/>
              </a:rPr>
              <a:t>Command line (CL/CLI)</a:t>
            </a:r>
            <a:endParaRPr sz="21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08" name="Google Shape;108;p17"/>
          <p:cNvSpPr txBox="1"/>
          <p:nvPr/>
        </p:nvSpPr>
        <p:spPr>
          <a:xfrm>
            <a:off x="348850" y="1113300"/>
            <a:ext cx="27240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Twentieth Century"/>
                <a:ea typeface="Twentieth Century"/>
                <a:cs typeface="Twentieth Century"/>
                <a:sym typeface="Twentieth Century"/>
              </a:rPr>
              <a:t>Web interface</a:t>
            </a:r>
            <a:endParaRPr sz="2100">
              <a:solidFill>
                <a:schemeClr val="dk1"/>
              </a:solidFill>
              <a:latin typeface="Twentieth Century"/>
              <a:ea typeface="Twentieth Century"/>
              <a:cs typeface="Twentieth Century"/>
              <a:sym typeface="Twentieth Century"/>
            </a:endParaRPr>
          </a:p>
        </p:txBody>
      </p:sp>
      <p:pic>
        <p:nvPicPr>
          <p:cNvPr id="109" name="Google Shape;109;p17"/>
          <p:cNvPicPr preferRelativeResize="0"/>
          <p:nvPr/>
        </p:nvPicPr>
        <p:blipFill>
          <a:blip r:embed="rId3">
            <a:alphaModFix/>
          </a:blip>
          <a:stretch>
            <a:fillRect/>
          </a:stretch>
        </p:blipFill>
        <p:spPr>
          <a:xfrm>
            <a:off x="348850" y="1788700"/>
            <a:ext cx="4982850" cy="3176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15" name="Google Shape;115;p18"/>
          <p:cNvSpPr txBox="1"/>
          <p:nvPr/>
        </p:nvSpPr>
        <p:spPr>
          <a:xfrm>
            <a:off x="348850" y="1113300"/>
            <a:ext cx="3436500" cy="5079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Twentieth Century"/>
                <a:ea typeface="Twentieth Century"/>
                <a:cs typeface="Twentieth Century"/>
                <a:sym typeface="Twentieth Century"/>
              </a:rPr>
              <a:t>Graphical user interface (GUI)</a:t>
            </a:r>
            <a:endParaRPr sz="2100">
              <a:solidFill>
                <a:schemeClr val="dk1"/>
              </a:solidFill>
              <a:latin typeface="Twentieth Century"/>
              <a:ea typeface="Twentieth Century"/>
              <a:cs typeface="Twentieth Century"/>
              <a:sym typeface="Twentieth Century"/>
            </a:endParaRPr>
          </a:p>
        </p:txBody>
      </p:sp>
      <p:pic>
        <p:nvPicPr>
          <p:cNvPr id="116" name="Google Shape;116;p18"/>
          <p:cNvPicPr preferRelativeResize="0"/>
          <p:nvPr/>
        </p:nvPicPr>
        <p:blipFill>
          <a:blip r:embed="rId3">
            <a:alphaModFix/>
          </a:blip>
          <a:stretch>
            <a:fillRect/>
          </a:stretch>
        </p:blipFill>
        <p:spPr>
          <a:xfrm>
            <a:off x="348851" y="1773600"/>
            <a:ext cx="4628550" cy="31546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p:nvPr/>
        </p:nvSpPr>
        <p:spPr>
          <a:xfrm>
            <a:off x="6833425" y="1242525"/>
            <a:ext cx="2255100" cy="38193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2" name="Google Shape;122;p19"/>
          <p:cNvSpPr/>
          <p:nvPr/>
        </p:nvSpPr>
        <p:spPr>
          <a:xfrm>
            <a:off x="5319250" y="1242525"/>
            <a:ext cx="1431900" cy="7695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3" name="Google Shape;123;p19"/>
          <p:cNvSpPr/>
          <p:nvPr/>
        </p:nvSpPr>
        <p:spPr>
          <a:xfrm>
            <a:off x="52650" y="1242525"/>
            <a:ext cx="3131400" cy="769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124" name="Google Shape;124;p19"/>
          <p:cNvGrpSpPr/>
          <p:nvPr/>
        </p:nvGrpSpPr>
        <p:grpSpPr>
          <a:xfrm>
            <a:off x="2695525" y="4408150"/>
            <a:ext cx="1432110" cy="653588"/>
            <a:chOff x="3252009" y="4012235"/>
            <a:chExt cx="1767600" cy="806700"/>
          </a:xfrm>
        </p:grpSpPr>
        <p:sp>
          <p:nvSpPr>
            <p:cNvPr id="125" name="Google Shape;125;p19"/>
            <p:cNvSpPr/>
            <p:nvPr/>
          </p:nvSpPr>
          <p:spPr>
            <a:xfrm>
              <a:off x="3252009" y="4012235"/>
              <a:ext cx="1767600" cy="806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26" name="Google Shape;126;p19"/>
            <p:cNvPicPr preferRelativeResize="0"/>
            <p:nvPr/>
          </p:nvPicPr>
          <p:blipFill>
            <a:blip r:embed="rId3">
              <a:alphaModFix/>
            </a:blip>
            <a:stretch>
              <a:fillRect/>
            </a:stretch>
          </p:blipFill>
          <p:spPr>
            <a:xfrm>
              <a:off x="3381254" y="4101508"/>
              <a:ext cx="1435924" cy="600175"/>
            </a:xfrm>
            <a:prstGeom prst="rect">
              <a:avLst/>
            </a:prstGeom>
            <a:noFill/>
            <a:ln>
              <a:noFill/>
            </a:ln>
          </p:spPr>
        </p:pic>
      </p:grpSp>
      <p:grpSp>
        <p:nvGrpSpPr>
          <p:cNvPr id="127" name="Google Shape;127;p19"/>
          <p:cNvGrpSpPr/>
          <p:nvPr/>
        </p:nvGrpSpPr>
        <p:grpSpPr>
          <a:xfrm>
            <a:off x="130974" y="2710638"/>
            <a:ext cx="1432000" cy="908100"/>
            <a:chOff x="-66801" y="2592650"/>
            <a:chExt cx="1432000" cy="908100"/>
          </a:xfrm>
        </p:grpSpPr>
        <p:sp>
          <p:nvSpPr>
            <p:cNvPr id="128" name="Google Shape;128;p19"/>
            <p:cNvSpPr/>
            <p:nvPr/>
          </p:nvSpPr>
          <p:spPr>
            <a:xfrm>
              <a:off x="104598" y="2592650"/>
              <a:ext cx="1127400" cy="908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29" name="Google Shape;129;p19"/>
            <p:cNvPicPr preferRelativeResize="0"/>
            <p:nvPr/>
          </p:nvPicPr>
          <p:blipFill>
            <a:blip r:embed="rId4">
              <a:alphaModFix/>
            </a:blip>
            <a:stretch>
              <a:fillRect/>
            </a:stretch>
          </p:blipFill>
          <p:spPr>
            <a:xfrm>
              <a:off x="-66801" y="2643925"/>
              <a:ext cx="1432000" cy="805500"/>
            </a:xfrm>
            <a:prstGeom prst="rect">
              <a:avLst/>
            </a:prstGeom>
            <a:noFill/>
            <a:ln>
              <a:noFill/>
            </a:ln>
          </p:spPr>
        </p:pic>
      </p:grpSp>
      <p:grpSp>
        <p:nvGrpSpPr>
          <p:cNvPr id="130" name="Google Shape;130;p19"/>
          <p:cNvGrpSpPr/>
          <p:nvPr/>
        </p:nvGrpSpPr>
        <p:grpSpPr>
          <a:xfrm>
            <a:off x="1493877" y="2710638"/>
            <a:ext cx="1929900" cy="908100"/>
            <a:chOff x="1296102" y="2592650"/>
            <a:chExt cx="1929900" cy="908100"/>
          </a:xfrm>
        </p:grpSpPr>
        <p:sp>
          <p:nvSpPr>
            <p:cNvPr id="131" name="Google Shape;131;p19"/>
            <p:cNvSpPr/>
            <p:nvPr/>
          </p:nvSpPr>
          <p:spPr>
            <a:xfrm>
              <a:off x="1296102" y="2592650"/>
              <a:ext cx="1929900" cy="908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32" name="Google Shape;132;p19"/>
            <p:cNvPicPr preferRelativeResize="0"/>
            <p:nvPr/>
          </p:nvPicPr>
          <p:blipFill>
            <a:blip r:embed="rId5">
              <a:alphaModFix/>
            </a:blip>
            <a:stretch>
              <a:fillRect/>
            </a:stretch>
          </p:blipFill>
          <p:spPr>
            <a:xfrm>
              <a:off x="1403176" y="2815283"/>
              <a:ext cx="1714101" cy="524241"/>
            </a:xfrm>
            <a:prstGeom prst="rect">
              <a:avLst/>
            </a:prstGeom>
            <a:noFill/>
            <a:ln>
              <a:noFill/>
            </a:ln>
          </p:spPr>
        </p:pic>
      </p:grpSp>
      <p:grpSp>
        <p:nvGrpSpPr>
          <p:cNvPr id="133" name="Google Shape;133;p19"/>
          <p:cNvGrpSpPr/>
          <p:nvPr/>
        </p:nvGrpSpPr>
        <p:grpSpPr>
          <a:xfrm>
            <a:off x="3487874" y="2710613"/>
            <a:ext cx="3204300" cy="908100"/>
            <a:chOff x="3290099" y="2592625"/>
            <a:chExt cx="3204300" cy="908100"/>
          </a:xfrm>
        </p:grpSpPr>
        <p:sp>
          <p:nvSpPr>
            <p:cNvPr id="134" name="Google Shape;134;p19"/>
            <p:cNvSpPr/>
            <p:nvPr/>
          </p:nvSpPr>
          <p:spPr>
            <a:xfrm>
              <a:off x="3290099" y="2592625"/>
              <a:ext cx="3204300" cy="9081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35" name="Google Shape;135;p19"/>
            <p:cNvPicPr preferRelativeResize="0"/>
            <p:nvPr/>
          </p:nvPicPr>
          <p:blipFill>
            <a:blip r:embed="rId6">
              <a:alphaModFix/>
            </a:blip>
            <a:stretch>
              <a:fillRect/>
            </a:stretch>
          </p:blipFill>
          <p:spPr>
            <a:xfrm>
              <a:off x="3363724" y="2830688"/>
              <a:ext cx="2988876" cy="432000"/>
            </a:xfrm>
            <a:prstGeom prst="rect">
              <a:avLst/>
            </a:prstGeom>
            <a:noFill/>
            <a:ln>
              <a:noFill/>
            </a:ln>
          </p:spPr>
        </p:pic>
      </p:grpSp>
      <p:sp>
        <p:nvSpPr>
          <p:cNvPr id="136" name="Google Shape;136;p19"/>
          <p:cNvSpPr txBox="1"/>
          <p:nvPr/>
        </p:nvSpPr>
        <p:spPr>
          <a:xfrm>
            <a:off x="6803125" y="2779950"/>
            <a:ext cx="23157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latin typeface="Twentieth Century"/>
                <a:ea typeface="Twentieth Century"/>
                <a:cs typeface="Twentieth Century"/>
                <a:sym typeface="Twentieth Century"/>
              </a:rPr>
              <a:t>Software development platform</a:t>
            </a:r>
            <a:endParaRPr sz="1900">
              <a:solidFill>
                <a:schemeClr val="dk1"/>
              </a:solidFill>
              <a:latin typeface="Twentieth Century"/>
              <a:ea typeface="Twentieth Century"/>
              <a:cs typeface="Twentieth Century"/>
              <a:sym typeface="Twentieth Century"/>
            </a:endParaRPr>
          </a:p>
        </p:txBody>
      </p:sp>
      <p:sp>
        <p:nvSpPr>
          <p:cNvPr id="137" name="Google Shape;137;p19"/>
          <p:cNvSpPr txBox="1"/>
          <p:nvPr/>
        </p:nvSpPr>
        <p:spPr>
          <a:xfrm>
            <a:off x="6965775" y="4496438"/>
            <a:ext cx="19299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latin typeface="Twentieth Century"/>
                <a:ea typeface="Twentieth Century"/>
                <a:cs typeface="Twentieth Century"/>
                <a:sym typeface="Twentieth Century"/>
              </a:rPr>
              <a:t>Git framework</a:t>
            </a:r>
            <a:endParaRPr sz="1900">
              <a:solidFill>
                <a:schemeClr val="dk1"/>
              </a:solidFill>
              <a:latin typeface="Twentieth Century"/>
              <a:ea typeface="Twentieth Century"/>
              <a:cs typeface="Twentieth Century"/>
              <a:sym typeface="Twentieth Century"/>
            </a:endParaRPr>
          </a:p>
        </p:txBody>
      </p:sp>
      <p:sp>
        <p:nvSpPr>
          <p:cNvPr id="138" name="Google Shape;138;p19"/>
          <p:cNvSpPr txBox="1"/>
          <p:nvPr/>
        </p:nvSpPr>
        <p:spPr>
          <a:xfrm>
            <a:off x="6845500" y="1166150"/>
            <a:ext cx="23157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latin typeface="Twentieth Century"/>
                <a:ea typeface="Twentieth Century"/>
                <a:cs typeface="Twentieth Century"/>
                <a:sym typeface="Twentieth Century"/>
              </a:rPr>
              <a:t>Software development products</a:t>
            </a:r>
            <a:endParaRPr sz="1900">
              <a:solidFill>
                <a:schemeClr val="dk1"/>
              </a:solidFill>
              <a:latin typeface="Twentieth Century"/>
              <a:ea typeface="Twentieth Century"/>
              <a:cs typeface="Twentieth Century"/>
              <a:sym typeface="Twentieth Century"/>
            </a:endParaRPr>
          </a:p>
        </p:txBody>
      </p:sp>
      <p:pic>
        <p:nvPicPr>
          <p:cNvPr id="139" name="Google Shape;139;p19"/>
          <p:cNvPicPr preferRelativeResize="0"/>
          <p:nvPr/>
        </p:nvPicPr>
        <p:blipFill>
          <a:blip r:embed="rId7">
            <a:alphaModFix/>
          </a:blip>
          <a:stretch>
            <a:fillRect/>
          </a:stretch>
        </p:blipFill>
        <p:spPr>
          <a:xfrm>
            <a:off x="141950" y="1332050"/>
            <a:ext cx="1133409" cy="566700"/>
          </a:xfrm>
          <a:prstGeom prst="rect">
            <a:avLst/>
          </a:prstGeom>
          <a:noFill/>
          <a:ln>
            <a:noFill/>
          </a:ln>
        </p:spPr>
      </p:pic>
      <p:pic>
        <p:nvPicPr>
          <p:cNvPr id="140" name="Google Shape;140;p19"/>
          <p:cNvPicPr preferRelativeResize="0"/>
          <p:nvPr/>
        </p:nvPicPr>
        <p:blipFill>
          <a:blip r:embed="rId8">
            <a:alphaModFix/>
          </a:blip>
          <a:stretch>
            <a:fillRect/>
          </a:stretch>
        </p:blipFill>
        <p:spPr>
          <a:xfrm>
            <a:off x="1366146" y="1332050"/>
            <a:ext cx="1700114" cy="566700"/>
          </a:xfrm>
          <a:prstGeom prst="rect">
            <a:avLst/>
          </a:prstGeom>
          <a:noFill/>
          <a:ln cap="flat" cmpd="sng" w="9525">
            <a:solidFill>
              <a:schemeClr val="dk1"/>
            </a:solidFill>
            <a:prstDash val="solid"/>
            <a:round/>
            <a:headEnd len="sm" w="sm" type="none"/>
            <a:tailEnd len="sm" w="sm" type="none"/>
          </a:ln>
        </p:spPr>
      </p:pic>
      <p:sp>
        <p:nvSpPr>
          <p:cNvPr id="141" name="Google Shape;141;p19"/>
          <p:cNvSpPr/>
          <p:nvPr/>
        </p:nvSpPr>
        <p:spPr>
          <a:xfrm>
            <a:off x="3295000" y="1242525"/>
            <a:ext cx="1929900" cy="769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42" name="Google Shape;142;p19"/>
          <p:cNvPicPr preferRelativeResize="0"/>
          <p:nvPr/>
        </p:nvPicPr>
        <p:blipFill>
          <a:blip r:embed="rId9">
            <a:alphaModFix/>
          </a:blip>
          <a:stretch>
            <a:fillRect/>
          </a:stretch>
        </p:blipFill>
        <p:spPr>
          <a:xfrm>
            <a:off x="4527823" y="1313600"/>
            <a:ext cx="603601" cy="603601"/>
          </a:xfrm>
          <a:prstGeom prst="rect">
            <a:avLst/>
          </a:prstGeom>
          <a:noFill/>
          <a:ln>
            <a:noFill/>
          </a:ln>
        </p:spPr>
      </p:pic>
      <p:pic>
        <p:nvPicPr>
          <p:cNvPr id="143" name="Google Shape;143;p19"/>
          <p:cNvPicPr preferRelativeResize="0"/>
          <p:nvPr/>
        </p:nvPicPr>
        <p:blipFill rotWithShape="1">
          <a:blip r:embed="rId10">
            <a:alphaModFix/>
          </a:blip>
          <a:srcRect b="0" l="21422" r="20787" t="0"/>
          <a:stretch/>
        </p:blipFill>
        <p:spPr>
          <a:xfrm>
            <a:off x="5381000" y="1332050"/>
            <a:ext cx="694953" cy="603600"/>
          </a:xfrm>
          <a:prstGeom prst="rect">
            <a:avLst/>
          </a:prstGeom>
          <a:noFill/>
          <a:ln>
            <a:noFill/>
          </a:ln>
        </p:spPr>
      </p:pic>
      <p:sp>
        <p:nvSpPr>
          <p:cNvPr id="144" name="Google Shape;144;p1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Ways to interact with Git</a:t>
            </a:r>
            <a:endParaRPr b="1" sz="3000">
              <a:solidFill>
                <a:schemeClr val="lt1"/>
              </a:solidFill>
              <a:latin typeface="Twentieth Century"/>
              <a:ea typeface="Twentieth Century"/>
              <a:cs typeface="Twentieth Century"/>
              <a:sym typeface="Twentieth Century"/>
            </a:endParaRPr>
          </a:p>
        </p:txBody>
      </p:sp>
      <p:sp>
        <p:nvSpPr>
          <p:cNvPr id="145" name="Google Shape;145;p19"/>
          <p:cNvSpPr/>
          <p:nvPr/>
        </p:nvSpPr>
        <p:spPr>
          <a:xfrm>
            <a:off x="7819375" y="3788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6" name="Google Shape;146;p19"/>
          <p:cNvSpPr/>
          <p:nvPr/>
        </p:nvSpPr>
        <p:spPr>
          <a:xfrm>
            <a:off x="7789125" y="2116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47" name="Google Shape;147;p19"/>
          <p:cNvPicPr preferRelativeResize="0"/>
          <p:nvPr/>
        </p:nvPicPr>
        <p:blipFill>
          <a:blip r:embed="rId11">
            <a:alphaModFix/>
          </a:blip>
          <a:stretch>
            <a:fillRect/>
          </a:stretch>
        </p:blipFill>
        <p:spPr>
          <a:xfrm>
            <a:off x="6122243" y="1346477"/>
            <a:ext cx="574748" cy="574748"/>
          </a:xfrm>
          <a:prstGeom prst="rect">
            <a:avLst/>
          </a:prstGeom>
          <a:noFill/>
          <a:ln>
            <a:noFill/>
          </a:ln>
        </p:spPr>
      </p:pic>
      <p:pic>
        <p:nvPicPr>
          <p:cNvPr id="148" name="Google Shape;148;p19"/>
          <p:cNvPicPr preferRelativeResize="0"/>
          <p:nvPr/>
        </p:nvPicPr>
        <p:blipFill>
          <a:blip r:embed="rId12">
            <a:alphaModFix/>
          </a:blip>
          <a:stretch>
            <a:fillRect/>
          </a:stretch>
        </p:blipFill>
        <p:spPr>
          <a:xfrm>
            <a:off x="3332402" y="1409188"/>
            <a:ext cx="1133400" cy="436187"/>
          </a:xfrm>
          <a:prstGeom prst="rect">
            <a:avLst/>
          </a:prstGeom>
          <a:noFill/>
          <a:ln cap="flat" cmpd="sng" w="9525">
            <a:solidFill>
              <a:schemeClr val="dk1"/>
            </a:solidFill>
            <a:prstDash val="solid"/>
            <a:round/>
            <a:headEnd len="sm" w="sm" type="none"/>
            <a:tailEnd len="sm" w="sm" type="none"/>
          </a:ln>
        </p:spPr>
      </p:pic>
      <p:sp>
        <p:nvSpPr>
          <p:cNvPr id="149" name="Google Shape;149;p19"/>
          <p:cNvSpPr/>
          <p:nvPr/>
        </p:nvSpPr>
        <p:spPr>
          <a:xfrm>
            <a:off x="3332400" y="2060875"/>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p19"/>
          <p:cNvSpPr/>
          <p:nvPr/>
        </p:nvSpPr>
        <p:spPr>
          <a:xfrm>
            <a:off x="3332400" y="3788150"/>
            <a:ext cx="283200" cy="566700"/>
          </a:xfrm>
          <a:prstGeom prst="up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Introduction to GitHub</a:t>
            </a:r>
            <a:endParaRPr b="1" sz="3000">
              <a:solidFill>
                <a:schemeClr val="lt1"/>
              </a:solidFill>
              <a:latin typeface="Twentieth Century"/>
              <a:ea typeface="Twentieth Century"/>
              <a:cs typeface="Twentieth Century"/>
              <a:sym typeface="Twentieth Century"/>
            </a:endParaRPr>
          </a:p>
        </p:txBody>
      </p:sp>
      <p:sp>
        <p:nvSpPr>
          <p:cNvPr id="156" name="Google Shape;156;p20"/>
          <p:cNvSpPr txBox="1"/>
          <p:nvPr/>
        </p:nvSpPr>
        <p:spPr>
          <a:xfrm>
            <a:off x="227725" y="2089675"/>
            <a:ext cx="8646300" cy="28752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323850" lvl="0" marL="457200" rtl="0" algn="l">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GitHub is a great platform for backing up, versioning, collaborating on, and sharing code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It can be a great tool for researchers who want to make their work transparent and replicable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b="1" lang="en" sz="1500" u="sng">
                <a:solidFill>
                  <a:schemeClr val="hlink"/>
                </a:solidFill>
                <a:latin typeface="Twentieth Century"/>
                <a:ea typeface="Twentieth Century"/>
                <a:cs typeface="Twentieth Century"/>
                <a:sym typeface="Twentieth Century"/>
                <a:hlinkClick r:id="rId3"/>
              </a:rPr>
              <a:t>http://github.com</a:t>
            </a:r>
            <a:r>
              <a:rPr b="1" lang="en" sz="1500">
                <a:latin typeface="Twentieth Century"/>
                <a:ea typeface="Twentieth Century"/>
                <a:cs typeface="Twentieth Century"/>
                <a:sym typeface="Twentieth Century"/>
              </a:rPr>
              <a:t>        </a:t>
            </a:r>
            <a:r>
              <a:rPr b="1" lang="en" sz="1600">
                <a:latin typeface="Twentieth Century"/>
                <a:ea typeface="Twentieth Century"/>
                <a:cs typeface="Twentieth Century"/>
                <a:sym typeface="Twentieth Century"/>
              </a:rPr>
              <a:t>vs. </a:t>
            </a:r>
            <a:r>
              <a:rPr b="1" lang="en" sz="1500">
                <a:latin typeface="Twentieth Century"/>
                <a:ea typeface="Twentieth Century"/>
                <a:cs typeface="Twentieth Century"/>
                <a:sym typeface="Twentieth Century"/>
              </a:rPr>
              <a:t>      </a:t>
            </a:r>
            <a:r>
              <a:rPr b="1" lang="en" sz="1500" u="sng">
                <a:solidFill>
                  <a:schemeClr val="hlink"/>
                </a:solidFill>
                <a:latin typeface="Twentieth Century"/>
                <a:ea typeface="Twentieth Century"/>
                <a:cs typeface="Twentieth Century"/>
                <a:sym typeface="Twentieth Century"/>
                <a:hlinkClick r:id="rId4"/>
              </a:rPr>
              <a:t>http://github.austin.utexas.edu/</a:t>
            </a:r>
            <a:r>
              <a:rPr b="1" lang="en" sz="1500">
                <a:latin typeface="Twentieth Century"/>
                <a:ea typeface="Twentieth Century"/>
                <a:cs typeface="Twentieth Century"/>
                <a:sym typeface="Twentieth Century"/>
              </a:rPr>
              <a:t> </a:t>
            </a:r>
            <a:r>
              <a:rPr i="1" lang="en">
                <a:latin typeface="Twentieth Century"/>
                <a:ea typeface="Twentieth Century"/>
                <a:cs typeface="Twentieth Century"/>
                <a:sym typeface="Twentieth Century"/>
              </a:rPr>
              <a:t>(for faculty &amp; staff)</a:t>
            </a:r>
            <a:endParaRPr i="1">
              <a:latin typeface="Twentieth Century"/>
              <a:ea typeface="Twentieth Century"/>
              <a:cs typeface="Twentieth Century"/>
              <a:sym typeface="Twentieth Century"/>
            </a:endParaRPr>
          </a:p>
          <a:p>
            <a:pPr indent="-323850" lvl="0" marL="457200" rtl="0" algn="l">
              <a:lnSpc>
                <a:spcPct val="150000"/>
              </a:lnSpc>
              <a:spcBef>
                <a:spcPts val="2400"/>
              </a:spcBef>
              <a:spcAft>
                <a:spcPts val="2400"/>
              </a:spcAft>
              <a:buSzPts val="1500"/>
              <a:buFont typeface="Twentieth Century"/>
              <a:buChar char="➔"/>
            </a:pPr>
            <a:r>
              <a:rPr lang="en" sz="1500">
                <a:latin typeface="Twentieth Century"/>
                <a:ea typeface="Twentieth Century"/>
                <a:cs typeface="Twentieth Century"/>
                <a:sym typeface="Twentieth Century"/>
              </a:rPr>
              <a:t>You can use GitHub to release code for your own projects or to contribute to other software projects that have been released as open source</a:t>
            </a:r>
            <a:endParaRPr sz="1500">
              <a:latin typeface="Twentieth Century"/>
              <a:ea typeface="Twentieth Century"/>
              <a:cs typeface="Twentieth Century"/>
              <a:sym typeface="Twentieth Century"/>
            </a:endParaRPr>
          </a:p>
        </p:txBody>
      </p:sp>
      <p:pic>
        <p:nvPicPr>
          <p:cNvPr id="157" name="Google Shape;157;p20"/>
          <p:cNvPicPr preferRelativeResize="0"/>
          <p:nvPr/>
        </p:nvPicPr>
        <p:blipFill>
          <a:blip r:embed="rId5">
            <a:alphaModFix/>
          </a:blip>
          <a:stretch>
            <a:fillRect/>
          </a:stretch>
        </p:blipFill>
        <p:spPr>
          <a:xfrm>
            <a:off x="3101525" y="1092775"/>
            <a:ext cx="2940960" cy="768325"/>
          </a:xfrm>
          <a:prstGeom prst="rect">
            <a:avLst/>
          </a:prstGeom>
          <a:noFill/>
          <a:ln>
            <a:noFill/>
          </a:ln>
        </p:spPr>
      </p:pic>
      <p:pic>
        <p:nvPicPr>
          <p:cNvPr id="158" name="Google Shape;158;p20"/>
          <p:cNvPicPr preferRelativeResize="0"/>
          <p:nvPr/>
        </p:nvPicPr>
        <p:blipFill rotWithShape="1">
          <a:blip r:embed="rId6">
            <a:alphaModFix/>
          </a:blip>
          <a:srcRect b="6611" l="9908" r="7658" t="10955"/>
          <a:stretch/>
        </p:blipFill>
        <p:spPr>
          <a:xfrm>
            <a:off x="7926300" y="1003075"/>
            <a:ext cx="947724" cy="9477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700">
                <a:solidFill>
                  <a:schemeClr val="lt1"/>
                </a:solidFill>
                <a:latin typeface="Twentieth Century"/>
                <a:ea typeface="Twentieth Century"/>
                <a:cs typeface="Twentieth Century"/>
                <a:sym typeface="Twentieth Century"/>
              </a:rPr>
              <a:t>Why Push Research Code to GitHub</a:t>
            </a:r>
            <a:endParaRPr b="1" sz="2700">
              <a:solidFill>
                <a:schemeClr val="lt1"/>
              </a:solidFill>
              <a:latin typeface="Twentieth Century"/>
              <a:ea typeface="Twentieth Century"/>
              <a:cs typeface="Twentieth Century"/>
              <a:sym typeface="Twentieth Century"/>
            </a:endParaRPr>
          </a:p>
        </p:txBody>
      </p:sp>
      <p:sp>
        <p:nvSpPr>
          <p:cNvPr id="164" name="Google Shape;164;p21"/>
          <p:cNvSpPr txBox="1"/>
          <p:nvPr/>
        </p:nvSpPr>
        <p:spPr>
          <a:xfrm>
            <a:off x="244350" y="1043175"/>
            <a:ext cx="8646300" cy="38937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323850" lvl="0" marL="457200" rtl="0" algn="l">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Get recognition for your coding work</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Share your work with others so that your code can have a greater impact</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solidFill>
                  <a:schemeClr val="dk1"/>
                </a:solidFill>
                <a:latin typeface="Twentieth Century"/>
                <a:ea typeface="Twentieth Century"/>
                <a:cs typeface="Twentieth Century"/>
                <a:sym typeface="Twentieth Century"/>
              </a:rPr>
              <a:t>Make code backups, versioning, and publishing relatively easy</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Potentially benefit from others finding bugs and submitting pull requests for code improvements</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0"/>
              </a:spcAft>
              <a:buSzPts val="1500"/>
              <a:buFont typeface="Twentieth Century"/>
              <a:buChar char="➔"/>
            </a:pPr>
            <a:r>
              <a:rPr lang="en" sz="1500">
                <a:latin typeface="Twentieth Century"/>
                <a:ea typeface="Twentieth Century"/>
                <a:cs typeface="Twentieth Century"/>
                <a:sym typeface="Twentieth Century"/>
              </a:rPr>
              <a:t>Help make your research workflows reproducible</a:t>
            </a:r>
            <a:endParaRPr sz="1500">
              <a:latin typeface="Twentieth Century"/>
              <a:ea typeface="Twentieth Century"/>
              <a:cs typeface="Twentieth Century"/>
              <a:sym typeface="Twentieth Century"/>
            </a:endParaRPr>
          </a:p>
          <a:p>
            <a:pPr indent="-323850" lvl="0" marL="457200" rtl="0" algn="l">
              <a:lnSpc>
                <a:spcPct val="150000"/>
              </a:lnSpc>
              <a:spcBef>
                <a:spcPts val="2400"/>
              </a:spcBef>
              <a:spcAft>
                <a:spcPts val="2400"/>
              </a:spcAft>
              <a:buSzPts val="1500"/>
              <a:buFont typeface="Twentieth Century"/>
              <a:buChar char="➔"/>
            </a:pPr>
            <a:r>
              <a:rPr lang="en" sz="1500">
                <a:solidFill>
                  <a:schemeClr val="dk1"/>
                </a:solidFill>
                <a:latin typeface="Twentieth Century"/>
                <a:ea typeface="Twentieth Century"/>
                <a:cs typeface="Twentieth Century"/>
                <a:sym typeface="Twentieth Century"/>
              </a:rPr>
              <a:t>Enterprise GitHub and private repositories allow for secure and controlled code management</a:t>
            </a:r>
            <a:endParaRPr sz="1500">
              <a:latin typeface="Twentieth Century"/>
              <a:ea typeface="Twentieth Century"/>
              <a:cs typeface="Twentieth Century"/>
              <a:sym typeface="Twentieth Century"/>
            </a:endParaRPr>
          </a:p>
        </p:txBody>
      </p:sp>
      <p:pic>
        <p:nvPicPr>
          <p:cNvPr descr="New GitHub Logo - The GitHub Blog" id="165" name="Google Shape;165;p21"/>
          <p:cNvPicPr preferRelativeResize="0"/>
          <p:nvPr/>
        </p:nvPicPr>
        <p:blipFill rotWithShape="1">
          <a:blip r:embed="rId3">
            <a:alphaModFix/>
          </a:blip>
          <a:srcRect b="0" l="21982" r="20592" t="0"/>
          <a:stretch/>
        </p:blipFill>
        <p:spPr>
          <a:xfrm>
            <a:off x="7157775" y="1101400"/>
            <a:ext cx="1649899" cy="1470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GitHub Terminology to Know</a:t>
            </a:r>
            <a:endParaRPr b="1" sz="3000">
              <a:solidFill>
                <a:schemeClr val="lt1"/>
              </a:solidFill>
              <a:latin typeface="Twentieth Century"/>
              <a:ea typeface="Twentieth Century"/>
              <a:cs typeface="Twentieth Century"/>
              <a:sym typeface="Twentieth Century"/>
            </a:endParaRPr>
          </a:p>
        </p:txBody>
      </p:sp>
      <p:sp>
        <p:nvSpPr>
          <p:cNvPr id="171" name="Google Shape;171;p22"/>
          <p:cNvSpPr txBox="1"/>
          <p:nvPr/>
        </p:nvSpPr>
        <p:spPr>
          <a:xfrm>
            <a:off x="190450" y="1023975"/>
            <a:ext cx="8802600" cy="39315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246875">
            <a:noAutofit/>
          </a:bodyPr>
          <a:lstStyle/>
          <a:p>
            <a:pPr indent="-330200" lvl="0" marL="457200" rtl="0" algn="l">
              <a:lnSpc>
                <a:spcPct val="150000"/>
              </a:lnSpc>
              <a:spcBef>
                <a:spcPts val="0"/>
              </a:spcBef>
              <a:spcAft>
                <a:spcPts val="0"/>
              </a:spcAft>
              <a:buSzPts val="1600"/>
              <a:buFont typeface="Twentieth Century"/>
              <a:buChar char="➔"/>
            </a:pPr>
            <a:r>
              <a:rPr b="1" lang="en" sz="1600">
                <a:solidFill>
                  <a:schemeClr val="dk1"/>
                </a:solidFill>
                <a:latin typeface="Twentieth Century"/>
                <a:ea typeface="Twentieth Century"/>
                <a:cs typeface="Twentieth Century"/>
                <a:sym typeface="Twentieth Century"/>
              </a:rPr>
              <a:t>Git </a:t>
            </a:r>
            <a:r>
              <a:rPr lang="en" sz="1600">
                <a:solidFill>
                  <a:schemeClr val="dk1"/>
                </a:solidFill>
                <a:latin typeface="Twentieth Century"/>
                <a:ea typeface="Twentieth Century"/>
                <a:cs typeface="Twentieth Century"/>
                <a:sym typeface="Twentieth Century"/>
              </a:rPr>
              <a:t>	</a:t>
            </a:r>
            <a:r>
              <a:rPr lang="en">
                <a:solidFill>
                  <a:schemeClr val="dk1"/>
                </a:solidFill>
                <a:latin typeface="Twentieth Century"/>
                <a:ea typeface="Twentieth Century"/>
                <a:cs typeface="Twentieth Century"/>
                <a:sym typeface="Twentieth Century"/>
              </a:rPr>
              <a:t>		Open source software used to track and manage versions of files containing text</a:t>
            </a:r>
            <a:endParaRPr>
              <a:latin typeface="Twentieth Century"/>
              <a:ea typeface="Twentieth Century"/>
              <a:cs typeface="Twentieth Century"/>
              <a:sym typeface="Twentieth Century"/>
            </a:endParaRPr>
          </a:p>
          <a:p>
            <a:pPr indent="-330200" lvl="0" marL="457200" rtl="0" algn="l">
              <a:lnSpc>
                <a:spcPct val="150000"/>
              </a:lnSpc>
              <a:spcBef>
                <a:spcPts val="1300"/>
              </a:spcBef>
              <a:spcAft>
                <a:spcPts val="0"/>
              </a:spcAft>
              <a:buSzPts val="1600"/>
              <a:buFont typeface="Twentieth Century"/>
              <a:buChar char="➔"/>
            </a:pPr>
            <a:r>
              <a:rPr b="1" lang="en" sz="1600">
                <a:latin typeface="Twentieth Century"/>
                <a:ea typeface="Twentieth Century"/>
                <a:cs typeface="Twentieth Century"/>
                <a:sym typeface="Twentieth Century"/>
              </a:rPr>
              <a:t>Repository	</a:t>
            </a:r>
            <a:r>
              <a:rPr lang="en">
                <a:latin typeface="Twentieth Century"/>
                <a:ea typeface="Twentieth Century"/>
                <a:cs typeface="Twentieth Century"/>
                <a:sym typeface="Twentieth Century"/>
              </a:rPr>
              <a:t>	A container for all of a project’s files, they can be public or private</a:t>
            </a:r>
            <a:endParaRPr>
              <a:latin typeface="Twentieth Century"/>
              <a:ea typeface="Twentieth Century"/>
              <a:cs typeface="Twentieth Century"/>
              <a:sym typeface="Twentieth Century"/>
            </a:endParaRPr>
          </a:p>
          <a:p>
            <a:pPr indent="-317500" lvl="0" marL="457200" rtl="0" algn="l">
              <a:lnSpc>
                <a:spcPct val="150000"/>
              </a:lnSpc>
              <a:spcBef>
                <a:spcPts val="1300"/>
              </a:spcBef>
              <a:spcAft>
                <a:spcPts val="0"/>
              </a:spcAft>
              <a:buSzPts val="1400"/>
              <a:buChar char="➔"/>
            </a:pPr>
            <a:r>
              <a:rPr b="1" lang="en" sz="1600">
                <a:latin typeface="Twentieth Century"/>
                <a:ea typeface="Twentieth Century"/>
                <a:cs typeface="Twentieth Century"/>
                <a:sym typeface="Twentieth Century"/>
              </a:rPr>
              <a:t>Commit</a:t>
            </a:r>
            <a:r>
              <a:rPr lang="en" sz="1600">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	An individual change to a set of files in a repository</a:t>
            </a:r>
            <a:endParaRPr>
              <a:latin typeface="Twentieth Century"/>
              <a:ea typeface="Twentieth Century"/>
              <a:cs typeface="Twentieth Century"/>
              <a:sym typeface="Twentieth Century"/>
            </a:endParaRPr>
          </a:p>
          <a:p>
            <a:pPr indent="-317500" lvl="0" marL="457200" rtl="0" algn="l">
              <a:lnSpc>
                <a:spcPct val="150000"/>
              </a:lnSpc>
              <a:spcBef>
                <a:spcPts val="1300"/>
              </a:spcBef>
              <a:spcAft>
                <a:spcPts val="0"/>
              </a:spcAft>
              <a:buSzPts val="1400"/>
              <a:buChar char="➔"/>
            </a:pPr>
            <a:r>
              <a:rPr b="1" lang="en" sz="1600">
                <a:latin typeface="Twentieth Century"/>
                <a:ea typeface="Twentieth Century"/>
                <a:cs typeface="Twentieth Century"/>
                <a:sym typeface="Twentieth Century"/>
              </a:rPr>
              <a:t>Versioning</a:t>
            </a:r>
            <a:r>
              <a:rPr lang="en" sz="1600">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Tracking and saving records of changes to files over time</a:t>
            </a:r>
            <a:endParaRPr>
              <a:latin typeface="Twentieth Century"/>
              <a:ea typeface="Twentieth Century"/>
              <a:cs typeface="Twentieth Century"/>
              <a:sym typeface="Twentieth Century"/>
            </a:endParaRPr>
          </a:p>
          <a:p>
            <a:pPr indent="-317500" lvl="0" marL="457200" rtl="0" algn="l">
              <a:lnSpc>
                <a:spcPct val="150000"/>
              </a:lnSpc>
              <a:spcBef>
                <a:spcPts val="1300"/>
              </a:spcBef>
              <a:spcAft>
                <a:spcPts val="0"/>
              </a:spcAft>
              <a:buSzPts val="1400"/>
              <a:buChar char="➔"/>
            </a:pPr>
            <a:r>
              <a:rPr b="1" lang="en" sz="1600">
                <a:latin typeface="Twentieth Century"/>
                <a:ea typeface="Twentieth Century"/>
                <a:cs typeface="Twentieth Century"/>
                <a:sym typeface="Twentieth Century"/>
              </a:rPr>
              <a:t>Pull Request</a:t>
            </a:r>
            <a:r>
              <a:rPr lang="en" sz="1600">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	Proposed changes to a files in a repository that can be accepted or rejected</a:t>
            </a:r>
            <a:endParaRPr>
              <a:latin typeface="Twentieth Century"/>
              <a:ea typeface="Twentieth Century"/>
              <a:cs typeface="Twentieth Century"/>
              <a:sym typeface="Twentieth Century"/>
            </a:endParaRPr>
          </a:p>
          <a:p>
            <a:pPr indent="-317500" lvl="0" marL="457200" rtl="0" algn="l">
              <a:lnSpc>
                <a:spcPct val="150000"/>
              </a:lnSpc>
              <a:spcBef>
                <a:spcPts val="1300"/>
              </a:spcBef>
              <a:spcAft>
                <a:spcPts val="0"/>
              </a:spcAft>
              <a:buSzPts val="1400"/>
              <a:buFont typeface="Twentieth Century"/>
              <a:buChar char="➔"/>
            </a:pPr>
            <a:r>
              <a:rPr b="1" lang="en" sz="1600">
                <a:latin typeface="Twentieth Century"/>
                <a:ea typeface="Twentieth Century"/>
                <a:cs typeface="Twentieth Century"/>
                <a:sym typeface="Twentieth Century"/>
              </a:rPr>
              <a:t>ReadMe file	</a:t>
            </a:r>
            <a:r>
              <a:rPr lang="en">
                <a:latin typeface="Twentieth Century"/>
                <a:ea typeface="Twentieth Century"/>
                <a:cs typeface="Twentieth Century"/>
                <a:sym typeface="Twentieth Century"/>
              </a:rPr>
              <a:t>A file that defines the content on the repo landing page and provides essential project info</a:t>
            </a:r>
            <a:endParaRPr>
              <a:latin typeface="Twentieth Century"/>
              <a:ea typeface="Twentieth Century"/>
              <a:cs typeface="Twentieth Century"/>
              <a:sym typeface="Twentieth Century"/>
            </a:endParaRPr>
          </a:p>
          <a:p>
            <a:pPr indent="-330200" lvl="0" marL="457200" rtl="0" algn="l">
              <a:lnSpc>
                <a:spcPct val="150000"/>
              </a:lnSpc>
              <a:spcBef>
                <a:spcPts val="1300"/>
              </a:spcBef>
              <a:spcAft>
                <a:spcPts val="1300"/>
              </a:spcAft>
              <a:buSzPts val="1600"/>
              <a:buFont typeface="Twentieth Century"/>
              <a:buChar char="➔"/>
            </a:pPr>
            <a:r>
              <a:rPr b="1" lang="en" sz="1600">
                <a:latin typeface="Twentieth Century"/>
                <a:ea typeface="Twentieth Century"/>
                <a:cs typeface="Twentieth Century"/>
                <a:sym typeface="Twentieth Century"/>
              </a:rPr>
              <a:t>Git Ignore file	</a:t>
            </a:r>
            <a:r>
              <a:rPr lang="en">
                <a:latin typeface="Twentieth Century"/>
                <a:ea typeface="Twentieth Century"/>
                <a:cs typeface="Twentieth Century"/>
                <a:sym typeface="Twentieth Century"/>
              </a:rPr>
              <a:t>A file in a git repository that describes files which should </a:t>
            </a:r>
            <a:r>
              <a:rPr b="1" lang="en">
                <a:latin typeface="Twentieth Century"/>
                <a:ea typeface="Twentieth Century"/>
                <a:cs typeface="Twentieth Century"/>
                <a:sym typeface="Twentieth Century"/>
              </a:rPr>
              <a:t>not</a:t>
            </a:r>
            <a:r>
              <a:rPr lang="en">
                <a:latin typeface="Twentieth Century"/>
                <a:ea typeface="Twentieth Century"/>
                <a:cs typeface="Twentieth Century"/>
                <a:sym typeface="Twentieth Century"/>
              </a:rPr>
              <a:t> be shared publicly</a:t>
            </a:r>
            <a:endParaRPr>
              <a:latin typeface="Twentieth Century"/>
              <a:ea typeface="Twentieth Century"/>
              <a:cs typeface="Twentieth Century"/>
              <a:sym typeface="Twentieth Century"/>
            </a:endParaRPr>
          </a:p>
        </p:txBody>
      </p:sp>
      <p:pic>
        <p:nvPicPr>
          <p:cNvPr id="172" name="Google Shape;172;p22"/>
          <p:cNvPicPr preferRelativeResize="0"/>
          <p:nvPr/>
        </p:nvPicPr>
        <p:blipFill>
          <a:blip r:embed="rId3">
            <a:alphaModFix/>
          </a:blip>
          <a:stretch>
            <a:fillRect/>
          </a:stretch>
        </p:blipFill>
        <p:spPr>
          <a:xfrm>
            <a:off x="8198475" y="1295775"/>
            <a:ext cx="683423" cy="2853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Getting Started with GitHub</a:t>
            </a:r>
            <a:endParaRPr b="1" sz="3000">
              <a:solidFill>
                <a:schemeClr val="lt1"/>
              </a:solidFill>
              <a:latin typeface="Twentieth Century"/>
              <a:ea typeface="Twentieth Century"/>
              <a:cs typeface="Twentieth Century"/>
              <a:sym typeface="Twentieth Century"/>
            </a:endParaRPr>
          </a:p>
        </p:txBody>
      </p:sp>
      <p:sp>
        <p:nvSpPr>
          <p:cNvPr id="178" name="Google Shape;178;p23"/>
          <p:cNvSpPr txBox="1"/>
          <p:nvPr/>
        </p:nvSpPr>
        <p:spPr>
          <a:xfrm>
            <a:off x="256200" y="979350"/>
            <a:ext cx="6065100" cy="4060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246875">
            <a:noAutofit/>
          </a:bodyPr>
          <a:lstStyle/>
          <a:p>
            <a:pPr indent="-317500" lvl="0" marL="457200" rtl="0" algn="l">
              <a:lnSpc>
                <a:spcPct val="115000"/>
              </a:lnSpc>
              <a:spcBef>
                <a:spcPts val="0"/>
              </a:spcBef>
              <a:spcAft>
                <a:spcPts val="0"/>
              </a:spcAft>
              <a:buSzPts val="1400"/>
              <a:buFont typeface="Twentieth Century"/>
              <a:buAutoNum type="arabicPeriod"/>
            </a:pPr>
            <a:r>
              <a:rPr lang="en">
                <a:solidFill>
                  <a:schemeClr val="dk1"/>
                </a:solidFill>
                <a:latin typeface="Twentieth Century"/>
                <a:ea typeface="Twentieth Century"/>
                <a:cs typeface="Twentieth Century"/>
                <a:sym typeface="Twentieth Century"/>
              </a:rPr>
              <a:t>Create a GitHub account</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SzPts val="1400"/>
              <a:buFont typeface="Twentieth Century"/>
              <a:buAutoNum type="arabicPeriod"/>
            </a:pPr>
            <a:r>
              <a:rPr lang="en">
                <a:solidFill>
                  <a:schemeClr val="dk1"/>
                </a:solidFill>
                <a:latin typeface="Twentieth Century"/>
                <a:ea typeface="Twentieth Century"/>
                <a:cs typeface="Twentieth Century"/>
                <a:sym typeface="Twentieth Century"/>
              </a:rPr>
              <a:t>Download and install GitHub Desktop (already on lab computers)</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Create a new repository in GitHub</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Connect GitHub Desktop to your personal GitHub and c</a:t>
            </a:r>
            <a:r>
              <a:rPr lang="en">
                <a:solidFill>
                  <a:schemeClr val="dk1"/>
                </a:solidFill>
                <a:latin typeface="Twentieth Century"/>
                <a:ea typeface="Twentieth Century"/>
                <a:cs typeface="Twentieth Century"/>
                <a:sym typeface="Twentieth Century"/>
              </a:rPr>
              <a:t>lone the new repository created in step 3 down to your computer</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Copy your Python script file that you created earlier today and past it into the repository on your computer</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Make an initial commit using GitHub Desktop</a:t>
            </a:r>
            <a:endParaRPr>
              <a:solidFill>
                <a:schemeClr val="dk1"/>
              </a:solidFill>
              <a:latin typeface="Twentieth Century"/>
              <a:ea typeface="Twentieth Century"/>
              <a:cs typeface="Twentieth Century"/>
              <a:sym typeface="Twentieth Century"/>
            </a:endParaRPr>
          </a:p>
          <a:p>
            <a:pPr indent="-317500" lvl="0" marL="457200" rtl="0" algn="l">
              <a:lnSpc>
                <a:spcPct val="115000"/>
              </a:lnSpc>
              <a:spcBef>
                <a:spcPts val="2000"/>
              </a:spcBef>
              <a:spcAft>
                <a:spcPts val="2000"/>
              </a:spcAft>
              <a:buClr>
                <a:schemeClr val="dk1"/>
              </a:buClr>
              <a:buSzPts val="1400"/>
              <a:buFont typeface="Twentieth Century"/>
              <a:buAutoNum type="arabicPeriod"/>
            </a:pPr>
            <a:r>
              <a:rPr lang="en">
                <a:solidFill>
                  <a:schemeClr val="dk1"/>
                </a:solidFill>
                <a:latin typeface="Twentieth Century"/>
                <a:ea typeface="Twentieth Century"/>
                <a:cs typeface="Twentieth Century"/>
                <a:sym typeface="Twentieth Century"/>
              </a:rPr>
              <a:t>Push the code from your local repository to your GitHub account</a:t>
            </a:r>
            <a:endParaRPr>
              <a:solidFill>
                <a:schemeClr val="dk1"/>
              </a:solidFill>
              <a:latin typeface="Twentieth Century"/>
              <a:ea typeface="Twentieth Century"/>
              <a:cs typeface="Twentieth Century"/>
              <a:sym typeface="Twentieth Century"/>
            </a:endParaRPr>
          </a:p>
        </p:txBody>
      </p:sp>
      <p:pic>
        <p:nvPicPr>
          <p:cNvPr id="179" name="Google Shape;179;p23"/>
          <p:cNvPicPr preferRelativeResize="0"/>
          <p:nvPr/>
        </p:nvPicPr>
        <p:blipFill>
          <a:blip r:embed="rId3">
            <a:alphaModFix/>
          </a:blip>
          <a:stretch>
            <a:fillRect/>
          </a:stretch>
        </p:blipFill>
        <p:spPr>
          <a:xfrm>
            <a:off x="6488052" y="2498225"/>
            <a:ext cx="2342774" cy="1640399"/>
          </a:xfrm>
          <a:prstGeom prst="rect">
            <a:avLst/>
          </a:prstGeom>
          <a:noFill/>
          <a:ln>
            <a:noFill/>
          </a:ln>
          <a:effectLst>
            <a:outerShdw blurRad="57150" rotWithShape="0" algn="bl" dir="5400000" dist="19050">
              <a:srgbClr val="000000">
                <a:alpha val="50000"/>
              </a:srgbClr>
            </a:outerShdw>
          </a:effectLst>
        </p:spPr>
      </p:pic>
      <p:pic>
        <p:nvPicPr>
          <p:cNvPr id="180" name="Google Shape;180;p23"/>
          <p:cNvPicPr preferRelativeResize="0"/>
          <p:nvPr/>
        </p:nvPicPr>
        <p:blipFill>
          <a:blip r:embed="rId4">
            <a:alphaModFix/>
          </a:blip>
          <a:stretch>
            <a:fillRect/>
          </a:stretch>
        </p:blipFill>
        <p:spPr>
          <a:xfrm>
            <a:off x="7037625" y="1330474"/>
            <a:ext cx="2054601" cy="1403726"/>
          </a:xfrm>
          <a:prstGeom prst="rect">
            <a:avLst/>
          </a:prstGeom>
          <a:noFill/>
          <a:ln>
            <a:noFill/>
          </a:ln>
          <a:effectLst>
            <a:outerShdw blurRad="57150" rotWithShape="0" algn="bl" dir="5400000" dist="19050">
              <a:srgbClr val="000000">
                <a:alpha val="50000"/>
              </a:srgbClr>
            </a:outerShdw>
          </a:effectLst>
        </p:spPr>
      </p:pic>
      <p:pic>
        <p:nvPicPr>
          <p:cNvPr id="181" name="Google Shape;181;p23"/>
          <p:cNvPicPr preferRelativeResize="0"/>
          <p:nvPr/>
        </p:nvPicPr>
        <p:blipFill rotWithShape="1">
          <a:blip r:embed="rId5">
            <a:alphaModFix/>
          </a:blip>
          <a:srcRect b="3204" l="4329" r="3944" t="3101"/>
          <a:stretch/>
        </p:blipFill>
        <p:spPr>
          <a:xfrm>
            <a:off x="7887025" y="3636500"/>
            <a:ext cx="1205200" cy="14037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Other GitHub Skills to Practice</a:t>
            </a:r>
            <a:endParaRPr b="1" sz="3000">
              <a:solidFill>
                <a:schemeClr val="lt1"/>
              </a:solidFill>
              <a:latin typeface="Twentieth Century"/>
              <a:ea typeface="Twentieth Century"/>
              <a:cs typeface="Twentieth Century"/>
              <a:sym typeface="Twentieth Century"/>
            </a:endParaRPr>
          </a:p>
        </p:txBody>
      </p:sp>
      <p:sp>
        <p:nvSpPr>
          <p:cNvPr id="187" name="Google Shape;187;p24"/>
          <p:cNvSpPr txBox="1"/>
          <p:nvPr/>
        </p:nvSpPr>
        <p:spPr>
          <a:xfrm>
            <a:off x="541525" y="1510100"/>
            <a:ext cx="4953300" cy="29154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246875">
            <a:noAutofit/>
          </a:bodyPr>
          <a:lstStyle/>
          <a:p>
            <a:pPr indent="-342900" lvl="0" marL="457200" rtl="0" algn="l">
              <a:lnSpc>
                <a:spcPct val="150000"/>
              </a:lnSpc>
              <a:spcBef>
                <a:spcPts val="0"/>
              </a:spcBef>
              <a:spcAft>
                <a:spcPts val="0"/>
              </a:spcAft>
              <a:buClr>
                <a:schemeClr val="dk1"/>
              </a:buClr>
              <a:buSzPts val="1800"/>
              <a:buFont typeface="Twentieth Century"/>
              <a:buChar char="●"/>
            </a:pPr>
            <a:r>
              <a:rPr lang="en" sz="1800">
                <a:solidFill>
                  <a:schemeClr val="dk1"/>
                </a:solidFill>
                <a:latin typeface="Twentieth Century"/>
                <a:ea typeface="Twentieth Century"/>
                <a:cs typeface="Twentieth Century"/>
                <a:sym typeface="Twentieth Century"/>
              </a:rPr>
              <a:t>Edit .gitignore file</a:t>
            </a:r>
            <a:endParaRPr sz="1800">
              <a:solidFill>
                <a:schemeClr val="dk1"/>
              </a:solidFill>
              <a:latin typeface="Twentieth Century"/>
              <a:ea typeface="Twentieth Century"/>
              <a:cs typeface="Twentieth Century"/>
              <a:sym typeface="Twentieth Century"/>
            </a:endParaRPr>
          </a:p>
          <a:p>
            <a:pPr indent="-342900" lvl="0" marL="457200" rtl="0" algn="l">
              <a:lnSpc>
                <a:spcPct val="150000"/>
              </a:lnSpc>
              <a:spcBef>
                <a:spcPts val="2000"/>
              </a:spcBef>
              <a:spcAft>
                <a:spcPts val="0"/>
              </a:spcAft>
              <a:buClr>
                <a:schemeClr val="dk1"/>
              </a:buClr>
              <a:buSzPts val="1800"/>
              <a:buFont typeface="Twentieth Century"/>
              <a:buChar char="●"/>
            </a:pPr>
            <a:r>
              <a:rPr lang="en" sz="1800">
                <a:solidFill>
                  <a:schemeClr val="dk1"/>
                </a:solidFill>
                <a:latin typeface="Twentieth Century"/>
                <a:ea typeface="Twentieth Century"/>
                <a:cs typeface="Twentieth Century"/>
                <a:sym typeface="Twentieth Century"/>
              </a:rPr>
              <a:t>Fill out README file</a:t>
            </a:r>
            <a:endParaRPr sz="1800">
              <a:solidFill>
                <a:schemeClr val="dk1"/>
              </a:solidFill>
              <a:latin typeface="Twentieth Century"/>
              <a:ea typeface="Twentieth Century"/>
              <a:cs typeface="Twentieth Century"/>
              <a:sym typeface="Twentieth Century"/>
            </a:endParaRPr>
          </a:p>
          <a:p>
            <a:pPr indent="-342900" lvl="0" marL="457200" rtl="0" algn="l">
              <a:lnSpc>
                <a:spcPct val="150000"/>
              </a:lnSpc>
              <a:spcBef>
                <a:spcPts val="2000"/>
              </a:spcBef>
              <a:spcAft>
                <a:spcPts val="0"/>
              </a:spcAft>
              <a:buClr>
                <a:schemeClr val="dk1"/>
              </a:buClr>
              <a:buSzPts val="1800"/>
              <a:buFont typeface="Twentieth Century"/>
              <a:buChar char="●"/>
            </a:pPr>
            <a:r>
              <a:rPr lang="en" sz="1800">
                <a:solidFill>
                  <a:schemeClr val="dk1"/>
                </a:solidFill>
                <a:latin typeface="Twentieth Century"/>
                <a:ea typeface="Twentieth Century"/>
                <a:cs typeface="Twentieth Century"/>
                <a:sym typeface="Twentieth Century"/>
              </a:rPr>
              <a:t>Fork an existing open source repository</a:t>
            </a:r>
            <a:endParaRPr sz="1800">
              <a:solidFill>
                <a:schemeClr val="dk1"/>
              </a:solidFill>
              <a:latin typeface="Twentieth Century"/>
              <a:ea typeface="Twentieth Century"/>
              <a:cs typeface="Twentieth Century"/>
              <a:sym typeface="Twentieth Century"/>
            </a:endParaRPr>
          </a:p>
          <a:p>
            <a:pPr indent="-342900" lvl="0" marL="457200" rtl="0" algn="l">
              <a:lnSpc>
                <a:spcPct val="150000"/>
              </a:lnSpc>
              <a:spcBef>
                <a:spcPts val="2000"/>
              </a:spcBef>
              <a:spcAft>
                <a:spcPts val="2000"/>
              </a:spcAft>
              <a:buClr>
                <a:schemeClr val="dk1"/>
              </a:buClr>
              <a:buSzPts val="1800"/>
              <a:buFont typeface="Twentieth Century"/>
              <a:buChar char="●"/>
            </a:pPr>
            <a:r>
              <a:rPr lang="en" sz="1800">
                <a:solidFill>
                  <a:schemeClr val="dk1"/>
                </a:solidFill>
                <a:latin typeface="Twentieth Century"/>
                <a:ea typeface="Twentieth Century"/>
                <a:cs typeface="Twentieth Century"/>
                <a:sym typeface="Twentieth Century"/>
              </a:rPr>
              <a:t>Submit a pull request</a:t>
            </a:r>
            <a:endParaRPr sz="1800">
              <a:solidFill>
                <a:schemeClr val="dk1"/>
              </a:solidFill>
              <a:latin typeface="Twentieth Century"/>
              <a:ea typeface="Twentieth Century"/>
              <a:cs typeface="Twentieth Century"/>
              <a:sym typeface="Twentieth Century"/>
            </a:endParaRPr>
          </a:p>
        </p:txBody>
      </p:sp>
      <p:pic>
        <p:nvPicPr>
          <p:cNvPr id="188" name="Google Shape;188;p24"/>
          <p:cNvPicPr preferRelativeResize="0"/>
          <p:nvPr/>
        </p:nvPicPr>
        <p:blipFill>
          <a:blip r:embed="rId3">
            <a:alphaModFix/>
          </a:blip>
          <a:stretch>
            <a:fillRect/>
          </a:stretch>
        </p:blipFill>
        <p:spPr>
          <a:xfrm>
            <a:off x="6488052" y="2498225"/>
            <a:ext cx="2342774" cy="1640399"/>
          </a:xfrm>
          <a:prstGeom prst="rect">
            <a:avLst/>
          </a:prstGeom>
          <a:noFill/>
          <a:ln>
            <a:noFill/>
          </a:ln>
          <a:effectLst>
            <a:outerShdw blurRad="57150" rotWithShape="0" algn="bl" dir="5400000" dist="19050">
              <a:srgbClr val="000000">
                <a:alpha val="50000"/>
              </a:srgbClr>
            </a:outerShdw>
          </a:effectLst>
        </p:spPr>
      </p:pic>
      <p:pic>
        <p:nvPicPr>
          <p:cNvPr id="189" name="Google Shape;189;p24"/>
          <p:cNvPicPr preferRelativeResize="0"/>
          <p:nvPr/>
        </p:nvPicPr>
        <p:blipFill>
          <a:blip r:embed="rId4">
            <a:alphaModFix/>
          </a:blip>
          <a:stretch>
            <a:fillRect/>
          </a:stretch>
        </p:blipFill>
        <p:spPr>
          <a:xfrm>
            <a:off x="7037625" y="1330474"/>
            <a:ext cx="2054601" cy="1403726"/>
          </a:xfrm>
          <a:prstGeom prst="rect">
            <a:avLst/>
          </a:prstGeom>
          <a:noFill/>
          <a:ln>
            <a:noFill/>
          </a:ln>
          <a:effectLst>
            <a:outerShdw blurRad="57150" rotWithShape="0" algn="bl" dir="5400000" dist="19050">
              <a:srgbClr val="000000">
                <a:alpha val="50000"/>
              </a:srgbClr>
            </a:outerShdw>
          </a:effectLst>
        </p:spPr>
      </p:pic>
      <p:pic>
        <p:nvPicPr>
          <p:cNvPr id="190" name="Google Shape;190;p24"/>
          <p:cNvPicPr preferRelativeResize="0"/>
          <p:nvPr/>
        </p:nvPicPr>
        <p:blipFill rotWithShape="1">
          <a:blip r:embed="rId5">
            <a:alphaModFix/>
          </a:blip>
          <a:srcRect b="3204" l="4329" r="3944" t="3101"/>
          <a:stretch/>
        </p:blipFill>
        <p:spPr>
          <a:xfrm>
            <a:off x="7887025" y="3636500"/>
            <a:ext cx="1205200" cy="14037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GitHub Copilot</a:t>
            </a:r>
            <a:endParaRPr b="1" sz="3000">
              <a:solidFill>
                <a:schemeClr val="lt1"/>
              </a:solidFill>
              <a:latin typeface="Twentieth Century"/>
              <a:ea typeface="Twentieth Century"/>
              <a:cs typeface="Twentieth Century"/>
              <a:sym typeface="Twentieth Century"/>
            </a:endParaRPr>
          </a:p>
        </p:txBody>
      </p:sp>
      <p:sp>
        <p:nvSpPr>
          <p:cNvPr id="196" name="Google Shape;196;p25"/>
          <p:cNvSpPr txBox="1"/>
          <p:nvPr/>
        </p:nvSpPr>
        <p:spPr>
          <a:xfrm>
            <a:off x="227725" y="1175800"/>
            <a:ext cx="8639400" cy="37890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30200" lvl="0" marL="457200" rtl="0" algn="l">
              <a:lnSpc>
                <a:spcPct val="200000"/>
              </a:lnSpc>
              <a:spcBef>
                <a:spcPts val="0"/>
              </a:spcBef>
              <a:spcAft>
                <a:spcPts val="0"/>
              </a:spcAft>
              <a:buSzPts val="1600"/>
              <a:buFont typeface="Twentieth Century"/>
              <a:buChar char="➔"/>
            </a:pPr>
            <a:r>
              <a:rPr lang="en" sz="1600" u="sng">
                <a:solidFill>
                  <a:schemeClr val="hlink"/>
                </a:solidFill>
                <a:latin typeface="Twentieth Century"/>
                <a:ea typeface="Twentieth Century"/>
                <a:cs typeface="Twentieth Century"/>
                <a:sym typeface="Twentieth Century"/>
                <a:hlinkClick r:id="rId3"/>
              </a:rPr>
              <a:t>https://github.com/features/copilot</a:t>
            </a:r>
            <a:r>
              <a:rPr lang="en" sz="1600">
                <a:latin typeface="Twentieth Century"/>
                <a:ea typeface="Twentieth Century"/>
                <a:cs typeface="Twentieth Century"/>
                <a:sym typeface="Twentieth Century"/>
              </a:rPr>
              <a:t> </a:t>
            </a:r>
            <a:endParaRPr sz="1600">
              <a:latin typeface="Twentieth Century"/>
              <a:ea typeface="Twentieth Century"/>
              <a:cs typeface="Twentieth Century"/>
              <a:sym typeface="Twentieth Century"/>
            </a:endParaRPr>
          </a:p>
          <a:p>
            <a:pPr indent="-330200" lvl="0" marL="457200" rtl="0" algn="l">
              <a:lnSpc>
                <a:spcPct val="200000"/>
              </a:lnSpc>
              <a:spcBef>
                <a:spcPts val="1000"/>
              </a:spcBef>
              <a:spcAft>
                <a:spcPts val="0"/>
              </a:spcAft>
              <a:buSzPts val="1600"/>
              <a:buFont typeface="Twentieth Century"/>
              <a:buChar char="➔"/>
            </a:pPr>
            <a:r>
              <a:rPr lang="en" sz="1600">
                <a:latin typeface="Twentieth Century"/>
                <a:ea typeface="Twentieth Century"/>
                <a:cs typeface="Twentieth Century"/>
                <a:sym typeface="Twentieth Century"/>
              </a:rPr>
              <a:t>Recently announced free tier with 50 completions per month (</a:t>
            </a:r>
            <a:r>
              <a:rPr lang="en" sz="1600" u="sng">
                <a:solidFill>
                  <a:schemeClr val="hlink"/>
                </a:solidFill>
                <a:latin typeface="Twentieth Century"/>
                <a:ea typeface="Twentieth Century"/>
                <a:cs typeface="Twentieth Century"/>
                <a:sym typeface="Twentieth Century"/>
                <a:hlinkClick r:id="rId4"/>
              </a:rPr>
              <a:t>link</a:t>
            </a:r>
            <a:r>
              <a:rPr lang="en" sz="1600">
                <a:latin typeface="Twentieth Century"/>
                <a:ea typeface="Twentieth Century"/>
                <a:cs typeface="Twentieth Century"/>
                <a:sym typeface="Twentieth Century"/>
              </a:rPr>
              <a:t>)</a:t>
            </a:r>
            <a:endParaRPr sz="1600">
              <a:latin typeface="Twentieth Century"/>
              <a:ea typeface="Twentieth Century"/>
              <a:cs typeface="Twentieth Century"/>
              <a:sym typeface="Twentieth Century"/>
            </a:endParaRPr>
          </a:p>
          <a:p>
            <a:pPr indent="-330200" lvl="0" marL="457200" rtl="0" algn="l">
              <a:lnSpc>
                <a:spcPct val="200000"/>
              </a:lnSpc>
              <a:spcBef>
                <a:spcPts val="1000"/>
              </a:spcBef>
              <a:spcAft>
                <a:spcPts val="0"/>
              </a:spcAft>
              <a:buSzPts val="1600"/>
              <a:buFont typeface="Twentieth Century"/>
              <a:buChar char="➔"/>
            </a:pPr>
            <a:r>
              <a:rPr lang="en" sz="1600">
                <a:latin typeface="Twentieth Century"/>
                <a:ea typeface="Twentieth Century"/>
                <a:cs typeface="Twentieth Century"/>
                <a:sym typeface="Twentieth Century"/>
              </a:rPr>
              <a:t>Good for help with adding new code snippets within a project</a:t>
            </a:r>
            <a:endParaRPr sz="1600">
              <a:latin typeface="Twentieth Century"/>
              <a:ea typeface="Twentieth Century"/>
              <a:cs typeface="Twentieth Century"/>
              <a:sym typeface="Twentieth Century"/>
            </a:endParaRPr>
          </a:p>
          <a:p>
            <a:pPr indent="-330200" lvl="0" marL="457200" rtl="0" algn="l">
              <a:lnSpc>
                <a:spcPct val="200000"/>
              </a:lnSpc>
              <a:spcBef>
                <a:spcPts val="1000"/>
              </a:spcBef>
              <a:spcAft>
                <a:spcPts val="0"/>
              </a:spcAft>
              <a:buSzPts val="1600"/>
              <a:buFont typeface="Twentieth Century"/>
              <a:buChar char="➔"/>
            </a:pPr>
            <a:r>
              <a:rPr lang="en" sz="1600">
                <a:latin typeface="Twentieth Century"/>
                <a:ea typeface="Twentieth Century"/>
                <a:cs typeface="Twentieth Century"/>
                <a:sym typeface="Twentieth Century"/>
              </a:rPr>
              <a:t>Extension in VS Code can be used for free by students, faculty, &amp; open source project maintainers</a:t>
            </a:r>
            <a:endParaRPr sz="1600">
              <a:latin typeface="Twentieth Century"/>
              <a:ea typeface="Twentieth Century"/>
              <a:cs typeface="Twentieth Century"/>
              <a:sym typeface="Twentieth Century"/>
            </a:endParaRPr>
          </a:p>
          <a:p>
            <a:pPr indent="-317500" lvl="1" marL="914400" rtl="0" algn="l">
              <a:lnSpc>
                <a:spcPct val="200000"/>
              </a:lnSpc>
              <a:spcBef>
                <a:spcPts val="1000"/>
              </a:spcBef>
              <a:spcAft>
                <a:spcPts val="1000"/>
              </a:spcAft>
              <a:buSzPts val="1400"/>
              <a:buFont typeface="Twentieth Century"/>
              <a:buChar char="◆"/>
            </a:pPr>
            <a:r>
              <a:rPr lang="en" u="sng">
                <a:solidFill>
                  <a:schemeClr val="hlink"/>
                </a:solidFill>
                <a:latin typeface="Twentieth Century"/>
                <a:ea typeface="Twentieth Century"/>
                <a:cs typeface="Twentieth Century"/>
                <a:sym typeface="Twentieth Century"/>
                <a:hlinkClick r:id="rId5"/>
              </a:rPr>
              <a:t>https://docs.github.com/en/copilot/managing-copilot/managing-copilot-as-an-individual-subscriber/managing-your-copilot-subscription/getting-free-access-to-copilot-as-a-student-teacher-or-maintainer</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pic>
        <p:nvPicPr>
          <p:cNvPr id="197" name="Google Shape;197;p25"/>
          <p:cNvPicPr preferRelativeResize="0"/>
          <p:nvPr/>
        </p:nvPicPr>
        <p:blipFill>
          <a:blip r:embed="rId6">
            <a:alphaModFix/>
          </a:blip>
          <a:stretch>
            <a:fillRect/>
          </a:stretch>
        </p:blipFill>
        <p:spPr>
          <a:xfrm>
            <a:off x="6413875" y="1340775"/>
            <a:ext cx="2301650" cy="15576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Selecting a Software Licensing</a:t>
            </a:r>
            <a:endParaRPr b="1" sz="3000">
              <a:solidFill>
                <a:schemeClr val="lt1"/>
              </a:solidFill>
              <a:latin typeface="Twentieth Century"/>
              <a:ea typeface="Twentieth Century"/>
              <a:cs typeface="Twentieth Century"/>
              <a:sym typeface="Twentieth Century"/>
            </a:endParaRPr>
          </a:p>
        </p:txBody>
      </p:sp>
      <p:sp>
        <p:nvSpPr>
          <p:cNvPr id="203" name="Google Shape;203;p26"/>
          <p:cNvSpPr txBox="1"/>
          <p:nvPr/>
        </p:nvSpPr>
        <p:spPr>
          <a:xfrm>
            <a:off x="227725" y="1023400"/>
            <a:ext cx="8688000" cy="40296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155425">
            <a:noAutofit/>
          </a:bodyPr>
          <a:lstStyle/>
          <a:p>
            <a:pPr indent="-336550" lvl="0" marL="457200" rtl="0" algn="l">
              <a:lnSpc>
                <a:spcPct val="115000"/>
              </a:lnSpc>
              <a:spcBef>
                <a:spcPts val="0"/>
              </a:spcBef>
              <a:spcAft>
                <a:spcPts val="0"/>
              </a:spcAft>
              <a:buSzPts val="1700"/>
              <a:buFont typeface="Twentieth Century"/>
              <a:buChar char="➔"/>
            </a:pPr>
            <a:r>
              <a:rPr lang="en" sz="1700">
                <a:latin typeface="Twentieth Century"/>
                <a:ea typeface="Twentieth Century"/>
                <a:cs typeface="Twentieth Century"/>
                <a:sym typeface="Twentieth Century"/>
              </a:rPr>
              <a:t>If you want others to know how they are permitted to use the code you share on GitHub, you should select a license that clearly defines associated restrictions and obligations</a:t>
            </a:r>
            <a:endParaRPr sz="1700">
              <a:latin typeface="Twentieth Century"/>
              <a:ea typeface="Twentieth Century"/>
              <a:cs typeface="Twentieth Century"/>
              <a:sym typeface="Twentieth Century"/>
            </a:endParaRPr>
          </a:p>
          <a:p>
            <a:pPr indent="-336550" lvl="0" marL="457200" rtl="0" algn="l">
              <a:lnSpc>
                <a:spcPct val="115000"/>
              </a:lnSpc>
              <a:spcBef>
                <a:spcPts val="2400"/>
              </a:spcBef>
              <a:spcAft>
                <a:spcPts val="0"/>
              </a:spcAft>
              <a:buSzPts val="1700"/>
              <a:buFont typeface="Twentieth Century"/>
              <a:buChar char="➔"/>
            </a:pPr>
            <a:r>
              <a:rPr lang="en" sz="1700">
                <a:latin typeface="Twentieth Century"/>
                <a:ea typeface="Twentieth Century"/>
                <a:cs typeface="Twentieth Century"/>
                <a:sym typeface="Twentieth Century"/>
              </a:rPr>
              <a:t>There are many options to choose from, but some like these below are frequently chosen</a:t>
            </a:r>
            <a:endParaRPr sz="1700">
              <a:latin typeface="Twentieth Century"/>
              <a:ea typeface="Twentieth Century"/>
              <a:cs typeface="Twentieth Century"/>
              <a:sym typeface="Twentieth Century"/>
            </a:endParaRPr>
          </a:p>
          <a:p>
            <a:pPr indent="-330200" lvl="1" marL="914400" rtl="0" algn="l">
              <a:lnSpc>
                <a:spcPct val="115000"/>
              </a:lnSpc>
              <a:spcBef>
                <a:spcPts val="0"/>
              </a:spcBef>
              <a:spcAft>
                <a:spcPts val="0"/>
              </a:spcAft>
              <a:buSzPts val="1600"/>
              <a:buFont typeface="Twentieth Century"/>
              <a:buChar char="◆"/>
            </a:pPr>
            <a:r>
              <a:rPr b="1" lang="en" sz="1600">
                <a:latin typeface="Twentieth Century"/>
                <a:ea typeface="Twentieth Century"/>
                <a:cs typeface="Twentieth Century"/>
                <a:sym typeface="Twentieth Century"/>
              </a:rPr>
              <a:t>MIT</a:t>
            </a:r>
            <a:endParaRPr b="1" sz="1600">
              <a:latin typeface="Twentieth Century"/>
              <a:ea typeface="Twentieth Century"/>
              <a:cs typeface="Twentieth Century"/>
              <a:sym typeface="Twentieth Century"/>
            </a:endParaRPr>
          </a:p>
          <a:p>
            <a:pPr indent="-330200" lvl="1" marL="914400" rtl="0" algn="l">
              <a:lnSpc>
                <a:spcPct val="115000"/>
              </a:lnSpc>
              <a:spcBef>
                <a:spcPts val="1000"/>
              </a:spcBef>
              <a:spcAft>
                <a:spcPts val="0"/>
              </a:spcAft>
              <a:buSzPts val="1600"/>
              <a:buFont typeface="Twentieth Century"/>
              <a:buChar char="◆"/>
            </a:pPr>
            <a:r>
              <a:rPr b="1" lang="en" sz="1600">
                <a:latin typeface="Twentieth Century"/>
                <a:ea typeface="Twentieth Century"/>
                <a:cs typeface="Twentieth Century"/>
                <a:sym typeface="Twentieth Century"/>
              </a:rPr>
              <a:t>BSD 3-Clause</a:t>
            </a:r>
            <a:endParaRPr b="1" sz="1600">
              <a:latin typeface="Twentieth Century"/>
              <a:ea typeface="Twentieth Century"/>
              <a:cs typeface="Twentieth Century"/>
              <a:sym typeface="Twentieth Century"/>
            </a:endParaRPr>
          </a:p>
          <a:p>
            <a:pPr indent="-330200" lvl="1" marL="914400" rtl="0" algn="l">
              <a:lnSpc>
                <a:spcPct val="115000"/>
              </a:lnSpc>
              <a:spcBef>
                <a:spcPts val="1000"/>
              </a:spcBef>
              <a:spcAft>
                <a:spcPts val="0"/>
              </a:spcAft>
              <a:buSzPts val="1600"/>
              <a:buFont typeface="Twentieth Century"/>
              <a:buChar char="◆"/>
            </a:pPr>
            <a:r>
              <a:rPr b="1" lang="en" sz="1600">
                <a:latin typeface="Twentieth Century"/>
                <a:ea typeface="Twentieth Century"/>
                <a:cs typeface="Twentieth Century"/>
                <a:sym typeface="Twentieth Century"/>
              </a:rPr>
              <a:t>GPL</a:t>
            </a:r>
            <a:endParaRPr b="1" sz="1600">
              <a:latin typeface="Twentieth Century"/>
              <a:ea typeface="Twentieth Century"/>
              <a:cs typeface="Twentieth Century"/>
              <a:sym typeface="Twentieth Century"/>
            </a:endParaRPr>
          </a:p>
          <a:p>
            <a:pPr indent="-330200" lvl="1" marL="914400" rtl="0" algn="l">
              <a:lnSpc>
                <a:spcPct val="115000"/>
              </a:lnSpc>
              <a:spcBef>
                <a:spcPts val="1000"/>
              </a:spcBef>
              <a:spcAft>
                <a:spcPts val="0"/>
              </a:spcAft>
              <a:buSzPts val="1600"/>
              <a:buFont typeface="Twentieth Century"/>
              <a:buChar char="◆"/>
            </a:pPr>
            <a:r>
              <a:rPr b="1" lang="en" sz="1600">
                <a:latin typeface="Twentieth Century"/>
                <a:ea typeface="Twentieth Century"/>
                <a:cs typeface="Twentieth Century"/>
                <a:sym typeface="Twentieth Century"/>
              </a:rPr>
              <a:t>Apache</a:t>
            </a:r>
            <a:endParaRPr b="1" sz="1600">
              <a:latin typeface="Twentieth Century"/>
              <a:ea typeface="Twentieth Century"/>
              <a:cs typeface="Twentieth Century"/>
              <a:sym typeface="Twentieth Century"/>
            </a:endParaRPr>
          </a:p>
          <a:p>
            <a:pPr indent="-330200" lvl="0" marL="457200" rtl="0" algn="l">
              <a:lnSpc>
                <a:spcPct val="100000"/>
              </a:lnSpc>
              <a:spcBef>
                <a:spcPts val="1600"/>
              </a:spcBef>
              <a:spcAft>
                <a:spcPts val="0"/>
              </a:spcAft>
              <a:buSzPts val="1600"/>
              <a:buFont typeface="Twentieth Century"/>
              <a:buChar char="➔"/>
            </a:pPr>
            <a:r>
              <a:rPr lang="en" sz="1600">
                <a:latin typeface="Twentieth Century"/>
                <a:ea typeface="Twentieth Century"/>
                <a:cs typeface="Twentieth Century"/>
                <a:sym typeface="Twentieth Century"/>
              </a:rPr>
              <a:t>Visit </a:t>
            </a:r>
            <a:r>
              <a:rPr lang="en" sz="1600" u="sng">
                <a:solidFill>
                  <a:schemeClr val="hlink"/>
                </a:solidFill>
                <a:latin typeface="Twentieth Century"/>
                <a:ea typeface="Twentieth Century"/>
                <a:cs typeface="Twentieth Century"/>
                <a:sym typeface="Twentieth Century"/>
                <a:hlinkClick r:id="rId3"/>
              </a:rPr>
              <a:t>https://choosealicense.com/licenses/</a:t>
            </a:r>
            <a:r>
              <a:rPr lang="en" sz="1600">
                <a:latin typeface="Twentieth Century"/>
                <a:ea typeface="Twentieth Century"/>
                <a:cs typeface="Twentieth Century"/>
                <a:sym typeface="Twentieth Century"/>
              </a:rPr>
              <a:t> for a detailed list of license options</a:t>
            </a:r>
            <a:endParaRPr sz="1600">
              <a:latin typeface="Twentieth Century"/>
              <a:ea typeface="Twentieth Century"/>
              <a:cs typeface="Twentieth Century"/>
              <a:sym typeface="Twentieth Century"/>
            </a:endParaRPr>
          </a:p>
          <a:p>
            <a:pPr indent="-330200" lvl="0" marL="457200" rtl="0" algn="l">
              <a:lnSpc>
                <a:spcPct val="100000"/>
              </a:lnSpc>
              <a:spcBef>
                <a:spcPts val="1600"/>
              </a:spcBef>
              <a:spcAft>
                <a:spcPts val="1000"/>
              </a:spcAft>
              <a:buSzPts val="1600"/>
              <a:buFont typeface="Twentieth Century"/>
              <a:buChar char="➔"/>
            </a:pPr>
            <a:r>
              <a:rPr lang="en" sz="1600">
                <a:latin typeface="Twentieth Century"/>
                <a:ea typeface="Twentieth Century"/>
                <a:cs typeface="Twentieth Century"/>
                <a:sym typeface="Twentieth Century"/>
              </a:rPr>
              <a:t>The </a:t>
            </a:r>
            <a:r>
              <a:rPr lang="en" sz="1600" u="sng">
                <a:solidFill>
                  <a:schemeClr val="hlink"/>
                </a:solidFill>
                <a:latin typeface="Twentieth Century"/>
                <a:ea typeface="Twentieth Century"/>
                <a:cs typeface="Twentieth Century"/>
                <a:sym typeface="Twentieth Century"/>
                <a:hlinkClick r:id="rId4"/>
              </a:rPr>
              <a:t>open source license best practices document </a:t>
            </a:r>
            <a:r>
              <a:rPr lang="en" sz="1600">
                <a:latin typeface="Twentieth Century"/>
                <a:ea typeface="Twentieth Century"/>
                <a:cs typeface="Twentieth Century"/>
                <a:sym typeface="Twentieth Century"/>
              </a:rPr>
              <a:t>on the OSPO site summarizes key considerations</a:t>
            </a:r>
            <a:endParaRPr sz="1600">
              <a:latin typeface="Twentieth Century"/>
              <a:ea typeface="Twentieth Century"/>
              <a:cs typeface="Twentieth Century"/>
              <a:sym typeface="Twentieth Century"/>
            </a:endParaRPr>
          </a:p>
        </p:txBody>
      </p:sp>
      <p:pic>
        <p:nvPicPr>
          <p:cNvPr id="204" name="Google Shape;204;p26"/>
          <p:cNvPicPr preferRelativeResize="0"/>
          <p:nvPr/>
        </p:nvPicPr>
        <p:blipFill>
          <a:blip r:embed="rId5">
            <a:alphaModFix/>
          </a:blip>
          <a:stretch>
            <a:fillRect/>
          </a:stretch>
        </p:blipFill>
        <p:spPr>
          <a:xfrm>
            <a:off x="4690589" y="2634925"/>
            <a:ext cx="1061200" cy="1036951"/>
          </a:xfrm>
          <a:prstGeom prst="rect">
            <a:avLst/>
          </a:prstGeom>
          <a:noFill/>
          <a:ln>
            <a:noFill/>
          </a:ln>
        </p:spPr>
      </p:pic>
      <p:pic>
        <p:nvPicPr>
          <p:cNvPr id="205" name="Google Shape;205;p26"/>
          <p:cNvPicPr preferRelativeResize="0"/>
          <p:nvPr/>
        </p:nvPicPr>
        <p:blipFill>
          <a:blip r:embed="rId6">
            <a:alphaModFix/>
          </a:blip>
          <a:stretch>
            <a:fillRect/>
          </a:stretch>
        </p:blipFill>
        <p:spPr>
          <a:xfrm>
            <a:off x="5977427" y="2702108"/>
            <a:ext cx="2395203" cy="970700"/>
          </a:xfrm>
          <a:prstGeom prst="rect">
            <a:avLst/>
          </a:prstGeom>
          <a:noFill/>
          <a:ln>
            <a:noFill/>
          </a:ln>
        </p:spPr>
      </p:pic>
      <p:pic>
        <p:nvPicPr>
          <p:cNvPr id="206" name="Google Shape;206;p26"/>
          <p:cNvPicPr preferRelativeResize="0"/>
          <p:nvPr/>
        </p:nvPicPr>
        <p:blipFill>
          <a:blip r:embed="rId7">
            <a:alphaModFix/>
          </a:blip>
          <a:stretch>
            <a:fillRect/>
          </a:stretch>
        </p:blipFill>
        <p:spPr>
          <a:xfrm>
            <a:off x="3351825" y="2630693"/>
            <a:ext cx="1036950" cy="103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UT Open Source Program Office (UT-OSPO)</a:t>
            </a:r>
            <a:endParaRPr b="1" sz="3000">
              <a:solidFill>
                <a:schemeClr val="lt1"/>
              </a:solidFill>
              <a:latin typeface="Twentieth Century"/>
              <a:ea typeface="Twentieth Century"/>
              <a:cs typeface="Twentieth Century"/>
              <a:sym typeface="Twentieth Century"/>
            </a:endParaRPr>
          </a:p>
        </p:txBody>
      </p:sp>
      <p:sp>
        <p:nvSpPr>
          <p:cNvPr id="212" name="Google Shape;212;p27"/>
          <p:cNvSpPr txBox="1"/>
          <p:nvPr>
            <p:ph idx="12" type="sldNum"/>
          </p:nvPr>
        </p:nvSpPr>
        <p:spPr>
          <a:xfrm>
            <a:off x="6457950" y="4767263"/>
            <a:ext cx="2057400" cy="273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13" name="Google Shape;213;p27"/>
          <p:cNvPicPr preferRelativeResize="0"/>
          <p:nvPr/>
        </p:nvPicPr>
        <p:blipFill rotWithShape="1">
          <a:blip r:embed="rId3">
            <a:alphaModFix/>
          </a:blip>
          <a:srcRect b="0" l="0" r="0" t="0"/>
          <a:stretch/>
        </p:blipFill>
        <p:spPr>
          <a:xfrm>
            <a:off x="7025738" y="1061675"/>
            <a:ext cx="1737202" cy="1737202"/>
          </a:xfrm>
          <a:prstGeom prst="rect">
            <a:avLst/>
          </a:prstGeom>
          <a:noFill/>
          <a:ln>
            <a:noFill/>
          </a:ln>
          <a:effectLst>
            <a:outerShdw blurRad="57150" rotWithShape="0" algn="bl" dir="5400000" dist="19050">
              <a:srgbClr val="000000">
                <a:alpha val="50000"/>
              </a:srgbClr>
            </a:outerShdw>
          </a:effectLst>
        </p:spPr>
      </p:pic>
      <p:sp>
        <p:nvSpPr>
          <p:cNvPr id="214" name="Google Shape;214;p27"/>
          <p:cNvSpPr txBox="1"/>
          <p:nvPr/>
        </p:nvSpPr>
        <p:spPr>
          <a:xfrm>
            <a:off x="149075" y="1061675"/>
            <a:ext cx="6402600" cy="39327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23850" lvl="0" marL="457200" rtl="0" algn="l">
              <a:lnSpc>
                <a:spcPct val="200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The </a:t>
            </a:r>
            <a:r>
              <a:rPr b="1" lang="en" sz="1600">
                <a:latin typeface="Twentieth Century"/>
                <a:ea typeface="Twentieth Century"/>
                <a:cs typeface="Twentieth Century"/>
                <a:sym typeface="Twentieth Century"/>
              </a:rPr>
              <a:t>UT Open Source Program Office (UT-OSPO)</a:t>
            </a:r>
            <a:r>
              <a:rPr lang="en" sz="1500">
                <a:latin typeface="Twentieth Century"/>
                <a:ea typeface="Twentieth Century"/>
                <a:cs typeface="Twentieth Century"/>
                <a:sym typeface="Twentieth Century"/>
              </a:rPr>
              <a:t> is a great resource for developers of research software</a:t>
            </a:r>
            <a:endParaRPr sz="1500">
              <a:latin typeface="Twentieth Century"/>
              <a:ea typeface="Twentieth Century"/>
              <a:cs typeface="Twentieth Century"/>
              <a:sym typeface="Twentieth Century"/>
            </a:endParaRPr>
          </a:p>
          <a:p>
            <a:pPr indent="-323850" lvl="0" marL="457200" rtl="0" algn="l">
              <a:lnSpc>
                <a:spcPct val="200000"/>
              </a:lnSpc>
              <a:spcBef>
                <a:spcPts val="2000"/>
              </a:spcBef>
              <a:spcAft>
                <a:spcPts val="0"/>
              </a:spcAft>
              <a:buSzPts val="1500"/>
              <a:buFont typeface="Twentieth Century"/>
              <a:buChar char="➔"/>
            </a:pPr>
            <a:r>
              <a:rPr lang="en" sz="1500">
                <a:latin typeface="Twentieth Century"/>
                <a:ea typeface="Twentieth Century"/>
                <a:cs typeface="Twentieth Century"/>
                <a:sym typeface="Twentieth Century"/>
              </a:rPr>
              <a:t>Established in 2023 with funding from the Alfred P. Sloan Foundation (Grant Number </a:t>
            </a:r>
            <a:r>
              <a:rPr lang="en" sz="1500">
                <a:solidFill>
                  <a:schemeClr val="dk1"/>
                </a:solidFill>
                <a:latin typeface="Twentieth Century"/>
                <a:ea typeface="Twentieth Century"/>
                <a:cs typeface="Twentieth Century"/>
                <a:sym typeface="Twentieth Century"/>
              </a:rPr>
              <a:t>G-2023-20944)</a:t>
            </a:r>
            <a:endParaRPr sz="1500">
              <a:solidFill>
                <a:schemeClr val="dk1"/>
              </a:solidFill>
              <a:latin typeface="Twentieth Century"/>
              <a:ea typeface="Twentieth Century"/>
              <a:cs typeface="Twentieth Century"/>
              <a:sym typeface="Twentieth Century"/>
            </a:endParaRPr>
          </a:p>
          <a:p>
            <a:pPr indent="-323850" lvl="0" marL="457200" rtl="0" algn="l">
              <a:lnSpc>
                <a:spcPct val="200000"/>
              </a:lnSpc>
              <a:spcBef>
                <a:spcPts val="2000"/>
              </a:spcBef>
              <a:spcAft>
                <a:spcPts val="0"/>
              </a:spcAft>
              <a:buSzPts val="1500"/>
              <a:buFont typeface="Twentieth Century"/>
              <a:buChar char="➔"/>
            </a:pPr>
            <a:r>
              <a:rPr lang="en" sz="1500">
                <a:latin typeface="Twentieth Century"/>
                <a:ea typeface="Twentieth Century"/>
                <a:cs typeface="Twentieth Century"/>
                <a:sym typeface="Twentieth Century"/>
              </a:rPr>
              <a:t>Director: Angela Newell, Ph.D. </a:t>
            </a:r>
            <a:r>
              <a:rPr lang="en" sz="1500">
                <a:latin typeface="Twentieth Century"/>
                <a:ea typeface="Twentieth Century"/>
                <a:cs typeface="Twentieth Century"/>
                <a:sym typeface="Twentieth Century"/>
              </a:rPr>
              <a:t>(</a:t>
            </a:r>
            <a:r>
              <a:rPr lang="en" sz="1500" u="sng">
                <a:solidFill>
                  <a:schemeClr val="hlink"/>
                </a:solidFill>
                <a:latin typeface="Twentieth Century"/>
                <a:ea typeface="Twentieth Century"/>
                <a:cs typeface="Twentieth Century"/>
                <a:sym typeface="Twentieth Century"/>
                <a:hlinkClick r:id="rId4"/>
              </a:rPr>
              <a:t>anewell@austin.utexas.edu</a:t>
            </a:r>
            <a:r>
              <a:rPr lang="en" sz="1500">
                <a:solidFill>
                  <a:schemeClr val="dk1"/>
                </a:solidFill>
                <a:latin typeface="Twentieth Century"/>
                <a:ea typeface="Twentieth Century"/>
                <a:cs typeface="Twentieth Century"/>
                <a:sym typeface="Twentieth Century"/>
              </a:rPr>
              <a:t>)</a:t>
            </a:r>
            <a:endParaRPr sz="1500">
              <a:solidFill>
                <a:schemeClr val="dk1"/>
              </a:solidFill>
              <a:latin typeface="Twentieth Century"/>
              <a:ea typeface="Twentieth Century"/>
              <a:cs typeface="Twentieth Century"/>
              <a:sym typeface="Twentieth Century"/>
            </a:endParaRPr>
          </a:p>
          <a:p>
            <a:pPr indent="-323850" lvl="0" marL="457200" rtl="0" algn="l">
              <a:lnSpc>
                <a:spcPct val="200000"/>
              </a:lnSpc>
              <a:spcBef>
                <a:spcPts val="2000"/>
              </a:spcBef>
              <a:spcAft>
                <a:spcPts val="200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The Office is a partnership between TACC, ITT, the iSchool, &amp; UT Libraries</a:t>
            </a:r>
            <a:endParaRPr sz="1500">
              <a:solidFill>
                <a:schemeClr val="dk1"/>
              </a:solidFill>
              <a:latin typeface="Twentieth Century"/>
              <a:ea typeface="Twentieth Century"/>
              <a:cs typeface="Twentieth Century"/>
              <a:sym typeface="Twentieth Century"/>
            </a:endParaRPr>
          </a:p>
        </p:txBody>
      </p:sp>
      <p:grpSp>
        <p:nvGrpSpPr>
          <p:cNvPr id="215" name="Google Shape;215;p27"/>
          <p:cNvGrpSpPr/>
          <p:nvPr/>
        </p:nvGrpSpPr>
        <p:grpSpPr>
          <a:xfrm>
            <a:off x="6791756" y="3408281"/>
            <a:ext cx="2205163" cy="1358985"/>
            <a:chOff x="1967800" y="1672043"/>
            <a:chExt cx="4975549" cy="2977619"/>
          </a:xfrm>
        </p:grpSpPr>
        <p:pic>
          <p:nvPicPr>
            <p:cNvPr descr="A orange rectangular sign with white text&#10;&#10;Description automatically generated" id="216" name="Google Shape;216;p27"/>
            <p:cNvPicPr preferRelativeResize="0"/>
            <p:nvPr/>
          </p:nvPicPr>
          <p:blipFill rotWithShape="1">
            <a:blip r:embed="rId5">
              <a:alphaModFix/>
            </a:blip>
            <a:srcRect b="0" l="0" r="0" t="0"/>
            <a:stretch/>
          </p:blipFill>
          <p:spPr>
            <a:xfrm>
              <a:off x="4781350" y="1672050"/>
              <a:ext cx="2147849" cy="2147825"/>
            </a:xfrm>
            <a:prstGeom prst="rect">
              <a:avLst/>
            </a:prstGeom>
            <a:noFill/>
            <a:ln>
              <a:noFill/>
            </a:ln>
            <a:effectLst>
              <a:outerShdw blurRad="57150" rotWithShape="0" algn="bl" dir="5400000" dist="19050">
                <a:srgbClr val="000000">
                  <a:alpha val="50000"/>
                </a:srgbClr>
              </a:outerShdw>
            </a:effectLst>
          </p:spPr>
        </p:pic>
        <p:pic>
          <p:nvPicPr>
            <p:cNvPr id="217" name="Google Shape;217;p27"/>
            <p:cNvPicPr preferRelativeResize="0"/>
            <p:nvPr/>
          </p:nvPicPr>
          <p:blipFill>
            <a:blip r:embed="rId6">
              <a:alphaModFix/>
            </a:blip>
            <a:stretch>
              <a:fillRect/>
            </a:stretch>
          </p:blipFill>
          <p:spPr>
            <a:xfrm>
              <a:off x="1967800" y="3880912"/>
              <a:ext cx="4975549" cy="768750"/>
            </a:xfrm>
            <a:prstGeom prst="rect">
              <a:avLst/>
            </a:prstGeom>
            <a:noFill/>
            <a:ln>
              <a:noFill/>
            </a:ln>
            <a:effectLst>
              <a:outerShdw blurRad="57150" rotWithShape="0" algn="bl" dir="5400000" dist="19050">
                <a:srgbClr val="000000">
                  <a:alpha val="50000"/>
                </a:srgbClr>
              </a:outerShdw>
            </a:effectLst>
          </p:spPr>
        </p:pic>
        <p:pic>
          <p:nvPicPr>
            <p:cNvPr id="218" name="Google Shape;218;p27"/>
            <p:cNvPicPr preferRelativeResize="0"/>
            <p:nvPr/>
          </p:nvPicPr>
          <p:blipFill>
            <a:blip r:embed="rId7">
              <a:alphaModFix/>
            </a:blip>
            <a:stretch>
              <a:fillRect/>
            </a:stretch>
          </p:blipFill>
          <p:spPr>
            <a:xfrm>
              <a:off x="1972825" y="2883965"/>
              <a:ext cx="2757176" cy="935922"/>
            </a:xfrm>
            <a:prstGeom prst="rect">
              <a:avLst/>
            </a:prstGeom>
            <a:noFill/>
            <a:ln>
              <a:noFill/>
            </a:ln>
            <a:effectLst>
              <a:outerShdw blurRad="57150" rotWithShape="0" algn="bl" dir="5400000" dist="19050">
                <a:srgbClr val="000000">
                  <a:alpha val="50000"/>
                </a:srgbClr>
              </a:outerShdw>
            </a:effectLst>
          </p:spPr>
        </p:pic>
        <p:pic>
          <p:nvPicPr>
            <p:cNvPr id="219" name="Google Shape;219;p27"/>
            <p:cNvPicPr preferRelativeResize="0"/>
            <p:nvPr/>
          </p:nvPicPr>
          <p:blipFill>
            <a:blip r:embed="rId8">
              <a:alphaModFix/>
            </a:blip>
            <a:stretch>
              <a:fillRect/>
            </a:stretch>
          </p:blipFill>
          <p:spPr>
            <a:xfrm>
              <a:off x="1972833" y="1672043"/>
              <a:ext cx="2757160" cy="1152550"/>
            </a:xfrm>
            <a:prstGeom prst="rect">
              <a:avLst/>
            </a:prstGeom>
            <a:noFill/>
            <a:ln>
              <a:noFill/>
            </a:ln>
            <a:effectLst>
              <a:outerShdw blurRad="57150" rotWithShape="0" algn="bl" dir="5400000" dist="19050">
                <a:srgbClr val="000000">
                  <a:alpha val="50000"/>
                </a:srgbClr>
              </a:outerShdw>
            </a:effectLst>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nvSpPr>
        <p:spPr>
          <a:xfrm>
            <a:off x="5215025" y="2864411"/>
            <a:ext cx="3661800" cy="2124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Twentieth Century"/>
                <a:ea typeface="Twentieth Century"/>
                <a:cs typeface="Twentieth Century"/>
                <a:sym typeface="Twentieth Century"/>
              </a:rPr>
              <a:t>Develop a community of researchers who use, contribute to or develop open source code and a program office that embraces and supports researchers at every step of the pathway from using code to developing software</a:t>
            </a:r>
            <a:endParaRPr>
              <a:latin typeface="Twentieth Century"/>
              <a:ea typeface="Twentieth Century"/>
              <a:cs typeface="Twentieth Century"/>
              <a:sym typeface="Twentieth Century"/>
            </a:endParaRPr>
          </a:p>
        </p:txBody>
      </p:sp>
      <p:sp>
        <p:nvSpPr>
          <p:cNvPr id="225" name="Google Shape;225;p28"/>
          <p:cNvSpPr txBox="1"/>
          <p:nvPr/>
        </p:nvSpPr>
        <p:spPr>
          <a:xfrm>
            <a:off x="4805825" y="451687"/>
            <a:ext cx="3615300" cy="13236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SzPts val="2000"/>
              <a:buNone/>
            </a:pPr>
            <a:r>
              <a:rPr lang="en" sz="1800">
                <a:solidFill>
                  <a:schemeClr val="dk1"/>
                </a:solidFill>
                <a:latin typeface="Twentieth Century"/>
                <a:ea typeface="Twentieth Century"/>
                <a:cs typeface="Twentieth Century"/>
                <a:sym typeface="Twentieth Century"/>
              </a:rPr>
              <a:t>Focus on faculty, post-docs, </a:t>
            </a:r>
            <a:r>
              <a:rPr lang="en" sz="2000">
                <a:solidFill>
                  <a:srgbClr val="212121"/>
                </a:solidFill>
                <a:latin typeface="Twentieth Century"/>
                <a:ea typeface="Twentieth Century"/>
                <a:cs typeface="Twentieth Century"/>
                <a:sym typeface="Twentieth Century"/>
              </a:rPr>
              <a:t>grad</a:t>
            </a:r>
            <a:r>
              <a:rPr lang="en" sz="1800">
                <a:solidFill>
                  <a:schemeClr val="dk1"/>
                </a:solidFill>
                <a:latin typeface="Twentieth Century"/>
                <a:ea typeface="Twentieth Century"/>
                <a:cs typeface="Twentieth Century"/>
                <a:sym typeface="Twentieth Century"/>
              </a:rPr>
              <a:t> students - helping them interact with the open source communities for the tools that they use.</a:t>
            </a:r>
            <a:endParaRPr>
              <a:latin typeface="Twentieth Century"/>
              <a:ea typeface="Twentieth Century"/>
              <a:cs typeface="Twentieth Century"/>
              <a:sym typeface="Twentieth Century"/>
            </a:endParaRPr>
          </a:p>
        </p:txBody>
      </p:sp>
      <p:sp>
        <p:nvSpPr>
          <p:cNvPr id="226" name="Google Shape;226;p28"/>
          <p:cNvSpPr txBox="1"/>
          <p:nvPr>
            <p:ph idx="1" type="body"/>
          </p:nvPr>
        </p:nvSpPr>
        <p:spPr>
          <a:xfrm>
            <a:off x="165749" y="2291234"/>
            <a:ext cx="3661800" cy="2135100"/>
          </a:xfrm>
          <a:prstGeom prst="rect">
            <a:avLst/>
          </a:prstGeom>
          <a:solidFill>
            <a:schemeClr val="lt1"/>
          </a:solidFill>
          <a:ln>
            <a:noFill/>
          </a:ln>
        </p:spPr>
        <p:txBody>
          <a:bodyPr anchorCtr="0" anchor="t" bIns="137150" lIns="182875" spcFirstLastPara="1" rIns="182875" wrap="square" tIns="137150">
            <a:normAutofit fontScale="85000"/>
          </a:bodyPr>
          <a:lstStyle/>
          <a:p>
            <a:pPr indent="0" lvl="0" marL="0" rtl="0" algn="l">
              <a:lnSpc>
                <a:spcPct val="100000"/>
              </a:lnSpc>
              <a:spcBef>
                <a:spcPts val="0"/>
              </a:spcBef>
              <a:spcAft>
                <a:spcPts val="0"/>
              </a:spcAft>
              <a:buClr>
                <a:srgbClr val="212121"/>
              </a:buClr>
              <a:buSzPct val="100000"/>
              <a:buNone/>
            </a:pPr>
            <a:r>
              <a:rPr lang="en" sz="2000">
                <a:solidFill>
                  <a:srgbClr val="212121"/>
                </a:solidFill>
                <a:latin typeface="Twentieth Century"/>
                <a:ea typeface="Twentieth Century"/>
                <a:cs typeface="Twentieth Century"/>
                <a:sym typeface="Twentieth Century"/>
              </a:rPr>
              <a:t>E</a:t>
            </a:r>
            <a:r>
              <a:rPr i="0" lang="en" sz="2000" u="none" strike="noStrike">
                <a:solidFill>
                  <a:srgbClr val="212121"/>
                </a:solidFill>
                <a:latin typeface="Twentieth Century"/>
                <a:ea typeface="Twentieth Century"/>
                <a:cs typeface="Twentieth Century"/>
                <a:sym typeface="Twentieth Century"/>
              </a:rPr>
              <a:t>ngage faculty and students in an open source participation pathway advancing basic use of open source software through contribution, sharing, accepting external contributions, and ultimately developing an ecosystem of related open source projects.</a:t>
            </a:r>
            <a:endParaRPr sz="2000">
              <a:latin typeface="Twentieth Century"/>
              <a:ea typeface="Twentieth Century"/>
              <a:cs typeface="Twentieth Century"/>
              <a:sym typeface="Twentieth Century"/>
            </a:endParaRPr>
          </a:p>
        </p:txBody>
      </p:sp>
      <p:sp>
        <p:nvSpPr>
          <p:cNvPr id="227" name="Google Shape;227;p28"/>
          <p:cNvSpPr txBox="1"/>
          <p:nvPr>
            <p:ph idx="12" type="sldNum"/>
          </p:nvPr>
        </p:nvSpPr>
        <p:spPr>
          <a:xfrm>
            <a:off x="6457950" y="4767263"/>
            <a:ext cx="2057400" cy="273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descr="A logo with a star in the center&#10;&#10;Description automatically generated" id="228" name="Google Shape;228;p28"/>
          <p:cNvPicPr preferRelativeResize="0"/>
          <p:nvPr/>
        </p:nvPicPr>
        <p:blipFill rotWithShape="1">
          <a:blip r:embed="rId3">
            <a:alphaModFix/>
          </a:blip>
          <a:srcRect b="0" l="0" r="0" t="0"/>
          <a:stretch/>
        </p:blipFill>
        <p:spPr>
          <a:xfrm>
            <a:off x="3603726" y="1489175"/>
            <a:ext cx="1958875" cy="1958875"/>
          </a:xfrm>
          <a:prstGeom prst="rect">
            <a:avLst/>
          </a:prstGeom>
          <a:noFill/>
          <a:ln>
            <a:noFill/>
          </a:ln>
        </p:spPr>
      </p:pic>
      <p:sp>
        <p:nvSpPr>
          <p:cNvPr id="229" name="Google Shape;229;p28"/>
          <p:cNvSpPr txBox="1"/>
          <p:nvPr>
            <p:ph type="title"/>
          </p:nvPr>
        </p:nvSpPr>
        <p:spPr>
          <a:xfrm>
            <a:off x="-390900" y="260600"/>
            <a:ext cx="48570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   UT-OSPO Vision</a:t>
            </a:r>
            <a:endParaRPr b="1" sz="30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9"/>
          <p:cNvSpPr txBox="1"/>
          <p:nvPr>
            <p:ph idx="12" type="sldNum"/>
          </p:nvPr>
        </p:nvSpPr>
        <p:spPr>
          <a:xfrm>
            <a:off x="6457950" y="4767263"/>
            <a:ext cx="2057400" cy="273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236" name="Google Shape;236;p29"/>
          <p:cNvPicPr preferRelativeResize="0"/>
          <p:nvPr/>
        </p:nvPicPr>
        <p:blipFill rotWithShape="1">
          <a:blip r:embed="rId3">
            <a:alphaModFix/>
          </a:blip>
          <a:srcRect b="4030" l="0" r="3053" t="0"/>
          <a:stretch/>
        </p:blipFill>
        <p:spPr>
          <a:xfrm>
            <a:off x="228063" y="375413"/>
            <a:ext cx="8687877" cy="43926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How Can the OSPO Help Researchers?</a:t>
            </a:r>
            <a:endParaRPr b="1" sz="3000">
              <a:solidFill>
                <a:schemeClr val="lt1"/>
              </a:solidFill>
              <a:latin typeface="Twentieth Century"/>
              <a:ea typeface="Twentieth Century"/>
              <a:cs typeface="Twentieth Century"/>
              <a:sym typeface="Twentieth Century"/>
            </a:endParaRPr>
          </a:p>
        </p:txBody>
      </p:sp>
      <p:sp>
        <p:nvSpPr>
          <p:cNvPr id="242" name="Google Shape;242;p30"/>
          <p:cNvSpPr txBox="1"/>
          <p:nvPr>
            <p:ph idx="12" type="sldNum"/>
          </p:nvPr>
        </p:nvSpPr>
        <p:spPr>
          <a:xfrm>
            <a:off x="6457950" y="4767263"/>
            <a:ext cx="2057400" cy="273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43" name="Google Shape;243;p30"/>
          <p:cNvPicPr preferRelativeResize="0"/>
          <p:nvPr/>
        </p:nvPicPr>
        <p:blipFill rotWithShape="1">
          <a:blip r:embed="rId3">
            <a:alphaModFix/>
          </a:blip>
          <a:srcRect b="0" l="0" r="0" t="0"/>
          <a:stretch/>
        </p:blipFill>
        <p:spPr>
          <a:xfrm>
            <a:off x="6548050" y="997488"/>
            <a:ext cx="1737202" cy="1737202"/>
          </a:xfrm>
          <a:prstGeom prst="rect">
            <a:avLst/>
          </a:prstGeom>
          <a:noFill/>
          <a:ln>
            <a:noFill/>
          </a:ln>
          <a:effectLst>
            <a:outerShdw blurRad="57150" rotWithShape="0" algn="bl" dir="5400000" dist="19050">
              <a:srgbClr val="000000">
                <a:alpha val="50000"/>
              </a:srgbClr>
            </a:outerShdw>
          </a:effectLst>
        </p:spPr>
      </p:pic>
      <p:sp>
        <p:nvSpPr>
          <p:cNvPr id="244" name="Google Shape;244;p30"/>
          <p:cNvSpPr txBox="1"/>
          <p:nvPr/>
        </p:nvSpPr>
        <p:spPr>
          <a:xfrm>
            <a:off x="606275" y="1061675"/>
            <a:ext cx="4738800" cy="35439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61950" lvl="0" marL="514350" rtl="0" algn="l">
              <a:lnSpc>
                <a:spcPct val="200000"/>
              </a:lnSpc>
              <a:spcBef>
                <a:spcPts val="1000"/>
              </a:spcBef>
              <a:spcAft>
                <a:spcPts val="0"/>
              </a:spcAft>
              <a:buClr>
                <a:schemeClr val="dk1"/>
              </a:buClr>
              <a:buSzPts val="2100"/>
              <a:buFont typeface="Twentieth Century"/>
              <a:buChar char="➔"/>
            </a:pPr>
            <a:r>
              <a:rPr lang="en" sz="2100">
                <a:solidFill>
                  <a:schemeClr val="dk1"/>
                </a:solidFill>
                <a:latin typeface="Twentieth Century"/>
                <a:ea typeface="Twentieth Century"/>
                <a:cs typeface="Twentieth Century"/>
                <a:sym typeface="Twentieth Century"/>
              </a:rPr>
              <a:t>Training/Events</a:t>
            </a:r>
            <a:endParaRPr sz="2100">
              <a:solidFill>
                <a:schemeClr val="dk1"/>
              </a:solidFill>
              <a:latin typeface="Twentieth Century"/>
              <a:ea typeface="Twentieth Century"/>
              <a:cs typeface="Twentieth Century"/>
              <a:sym typeface="Twentieth Century"/>
            </a:endParaRPr>
          </a:p>
          <a:p>
            <a:pPr indent="-361950" lvl="0" marL="514350" rtl="0" algn="l">
              <a:lnSpc>
                <a:spcPct val="200000"/>
              </a:lnSpc>
              <a:spcBef>
                <a:spcPts val="1000"/>
              </a:spcBef>
              <a:spcAft>
                <a:spcPts val="0"/>
              </a:spcAft>
              <a:buClr>
                <a:schemeClr val="dk1"/>
              </a:buClr>
              <a:buSzPts val="2100"/>
              <a:buFont typeface="Twentieth Century"/>
              <a:buChar char="➔"/>
            </a:pPr>
            <a:r>
              <a:rPr lang="en" sz="2100">
                <a:solidFill>
                  <a:schemeClr val="dk1"/>
                </a:solidFill>
                <a:latin typeface="Twentieth Century"/>
                <a:ea typeface="Twentieth Century"/>
                <a:cs typeface="Twentieth Century"/>
                <a:sym typeface="Twentieth Century"/>
              </a:rPr>
              <a:t>Funding Identification</a:t>
            </a:r>
            <a:endParaRPr sz="1300">
              <a:solidFill>
                <a:schemeClr val="dk1"/>
              </a:solidFill>
              <a:latin typeface="Twentieth Century"/>
              <a:ea typeface="Twentieth Century"/>
              <a:cs typeface="Twentieth Century"/>
              <a:sym typeface="Twentieth Century"/>
            </a:endParaRPr>
          </a:p>
          <a:p>
            <a:pPr indent="-361950" lvl="0" marL="514350" rtl="0" algn="l">
              <a:lnSpc>
                <a:spcPct val="200000"/>
              </a:lnSpc>
              <a:spcBef>
                <a:spcPts val="1000"/>
              </a:spcBef>
              <a:spcAft>
                <a:spcPts val="0"/>
              </a:spcAft>
              <a:buClr>
                <a:schemeClr val="dk1"/>
              </a:buClr>
              <a:buSzPts val="2100"/>
              <a:buFont typeface="Twentieth Century"/>
              <a:buChar char="➔"/>
            </a:pPr>
            <a:r>
              <a:rPr lang="en" sz="2100">
                <a:solidFill>
                  <a:schemeClr val="dk1"/>
                </a:solidFill>
                <a:latin typeface="Twentieth Century"/>
                <a:ea typeface="Twentieth Century"/>
                <a:cs typeface="Twentieth Century"/>
                <a:sym typeface="Twentieth Century"/>
              </a:rPr>
              <a:t>Best practices guides</a:t>
            </a:r>
            <a:endParaRPr sz="2100">
              <a:solidFill>
                <a:schemeClr val="dk1"/>
              </a:solidFill>
              <a:latin typeface="Twentieth Century"/>
              <a:ea typeface="Twentieth Century"/>
              <a:cs typeface="Twentieth Century"/>
              <a:sym typeface="Twentieth Century"/>
            </a:endParaRPr>
          </a:p>
          <a:p>
            <a:pPr indent="-361950" lvl="0" marL="514350" rtl="0" algn="l">
              <a:lnSpc>
                <a:spcPct val="200000"/>
              </a:lnSpc>
              <a:spcBef>
                <a:spcPts val="1000"/>
              </a:spcBef>
              <a:spcAft>
                <a:spcPts val="0"/>
              </a:spcAft>
              <a:buClr>
                <a:schemeClr val="dk1"/>
              </a:buClr>
              <a:buSzPts val="2100"/>
              <a:buFont typeface="Twentieth Century"/>
              <a:buChar char="➔"/>
            </a:pPr>
            <a:r>
              <a:rPr lang="en" sz="2100">
                <a:solidFill>
                  <a:schemeClr val="dk1"/>
                </a:solidFill>
                <a:latin typeface="Twentieth Century"/>
                <a:ea typeface="Twentieth Century"/>
                <a:cs typeface="Twentieth Century"/>
                <a:sym typeface="Twentieth Century"/>
              </a:rPr>
              <a:t>Consultation Services</a:t>
            </a:r>
            <a:endParaRPr sz="700">
              <a:latin typeface="Twentieth Century"/>
              <a:ea typeface="Twentieth Century"/>
              <a:cs typeface="Twentieth Century"/>
              <a:sym typeface="Twentieth Century"/>
            </a:endParaRPr>
          </a:p>
        </p:txBody>
      </p:sp>
      <p:grpSp>
        <p:nvGrpSpPr>
          <p:cNvPr id="245" name="Google Shape;245;p30"/>
          <p:cNvGrpSpPr/>
          <p:nvPr/>
        </p:nvGrpSpPr>
        <p:grpSpPr>
          <a:xfrm>
            <a:off x="5825413" y="3030143"/>
            <a:ext cx="3085835" cy="1737143"/>
            <a:chOff x="1967800" y="1672043"/>
            <a:chExt cx="4975549" cy="2977619"/>
          </a:xfrm>
        </p:grpSpPr>
        <p:pic>
          <p:nvPicPr>
            <p:cNvPr descr="A orange rectangular sign with white text&#10;&#10;Description automatically generated" id="246" name="Google Shape;246;p30"/>
            <p:cNvPicPr preferRelativeResize="0"/>
            <p:nvPr/>
          </p:nvPicPr>
          <p:blipFill rotWithShape="1">
            <a:blip r:embed="rId4">
              <a:alphaModFix/>
            </a:blip>
            <a:srcRect b="0" l="0" r="0" t="0"/>
            <a:stretch/>
          </p:blipFill>
          <p:spPr>
            <a:xfrm>
              <a:off x="4781350" y="1672050"/>
              <a:ext cx="2147849" cy="2147825"/>
            </a:xfrm>
            <a:prstGeom prst="rect">
              <a:avLst/>
            </a:prstGeom>
            <a:noFill/>
            <a:ln>
              <a:noFill/>
            </a:ln>
            <a:effectLst>
              <a:outerShdw blurRad="57150" rotWithShape="0" algn="bl" dir="5400000" dist="19050">
                <a:srgbClr val="000000">
                  <a:alpha val="50000"/>
                </a:srgbClr>
              </a:outerShdw>
            </a:effectLst>
          </p:spPr>
        </p:pic>
        <p:pic>
          <p:nvPicPr>
            <p:cNvPr id="247" name="Google Shape;247;p30"/>
            <p:cNvPicPr preferRelativeResize="0"/>
            <p:nvPr/>
          </p:nvPicPr>
          <p:blipFill>
            <a:blip r:embed="rId5">
              <a:alphaModFix/>
            </a:blip>
            <a:stretch>
              <a:fillRect/>
            </a:stretch>
          </p:blipFill>
          <p:spPr>
            <a:xfrm>
              <a:off x="1967800" y="3880912"/>
              <a:ext cx="4975549" cy="768750"/>
            </a:xfrm>
            <a:prstGeom prst="rect">
              <a:avLst/>
            </a:prstGeom>
            <a:noFill/>
            <a:ln>
              <a:noFill/>
            </a:ln>
            <a:effectLst>
              <a:outerShdw blurRad="57150" rotWithShape="0" algn="bl" dir="5400000" dist="19050">
                <a:srgbClr val="000000">
                  <a:alpha val="50000"/>
                </a:srgbClr>
              </a:outerShdw>
            </a:effectLst>
          </p:spPr>
        </p:pic>
        <p:pic>
          <p:nvPicPr>
            <p:cNvPr id="248" name="Google Shape;248;p30"/>
            <p:cNvPicPr preferRelativeResize="0"/>
            <p:nvPr/>
          </p:nvPicPr>
          <p:blipFill>
            <a:blip r:embed="rId6">
              <a:alphaModFix/>
            </a:blip>
            <a:stretch>
              <a:fillRect/>
            </a:stretch>
          </p:blipFill>
          <p:spPr>
            <a:xfrm>
              <a:off x="1972825" y="2883965"/>
              <a:ext cx="2757176" cy="935922"/>
            </a:xfrm>
            <a:prstGeom prst="rect">
              <a:avLst/>
            </a:prstGeom>
            <a:noFill/>
            <a:ln>
              <a:noFill/>
            </a:ln>
            <a:effectLst>
              <a:outerShdw blurRad="57150" rotWithShape="0" algn="bl" dir="5400000" dist="19050">
                <a:srgbClr val="000000">
                  <a:alpha val="50000"/>
                </a:srgbClr>
              </a:outerShdw>
            </a:effectLst>
          </p:spPr>
        </p:pic>
        <p:pic>
          <p:nvPicPr>
            <p:cNvPr id="249" name="Google Shape;249;p30"/>
            <p:cNvPicPr preferRelativeResize="0"/>
            <p:nvPr/>
          </p:nvPicPr>
          <p:blipFill>
            <a:blip r:embed="rId7">
              <a:alphaModFix/>
            </a:blip>
            <a:stretch>
              <a:fillRect/>
            </a:stretch>
          </p:blipFill>
          <p:spPr>
            <a:xfrm>
              <a:off x="1972833" y="1672043"/>
              <a:ext cx="2757160" cy="1152550"/>
            </a:xfrm>
            <a:prstGeom prst="rect">
              <a:avLst/>
            </a:prstGeom>
            <a:noFill/>
            <a:ln>
              <a:noFill/>
            </a:ln>
            <a:effectLst>
              <a:outerShdw blurRad="57150" rotWithShape="0" algn="bl" dir="5400000" dist="19050">
                <a:srgbClr val="000000">
                  <a:alpha val="50000"/>
                </a:srgbClr>
              </a:outerShdw>
            </a:effectLst>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idx="1" type="body"/>
          </p:nvPr>
        </p:nvSpPr>
        <p:spPr>
          <a:xfrm>
            <a:off x="195650" y="994500"/>
            <a:ext cx="8804100" cy="17070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228600" lIns="274300" spcFirstLastPara="1" rIns="274300" wrap="square" tIns="228600">
            <a:noAutofit/>
          </a:bodyPr>
          <a:lstStyle/>
          <a:p>
            <a:pPr indent="0" lvl="0" marL="0" rtl="0" algn="l">
              <a:lnSpc>
                <a:spcPct val="150000"/>
              </a:lnSpc>
              <a:spcBef>
                <a:spcPts val="360"/>
              </a:spcBef>
              <a:spcAft>
                <a:spcPts val="0"/>
              </a:spcAft>
              <a:buSzPts val="605"/>
              <a:buNone/>
            </a:pPr>
            <a:r>
              <a:rPr lang="en" sz="1300">
                <a:latin typeface="Twentieth Century"/>
                <a:ea typeface="Twentieth Century"/>
                <a:cs typeface="Twentieth Century"/>
                <a:sym typeface="Twentieth Century"/>
              </a:rPr>
              <a:t>Contact us at:  </a:t>
            </a:r>
            <a:r>
              <a:rPr lang="en" sz="1300" u="sng">
                <a:solidFill>
                  <a:schemeClr val="hlink"/>
                </a:solidFill>
                <a:latin typeface="Twentieth Century"/>
                <a:ea typeface="Twentieth Century"/>
                <a:cs typeface="Twentieth Century"/>
                <a:sym typeface="Twentieth Century"/>
                <a:hlinkClick r:id="rId3"/>
              </a:rPr>
              <a:t>ospo@utlists.utexas.edu</a:t>
            </a:r>
            <a:endParaRPr sz="1300">
              <a:latin typeface="Twentieth Century"/>
              <a:ea typeface="Twentieth Century"/>
              <a:cs typeface="Twentieth Century"/>
              <a:sym typeface="Twentieth Century"/>
            </a:endParaRPr>
          </a:p>
          <a:p>
            <a:pPr indent="0" lvl="0" marL="0" rtl="0" algn="l">
              <a:lnSpc>
                <a:spcPct val="150000"/>
              </a:lnSpc>
              <a:spcBef>
                <a:spcPts val="360"/>
              </a:spcBef>
              <a:spcAft>
                <a:spcPts val="0"/>
              </a:spcAft>
              <a:buSzPts val="605"/>
              <a:buNone/>
            </a:pPr>
            <a:r>
              <a:rPr lang="en" sz="1300">
                <a:latin typeface="Twentieth Century"/>
                <a:ea typeface="Twentieth Century"/>
                <a:cs typeface="Twentieth Century"/>
                <a:sym typeface="Twentieth Century"/>
              </a:rPr>
              <a:t>Visit our website: </a:t>
            </a:r>
            <a:r>
              <a:rPr lang="en" sz="1300" u="sng">
                <a:solidFill>
                  <a:schemeClr val="hlink"/>
                </a:solidFill>
                <a:latin typeface="Twentieth Century"/>
                <a:ea typeface="Twentieth Century"/>
                <a:cs typeface="Twentieth Century"/>
                <a:sym typeface="Twentieth Century"/>
                <a:hlinkClick r:id="rId4"/>
              </a:rPr>
              <a:t>www.opensource.utexas.edu</a:t>
            </a:r>
            <a:r>
              <a:rPr lang="en" sz="1300">
                <a:latin typeface="Twentieth Century"/>
                <a:ea typeface="Twentieth Century"/>
                <a:cs typeface="Twentieth Century"/>
                <a:sym typeface="Twentieth Century"/>
              </a:rPr>
              <a:t> (or use QR code below)</a:t>
            </a:r>
            <a:endParaRPr sz="1300">
              <a:latin typeface="Twentieth Century"/>
              <a:ea typeface="Twentieth Century"/>
              <a:cs typeface="Twentieth Century"/>
              <a:sym typeface="Twentieth Century"/>
            </a:endParaRPr>
          </a:p>
          <a:p>
            <a:pPr indent="0" lvl="0" marL="0" rtl="0" algn="l">
              <a:lnSpc>
                <a:spcPct val="150000"/>
              </a:lnSpc>
              <a:spcBef>
                <a:spcPts val="360"/>
              </a:spcBef>
              <a:spcAft>
                <a:spcPts val="0"/>
              </a:spcAft>
              <a:buSzPts val="605"/>
              <a:buNone/>
            </a:pPr>
            <a:r>
              <a:rPr lang="en" sz="1300">
                <a:latin typeface="Twentieth Century"/>
                <a:ea typeface="Twentieth Century"/>
                <a:cs typeface="Twentieth Century"/>
                <a:sym typeface="Twentieth Century"/>
              </a:rPr>
              <a:t>Sign up to receive emails: </a:t>
            </a:r>
            <a:r>
              <a:rPr lang="en" sz="1300" u="sng">
                <a:solidFill>
                  <a:schemeClr val="hlink"/>
                </a:solidFill>
                <a:latin typeface="Twentieth Century"/>
                <a:ea typeface="Twentieth Century"/>
                <a:cs typeface="Twentieth Century"/>
                <a:sym typeface="Twentieth Century"/>
                <a:hlinkClick r:id="rId5"/>
              </a:rPr>
              <a:t>https://utlists.utexas.edu/sympa/subscribe/ospo.announce</a:t>
            </a:r>
            <a:r>
              <a:rPr lang="en" sz="1300">
                <a:latin typeface="Twentieth Century"/>
                <a:ea typeface="Twentieth Century"/>
                <a:cs typeface="Twentieth Century"/>
                <a:sym typeface="Twentieth Century"/>
              </a:rPr>
              <a:t> </a:t>
            </a:r>
            <a:endParaRPr sz="1300">
              <a:latin typeface="Twentieth Century"/>
              <a:ea typeface="Twentieth Century"/>
              <a:cs typeface="Twentieth Century"/>
              <a:sym typeface="Twentieth Century"/>
            </a:endParaRPr>
          </a:p>
          <a:p>
            <a:pPr indent="0" lvl="0" marL="0" rtl="0" algn="l">
              <a:lnSpc>
                <a:spcPct val="150000"/>
              </a:lnSpc>
              <a:spcBef>
                <a:spcPts val="360"/>
              </a:spcBef>
              <a:spcAft>
                <a:spcPts val="0"/>
              </a:spcAft>
              <a:buSzPts val="605"/>
              <a:buNone/>
            </a:pPr>
            <a:r>
              <a:rPr lang="en" sz="1300">
                <a:latin typeface="Twentieth Century"/>
                <a:ea typeface="Twentieth Century"/>
                <a:cs typeface="Twentieth Century"/>
                <a:sym typeface="Twentieth Century"/>
              </a:rPr>
              <a:t>Book a consultation: </a:t>
            </a:r>
            <a:r>
              <a:rPr lang="en" sz="1300" u="sng">
                <a:solidFill>
                  <a:schemeClr val="hlink"/>
                </a:solidFill>
                <a:latin typeface="Twentieth Century"/>
                <a:ea typeface="Twentieth Century"/>
                <a:cs typeface="Twentieth Century"/>
                <a:sym typeface="Twentieth Century"/>
                <a:hlinkClick r:id="rId6"/>
              </a:rPr>
              <a:t>https://outlook.office365.com/book/UTOSPOOpenSourceSoftwareConsultation@utexas.onmicrosoft.com/</a:t>
            </a:r>
            <a:r>
              <a:rPr lang="en" sz="1300">
                <a:latin typeface="Twentieth Century"/>
                <a:ea typeface="Twentieth Century"/>
                <a:cs typeface="Twentieth Century"/>
                <a:sym typeface="Twentieth Century"/>
              </a:rPr>
              <a:t> </a:t>
            </a:r>
            <a:endParaRPr sz="1300">
              <a:latin typeface="Twentieth Century"/>
              <a:ea typeface="Twentieth Century"/>
              <a:cs typeface="Twentieth Century"/>
              <a:sym typeface="Twentieth Century"/>
            </a:endParaRPr>
          </a:p>
        </p:txBody>
      </p:sp>
      <p:pic>
        <p:nvPicPr>
          <p:cNvPr id="255" name="Google Shape;255;p31"/>
          <p:cNvPicPr preferRelativeResize="0"/>
          <p:nvPr/>
        </p:nvPicPr>
        <p:blipFill>
          <a:blip r:embed="rId7">
            <a:alphaModFix/>
          </a:blip>
          <a:stretch>
            <a:fillRect/>
          </a:stretch>
        </p:blipFill>
        <p:spPr>
          <a:xfrm>
            <a:off x="1824250" y="2843400"/>
            <a:ext cx="2057399" cy="2057399"/>
          </a:xfrm>
          <a:prstGeom prst="rect">
            <a:avLst/>
          </a:prstGeom>
          <a:noFill/>
          <a:ln>
            <a:noFill/>
          </a:ln>
          <a:effectLst>
            <a:outerShdw blurRad="57150" rotWithShape="0" algn="bl" dir="5400000" dist="19050">
              <a:srgbClr val="000000">
                <a:alpha val="50000"/>
              </a:srgbClr>
            </a:outerShdw>
          </a:effectLst>
        </p:spPr>
      </p:pic>
      <p:sp>
        <p:nvSpPr>
          <p:cNvPr id="256" name="Google Shape;256;p3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How to Connect</a:t>
            </a:r>
            <a:endParaRPr b="1" sz="3000">
              <a:solidFill>
                <a:schemeClr val="lt1"/>
              </a:solidFill>
              <a:latin typeface="Twentieth Century"/>
              <a:ea typeface="Twentieth Century"/>
              <a:cs typeface="Twentieth Century"/>
              <a:sym typeface="Twentieth Century"/>
            </a:endParaRPr>
          </a:p>
        </p:txBody>
      </p:sp>
      <p:pic>
        <p:nvPicPr>
          <p:cNvPr id="257" name="Google Shape;257;p31"/>
          <p:cNvPicPr preferRelativeResize="0"/>
          <p:nvPr/>
        </p:nvPicPr>
        <p:blipFill>
          <a:blip r:embed="rId8">
            <a:alphaModFix/>
          </a:blip>
          <a:stretch>
            <a:fillRect/>
          </a:stretch>
        </p:blipFill>
        <p:spPr>
          <a:xfrm>
            <a:off x="4034050" y="2853900"/>
            <a:ext cx="3631833" cy="20573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390906" y="1784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Immersive Python Workshop Day 2  </a:t>
            </a:r>
            <a:r>
              <a:rPr lang="en" sz="3000">
                <a:solidFill>
                  <a:schemeClr val="lt1"/>
                </a:solidFill>
                <a:latin typeface="Twentieth Century"/>
                <a:ea typeface="Twentieth Century"/>
                <a:cs typeface="Twentieth Century"/>
                <a:sym typeface="Twentieth Century"/>
              </a:rPr>
              <a:t>|  AI and coding</a:t>
            </a:r>
            <a:endParaRPr sz="30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sp>
        <p:nvSpPr>
          <p:cNvPr id="268" name="Google Shape;268;p33"/>
          <p:cNvSpPr txBox="1"/>
          <p:nvPr/>
        </p:nvSpPr>
        <p:spPr>
          <a:xfrm>
            <a:off x="207150" y="1810975"/>
            <a:ext cx="8729700" cy="1684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91425" spcFirstLastPara="1" rIns="91425" wrap="square" tIns="338325">
            <a:noAutofit/>
          </a:bodyPr>
          <a:lstStyle/>
          <a:p>
            <a:pPr indent="0" lvl="0" marL="0" rtl="0" algn="ctr">
              <a:lnSpc>
                <a:spcPct val="115000"/>
              </a:lnSpc>
              <a:spcBef>
                <a:spcPts val="0"/>
              </a:spcBef>
              <a:spcAft>
                <a:spcPts val="0"/>
              </a:spcAft>
              <a:buNone/>
            </a:pPr>
            <a:r>
              <a:rPr lang="en" sz="1700">
                <a:latin typeface="Twentieth Century"/>
                <a:ea typeface="Twentieth Century"/>
                <a:cs typeface="Twentieth Century"/>
                <a:sym typeface="Twentieth Century"/>
              </a:rPr>
              <a:t>Whether using AI for coding is appropriate will depend on your personal and professional circumstances. Like any other tool, AI will be more or less useful in certain situations; can be prohibited or considered unethical in others; and is normalized to varying degrees between working groups and disciplines.</a:t>
            </a:r>
            <a:endParaRPr sz="1700">
              <a:latin typeface="Twentieth Century"/>
              <a:ea typeface="Twentieth Century"/>
              <a:cs typeface="Twentieth Century"/>
              <a:sym typeface="Twentieth Century"/>
            </a:endParaRPr>
          </a:p>
        </p:txBody>
      </p:sp>
      <p:sp>
        <p:nvSpPr>
          <p:cNvPr id="269" name="Google Shape;269;p33"/>
          <p:cNvSpPr txBox="1"/>
          <p:nvPr/>
        </p:nvSpPr>
        <p:spPr>
          <a:xfrm>
            <a:off x="207150" y="4386250"/>
            <a:ext cx="8729700" cy="648000"/>
          </a:xfrm>
          <a:prstGeom prst="rect">
            <a:avLst/>
          </a:prstGeom>
          <a:solidFill>
            <a:srgbClr val="FCE5CD"/>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solidFill>
                  <a:schemeClr val="dk1"/>
                </a:solidFill>
                <a:latin typeface="Twentieth Century"/>
                <a:ea typeface="Twentieth Century"/>
                <a:cs typeface="Twentieth Century"/>
                <a:sym typeface="Twentieth Century"/>
              </a:rPr>
              <a:t>Upcoming workshop on using LLMs for generating research code</a:t>
            </a:r>
            <a:endParaRPr b="1">
              <a:solidFill>
                <a:schemeClr val="dk1"/>
              </a:solidFill>
              <a:latin typeface="Twentieth Century"/>
              <a:ea typeface="Twentieth Century"/>
              <a:cs typeface="Twentieth Century"/>
              <a:sym typeface="Twentieth Century"/>
            </a:endParaRPr>
          </a:p>
          <a:p>
            <a:pPr indent="0" lvl="0" marL="0" rtl="0" algn="ctr">
              <a:lnSpc>
                <a:spcPct val="115000"/>
              </a:lnSpc>
              <a:spcBef>
                <a:spcPts val="0"/>
              </a:spcBef>
              <a:spcAft>
                <a:spcPts val="0"/>
              </a:spcAft>
              <a:buNone/>
            </a:pPr>
            <a:r>
              <a:rPr lang="en">
                <a:solidFill>
                  <a:schemeClr val="dk1"/>
                </a:solidFill>
                <a:latin typeface="Twentieth Century"/>
                <a:ea typeface="Twentieth Century"/>
                <a:cs typeface="Twentieth Century"/>
                <a:sym typeface="Twentieth Century"/>
              </a:rPr>
              <a:t>Wednesday, November 5, 2025: noon to 1 PM (Zoom)</a:t>
            </a:r>
            <a:endParaRPr sz="1300">
              <a:latin typeface="Twentieth Century"/>
              <a:ea typeface="Twentieth Century"/>
              <a:cs typeface="Twentieth Century"/>
              <a:sym typeface="Twentieth 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pic>
        <p:nvPicPr>
          <p:cNvPr id="275" name="Google Shape;275;p34"/>
          <p:cNvPicPr preferRelativeResize="0"/>
          <p:nvPr/>
        </p:nvPicPr>
        <p:blipFill>
          <a:blip r:embed="rId3">
            <a:alphaModFix/>
          </a:blip>
          <a:stretch>
            <a:fillRect/>
          </a:stretch>
        </p:blipFill>
        <p:spPr>
          <a:xfrm>
            <a:off x="152400" y="1016603"/>
            <a:ext cx="4764656" cy="39744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pic>
        <p:nvPicPr>
          <p:cNvPr id="281" name="Google Shape;281;p35"/>
          <p:cNvPicPr preferRelativeResize="0"/>
          <p:nvPr/>
        </p:nvPicPr>
        <p:blipFill>
          <a:blip r:embed="rId3">
            <a:alphaModFix/>
          </a:blip>
          <a:stretch>
            <a:fillRect/>
          </a:stretch>
        </p:blipFill>
        <p:spPr>
          <a:xfrm>
            <a:off x="152400" y="1016603"/>
            <a:ext cx="4764656" cy="3974497"/>
          </a:xfrm>
          <a:prstGeom prst="rect">
            <a:avLst/>
          </a:prstGeom>
          <a:noFill/>
          <a:ln>
            <a:noFill/>
          </a:ln>
        </p:spPr>
      </p:pic>
      <p:pic>
        <p:nvPicPr>
          <p:cNvPr id="282" name="Google Shape;282;p35"/>
          <p:cNvPicPr preferRelativeResize="0"/>
          <p:nvPr/>
        </p:nvPicPr>
        <p:blipFill>
          <a:blip r:embed="rId4">
            <a:alphaModFix/>
          </a:blip>
          <a:stretch>
            <a:fillRect/>
          </a:stretch>
        </p:blipFill>
        <p:spPr>
          <a:xfrm>
            <a:off x="5187525" y="1016600"/>
            <a:ext cx="2957225" cy="3974500"/>
          </a:xfrm>
          <a:prstGeom prst="rect">
            <a:avLst/>
          </a:prstGeom>
          <a:noFill/>
          <a:ln cap="flat" cmpd="sng" w="9525">
            <a:solidFill>
              <a:srgbClr val="666666"/>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Considerations</a:t>
            </a:r>
            <a:endParaRPr b="1" sz="3000">
              <a:solidFill>
                <a:schemeClr val="lt1"/>
              </a:solidFill>
              <a:latin typeface="Twentieth Century"/>
              <a:ea typeface="Twentieth Century"/>
              <a:cs typeface="Twentieth Century"/>
              <a:sym typeface="Twentieth Century"/>
            </a:endParaRPr>
          </a:p>
        </p:txBody>
      </p:sp>
      <p:sp>
        <p:nvSpPr>
          <p:cNvPr id="288" name="Google Shape;288;p36"/>
          <p:cNvSpPr txBox="1"/>
          <p:nvPr/>
        </p:nvSpPr>
        <p:spPr>
          <a:xfrm>
            <a:off x="202650" y="1061675"/>
            <a:ext cx="8729700" cy="39498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23850" lvl="0" marL="4572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Purpose of project and </a:t>
            </a:r>
            <a:r>
              <a:rPr lang="en" sz="1500">
                <a:latin typeface="Twentieth Century"/>
                <a:ea typeface="Twentieth Century"/>
                <a:cs typeface="Twentieth Century"/>
                <a:sym typeface="Twentieth Century"/>
              </a:rPr>
              <a:t>coding</a:t>
            </a:r>
            <a:r>
              <a:rPr lang="en" sz="1500">
                <a:latin typeface="Twentieth Century"/>
                <a:ea typeface="Twentieth Century"/>
                <a:cs typeface="Twentieth Century"/>
                <a:sym typeface="Twentieth Century"/>
              </a:rPr>
              <a:t> implementation</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Research vs. non-research</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Collaborative vs. solo</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Novel vs. existing codebase</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Data simulation vs. data retrieval vs. data analysis vs. data viz (etc.)</a:t>
            </a:r>
            <a:endParaRPr sz="1500">
              <a:latin typeface="Twentieth Century"/>
              <a:ea typeface="Twentieth Century"/>
              <a:cs typeface="Twentieth Century"/>
              <a:sym typeface="Twentieth Century"/>
            </a:endParaRPr>
          </a:p>
          <a:p>
            <a:pPr indent="-323850" lvl="0" marL="4572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Intended usage</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Generating code</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Debugging code</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Refactoring code</a:t>
            </a:r>
            <a:endParaRPr sz="1500">
              <a:latin typeface="Twentieth Century"/>
              <a:ea typeface="Twentieth Century"/>
              <a:cs typeface="Twentieth Century"/>
              <a:sym typeface="Twentieth Century"/>
            </a:endParaRPr>
          </a:p>
          <a:p>
            <a:pPr indent="-323850" lvl="0" marL="4572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Intended tool</a:t>
            </a:r>
            <a:endParaRPr sz="1500">
              <a:latin typeface="Twentieth Century"/>
              <a:ea typeface="Twentieth Century"/>
              <a:cs typeface="Twentieth Century"/>
              <a:sym typeface="Twentieth Century"/>
            </a:endParaRPr>
          </a:p>
          <a:p>
            <a:pPr indent="-323850" lvl="0" marL="4572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Security and legal policies</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u="sng">
                <a:solidFill>
                  <a:schemeClr val="hlink"/>
                </a:solidFill>
                <a:latin typeface="Twentieth Century"/>
                <a:ea typeface="Twentieth Century"/>
                <a:cs typeface="Twentieth Century"/>
                <a:sym typeface="Twentieth Century"/>
                <a:hlinkClick r:id="rId3"/>
              </a:rPr>
              <a:t>https://security.utexas.edu/iso-policies/cloud-services/decision-matrix#cloud-services</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u="sng">
                <a:solidFill>
                  <a:schemeClr val="hlink"/>
                </a:solidFill>
                <a:latin typeface="Twentieth Century"/>
                <a:ea typeface="Twentieth Century"/>
                <a:cs typeface="Twentieth Century"/>
                <a:sym typeface="Twentieth Century"/>
                <a:hlinkClick r:id="rId4"/>
              </a:rPr>
              <a:t>https://compliance.utexas.edu/prohibited-technology-and-covered-applications</a:t>
            </a:r>
            <a:r>
              <a:rPr lang="en" sz="1500">
                <a:latin typeface="Twentieth Century"/>
                <a:ea typeface="Twentieth Century"/>
                <a:cs typeface="Twentieth Century"/>
                <a:sym typeface="Twentieth Century"/>
              </a:rPr>
              <a:t>  </a:t>
            </a:r>
            <a:endParaRPr sz="1500">
              <a:latin typeface="Twentieth Century"/>
              <a:ea typeface="Twentieth Century"/>
              <a:cs typeface="Twentieth Century"/>
              <a:sym typeface="Twentieth Centur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Using AI for coding</a:t>
            </a:r>
            <a:endParaRPr b="1" sz="3000">
              <a:solidFill>
                <a:schemeClr val="lt1"/>
              </a:solidFill>
              <a:latin typeface="Twentieth Century"/>
              <a:ea typeface="Twentieth Century"/>
              <a:cs typeface="Twentieth Century"/>
              <a:sym typeface="Twentieth Century"/>
            </a:endParaRPr>
          </a:p>
        </p:txBody>
      </p:sp>
      <p:grpSp>
        <p:nvGrpSpPr>
          <p:cNvPr id="294" name="Google Shape;294;p37"/>
          <p:cNvGrpSpPr/>
          <p:nvPr/>
        </p:nvGrpSpPr>
        <p:grpSpPr>
          <a:xfrm>
            <a:off x="476100" y="1175400"/>
            <a:ext cx="8191800" cy="2204524"/>
            <a:chOff x="283425" y="1192075"/>
            <a:chExt cx="8191800" cy="2204524"/>
          </a:xfrm>
        </p:grpSpPr>
        <p:sp>
          <p:nvSpPr>
            <p:cNvPr id="295" name="Google Shape;295;p37"/>
            <p:cNvSpPr txBox="1"/>
            <p:nvPr/>
          </p:nvSpPr>
          <p:spPr>
            <a:xfrm>
              <a:off x="283425" y="1192075"/>
              <a:ext cx="8191800" cy="1947000"/>
            </a:xfrm>
            <a:prstGeom prst="rect">
              <a:avLst/>
            </a:prstGeom>
            <a:solidFill>
              <a:srgbClr val="F3F3F3"/>
            </a:solidFill>
            <a:ln cap="flat" cmpd="sng" w="9525">
              <a:solidFill>
                <a:srgbClr val="66666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Twentieth Century"/>
                  <a:ea typeface="Twentieth Century"/>
                  <a:cs typeface="Twentieth Century"/>
                  <a:sym typeface="Twentieth Century"/>
                </a:rPr>
                <a:t>Authors should not submit manuscripts where Generative AI tools have been used in ways that replace core researcher and author responsibilities, for example:  </a:t>
              </a:r>
              <a:endParaRPr>
                <a:latin typeface="Twentieth Century"/>
                <a:ea typeface="Twentieth Century"/>
                <a:cs typeface="Twentieth Century"/>
                <a:sym typeface="Twentieth Century"/>
              </a:endParaRPr>
            </a:p>
            <a:p>
              <a:pPr indent="-298450" lvl="0" marL="457200" rtl="0" algn="l">
                <a:lnSpc>
                  <a:spcPct val="115000"/>
                </a:lnSpc>
                <a:spcBef>
                  <a:spcPts val="1200"/>
                </a:spcBef>
                <a:spcAft>
                  <a:spcPts val="0"/>
                </a:spcAft>
                <a:buClr>
                  <a:schemeClr val="dk1"/>
                </a:buClr>
                <a:buSzPts val="1100"/>
                <a:buFont typeface="Twentieth Century"/>
                <a:buChar char="●"/>
              </a:pPr>
              <a:r>
                <a:rPr b="1" lang="en" u="sng">
                  <a:latin typeface="Twentieth Century"/>
                  <a:ea typeface="Twentieth Century"/>
                  <a:cs typeface="Twentieth Century"/>
                  <a:sym typeface="Twentieth Century"/>
                </a:rPr>
                <a:t>text or code generation without rigorous revision</a:t>
              </a:r>
              <a:endParaRPr b="1" u="sng">
                <a:latin typeface="Twentieth Century"/>
                <a:ea typeface="Twentieth Century"/>
                <a:cs typeface="Twentieth Century"/>
                <a:sym typeface="Twentieth Century"/>
              </a:endParaRPr>
            </a:p>
            <a:p>
              <a:pPr indent="-298450" lvl="0" marL="457200" rtl="0" algn="l">
                <a:lnSpc>
                  <a:spcPct val="115000"/>
                </a:lnSpc>
                <a:spcBef>
                  <a:spcPts val="0"/>
                </a:spcBef>
                <a:spcAft>
                  <a:spcPts val="0"/>
                </a:spcAft>
                <a:buClr>
                  <a:schemeClr val="dk1"/>
                </a:buClr>
                <a:buSzPts val="1100"/>
                <a:buFont typeface="Twentieth Century"/>
                <a:buChar char="●"/>
              </a:pPr>
              <a:r>
                <a:rPr lang="en">
                  <a:latin typeface="Twentieth Century"/>
                  <a:ea typeface="Twentieth Century"/>
                  <a:cs typeface="Twentieth Century"/>
                  <a:sym typeface="Twentieth Century"/>
                </a:rPr>
                <a:t>synthetic data generation to substitute missing data without robust methodology  </a:t>
              </a:r>
              <a:endParaRPr>
                <a:latin typeface="Twentieth Century"/>
                <a:ea typeface="Twentieth Century"/>
                <a:cs typeface="Twentieth Century"/>
                <a:sym typeface="Twentieth Century"/>
              </a:endParaRPr>
            </a:p>
            <a:p>
              <a:pPr indent="-298450" lvl="0" marL="457200" rtl="0" algn="l">
                <a:lnSpc>
                  <a:spcPct val="115000"/>
                </a:lnSpc>
                <a:spcBef>
                  <a:spcPts val="0"/>
                </a:spcBef>
                <a:spcAft>
                  <a:spcPts val="0"/>
                </a:spcAft>
                <a:buClr>
                  <a:schemeClr val="dk1"/>
                </a:buClr>
                <a:buSzPts val="1100"/>
                <a:buFont typeface="Twentieth Century"/>
                <a:buChar char="●"/>
              </a:pPr>
              <a:r>
                <a:rPr lang="en">
                  <a:latin typeface="Twentieth Century"/>
                  <a:ea typeface="Twentieth Century"/>
                  <a:cs typeface="Twentieth Century"/>
                  <a:sym typeface="Twentieth Century"/>
                </a:rPr>
                <a:t>generation of any types of content which is inaccurate including abstracts or supplemental materials </a:t>
              </a:r>
              <a:endParaRPr>
                <a:latin typeface="Twentieth Century"/>
                <a:ea typeface="Twentieth Century"/>
                <a:cs typeface="Twentieth Century"/>
                <a:sym typeface="Twentieth Century"/>
              </a:endParaRPr>
            </a:p>
            <a:p>
              <a:pPr indent="0" lvl="0" marL="0" rtl="0" algn="l">
                <a:lnSpc>
                  <a:spcPct val="115000"/>
                </a:lnSpc>
                <a:spcBef>
                  <a:spcPts val="1200"/>
                </a:spcBef>
                <a:spcAft>
                  <a:spcPts val="1200"/>
                </a:spcAft>
                <a:buNone/>
              </a:pPr>
              <a:r>
                <a:rPr lang="en">
                  <a:latin typeface="Twentieth Century"/>
                  <a:ea typeface="Twentieth Century"/>
                  <a:cs typeface="Twentieth Century"/>
                  <a:sym typeface="Twentieth Century"/>
                </a:rPr>
                <a:t>Source: </a:t>
              </a:r>
              <a:r>
                <a:rPr lang="en" u="sng">
                  <a:solidFill>
                    <a:schemeClr val="hlink"/>
                  </a:solidFill>
                  <a:latin typeface="Twentieth Century"/>
                  <a:ea typeface="Twentieth Century"/>
                  <a:cs typeface="Twentieth Century"/>
                  <a:sym typeface="Twentieth Century"/>
                  <a:hlinkClick r:id="rId3"/>
                </a:rPr>
                <a:t>https://taylorandfrancis.com/our-policies/ai-policy/</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pic>
          <p:nvPicPr>
            <p:cNvPr id="296" name="Google Shape;296;p37"/>
            <p:cNvPicPr preferRelativeResize="0"/>
            <p:nvPr/>
          </p:nvPicPr>
          <p:blipFill rotWithShape="1">
            <a:blip r:embed="rId4">
              <a:alphaModFix/>
            </a:blip>
            <a:srcRect b="26477" l="14159" r="13075" t="32106"/>
            <a:stretch/>
          </p:blipFill>
          <p:spPr>
            <a:xfrm>
              <a:off x="7064250" y="2974475"/>
              <a:ext cx="1297924" cy="422124"/>
            </a:xfrm>
            <a:prstGeom prst="rect">
              <a:avLst/>
            </a:prstGeom>
            <a:noFill/>
            <a:ln cap="flat" cmpd="sng" w="9525">
              <a:solidFill>
                <a:schemeClr val="dk1"/>
              </a:solidFill>
              <a:prstDash val="solid"/>
              <a:round/>
              <a:headEnd len="sm" w="sm" type="none"/>
              <a:tailEnd len="sm" w="sm" type="none"/>
            </a:ln>
          </p:spPr>
        </p:pic>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Slop-squatting</a:t>
            </a:r>
            <a:endParaRPr b="1" sz="3000">
              <a:solidFill>
                <a:schemeClr val="lt1"/>
              </a:solidFill>
              <a:latin typeface="Twentieth Century"/>
              <a:ea typeface="Twentieth Century"/>
              <a:cs typeface="Twentieth Century"/>
              <a:sym typeface="Twentieth Century"/>
            </a:endParaRPr>
          </a:p>
        </p:txBody>
      </p:sp>
      <p:pic>
        <p:nvPicPr>
          <p:cNvPr id="302" name="Google Shape;302;p38"/>
          <p:cNvPicPr preferRelativeResize="0"/>
          <p:nvPr/>
        </p:nvPicPr>
        <p:blipFill>
          <a:blip r:embed="rId3">
            <a:alphaModFix/>
          </a:blip>
          <a:stretch>
            <a:fillRect/>
          </a:stretch>
        </p:blipFill>
        <p:spPr>
          <a:xfrm>
            <a:off x="152400" y="1016601"/>
            <a:ext cx="5416949" cy="1707650"/>
          </a:xfrm>
          <a:prstGeom prst="rect">
            <a:avLst/>
          </a:prstGeom>
          <a:noFill/>
          <a:ln>
            <a:noFill/>
          </a:ln>
          <a:effectLst>
            <a:outerShdw blurRad="57150" rotWithShape="0" algn="bl" dir="5400000" dist="19050">
              <a:srgbClr val="000000">
                <a:alpha val="50000"/>
              </a:srgbClr>
            </a:outerShdw>
          </a:effectLst>
        </p:spPr>
      </p:pic>
      <p:sp>
        <p:nvSpPr>
          <p:cNvPr id="303" name="Google Shape;303;p38"/>
          <p:cNvSpPr txBox="1"/>
          <p:nvPr/>
        </p:nvSpPr>
        <p:spPr>
          <a:xfrm>
            <a:off x="5843750" y="1016600"/>
            <a:ext cx="3000000" cy="2739900"/>
          </a:xfrm>
          <a:prstGeom prst="rect">
            <a:avLst/>
          </a:prstGeom>
          <a:solidFill>
            <a:srgbClr val="EFEFEF"/>
          </a:solidFill>
          <a:ln cap="flat" cmpd="sng" w="9525">
            <a:solidFill>
              <a:srgbClr val="7F7F7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Twentieth Century"/>
                <a:ea typeface="Twentieth Century"/>
                <a:cs typeface="Twentieth Century"/>
                <a:sym typeface="Twentieth Century"/>
              </a:rPr>
              <a:t>“</a:t>
            </a:r>
            <a:r>
              <a:rPr i="1" lang="en" sz="1300">
                <a:latin typeface="Twentieth Century"/>
                <a:ea typeface="Twentieth Century"/>
                <a:cs typeface="Twentieth Century"/>
                <a:sym typeface="Twentieth Century"/>
              </a:rPr>
              <a:t>Using 16 popular LLMs for code generation and two unique prompt datasets, we generate 576,000 code samples in two programming languages that we analyze for package hallucinations. Our findings reveal that that the average percentage of hallucinated packages is at least 5.2% for commercial models and 21.7% for open-source models, including a staggering 205,474 unique examples of hallucinated package names, further underscoring the severity and pervasiveness of this threat.</a:t>
            </a:r>
            <a:r>
              <a:rPr lang="en" sz="1300">
                <a:latin typeface="Twentieth Century"/>
                <a:ea typeface="Twentieth Century"/>
                <a:cs typeface="Twentieth Century"/>
                <a:sym typeface="Twentieth Century"/>
              </a:rPr>
              <a:t>”</a:t>
            </a:r>
            <a:endParaRPr sz="1300">
              <a:latin typeface="Twentieth Century"/>
              <a:ea typeface="Twentieth Century"/>
              <a:cs typeface="Twentieth Century"/>
              <a:sym typeface="Twentieth Century"/>
            </a:endParaRPr>
          </a:p>
          <a:p>
            <a:pPr indent="0" lvl="0" marL="0" rtl="0" algn="l">
              <a:spcBef>
                <a:spcPts val="0"/>
              </a:spcBef>
              <a:spcAft>
                <a:spcPts val="0"/>
              </a:spcAft>
              <a:buNone/>
            </a:pPr>
            <a:r>
              <a:rPr lang="en" sz="1000">
                <a:solidFill>
                  <a:schemeClr val="dk1"/>
                </a:solidFill>
                <a:latin typeface="Twentieth Century"/>
                <a:ea typeface="Twentieth Century"/>
                <a:cs typeface="Twentieth Century"/>
                <a:sym typeface="Twentieth Century"/>
              </a:rPr>
              <a:t>(https://doi.org/10.48550/arXiv.2406.10279)</a:t>
            </a:r>
            <a:endParaRPr sz="1300">
              <a:latin typeface="Twentieth Century"/>
              <a:ea typeface="Twentieth Century"/>
              <a:cs typeface="Twentieth Century"/>
              <a:sym typeface="Twentieth Centur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Slop-squatting</a:t>
            </a:r>
            <a:endParaRPr b="1" sz="3000">
              <a:solidFill>
                <a:schemeClr val="lt1"/>
              </a:solidFill>
              <a:latin typeface="Twentieth Century"/>
              <a:ea typeface="Twentieth Century"/>
              <a:cs typeface="Twentieth Century"/>
              <a:sym typeface="Twentieth Century"/>
            </a:endParaRPr>
          </a:p>
        </p:txBody>
      </p:sp>
      <p:sp>
        <p:nvSpPr>
          <p:cNvPr id="309" name="Google Shape;309;p39"/>
          <p:cNvSpPr txBox="1"/>
          <p:nvPr/>
        </p:nvSpPr>
        <p:spPr>
          <a:xfrm>
            <a:off x="108375" y="1153800"/>
            <a:ext cx="8895600" cy="2844600"/>
          </a:xfrm>
          <a:prstGeom prst="rect">
            <a:avLst/>
          </a:prstGeom>
          <a:solidFill>
            <a:srgbClr val="F3F3F3"/>
          </a:solidFill>
          <a:ln cap="flat" cmpd="sng" w="9525">
            <a:solidFill>
              <a:srgbClr val="66666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Twentieth Century"/>
                <a:ea typeface="Twentieth Century"/>
                <a:cs typeface="Twentieth Century"/>
                <a:sym typeface="Twentieth Century"/>
              </a:rPr>
              <a:t>“</a:t>
            </a:r>
            <a:r>
              <a:rPr i="1" lang="en">
                <a:latin typeface="Twentieth Century"/>
                <a:ea typeface="Twentieth Century"/>
                <a:cs typeface="Twentieth Century"/>
                <a:sym typeface="Twentieth Century"/>
              </a:rPr>
              <a:t>The problem is, these code suggestions often include hallucinated package names that sound real but don’t exist. I’ve seen this firsthand. You paste it into your terminal and the install fails – or worse, it doesn’t fail, because someone has slop-squatted that exact package name. When we investigate, we sometimes find realistic looking READMEs, fake GitHub repos, even sketchy blogs that make the package seem authentic.</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0" lvl="0" marL="0" rtl="0" algn="l">
              <a:lnSpc>
                <a:spcPct val="115000"/>
              </a:lnSpc>
              <a:spcBef>
                <a:spcPts val="1200"/>
              </a:spcBef>
              <a:spcAft>
                <a:spcPts val="0"/>
              </a:spcAft>
              <a:buNone/>
            </a:pPr>
            <a:r>
              <a:rPr lang="en">
                <a:latin typeface="Twentieth Century"/>
                <a:ea typeface="Twentieth Century"/>
                <a:cs typeface="Twentieth Century"/>
                <a:sym typeface="Twentieth Century"/>
              </a:rPr>
              <a:t>"</a:t>
            </a:r>
            <a:r>
              <a:rPr i="1" lang="en">
                <a:latin typeface="Twentieth Century"/>
                <a:ea typeface="Twentieth Century"/>
                <a:cs typeface="Twentieth Century"/>
                <a:sym typeface="Twentieth Century"/>
              </a:rPr>
              <a:t>Even worse, when you Google one of these slop-squatted package names, you’ll often get an AI-generated summary from Google itself confidently praising the package, saying it’s useful, stable, well-maintained. But it’s just parroting the package’s own README, no skepticism, no context. To a developer in a rush, it gives a false sense of legitimacy</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a:p>
            <a:pPr indent="0" lvl="0" marL="0" rtl="0" algn="l">
              <a:lnSpc>
                <a:spcPct val="115000"/>
              </a:lnSpc>
              <a:spcBef>
                <a:spcPts val="1200"/>
              </a:spcBef>
              <a:spcAft>
                <a:spcPts val="0"/>
              </a:spcAft>
              <a:buNone/>
            </a:pPr>
            <a:r>
              <a:rPr lang="en">
                <a:latin typeface="Twentieth Century"/>
                <a:ea typeface="Twentieth Century"/>
                <a:cs typeface="Twentieth Century"/>
                <a:sym typeface="Twentieth Century"/>
              </a:rPr>
              <a:t>-Feross Aboukhadijeh (CEO of Socket)</a:t>
            </a:r>
            <a:endParaRPr>
              <a:latin typeface="Twentieth Century"/>
              <a:ea typeface="Twentieth Century"/>
              <a:cs typeface="Twentieth Century"/>
              <a:sym typeface="Twentieth Century"/>
            </a:endParaRPr>
          </a:p>
          <a:p>
            <a:pPr indent="0" lvl="0" marL="0" rtl="0" algn="l">
              <a:lnSpc>
                <a:spcPct val="115000"/>
              </a:lnSpc>
              <a:spcBef>
                <a:spcPts val="1200"/>
              </a:spcBef>
              <a:spcAft>
                <a:spcPts val="1200"/>
              </a:spcAft>
              <a:buNone/>
            </a:pPr>
            <a:r>
              <a:rPr lang="en">
                <a:latin typeface="Twentieth Century"/>
                <a:ea typeface="Twentieth Century"/>
                <a:cs typeface="Twentieth Century"/>
                <a:sym typeface="Twentieth Century"/>
              </a:rPr>
              <a:t>(</a:t>
            </a:r>
            <a:r>
              <a:rPr lang="en" u="sng">
                <a:solidFill>
                  <a:schemeClr val="hlink"/>
                </a:solidFill>
                <a:latin typeface="Twentieth Century"/>
                <a:ea typeface="Twentieth Century"/>
                <a:cs typeface="Twentieth Century"/>
                <a:sym typeface="Twentieth Century"/>
                <a:hlinkClick r:id="rId3"/>
              </a:rPr>
              <a:t>https://www.theregister.com/2025/04/12/ai_code_suggestions_sabotage_supply_chain/</a:t>
            </a:r>
            <a:r>
              <a:rPr lang="en">
                <a:latin typeface="Twentieth Century"/>
                <a:ea typeface="Twentieth Century"/>
                <a:cs typeface="Twentieth Century"/>
                <a:sym typeface="Twentieth Century"/>
              </a:rPr>
              <a:t>)</a:t>
            </a:r>
            <a:endParaRPr>
              <a:latin typeface="Twentieth Century"/>
              <a:ea typeface="Twentieth Century"/>
              <a:cs typeface="Twentieth Century"/>
              <a:sym typeface="Twentieth Century"/>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0"/>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Best practices</a:t>
            </a:r>
            <a:endParaRPr b="1" sz="3000">
              <a:solidFill>
                <a:schemeClr val="lt1"/>
              </a:solidFill>
              <a:latin typeface="Twentieth Century"/>
              <a:ea typeface="Twentieth Century"/>
              <a:cs typeface="Twentieth Century"/>
              <a:sym typeface="Twentieth Century"/>
            </a:endParaRPr>
          </a:p>
        </p:txBody>
      </p:sp>
      <p:sp>
        <p:nvSpPr>
          <p:cNvPr id="315" name="Google Shape;315;p40"/>
          <p:cNvSpPr txBox="1"/>
          <p:nvPr/>
        </p:nvSpPr>
        <p:spPr>
          <a:xfrm>
            <a:off x="207150" y="944975"/>
            <a:ext cx="8729700" cy="36987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338325">
            <a:noAutofit/>
          </a:bodyPr>
          <a:lstStyle/>
          <a:p>
            <a:pPr indent="-323850" lvl="0" marL="4572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Before using</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Discuss use of AI with any collaborators, project partners, etc.</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Review institutional policies on the use of AI</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Review publisher policies on the use of AI (if intending to publish a journal article)</a:t>
            </a:r>
            <a:endParaRPr sz="1500">
              <a:latin typeface="Twentieth Century"/>
              <a:ea typeface="Twentieth Century"/>
              <a:cs typeface="Twentieth Century"/>
              <a:sym typeface="Twentieth Century"/>
            </a:endParaRPr>
          </a:p>
          <a:p>
            <a:pPr indent="-323850" lvl="0" marL="4572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While using</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Assume the LLM is naive but confident</a:t>
            </a:r>
            <a:endParaRPr sz="1500">
              <a:latin typeface="Twentieth Century"/>
              <a:ea typeface="Twentieth Century"/>
              <a:cs typeface="Twentieth Century"/>
              <a:sym typeface="Twentieth Century"/>
            </a:endParaRPr>
          </a:p>
          <a:p>
            <a:pPr indent="-323850" lvl="2" marL="13716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If the LLM suggests something that seems erroneous or inappropriate, it probably is</a:t>
            </a:r>
            <a:endParaRPr sz="1500">
              <a:latin typeface="Twentieth Century"/>
              <a:ea typeface="Twentieth Century"/>
              <a:cs typeface="Twentieth Century"/>
              <a:sym typeface="Twentieth Century"/>
            </a:endParaRPr>
          </a:p>
          <a:p>
            <a:pPr indent="-323850" lvl="2" marL="13716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A confident LLM is not a correct LLM</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Verify all </a:t>
            </a:r>
            <a:r>
              <a:rPr lang="en" sz="1500">
                <a:latin typeface="Twentieth Century"/>
                <a:ea typeface="Twentieth Century"/>
                <a:cs typeface="Twentieth Century"/>
                <a:sym typeface="Twentieth Century"/>
              </a:rPr>
              <a:t>suggested</a:t>
            </a:r>
            <a:r>
              <a:rPr lang="en" sz="1500">
                <a:latin typeface="Twentieth Century"/>
                <a:ea typeface="Twentieth Century"/>
                <a:cs typeface="Twentieth Century"/>
                <a:sym typeface="Twentieth Century"/>
              </a:rPr>
              <a:t> packages and do not let an LLM install packages or write code to do so</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Inspect results to ensure that outputs align with predictions</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Incorporate recurring checks</a:t>
            </a:r>
            <a:endParaRPr sz="1500">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Do not substitute LLM-assisted coding for learning a software language</a:t>
            </a:r>
            <a:endParaRPr sz="1500">
              <a:latin typeface="Twentieth Century"/>
              <a:ea typeface="Twentieth Century"/>
              <a:cs typeface="Twentieth Century"/>
              <a:sym typeface="Twentieth Centur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1"/>
          <p:cNvSpPr/>
          <p:nvPr/>
        </p:nvSpPr>
        <p:spPr>
          <a:xfrm>
            <a:off x="408125" y="3469100"/>
            <a:ext cx="1789800" cy="13809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1" name="Google Shape;321;p41"/>
          <p:cNvSpPr/>
          <p:nvPr/>
        </p:nvSpPr>
        <p:spPr>
          <a:xfrm>
            <a:off x="330039" y="1460300"/>
            <a:ext cx="1861800" cy="13983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2" name="Google Shape;322;p4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3000">
                <a:solidFill>
                  <a:schemeClr val="lt1"/>
                </a:solidFill>
                <a:latin typeface="Twentieth Century"/>
                <a:ea typeface="Twentieth Century"/>
                <a:cs typeface="Twentieth Century"/>
                <a:sym typeface="Twentieth Century"/>
              </a:rPr>
              <a:t>Upcoming Fall Workshops &amp; Events</a:t>
            </a:r>
            <a:endParaRPr b="1" sz="3000">
              <a:solidFill>
                <a:schemeClr val="lt1"/>
              </a:solidFill>
              <a:latin typeface="Twentieth Century"/>
              <a:ea typeface="Twentieth Century"/>
              <a:cs typeface="Twentieth Century"/>
              <a:sym typeface="Twentieth Century"/>
            </a:endParaRPr>
          </a:p>
        </p:txBody>
      </p:sp>
      <p:sp>
        <p:nvSpPr>
          <p:cNvPr id="323" name="Google Shape;323;p41"/>
          <p:cNvSpPr txBox="1"/>
          <p:nvPr/>
        </p:nvSpPr>
        <p:spPr>
          <a:xfrm>
            <a:off x="2806500" y="3495975"/>
            <a:ext cx="6180300" cy="1398300"/>
          </a:xfrm>
          <a:prstGeom prst="rect">
            <a:avLst/>
          </a:prstGeom>
          <a:solidFill>
            <a:schemeClr val="lt1"/>
          </a:solidFill>
          <a:ln>
            <a:noFill/>
          </a:ln>
        </p:spPr>
        <p:txBody>
          <a:bodyPr anchorCtr="0" anchor="t" bIns="182875" lIns="182875" spcFirstLastPara="1" rIns="182875" wrap="square" tIns="182875">
            <a:noAutofit/>
          </a:bodyPr>
          <a:lstStyle/>
          <a:p>
            <a:pPr indent="0" lvl="0" marL="0" rtl="0" algn="l">
              <a:lnSpc>
                <a:spcPct val="125000"/>
              </a:lnSpc>
              <a:spcBef>
                <a:spcPts val="0"/>
              </a:spcBef>
              <a:spcAft>
                <a:spcPts val="0"/>
              </a:spcAft>
              <a:buClr>
                <a:schemeClr val="dk1"/>
              </a:buClr>
              <a:buSzPts val="1100"/>
              <a:buFont typeface="Arial"/>
              <a:buNone/>
            </a:pPr>
            <a:r>
              <a:t/>
            </a:r>
            <a:endParaRPr b="1">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Learn about AI tools for developing your own research software</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Wed.</a:t>
            </a:r>
            <a:r>
              <a:rPr b="1" lang="en">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11/5, 12pm - 1pm</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Where	</a:t>
            </a:r>
            <a:r>
              <a:rPr lang="en">
                <a:latin typeface="Twentieth Century"/>
                <a:ea typeface="Twentieth Century"/>
                <a:cs typeface="Twentieth Century"/>
                <a:sym typeface="Twentieth Century"/>
              </a:rPr>
              <a:t>Virtual</a:t>
            </a:r>
            <a:endParaRPr>
              <a:latin typeface="Twentieth Century"/>
              <a:ea typeface="Twentieth Century"/>
              <a:cs typeface="Twentieth Century"/>
              <a:sym typeface="Twentieth Century"/>
            </a:endParaRPr>
          </a:p>
        </p:txBody>
      </p:sp>
      <p:sp>
        <p:nvSpPr>
          <p:cNvPr id="324" name="Google Shape;324;p41"/>
          <p:cNvSpPr txBox="1"/>
          <p:nvPr/>
        </p:nvSpPr>
        <p:spPr>
          <a:xfrm>
            <a:off x="2781300" y="1178100"/>
            <a:ext cx="6230700" cy="19020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t/>
            </a:r>
            <a:endParaRPr b="1" sz="2100">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Workshops covering research data practices and software</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On the following dates: 9/5, 9/26, 10/3, and 10/24</a:t>
            </a:r>
            <a:endParaRPr sz="1300">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Time		</a:t>
            </a:r>
            <a:r>
              <a:rPr lang="en">
                <a:latin typeface="Twentieth Century"/>
                <a:ea typeface="Twentieth Century"/>
                <a:cs typeface="Twentieth Century"/>
                <a:sym typeface="Twentieth Century"/>
              </a:rPr>
              <a:t>12pm - 1:15pm</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Where	</a:t>
            </a:r>
            <a:r>
              <a:rPr lang="en">
                <a:latin typeface="Twentieth Century"/>
                <a:ea typeface="Twentieth Century"/>
                <a:cs typeface="Twentieth Century"/>
                <a:sym typeface="Twentieth Century"/>
              </a:rPr>
              <a:t>Zoom (all dates) / </a:t>
            </a:r>
            <a:r>
              <a:rPr lang="en" u="sng">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PCL Scholars Lab</a:t>
            </a:r>
            <a:r>
              <a:rPr lang="en">
                <a:latin typeface="Twentieth Century"/>
                <a:ea typeface="Twentieth Century"/>
                <a:cs typeface="Twentieth Century"/>
                <a:sym typeface="Twentieth Century"/>
              </a:rPr>
              <a:t> (select dates)</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More info</a:t>
            </a:r>
            <a:r>
              <a:rPr lang="en">
                <a:latin typeface="Twentieth Century"/>
                <a:ea typeface="Twentieth Century"/>
                <a:cs typeface="Twentieth Century"/>
                <a:sym typeface="Twentieth Century"/>
              </a:rPr>
              <a:t>	</a:t>
            </a:r>
            <a:r>
              <a:rPr lang="en" u="sng">
                <a:solidFill>
                  <a:srgbClr val="0097A7"/>
                </a:solidFill>
                <a:latin typeface="Twentieth Century"/>
                <a:ea typeface="Twentieth Century"/>
                <a:cs typeface="Twentieth Century"/>
                <a:sym typeface="Twentieth Century"/>
                <a:hlinkClick r:id="rId4">
                  <a:extLst>
                    <a:ext uri="{A12FA001-AC4F-418D-AE19-62706E023703}">
                      <ahyp:hlinkClr val="tx"/>
                    </a:ext>
                  </a:extLst>
                </a:hlinkClick>
              </a:rPr>
              <a:t>https://guides.lib.utexas.edu/data-and-donuts</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sp>
        <p:nvSpPr>
          <p:cNvPr id="325" name="Google Shape;325;p41"/>
          <p:cNvSpPr txBox="1"/>
          <p:nvPr/>
        </p:nvSpPr>
        <p:spPr>
          <a:xfrm>
            <a:off x="2781298" y="1178100"/>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rtl="0" algn="l">
              <a:spcBef>
                <a:spcPts val="0"/>
              </a:spcBef>
              <a:spcAft>
                <a:spcPts val="0"/>
              </a:spcAft>
              <a:buNone/>
            </a:pPr>
            <a:r>
              <a:rPr b="1" lang="en" sz="1900">
                <a:solidFill>
                  <a:schemeClr val="lt1"/>
                </a:solidFill>
                <a:latin typeface="Twentieth Century"/>
                <a:ea typeface="Twentieth Century"/>
                <a:cs typeface="Twentieth Century"/>
                <a:sym typeface="Twentieth Century"/>
              </a:rPr>
              <a:t>Data &amp; Donuts Workshop Series</a:t>
            </a:r>
            <a:endParaRPr b="1" sz="1900">
              <a:solidFill>
                <a:schemeClr val="lt1"/>
              </a:solidFill>
              <a:latin typeface="Twentieth Century"/>
              <a:ea typeface="Twentieth Century"/>
              <a:cs typeface="Twentieth Century"/>
              <a:sym typeface="Twentieth Century"/>
            </a:endParaRPr>
          </a:p>
        </p:txBody>
      </p:sp>
      <p:sp>
        <p:nvSpPr>
          <p:cNvPr id="326" name="Google Shape;326;p41"/>
          <p:cNvSpPr txBox="1"/>
          <p:nvPr/>
        </p:nvSpPr>
        <p:spPr>
          <a:xfrm>
            <a:off x="2806500" y="3495975"/>
            <a:ext cx="6180300" cy="327600"/>
          </a:xfrm>
          <a:prstGeom prst="rect">
            <a:avLst/>
          </a:prstGeom>
          <a:solidFill>
            <a:srgbClr val="85200C"/>
          </a:solidFill>
          <a:ln>
            <a:noFill/>
          </a:ln>
        </p:spPr>
        <p:txBody>
          <a:bodyPr anchorCtr="0" anchor="t" bIns="0" lIns="91425" spcFirstLastPara="1" rIns="91425" wrap="square" tIns="0">
            <a:noAutofit/>
          </a:bodyPr>
          <a:lstStyle/>
          <a:p>
            <a:pPr indent="0" lvl="0" marL="0" rtl="0" algn="l">
              <a:spcBef>
                <a:spcPts val="0"/>
              </a:spcBef>
              <a:spcAft>
                <a:spcPts val="0"/>
              </a:spcAft>
              <a:buNone/>
            </a:pPr>
            <a:r>
              <a:rPr b="1" lang="en" sz="1900">
                <a:solidFill>
                  <a:schemeClr val="lt1"/>
                </a:solidFill>
                <a:latin typeface="Twentieth Century"/>
                <a:ea typeface="Twentieth Century"/>
                <a:cs typeface="Twentieth Century"/>
                <a:sym typeface="Twentieth Century"/>
              </a:rPr>
              <a:t>AI for Writing Research Code</a:t>
            </a:r>
            <a:endParaRPr b="1" sz="1900">
              <a:solidFill>
                <a:schemeClr val="lt1"/>
              </a:solidFill>
              <a:latin typeface="Twentieth Century"/>
              <a:ea typeface="Twentieth Century"/>
              <a:cs typeface="Twentieth Century"/>
              <a:sym typeface="Twentieth Century"/>
            </a:endParaRPr>
          </a:p>
        </p:txBody>
      </p:sp>
      <p:pic>
        <p:nvPicPr>
          <p:cNvPr id="327" name="Google Shape;327;p41"/>
          <p:cNvPicPr preferRelativeResize="0"/>
          <p:nvPr/>
        </p:nvPicPr>
        <p:blipFill rotWithShape="1">
          <a:blip r:embed="rId5">
            <a:alphaModFix/>
          </a:blip>
          <a:srcRect b="0" l="0" r="37154" t="0"/>
          <a:stretch/>
        </p:blipFill>
        <p:spPr>
          <a:xfrm>
            <a:off x="373647" y="1482648"/>
            <a:ext cx="1778400" cy="645419"/>
          </a:xfrm>
          <a:prstGeom prst="rect">
            <a:avLst/>
          </a:prstGeom>
          <a:noFill/>
          <a:ln>
            <a:noFill/>
          </a:ln>
        </p:spPr>
      </p:pic>
      <p:pic>
        <p:nvPicPr>
          <p:cNvPr id="328" name="Google Shape;328;p41"/>
          <p:cNvPicPr preferRelativeResize="0"/>
          <p:nvPr/>
        </p:nvPicPr>
        <p:blipFill rotWithShape="1">
          <a:blip r:embed="rId5">
            <a:alphaModFix/>
          </a:blip>
          <a:srcRect b="0" l="62910" r="-208" t="67448"/>
          <a:stretch/>
        </p:blipFill>
        <p:spPr>
          <a:xfrm>
            <a:off x="373647" y="2529716"/>
            <a:ext cx="1818030" cy="301939"/>
          </a:xfrm>
          <a:prstGeom prst="rect">
            <a:avLst/>
          </a:prstGeom>
          <a:noFill/>
          <a:ln>
            <a:noFill/>
          </a:ln>
        </p:spPr>
      </p:pic>
      <p:pic>
        <p:nvPicPr>
          <p:cNvPr id="329" name="Google Shape;329;p41"/>
          <p:cNvPicPr preferRelativeResize="0"/>
          <p:nvPr/>
        </p:nvPicPr>
        <p:blipFill rotWithShape="1">
          <a:blip r:embed="rId5">
            <a:alphaModFix/>
          </a:blip>
          <a:srcRect b="60001" l="62236" r="-208" t="0"/>
          <a:stretch/>
        </p:blipFill>
        <p:spPr>
          <a:xfrm>
            <a:off x="330026" y="2102698"/>
            <a:ext cx="1850871" cy="371015"/>
          </a:xfrm>
          <a:prstGeom prst="rect">
            <a:avLst/>
          </a:prstGeom>
          <a:noFill/>
          <a:ln>
            <a:noFill/>
          </a:ln>
        </p:spPr>
      </p:pic>
      <p:pic>
        <p:nvPicPr>
          <p:cNvPr id="330" name="Google Shape;330;p41"/>
          <p:cNvPicPr preferRelativeResize="0"/>
          <p:nvPr/>
        </p:nvPicPr>
        <p:blipFill rotWithShape="1">
          <a:blip r:embed="rId6">
            <a:alphaModFix/>
          </a:blip>
          <a:srcRect b="19376" l="0" r="0" t="4756"/>
          <a:stretch/>
        </p:blipFill>
        <p:spPr>
          <a:xfrm>
            <a:off x="469100" y="3529825"/>
            <a:ext cx="1665025" cy="1263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ph type="title"/>
          </p:nvPr>
        </p:nvSpPr>
        <p:spPr>
          <a:xfrm>
            <a:off x="-390906" y="336803"/>
            <a:ext cx="9916800" cy="603600"/>
          </a:xfrm>
          <a:prstGeom prst="rect">
            <a:avLst/>
          </a:prstGeom>
          <a:solidFill>
            <a:srgbClr val="BF5700"/>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rmAutofit/>
          </a:bodyPr>
          <a:lstStyle/>
          <a:p>
            <a:pPr indent="0" lvl="0" marL="685800" rtl="0" algn="l">
              <a:lnSpc>
                <a:spcPct val="90000"/>
              </a:lnSpc>
              <a:spcBef>
                <a:spcPts val="0"/>
              </a:spcBef>
              <a:spcAft>
                <a:spcPts val="0"/>
              </a:spcAft>
              <a:buClr>
                <a:schemeClr val="dk1"/>
              </a:buClr>
              <a:buSzPts val="2700"/>
              <a:buFont typeface="Rockwell"/>
              <a:buNone/>
            </a:pPr>
            <a:r>
              <a:rPr b="1" lang="en" sz="2900">
                <a:solidFill>
                  <a:schemeClr val="lt1"/>
                </a:solidFill>
              </a:rPr>
              <a:t>Workshop Wrap Up</a:t>
            </a:r>
            <a:endParaRPr b="1" sz="2900">
              <a:solidFill>
                <a:schemeClr val="lt1"/>
              </a:solidFill>
              <a:latin typeface="Twentieth Century"/>
              <a:ea typeface="Twentieth Century"/>
              <a:cs typeface="Twentieth Century"/>
              <a:sym typeface="Twentieth Century"/>
            </a:endParaRPr>
          </a:p>
        </p:txBody>
      </p:sp>
      <p:sp>
        <p:nvSpPr>
          <p:cNvPr id="336" name="Google Shape;336;p42"/>
          <p:cNvSpPr txBox="1"/>
          <p:nvPr>
            <p:ph idx="1" type="body"/>
          </p:nvPr>
        </p:nvSpPr>
        <p:spPr>
          <a:xfrm>
            <a:off x="547050" y="1207200"/>
            <a:ext cx="7887300" cy="26619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34275" lIns="155425" spcFirstLastPara="1" rIns="68575" wrap="square" tIns="182875">
            <a:noAutofit/>
          </a:bodyPr>
          <a:lstStyle/>
          <a:p>
            <a:pPr indent="-520700" lvl="0" marL="628650" rtl="0" algn="l">
              <a:lnSpc>
                <a:spcPct val="150000"/>
              </a:lnSpc>
              <a:spcBef>
                <a:spcPts val="0"/>
              </a:spcBef>
              <a:spcAft>
                <a:spcPts val="0"/>
              </a:spcAft>
              <a:buSzPts val="1900"/>
              <a:buFont typeface="Twentieth Century"/>
              <a:buChar char="➔"/>
            </a:pPr>
            <a:r>
              <a:rPr lang="en" sz="1900">
                <a:solidFill>
                  <a:srgbClr val="000000"/>
                </a:solidFill>
                <a:latin typeface="Twentieth Century"/>
                <a:ea typeface="Twentieth Century"/>
                <a:cs typeface="Twentieth Century"/>
                <a:sym typeface="Twentieth Century"/>
              </a:rPr>
              <a:t>Thank you for attending!</a:t>
            </a:r>
            <a:endParaRPr sz="1900">
              <a:solidFill>
                <a:srgbClr val="000000"/>
              </a:solidFill>
              <a:latin typeface="Twentieth Century"/>
              <a:ea typeface="Twentieth Century"/>
              <a:cs typeface="Twentieth Century"/>
              <a:sym typeface="Twentieth Century"/>
            </a:endParaRPr>
          </a:p>
          <a:p>
            <a:pPr indent="-520700" lvl="0" marL="628650" rtl="0" algn="l">
              <a:lnSpc>
                <a:spcPct val="150000"/>
              </a:lnSpc>
              <a:spcBef>
                <a:spcPts val="0"/>
              </a:spcBef>
              <a:spcAft>
                <a:spcPts val="0"/>
              </a:spcAft>
              <a:buClr>
                <a:srgbClr val="000000"/>
              </a:buClr>
              <a:buSzPts val="1900"/>
              <a:buFont typeface="Twentieth Century"/>
              <a:buChar char="➔"/>
            </a:pPr>
            <a:r>
              <a:rPr lang="en" sz="1900">
                <a:solidFill>
                  <a:srgbClr val="000000"/>
                </a:solidFill>
                <a:latin typeface="Twentieth Century"/>
                <a:ea typeface="Twentieth Century"/>
                <a:cs typeface="Twentieth Century"/>
                <a:sym typeface="Twentieth Century"/>
              </a:rPr>
              <a:t>Any questions?</a:t>
            </a:r>
            <a:endParaRPr sz="1900">
              <a:solidFill>
                <a:srgbClr val="000000"/>
              </a:solidFill>
              <a:latin typeface="Twentieth Century"/>
              <a:ea typeface="Twentieth Century"/>
              <a:cs typeface="Twentieth Century"/>
              <a:sym typeface="Twentieth Century"/>
            </a:endParaRPr>
          </a:p>
          <a:p>
            <a:pPr indent="-520700" lvl="0" marL="628650" rtl="0" algn="l">
              <a:lnSpc>
                <a:spcPct val="150000"/>
              </a:lnSpc>
              <a:spcBef>
                <a:spcPts val="0"/>
              </a:spcBef>
              <a:spcAft>
                <a:spcPts val="0"/>
              </a:spcAft>
              <a:buClr>
                <a:srgbClr val="000000"/>
              </a:buClr>
              <a:buSzPts val="1900"/>
              <a:buFont typeface="Twentieth Century"/>
              <a:buChar char="➔"/>
            </a:pPr>
            <a:r>
              <a:rPr lang="en" sz="1900">
                <a:solidFill>
                  <a:srgbClr val="000000"/>
                </a:solidFill>
                <a:latin typeface="Twentieth Century"/>
                <a:ea typeface="Twentieth Century"/>
                <a:cs typeface="Twentieth Century"/>
                <a:sym typeface="Twentieth Century"/>
              </a:rPr>
              <a:t>Please provide Day 2 feedback in the shared notes document at </a:t>
            </a:r>
            <a:r>
              <a:rPr lang="en" sz="1900" u="sng">
                <a:solidFill>
                  <a:schemeClr val="hlink"/>
                </a:solidFill>
                <a:latin typeface="Twentieth Century"/>
                <a:ea typeface="Twentieth Century"/>
                <a:cs typeface="Twentieth Century"/>
                <a:sym typeface="Twentieth Century"/>
                <a:hlinkClick r:id="rId3"/>
              </a:rPr>
              <a:t>https://bit.ly/ipw-aug2025</a:t>
            </a:r>
            <a:endParaRPr sz="1900">
              <a:solidFill>
                <a:srgbClr val="000000"/>
              </a:solidFill>
              <a:latin typeface="Twentieth Century"/>
              <a:ea typeface="Twentieth Century"/>
              <a:cs typeface="Twentieth Century"/>
              <a:sym typeface="Twentieth Century"/>
            </a:endParaRPr>
          </a:p>
          <a:p>
            <a:pPr indent="-520700" lvl="0" marL="628650" rtl="0" algn="l">
              <a:lnSpc>
                <a:spcPct val="150000"/>
              </a:lnSpc>
              <a:spcBef>
                <a:spcPts val="0"/>
              </a:spcBef>
              <a:spcAft>
                <a:spcPts val="0"/>
              </a:spcAft>
              <a:buClr>
                <a:srgbClr val="000000"/>
              </a:buClr>
              <a:buSzPts val="1900"/>
              <a:buFont typeface="Twentieth Century"/>
              <a:buChar char="➔"/>
            </a:pPr>
            <a:r>
              <a:rPr lang="en" sz="1900">
                <a:solidFill>
                  <a:srgbClr val="000000"/>
                </a:solidFill>
                <a:latin typeface="Twentieth Century"/>
                <a:ea typeface="Twentieth Century"/>
                <a:cs typeface="Twentieth Century"/>
                <a:sym typeface="Twentieth Century"/>
              </a:rPr>
              <a:t>Please also fill out structured </a:t>
            </a:r>
            <a:r>
              <a:rPr lang="en" sz="1900" u="sng">
                <a:solidFill>
                  <a:schemeClr val="hlink"/>
                </a:solidFill>
                <a:latin typeface="Twentieth Century"/>
                <a:ea typeface="Twentieth Century"/>
                <a:cs typeface="Twentieth Century"/>
                <a:sym typeface="Twentieth Century"/>
                <a:hlinkClick r:id="rId4"/>
              </a:rPr>
              <a:t>OSPO feedback form</a:t>
            </a:r>
            <a:endParaRPr sz="1900">
              <a:solidFill>
                <a:srgbClr val="000000"/>
              </a:solidFill>
              <a:latin typeface="Twentieth Century"/>
              <a:ea typeface="Twentieth Century"/>
              <a:cs typeface="Twentieth Century"/>
              <a:sym typeface="Twentieth Century"/>
            </a:endParaRPr>
          </a:p>
        </p:txBody>
      </p:sp>
      <p:sp>
        <p:nvSpPr>
          <p:cNvPr id="337" name="Google Shape;337;p42"/>
          <p:cNvSpPr txBox="1"/>
          <p:nvPr>
            <p:ph idx="1" type="body"/>
          </p:nvPr>
        </p:nvSpPr>
        <p:spPr>
          <a:xfrm>
            <a:off x="2680600" y="4171300"/>
            <a:ext cx="3505500" cy="7629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34275" lIns="155425" spcFirstLastPara="1" rIns="68575" wrap="square" tIns="182875">
            <a:noAutofit/>
          </a:bodyPr>
          <a:lstStyle/>
          <a:p>
            <a:pPr indent="0" lvl="0" marL="177800" rtl="0" algn="l">
              <a:lnSpc>
                <a:spcPct val="150000"/>
              </a:lnSpc>
              <a:spcBef>
                <a:spcPts val="0"/>
              </a:spcBef>
              <a:spcAft>
                <a:spcPts val="0"/>
              </a:spcAft>
              <a:buNone/>
            </a:pPr>
            <a:r>
              <a:rPr b="1" lang="en" sz="1800">
                <a:solidFill>
                  <a:srgbClr val="000000"/>
                </a:solidFill>
                <a:latin typeface="Twentieth Century"/>
                <a:ea typeface="Twentieth Century"/>
                <a:cs typeface="Twentieth Century"/>
                <a:sym typeface="Twentieth Century"/>
              </a:rPr>
              <a:t>We appreciate your feedback!</a:t>
            </a:r>
            <a:endParaRPr b="1" sz="2000">
              <a:solidFill>
                <a:srgbClr val="000000"/>
              </a:solidFill>
              <a:latin typeface="Twentieth Century"/>
              <a:ea typeface="Twentieth Century"/>
              <a:cs typeface="Twentieth Century"/>
              <a:sym typeface="Twentieth Centur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