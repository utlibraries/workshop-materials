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ShvotXKp2UACGHCIoAHvhDNF7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48c26e76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748c26e76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748c26e76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83839107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783839107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783839107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" name="Google Shape;25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4" name="Google Shape;44;p14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6" name="Google Shape;46;p14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44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hyperlink" Target="https://matplotlib.org/3.3.2/tutorials/index.html" TargetMode="External"/><Relationship Id="rId5" Type="http://schemas.openxmlformats.org/officeDocument/2006/relationships/hyperlink" Target="https://altair-viz.github.io/user_guide/data.html" TargetMode="External"/><Relationship Id="rId6" Type="http://schemas.openxmlformats.org/officeDocument/2006/relationships/hyperlink" Target="https://plotly.com/python/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networkx.org/documentation/stable/auto_examples/" TargetMode="External"/><Relationship Id="rId4" Type="http://schemas.openxmlformats.org/officeDocument/2006/relationships/hyperlink" Target="https://plotly.com/python/" TargetMode="External"/><Relationship Id="rId9" Type="http://schemas.openxmlformats.org/officeDocument/2006/relationships/image" Target="../media/image22.png"/><Relationship Id="rId5" Type="http://schemas.openxmlformats.org/officeDocument/2006/relationships/hyperlink" Target="https://matplotlib.org/stable/gallery/" TargetMode="External"/><Relationship Id="rId6" Type="http://schemas.openxmlformats.org/officeDocument/2006/relationships/hyperlink" Target="https://seaborn.pydata.org/examples/" TargetMode="External"/><Relationship Id="rId7" Type="http://schemas.openxmlformats.org/officeDocument/2006/relationships/hyperlink" Target="https://altair-viz.github.io/gallery/" TargetMode="External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it.ly/ipw-vis-data" TargetMode="External"/><Relationship Id="rId4" Type="http://schemas.openxmlformats.org/officeDocument/2006/relationships/hyperlink" Target="https://hub.arcgis.com/api/v3/datasets/15ae00ece1bf486a868c0f635d3acbfa_220/downloads/data?format=csv&amp;spatialRefId=3857&amp;where=1%3D1" TargetMode="External"/><Relationship Id="rId5" Type="http://schemas.openxmlformats.org/officeDocument/2006/relationships/hyperlink" Target="https://colab.research.google.com/drive/1r4RHKMBX5Y2UAvFQE_4ioUX-pqOQ2xz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565125" y="613900"/>
            <a:ext cx="7952700" cy="18792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4100">
                <a:solidFill>
                  <a:schemeClr val="lt1"/>
                </a:solidFill>
              </a:rPr>
              <a:t>Immersive Python Workshop</a:t>
            </a:r>
            <a:endParaRPr b="1" sz="4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4100">
                <a:solidFill>
                  <a:schemeClr val="lt1"/>
                </a:solidFill>
              </a:rPr>
              <a:t>Day 2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630200" y="2653375"/>
            <a:ext cx="5844600" cy="939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Visualization</a:t>
            </a:r>
            <a:endParaRPr b="1" sz="30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8/14/2025</a:t>
            </a:r>
            <a:endParaRPr sz="1900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3000">
                <a:latin typeface="Twentieth Century"/>
                <a:ea typeface="Twentieth Century"/>
                <a:cs typeface="Twentieth Century"/>
                <a:sym typeface="Twentieth Century"/>
              </a:rPr>
              <a:t>Overall Goals of this Data Visualization Session</a:t>
            </a:r>
            <a:endParaRPr b="1" sz="3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087075" y="1364550"/>
            <a:ext cx="6434100" cy="310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tl" dir="2700000" dist="50800">
              <a:srgbClr val="000000">
                <a:alpha val="66666"/>
              </a:srgbClr>
            </a:outerShdw>
          </a:effectLst>
        </p:spPr>
        <p:txBody>
          <a:bodyPr anchorCtr="0" anchor="t" bIns="34275" lIns="205725" spcFirstLastPara="1" rIns="68575" wrap="square" tIns="246875">
            <a:noAutofit/>
          </a:bodyPr>
          <a:lstStyle/>
          <a:p>
            <a:pPr indent="-311150" lvl="0" marL="457200" marR="0" rtl="0" algn="l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wentieth Century"/>
              <a:buChar char="➔"/>
            </a:pPr>
            <a:r>
              <a:rPr b="1" i="0" lang="en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See examples of what’s possible</a:t>
            </a:r>
            <a:endParaRPr b="1" i="0" sz="1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Char char="➔"/>
            </a:pPr>
            <a:r>
              <a:rPr b="1" i="0" lang="en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Learn benefits of scripting data visualization tasks</a:t>
            </a:r>
            <a:endParaRPr b="1" i="0" sz="1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Char char="➔"/>
            </a:pPr>
            <a:r>
              <a:rPr b="1" i="0" lang="en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Learn how to read documentation about using Python packages</a:t>
            </a:r>
            <a:endParaRPr b="1" i="0" sz="1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Char char="➔"/>
            </a:pPr>
            <a:r>
              <a:rPr b="1" i="0" lang="en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Get familiar with the process of developing Python scripts locally</a:t>
            </a:r>
            <a:endParaRPr b="1" i="0" sz="17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3000">
                <a:latin typeface="Twentieth Century"/>
                <a:ea typeface="Twentieth Century"/>
                <a:cs typeface="Twentieth Century"/>
                <a:sym typeface="Twentieth Century"/>
              </a:rPr>
              <a:t>What is Data Visualization?</a:t>
            </a:r>
            <a:endParaRPr b="1" sz="3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120900" y="1111375"/>
            <a:ext cx="6558000" cy="3806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tl" dir="2700000" dist="50800">
              <a:srgbClr val="000000">
                <a:alpha val="66666"/>
              </a:srgbClr>
            </a:outerShdw>
          </a:effectLst>
        </p:spPr>
        <p:txBody>
          <a:bodyPr anchorCtr="0" anchor="t" bIns="34275" lIns="205725" spcFirstLastPara="1" rIns="68575" wrap="square" tIns="246875">
            <a:noAutofit/>
          </a:bodyPr>
          <a:lstStyle/>
          <a:p>
            <a:pPr indent="-298450" lvl="0" marL="457200" marR="0" rtl="0" algn="l">
              <a:lnSpc>
                <a:spcPct val="2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Char char="➔"/>
            </a:pPr>
            <a:r>
              <a:rPr b="1" i="0" lang="en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b="1" i="0" lang="en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Graphically representing data to facilitate communication of information</a:t>
            </a:r>
            <a:endParaRPr b="1" i="0" sz="1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Char char="➔"/>
            </a:pPr>
            <a:r>
              <a:rPr b="1" i="0" lang="en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b="1" i="0" lang="en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Visualizations often take the form of charts, graphs, maps, and diagrams</a:t>
            </a:r>
            <a:endParaRPr b="1" i="0" sz="1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Char char="➔"/>
            </a:pPr>
            <a:r>
              <a:rPr b="1" i="0" lang="en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b="1" i="0" lang="en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Effective data visualization is both an art and science</a:t>
            </a:r>
            <a:endParaRPr b="1" i="0" sz="1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wentieth Century"/>
              <a:buChar char="➔"/>
            </a:pPr>
            <a:r>
              <a:rPr b="1" i="0" lang="en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b="1" i="0" lang="en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 be difficult and time consuming when:</a:t>
            </a:r>
            <a:endParaRPr b="1" i="0" sz="1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048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wentieth Century"/>
              <a:buChar char="◆"/>
            </a:pPr>
            <a:r>
              <a:rPr b="0" i="0" lang="en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Datasets are large and complicated</a:t>
            </a:r>
            <a:endParaRPr b="0" i="0" sz="1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048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wentieth Century"/>
              <a:buChar char="◆"/>
            </a:pPr>
            <a:r>
              <a:rPr b="0" i="0" lang="en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Datasets are updated frequently</a:t>
            </a:r>
            <a:endParaRPr b="0" i="0" sz="1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048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wentieth Century"/>
              <a:buChar char="◆"/>
            </a:pPr>
            <a:r>
              <a:rPr b="0" i="0" lang="en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Large numbers of visualizations need to be created</a:t>
            </a:r>
            <a:endParaRPr b="0" i="0" sz="1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048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wentieth Century"/>
              <a:buChar char="◆"/>
            </a:pPr>
            <a:r>
              <a:rPr b="0" i="0" lang="en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Multiple styles of a visualization product are required for different audiences</a:t>
            </a:r>
            <a:endParaRPr b="0" i="0" sz="12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457200" marR="0" rtl="0" algn="l">
              <a:lnSpc>
                <a:spcPct val="18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77800" lvl="0" marL="2413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A4E0"/>
              </a:buClr>
              <a:buSzPts val="900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6121" l="6158" r="3147" t="13838"/>
          <a:stretch/>
        </p:blipFill>
        <p:spPr>
          <a:xfrm>
            <a:off x="7499850" y="1696163"/>
            <a:ext cx="1546950" cy="1337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557" y="3992601"/>
            <a:ext cx="1488050" cy="99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0100" y="2515975"/>
            <a:ext cx="1145550" cy="1476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87863" y="2200814"/>
            <a:ext cx="1145549" cy="74186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34346" y="3546350"/>
            <a:ext cx="1252576" cy="8441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6594" y="958395"/>
            <a:ext cx="2042004" cy="84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-390906" y="260603"/>
            <a:ext cx="9916669" cy="60350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3000">
                <a:latin typeface="Twentieth Century"/>
                <a:ea typeface="Twentieth Century"/>
                <a:cs typeface="Twentieth Century"/>
                <a:sym typeface="Twentieth Century"/>
              </a:rPr>
              <a:t>Python Data Visualization Resources</a:t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724" y="1064650"/>
            <a:ext cx="1898427" cy="10242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2471925" y="2315875"/>
            <a:ext cx="6428100" cy="173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165100" lvl="0" marL="28575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800"/>
              <a:buFont typeface="Noto Sans Symbols"/>
              <a:buChar char="➔"/>
            </a:pPr>
            <a:r>
              <a:rPr b="1"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Matplotlib Documentation</a:t>
            </a:r>
            <a:r>
              <a:rPr b="1" lang="en" sz="1600">
                <a:latin typeface="Twentieth Century"/>
                <a:ea typeface="Twentieth Century"/>
                <a:cs typeface="Twentieth Century"/>
                <a:sym typeface="Twentieth Century"/>
              </a:rPr>
              <a:t>  </a:t>
            </a:r>
            <a:r>
              <a:rPr lang="en" sz="1300">
                <a:latin typeface="Twentieth Century"/>
                <a:ea typeface="Twentieth Century"/>
                <a:cs typeface="Twentieth Century"/>
                <a:sym typeface="Twentieth Century"/>
              </a:rPr>
              <a:t>(</a:t>
            </a:r>
            <a:r>
              <a:rPr lang="en" sz="13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4"/>
              </a:rPr>
              <a:t>https://matplotlib.org/3.3.2/tutorials/index.html</a:t>
            </a:r>
            <a:r>
              <a:rPr lang="en" sz="1300">
                <a:latin typeface="Twentieth Century"/>
                <a:ea typeface="Twentieth Century"/>
                <a:cs typeface="Twentieth Century"/>
                <a:sym typeface="Twentieth Century"/>
              </a:rPr>
              <a:t>) </a:t>
            </a:r>
            <a:endParaRPr sz="13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65100" lvl="0" marL="28575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800"/>
              <a:buFont typeface="Noto Sans Symbols"/>
              <a:buChar char="➔"/>
            </a:pPr>
            <a:r>
              <a:rPr b="1"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Altair Documentation </a:t>
            </a:r>
            <a:r>
              <a:rPr lang="en" sz="1300">
                <a:latin typeface="Twentieth Century"/>
                <a:ea typeface="Twentieth Century"/>
                <a:cs typeface="Twentieth Century"/>
                <a:sym typeface="Twentieth Century"/>
              </a:rPr>
              <a:t>(</a:t>
            </a:r>
            <a:r>
              <a:rPr lang="en" sz="13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5"/>
              </a:rPr>
              <a:t>https://altair-viz.github.io/user_guide/data.html</a:t>
            </a:r>
            <a:r>
              <a:rPr lang="en" sz="1300">
                <a:latin typeface="Twentieth Century"/>
                <a:ea typeface="Twentieth Century"/>
                <a:cs typeface="Twentieth Century"/>
                <a:sym typeface="Twentieth Century"/>
              </a:rPr>
              <a:t>) </a:t>
            </a:r>
            <a:endParaRPr sz="13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65100" lvl="0" marL="28575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800"/>
              <a:buFont typeface="Noto Sans Symbols"/>
              <a:buChar char="➔"/>
            </a:pPr>
            <a:r>
              <a:rPr b="1"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Plotly Documentation</a:t>
            </a:r>
            <a:r>
              <a:rPr b="1" lang="en" sz="1600">
                <a:latin typeface="Twentieth Century"/>
                <a:ea typeface="Twentieth Century"/>
                <a:cs typeface="Twentieth Century"/>
                <a:sym typeface="Twentieth Century"/>
              </a:rPr>
              <a:t>  </a:t>
            </a:r>
            <a:r>
              <a:rPr lang="en" sz="1300">
                <a:latin typeface="Twentieth Century"/>
                <a:ea typeface="Twentieth Century"/>
                <a:cs typeface="Twentieth Century"/>
                <a:sym typeface="Twentieth Century"/>
              </a:rPr>
              <a:t>(</a:t>
            </a:r>
            <a:r>
              <a:rPr lang="en" sz="13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6"/>
              </a:rPr>
              <a:t>https://plotly.com/python/</a:t>
            </a:r>
            <a:r>
              <a:rPr lang="en" sz="1300">
                <a:latin typeface="Twentieth Century"/>
                <a:ea typeface="Twentieth Century"/>
                <a:cs typeface="Twentieth Century"/>
                <a:sym typeface="Twentieth Century"/>
              </a:rPr>
              <a:t>)</a:t>
            </a:r>
            <a:endParaRPr sz="12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5727" y="2208675"/>
            <a:ext cx="1898423" cy="138468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13" name="Google Shape;11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725" y="3776200"/>
            <a:ext cx="1898424" cy="117039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259000" y="1049700"/>
            <a:ext cx="3572100" cy="3874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177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b="1"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Factors to Consider</a:t>
            </a:r>
            <a:endParaRPr b="1"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7780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Static vs. Interactive visualizations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8415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Support for niche visualization types (e.g. maps, networks)</a:t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8415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API complexity</a:t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8415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API level of control</a:t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8415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Popularity</a:t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8415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API documentation</a:t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1" marL="5207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0" name="Google Shape;120;p5"/>
          <p:cNvSpPr txBox="1"/>
          <p:nvPr>
            <p:ph type="title"/>
          </p:nvPr>
        </p:nvSpPr>
        <p:spPr>
          <a:xfrm>
            <a:off x="-390906" y="260603"/>
            <a:ext cx="9916669" cy="60350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3000">
                <a:latin typeface="Twentieth Century"/>
                <a:ea typeface="Twentieth Century"/>
                <a:cs typeface="Twentieth Century"/>
                <a:sym typeface="Twentieth Century"/>
              </a:rPr>
              <a:t>Choosing a Data Visualization Library</a:t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1618" y="1956054"/>
            <a:ext cx="3277533" cy="6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2600" y="1643375"/>
            <a:ext cx="1029900" cy="10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8575" y="2710950"/>
            <a:ext cx="1483200" cy="14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3378" y="3979928"/>
            <a:ext cx="2396399" cy="5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63125" y="2611550"/>
            <a:ext cx="1254825" cy="12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48c26e76b_0_0"/>
          <p:cNvSpPr txBox="1"/>
          <p:nvPr>
            <p:ph idx="1" type="body"/>
          </p:nvPr>
        </p:nvSpPr>
        <p:spPr>
          <a:xfrm>
            <a:off x="472925" y="2184425"/>
            <a:ext cx="3572100" cy="1701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177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b="1"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Commonly used packages</a:t>
            </a:r>
            <a:endParaRPr b="1"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8415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Pandas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7780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Polars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1" marL="5207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2" name="Google Shape;132;g3748c26e76b_0_0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3000">
                <a:latin typeface="Twentieth Century"/>
                <a:ea typeface="Twentieth Century"/>
                <a:cs typeface="Twentieth Century"/>
                <a:sym typeface="Twentieth Century"/>
              </a:rPr>
              <a:t>Packages for Tabular Data and Data Visualization</a:t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33" name="Google Shape;133;g3748c26e76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075" y="1613626"/>
            <a:ext cx="2531026" cy="10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748c26e76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7154" y="2750675"/>
            <a:ext cx="2741550" cy="13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838391073_0_0"/>
          <p:cNvSpPr txBox="1"/>
          <p:nvPr>
            <p:ph idx="1" type="body"/>
          </p:nvPr>
        </p:nvSpPr>
        <p:spPr>
          <a:xfrm>
            <a:off x="528725" y="2091400"/>
            <a:ext cx="3572100" cy="2207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177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b="1"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Software with Python APIs</a:t>
            </a:r>
            <a:endParaRPr b="1"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8415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Blender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7780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ArcGIS Pro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77800" lvl="1" marL="5207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QGIS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1" marL="5207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1" name="Google Shape;141;g37838391073_0_0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latin typeface="Twentieth Century"/>
                <a:ea typeface="Twentieth Century"/>
                <a:cs typeface="Twentieth Century"/>
                <a:sym typeface="Twentieth Century"/>
              </a:rPr>
              <a:t>Python for Automating Processes in Data Vis Desktop Software</a:t>
            </a:r>
            <a:endParaRPr sz="6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42" name="Google Shape;142;g3783839107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452" y="1201725"/>
            <a:ext cx="1343924" cy="10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7838391073_0_0"/>
          <p:cNvPicPr preferRelativeResize="0"/>
          <p:nvPr/>
        </p:nvPicPr>
        <p:blipFill rotWithShape="1">
          <a:blip r:embed="rId4">
            <a:alphaModFix/>
          </a:blip>
          <a:srcRect b="13490" l="15557" r="13726" t="16427"/>
          <a:stretch/>
        </p:blipFill>
        <p:spPr>
          <a:xfrm>
            <a:off x="4552975" y="3513341"/>
            <a:ext cx="1097329" cy="99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783839107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3480" y="1449976"/>
            <a:ext cx="957920" cy="95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idx="1" type="body"/>
          </p:nvPr>
        </p:nvSpPr>
        <p:spPr>
          <a:xfrm>
            <a:off x="106600" y="1964100"/>
            <a:ext cx="5955900" cy="296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246875" lIns="0" spcFirstLastPara="1" rIns="64000" wrap="square" tIns="338325">
            <a:noAutofit/>
          </a:bodyPr>
          <a:lstStyle/>
          <a:p>
            <a:pPr indent="-184150" lvl="1" marL="5207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b="1"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NetworkX 		</a:t>
            </a:r>
            <a:r>
              <a:rPr lang="en" sz="12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https://networkx.org/documentation/stable/auto_examples/</a:t>
            </a: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2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77800" lvl="1" marL="5207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b="1"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Plotly		</a:t>
            </a:r>
            <a:r>
              <a:rPr lang="en" sz="12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4"/>
              </a:rPr>
              <a:t>https://plotly.com/python/</a:t>
            </a: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2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77800" lvl="1" marL="5207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b="1"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Matplotlib		</a:t>
            </a:r>
            <a:r>
              <a:rPr lang="en" sz="12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5"/>
              </a:rPr>
              <a:t>https://matplotlib.org/stable/gallery/</a:t>
            </a: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2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77800" lvl="1" marL="5207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Twentieth Century"/>
              <a:buChar char="◆"/>
            </a:pPr>
            <a:r>
              <a:rPr b="1"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Seaborn</a:t>
            </a: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lang="en" sz="12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6"/>
              </a:rPr>
              <a:t>https://seaborn.pydata.org/examples/</a:t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84150" lvl="1" marL="5207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Twentieth Century"/>
              <a:buChar char="◆"/>
            </a:pPr>
            <a:r>
              <a:rPr b="1"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Altair</a:t>
            </a:r>
            <a:r>
              <a:rPr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lang="en" sz="12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7"/>
              </a:rPr>
              <a:t>https://altair-viz.github.io/gallery/</a:t>
            </a: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3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1" name="Google Shape;151;p6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3000">
                <a:latin typeface="Twentieth Century"/>
                <a:ea typeface="Twentieth Century"/>
                <a:cs typeface="Twentieth Century"/>
                <a:sym typeface="Twentieth Century"/>
              </a:rPr>
              <a:t>Learn What’s Possible and Get Ideas</a:t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131200" y="1358800"/>
            <a:ext cx="5906700" cy="492600"/>
          </a:xfrm>
          <a:prstGeom prst="rect">
            <a:avLst/>
          </a:prstGeom>
          <a:solidFill>
            <a:srgbClr val="B45F0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77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Python Data Vis Package Galleries to Visit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70550" y="1722549"/>
            <a:ext cx="1825869" cy="920958"/>
          </a:xfrm>
          <a:prstGeom prst="rect">
            <a:avLst/>
          </a:prstGeom>
          <a:noFill/>
          <a:ln>
            <a:noFill/>
          </a:ln>
          <a:effectLst>
            <a:outerShdw blurRad="42822" rotWithShape="0" algn="bl" dir="5400000" dist="14274">
              <a:srgbClr val="000000">
                <a:alpha val="50000"/>
              </a:srgbClr>
            </a:outerShdw>
          </a:effectLst>
        </p:spPr>
      </p:pic>
      <p:pic>
        <p:nvPicPr>
          <p:cNvPr id="154" name="Google Shape;154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45500" y="3230681"/>
            <a:ext cx="1825869" cy="1109967"/>
          </a:xfrm>
          <a:prstGeom prst="rect">
            <a:avLst/>
          </a:prstGeom>
          <a:noFill/>
          <a:ln>
            <a:noFill/>
          </a:ln>
          <a:effectLst>
            <a:outerShdw blurRad="42822" rotWithShape="0" algn="bl" dir="5400000" dist="14274">
              <a:srgbClr val="000000">
                <a:alpha val="50000"/>
              </a:srgbClr>
            </a:outerShdw>
          </a:effectLst>
        </p:spPr>
      </p:pic>
      <p:pic>
        <p:nvPicPr>
          <p:cNvPr id="155" name="Google Shape;155;p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20504" y="2463961"/>
            <a:ext cx="2048067" cy="1122036"/>
          </a:xfrm>
          <a:prstGeom prst="rect">
            <a:avLst/>
          </a:prstGeom>
          <a:noFill/>
          <a:ln>
            <a:noFill/>
          </a:ln>
          <a:effectLst>
            <a:outerShdw blurRad="42822" rotWithShape="0" algn="bl" dir="5400000" dist="14274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idx="1" type="body"/>
          </p:nvPr>
        </p:nvSpPr>
        <p:spPr>
          <a:xfrm>
            <a:off x="137225" y="962150"/>
            <a:ext cx="8914200" cy="1669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228600" spcFirstLastPara="1" rIns="137150" wrap="square" tIns="228600">
            <a:noAutofit/>
          </a:bodyPr>
          <a:lstStyle/>
          <a:p>
            <a:pPr indent="-2603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wentieth Century"/>
              <a:buChar char="➔"/>
            </a:pPr>
            <a:r>
              <a:rPr b="1"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Installing new packages</a:t>
            </a:r>
            <a:endParaRPr b="1"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603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wentieth Century"/>
              <a:buChar char="➔"/>
            </a:pPr>
            <a:r>
              <a:rPr b="1"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Creating a variety of different chart types including pie charts, bar charts, and scatter plots</a:t>
            </a:r>
            <a:endParaRPr b="1"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603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wentieth Century"/>
              <a:buChar char="➔"/>
            </a:pPr>
            <a:r>
              <a:rPr b="1"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Comparing code for creating simple chart types with different visualization libraries</a:t>
            </a:r>
            <a:endParaRPr b="1" sz="1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603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wentieth Century"/>
              <a:buChar char="➔"/>
            </a:pPr>
            <a:r>
              <a:rPr b="1"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Reading package documentation to learn how to create and make adjustments to charts and figures</a:t>
            </a:r>
            <a:endParaRPr b="1" sz="1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2" name="Google Shape;162;p7"/>
          <p:cNvSpPr txBox="1"/>
          <p:nvPr>
            <p:ph type="title"/>
          </p:nvPr>
        </p:nvSpPr>
        <p:spPr>
          <a:xfrm>
            <a:off x="-386400" y="205799"/>
            <a:ext cx="9916800" cy="635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400">
                <a:latin typeface="Twentieth Century"/>
                <a:ea typeface="Twentieth Century"/>
                <a:cs typeface="Twentieth Century"/>
                <a:sym typeface="Twentieth Century"/>
              </a:rPr>
              <a:t>Python Demo: Visualizing Data</a:t>
            </a:r>
            <a:endParaRPr b="1" sz="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493500" y="3397800"/>
            <a:ext cx="8166000" cy="16161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EPA ambient air quality monitoring program and data		</a:t>
            </a:r>
            <a:endParaRPr b="1" sz="12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bit.ly/ipw-vis-data</a:t>
            </a:r>
            <a:endParaRPr b="1" sz="12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Tree inventory data			</a:t>
            </a:r>
            <a:r>
              <a:rPr b="1" lang="en" sz="900" u="sng">
                <a:solidFill>
                  <a:schemeClr val="hlink"/>
                </a:solidFill>
                <a:highlight>
                  <a:srgbClr val="FFFFFF"/>
                </a:highlight>
                <a:latin typeface="Twentieth Century"/>
                <a:ea typeface="Twentieth Century"/>
                <a:cs typeface="Twentieth Century"/>
                <a:sym typeface="Twentieth Century"/>
                <a:hlinkClick r:id="rId4"/>
              </a:rPr>
              <a:t>https://hub.arcgis.com/api/v3/datasets/15ae00ece1bf486a868c0f635d3acbfa_220/downloads/data?format=csv&amp;spatialRefId=3857&amp;where=1%3D1</a:t>
            </a: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b="1" sz="12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2061900" y="2776675"/>
            <a:ext cx="4948500" cy="44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5"/>
              </a:rPr>
              <a:t>Data visualization colab notebook</a:t>
            </a:r>
            <a:endParaRPr b="1" sz="19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